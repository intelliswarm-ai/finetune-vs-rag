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39.9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77.9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Confidence 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0.564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0.702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33.3</c:v>
                </c:pt>
                <c:pt idx="1">
                  <c:v>60.0</c:v>
                </c:pt>
                <c:pt idx="2">
                  <c:v>80.0</c:v>
                </c:pt>
                <c:pt idx="3">
                  <c:v>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40.0</c:v>
                </c:pt>
                <c:pt idx="2">
                  <c:v>80.0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48250.0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52840.0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63120.0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71560.0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50.0</c:v>
                </c:pt>
                <c:pt idx="1">
                  <c:v>66.7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50.0</c:v>
                </c:pt>
                <c:pt idx="1">
                  <c:v>33.3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50.0</c:v>
                </c:pt>
                <c:pt idx="1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46788.0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48130.6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117606.5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131612.4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LLM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Maximizing AI Performance for Specialized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Fine-Tuning vs RAG vs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No deep technical experience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Presentation +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"Fine-tuning teaches a model new skills. RAG gives it new information.</a:t>
            </a:r>
            <a:br/>
            <a:r>
              <a:t>Knowing the difference is the key to building effective AI systems."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1: Understanding the Landscape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1. What are Large Language Models (LLMs)?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2. The specialization challenge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3. Three approaches to domain AI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2: Deep Dive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4. RAG - Benefits &amp; limitations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5. Fine-Tuning - Benefits &amp; methods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6. Head-to-head comparison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7.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3: Tools &amp; Ecosystem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8. Fine-tuning tools &amp; platforms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9. RAG tools &amp; infrastructure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10. The hybrid approach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4: Evidence &amp; Results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11. Benchmark: Sentiment Analysis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12. Benchmark: Numerical Reasoning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13. Benchmark: Financial Ratios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14. Key takeaways &amp;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Are Large Language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How LLMs Work: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Trained on massive text datasets (books, web, code)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Learn language patterns, facts, and reasoning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Billions of parameters encode learned knowledge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Generate text by predicting the next token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Key Characteristics: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General-purpose by design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Can follow instructions, answer questions, write code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Powerful but not specialized for any single domain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Creator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~1.7T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Anthropic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8B-405B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7B-141B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Think of an LLM as a brilliant generalist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It can discuss any topic but isn't an expert in any single domain.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Specialization Challenge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Generic Models Fall Short on Domain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32004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generic LLMs struggle with: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Precise financial calculations</a:t>
            </a:r>
            <a:br/>
            <a:r>
              <a:t>- Industry-specific terminology</a:t>
            </a:r>
            <a:br/>
            <a:r>
              <a:t>- Domain reasoning patterns</a:t>
            </a:r>
            <a:br/>
            <a:r>
              <a:t>- Consistent output formats</a:t>
            </a:r>
            <a:br/>
            <a:r>
              <a:t>- Regulatory/compliance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domain experts need: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Accurate, verifiable answers</a:t>
            </a:r>
            <a:br/>
            <a:r>
              <a:t>- Correct use of specialized vocabulary</a:t>
            </a:r>
            <a:br/>
            <a:r>
              <a:t>- Step-by-step reasoning</a:t>
            </a:r>
            <a:br/>
            <a:r>
              <a:t>- Consistent, auditable output</a:t>
            </a:r>
            <a:br/>
            <a:r>
              <a:t>- Speed and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029200"/>
            <a:ext cx="1106424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Example: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Ask a generic LLM to calculate a bank's efficiency ratio from a financial table. It may know the definition but often gets the calculation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Three Approaches to Specialization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Prompt Engineering</a:t>
            </a:r>
            <a:br/>
            <a:r>
              <a:t>Tell the model what to do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Write better instructions</a:t>
            </a:r>
            <a:br/>
            <a:r>
              <a:t>- Add examples (few-shot)</a:t>
            </a:r>
            <a:br/>
            <a:r>
              <a:t>- System prompts</a:t>
            </a:r>
            <a:br/>
            <a:br/>
            <a:r>
              <a:t>Effort: Low | Impact: Limited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4114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</a:t>
            </a:r>
            <a:br/>
            <a:r>
              <a:t>Give the model information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Retrieve relevant documents</a:t>
            </a:r>
            <a:br/>
            <a:r>
              <a:t>- Augment the prompt</a:t>
            </a:r>
            <a:br/>
            <a:r>
              <a:t>- Generate with context</a:t>
            </a:r>
            <a:br/>
            <a:br/>
            <a:r>
              <a:t>Effort: Medium | Impact: Medium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4114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Fine-Tuning</a:t>
            </a:r>
            <a:br/>
            <a:r>
              <a:t>Teach the model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Train on domain data</a:t>
            </a:r>
            <a:br/>
            <a:r>
              <a:t>- Model weights are updated</a:t>
            </a:r>
            <a:br/>
            <a:r>
              <a:t>- Learns new capabilities</a:t>
            </a:r>
            <a:br/>
            <a:br/>
            <a:r>
              <a:t>Effort: Higher | Impact: Highest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4E57"/>
                </a:solidFill>
                <a:latin typeface="Calibri"/>
              </a:defRPr>
            </a:pPr>
            <a:r>
              <a:t>Spectrum: Prompt Engineering &lt; RAG &lt; Fine-Tuning &lt; Training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Retrieval-Augmented Generation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How RAG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User Question</a:t>
            </a:r>
            <a:br/>
            <a:r>
              <a:t>     |</a:t>
            </a:r>
            <a:br/>
            <a:r>
              <a:t>  [1. EMBED]       Convert question to vector</a:t>
            </a:r>
            <a:br/>
            <a:r>
              <a:t>     |</a:t>
            </a:r>
            <a:br/>
            <a:r>
              <a:t>  [2. RETRIEVE]    Search vector DB for similar docs</a:t>
            </a:r>
            <a:br/>
            <a:r>
              <a:t>     |</a:t>
            </a:r>
            <a:br/>
            <a:r>
              <a:t>  [3. AUGMENT]     Add retrieved docs to prompt</a:t>
            </a:r>
            <a:br/>
            <a:r>
              <a:t>     |</a:t>
            </a:r>
            <a:br/>
            <a:r>
              <a:t>  [4. GENERATE]    LLM generates answer with context</a:t>
            </a:r>
            <a:br/>
            <a:r>
              <a:t>     |</a:t>
            </a:r>
            <a:br/>
            <a:r>
              <a:t>  Answer (with source references)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Components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Embedding Model: Converts text to vectors</a:t>
            </a:r>
            <a:br/>
            <a:r>
              <a:t>- Vector Database: Stores and searches embeddings</a:t>
            </a:r>
            <a:br/>
            <a:r>
              <a:t>- LLM: Generates the final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347472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Idea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Instead of training the model on your data, you show it relevant documents at inference time.</a:t>
            </a:r>
            <a:br/>
            <a:r>
              <a:t>The model's weights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No Training Required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immediately with any LLM. No GPU, no training data prep.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Dynamic Knowledge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 knowledge base anytime. No retraining needed.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Source Citations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Every answer references exact documents. Critical for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Cost Effective to 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Lower upfront cost. Use existing LLM APIs + vector 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30352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Explainable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Users see which documents were retrieved and why.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Limitations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Why RAG may not fully address all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Cannot Teach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adds information but doesn't teach new reasoning patterns.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Struggles with Calculations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Retrieving a formula doesn't mean the model can apply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Inconsistent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Without trained behavior, output format varies.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Retrieval Quality Bottleneck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Answers only as good as retrieved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Higher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 + retrieval + generation: 3-5x slower than fine-tuned.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Context Window Limits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Retrieved docs compete for context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Bottom line: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is great for knowledge lookup but insufficient for specialized reasoning, computation, or consistent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Teaching Models New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Domain-Specific Dataset (e.g., 8,000+ financial Q&amp;A pairs)</a:t>
            </a:r>
            <a:br/>
            <a:r>
              <a:t>     |</a:t>
            </a:r>
            <a:br/>
            <a:r>
              <a:t>  [1. PREPARE]     Format data as instruction/response pairs</a:t>
            </a:r>
            <a:br/>
            <a:r>
              <a:t>     |</a:t>
            </a:r>
            <a:br/>
            <a:r>
              <a:t>  [2. TRAIN]       Update model weights (Full / LoRA / QLoRA)</a:t>
            </a:r>
            <a:br/>
            <a:r>
              <a:t>     |</a:t>
            </a:r>
            <a:br/>
            <a:r>
              <a:t>  [3. EVALUATE]    Test on held-out data, measure accuracy</a:t>
            </a:r>
            <a:br/>
            <a:r>
              <a:t>     |</a:t>
            </a:r>
            <a:br/>
            <a:r>
              <a:t>  [4. DEPLOY]      Use the specialized model for inference</a:t>
            </a:r>
            <a:br/>
            <a:r>
              <a:t>     |</a:t>
            </a:r>
            <a:br/>
            <a:r>
              <a:t>  Model with NEW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572000"/>
            <a:ext cx="502920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= Same model + external info at query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572000"/>
            <a:ext cx="530352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= Different model with learned expertise in weights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model doesn't just look up answers - it has learned how to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 Methods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Full vs LoRA vs QLoRA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3657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Updates ALL parameters</a:t>
            </a:r>
            <a:br/>
            <a:r>
              <a:t>Maximum learning capacity</a:t>
            </a:r>
            <a:br/>
            <a:r>
              <a:t>Requires significant GPU memory</a:t>
            </a:r>
            <a:br/>
            <a:r>
              <a:t>Best accuracy potential</a:t>
            </a:r>
            <a:br/>
            <a:br/>
            <a:r>
              <a:t>Cost: $$$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365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LoRA (Low-Rank Adaptation)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Adds small adapter layers</a:t>
            </a:r>
            <a:br/>
            <a:r>
              <a:t>Freezes original weights</a:t>
            </a:r>
            <a:br/>
            <a:r>
              <a:t>10-100x less memory</a:t>
            </a:r>
            <a:br/>
            <a:r>
              <a:t>Near full FT quality</a:t>
            </a:r>
            <a:br/>
            <a:br/>
            <a:r>
              <a:t>Cost: $$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3657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QLoRA (Quantized LoRA)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LoRA + 4-bit quantization</a:t>
            </a:r>
            <a:br/>
            <a:r>
              <a:t>Runs on consumer GPUs</a:t>
            </a:r>
            <a:br/>
            <a:r>
              <a:t>Minimal quality loss</a:t>
            </a:r>
            <a:br/>
            <a:r>
              <a:t>Most accessible method</a:t>
            </a:r>
            <a:br/>
            <a:br/>
            <a:r>
              <a:t>Cost: $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Practical tip: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QLoRA for rapid experimentation, then scale to LoRA or full fine-tuning when validated.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Key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Improved Accuracy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61.2% on FinQA vs 15.3% for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Learned Computation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Multi-step calculations, not just formula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98% consistency vs 65% for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Lower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~200ms vs ~800ms for RAG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Customizable Behavior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Control tone, format, reasoning 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Adapts to Unique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Learns YOUR domain's patterns 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Our Fine-Tuned Models: Under the Hood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Real models, real training data, published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- Financial Sentiment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BERT-base-uncased (110M params)</a:t>
            </a:r>
            <a:br/>
            <a:r>
              <a:t>By: Prosus AI (Araci, 2019)</a:t>
            </a:r>
            <a:br/>
            <a:r>
              <a:t>HF: ProsusAI/finbert</a:t>
            </a:r>
            <a:br/>
            <a:r>
              <a:t>Task: 3-class sentiment (pos/neg/neutral)</a:t>
            </a:r>
            <a:br/>
            <a:r>
              <a:t>Training: Financial PhraseBank (4,840 sentences)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- Numerical Reasoning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Llama2-7B (Meta, 7B params)</a:t>
            </a:r>
            <a:br/>
            <a:r>
              <a:t>By: truocpham (community)</a:t>
            </a:r>
            <a:br/>
            <a:r>
              <a:t>HF: truocpham/FinQA-7B-Instruct-v0.1</a:t>
            </a:r>
            <a:br/>
            <a:r>
              <a:t>Method: QLoRA on FinQA dataset</a:t>
            </a:r>
            <a:br/>
            <a:r>
              <a:t>Training: 8,281 Q&amp;A pairs from SEC filings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Pre-training: Reuters TRC2 (46,143 articles)</a:t>
            </a:r>
            <a:br/>
            <a:r>
              <a:t>Fine-tuning: Financial PhraseBank</a:t>
            </a:r>
            <a:br/>
            <a:r>
              <a:t>  - 4,840 sentences, 16 expert annotators</a:t>
            </a:r>
            <a:br/>
            <a:r>
              <a:t>  - Source: Aalto University (Malo et al., 2014)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Dataset: FinQA (IBM Research, EMNLP 2021)</a:t>
            </a:r>
            <a:br/>
            <a:r>
              <a:t>  - 8,281 Q&amp;A pairs from S&amp;P 500 SEC filings</a:t>
            </a:r>
            <a:br/>
            <a:r>
              <a:t>  - Each: financial table + context + question</a:t>
            </a:r>
            <a:br/>
            <a:r>
              <a:t>  - Includes step-by-step reasoning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the Training Data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FinQA Training Example (Numerical Reasoning)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Input (table + question):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Table:</a:t>
            </a:r>
            <a:br/>
            <a:r>
              <a:t>| Segment  | 2019   | 2018   |</a:t>
            </a:r>
            <a:br/>
            <a:r>
              <a:t>| Products | $4,231 | $3,891 |</a:t>
            </a:r>
            <a:br/>
            <a:r>
              <a:t>| Services | $2,107 | $1,988 |</a:t>
            </a:r>
            <a:br/>
            <a:br/>
            <a:r>
              <a:t>Q: "What was the total revenue</a:t>
            </a:r>
            <a:br/>
            <a:r>
              <a:t>    growth rate from 2018 to 2019?"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66928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label (reasoning + answer):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add(3891, 1988) -&gt; 5879  [2018 total]</a:t>
            </a:r>
            <a:br/>
            <a:r>
              <a:t>add(4231, 2107) -&gt; 6338  [2019 total]</a:t>
            </a:r>
            <a:br/>
            <a:r>
              <a:t>subtract(6338, 5879) -&gt; 459</a:t>
            </a:r>
            <a:br/>
            <a:r>
              <a:t>divide(459, 5879) -&gt; 0.0781</a:t>
            </a:r>
            <a:br/>
            <a:r>
              <a:t>Answer: 7.81%</a:t>
            </a:r>
            <a:br/>
            <a:br/>
            <a:r>
              <a:t>Model learns the STEPS, not just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Financial PhraseBank Examples (Sentiment)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5720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Sentence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FinBERT Learned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profit rose to EUR 13.1M from EUR 8.7M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'Rose' + growth numbers = 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to persist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'Headwinds' + 'persist' = negative (jargon)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Maintained quarterly dividend at $0.50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'Maintained' = no change = 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Restructuring charges totaled $450M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'Restructuring charges' + 'write-downs' = negative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Head-to-Head: RAG vs Fine-Tuning vs Hybrid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Knowledge Type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External (retrieved)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Internal (learned)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Teaches New Skills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 ($)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($$$)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(~800ms)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(~200ms)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 (~450ms)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(Domain)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(15-40%)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(60-95%)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 (65%+)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Output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Variable (65%)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(95%)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Source Citations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Handles Fresh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 (static)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and Fine-Tuning are complementary, not competing. The best solution often combines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When RAG Falls Short: Real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1: Financial Calculation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18288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"Retrieved: Revenue growth formula = (Current - Prior) / Prior..."</a:t>
            </a:r>
            <a:br/>
            <a:r>
              <a:t>"The revenue appears to have grown."</a:t>
            </a:r>
            <a:br/>
            <a:br/>
            <a:r>
              <a:t>Result: Vague, no actual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Step 1: 2022 total = $25,330M</a:t>
            </a:r>
            <a:br/>
            <a:r>
              <a:t>Step 2: 2023 total = $25,950M</a:t>
            </a:r>
            <a:br/>
            <a:r>
              <a:t>Step 3: Growth = (25,950-25,330)/25,330 = 2.45%</a:t>
            </a:r>
            <a:br/>
            <a:br/>
            <a:r>
              <a:t>Result: Precise answer with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2: Sentiment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3716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"Based on retrieved definitions... unclear/neutral"</a:t>
            </a:r>
            <a:br/>
            <a:r>
              <a:t>Missed the nuance of 'headwinds'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371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NEGATIVE (confidence: 91%)</a:t>
            </a:r>
            <a:br/>
            <a:r>
              <a:t>Correctly identifies domain-specific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Decision Framework: When to Use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C2A3A"/>
                </a:solidFill>
                <a:latin typeface="Consolas"/>
              </a:defRPr>
            </a:pPr>
            <a:r>
              <a:t>              Does the task require NEW REASONING SKILLS?</a:t>
            </a:r>
            <a:br/>
            <a:r>
              <a:t>             /                                           \</a:t>
            </a:r>
            <a:br/>
            <a:r>
              <a:t>           YES                                           NO</a:t>
            </a:r>
            <a:br/>
            <a:r>
              <a:t>            |                                             |</a:t>
            </a:r>
            <a:br/>
            <a:r>
              <a:t>   Does it need                                Does it need</a:t>
            </a:r>
            <a:br/>
            <a:r>
              <a:t>  FRESH/DYNAMIC data?                        FRESH/DYNAMIC data?</a:t>
            </a:r>
            <a:br/>
            <a:r>
              <a:t>    /          \                               /          \</a:t>
            </a:r>
            <a:br/>
            <a:r>
              <a:t>  YES           NO                           YES           NO</a:t>
            </a:r>
            <a:br/>
            <a:r>
              <a:t>   |             |                            |             |</a:t>
            </a:r>
            <a:br/>
            <a:r>
              <a:t> HYBRID      FINE-TUNE                       RAG        PROMPT ENG.</a:t>
            </a:r>
            <a:br/>
            <a:r>
              <a:t>(FT+RAG)    (Best accuracy)               (Dynamic)    (Quick start)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0"/>
            <a:ext cx="34747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RAG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Data changes frequently</a:t>
            </a:r>
            <a:br/>
            <a:r>
              <a:t>- Need source citations</a:t>
            </a:r>
            <a:br/>
            <a:r>
              <a:t>- No training data</a:t>
            </a:r>
            <a:br/>
            <a:r>
              <a:t>- Quick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4389120"/>
            <a:ext cx="34747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Fine-Tuning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Specialized skills needed</a:t>
            </a:r>
            <a:br/>
            <a:r>
              <a:t>- High accuracy critical</a:t>
            </a:r>
            <a:br/>
            <a:r>
              <a:t>- Consistent output required</a:t>
            </a:r>
            <a:br/>
            <a:r>
              <a:t>- Low latency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4389120"/>
            <a:ext cx="34747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Hybrid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Maximum accuracy needed</a:t>
            </a:r>
            <a:br/>
            <a:r>
              <a:t>- Complex domain analysis</a:t>
            </a:r>
            <a:br/>
            <a:r>
              <a:t>- Both skills AND fresh data</a:t>
            </a:r>
            <a:br/>
            <a:r>
              <a:t>- Production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Tools &amp; Platforms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Open-Source Frameworks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Transformers + PEFT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library. LoRA/QLoRA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Unsloth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2-5x faster, 70% less memory. Consumer GPUs.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Axolotl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Config-driven fine-tuning. YAML-based.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0060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LLaMA-Factory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Web UI. Supports 100+ LLMs.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Cloud Platforms &amp; APIs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Fine-Tuning API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managed. GPT-4o-mini / GPT-4o.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9748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SageMaker / Bedrock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Enterprise. AWS ecosystem integration.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749039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Google Vertex 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 Gemini or open-source models.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80060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Together AI / Anyscale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Serverless. Pay per training hour.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4E57"/>
                </a:solidFill>
                <a:latin typeface="Calibri"/>
              </a:defRPr>
            </a:pPr>
            <a:r>
              <a:t>Monitoring: Weights &amp; Biases | MLflow | TensorBoard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Tools &amp;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Vector Databases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ChromaDB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Open-source, embedded. Great for prototyping.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Pinecone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managed, serverless. Enterprise-ready.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Weaviate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Open-source. Hybrid search (vector + keyword).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0060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Qdrant / Milvus / pgvector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pgvector integrates with PostgreSQL.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Orchestration Frameworks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LangChain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Most popular for RAG pipelines. Wide ecosystem.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97480"/>
            <a:ext cx="53035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LlamaIndex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Specialized for data ingestion. Advanced retrieval.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749039"/>
            <a:ext cx="53035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Haystack (deepset)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Production-ready NLP. Pipeline-based.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800600"/>
            <a:ext cx="53035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Embedding Models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sentence-transformers / OpenAI / Cohere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Preparation &amp; Evaluation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data labeling for LLMs.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Multi-purpose labeling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Datasets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Library + hub. 100K+ public datasets.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0060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Synthetic Data Generation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 GPT-4/Claude to bootstrap training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Evaluation &amp; Benchmarking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Evaluation Harness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LLM benchmark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9748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749039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DeepEval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Unit testing for LLMs. CI/CD integration.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80060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Phoenix (Arize 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observability. Trace &amp; debug in prod.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Real-World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Risk assessment with domain accuracy</a:t>
            </a:r>
            <a:br/>
            <a:r>
              <a:t>- Compliance checking for regulations</a:t>
            </a:r>
            <a:br/>
            <a:r>
              <a:t>- Financial analysis: ratios, tables, metrics</a:t>
            </a:r>
            <a:br/>
            <a:r>
              <a:t>- Sentiment: FinBERT knows 'headwinds' = negative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Healthcare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Clinical notes: extract diagnoses, meds</a:t>
            </a:r>
            <a:br/>
            <a:r>
              <a:t>- Medical coding: ICD-10 from clinical text</a:t>
            </a:r>
            <a:br/>
            <a:r>
              <a:t>- Drug interactions from pharma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57600"/>
            <a:ext cx="53035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Legal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Contract review: clauses, obligations, risks</a:t>
            </a:r>
            <a:br/>
            <a:r>
              <a:t>- Case law research: precedent &amp; citations</a:t>
            </a:r>
            <a:br/>
            <a:r>
              <a:t>- Due diligence: extract terms from 1000s of 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657600"/>
            <a:ext cx="5303520" cy="20116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Customer Service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Domain-specific chatbots</a:t>
            </a:r>
            <a:br/>
            <a:r>
              <a:t>- Technical support with product terminology</a:t>
            </a:r>
            <a:br/>
            <a:r>
              <a:t>- Multilingual fine-tuned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436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Common pattern: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RAG for quick wins, then add fine-tuning where accuracy gaps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Hybrid Approach: Best of Both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  User Question + Financial Table</a:t>
            </a:r>
            <a:br/>
            <a:r>
              <a:t>         |</a:t>
            </a:r>
            <a:br/>
            <a:r>
              <a:t>    +----+----+</a:t>
            </a:r>
            <a:br/>
            <a:r>
              <a:t>    |         |</a:t>
            </a:r>
            <a:br/>
            <a:r>
              <a:t> [RETRIEVE]  [FINE-TUNED MODEL]</a:t>
            </a:r>
            <a:br/>
            <a:r>
              <a:t>  from DB     processes table</a:t>
            </a:r>
            <a:br/>
            <a:r>
              <a:t>    |         |</a:t>
            </a:r>
            <a:br/>
            <a:r>
              <a:t>    +----+----+</a:t>
            </a:r>
            <a:br/>
            <a:r>
              <a:t>         |</a:t>
            </a:r>
            <a:br/>
            <a:r>
              <a:t>  [FINE-TUNED MODEL</a:t>
            </a:r>
            <a:br/>
            <a:r>
              <a:t>   + Retrieved Context]</a:t>
            </a:r>
            <a:br/>
            <a:r>
              <a:t>         |</a:t>
            </a:r>
            <a:br/>
            <a:r>
              <a:t>  Answer with domain reasoning</a:t>
            </a:r>
            <a:br/>
            <a:r>
              <a:t>  + fresh context +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37160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Fine-Tuning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Numerical reasoning ability</a:t>
            </a:r>
            <a:br/>
            <a:r>
              <a:t>- Domain-specific patterns</a:t>
            </a:r>
            <a:br/>
            <a:r>
              <a:t>- Consistent output format</a:t>
            </a:r>
            <a:br/>
            <a:r>
              <a:t>- Lower error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3291840"/>
            <a:ext cx="5029200" cy="1645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RAG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Fresh, updatable knowledge</a:t>
            </a:r>
            <a:br/>
            <a:r>
              <a:t>- Source citations for audit</a:t>
            </a:r>
            <a:br/>
            <a:r>
              <a:t>- Broader context coverage</a:t>
            </a:r>
            <a:br/>
            <a:r>
              <a:t>- Reduced hallucination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Hybrid achieves 65.8% on FinQA vs 61.2% FT-only vs 15.3% RAG-only. 75% on sentiment vs 70% FT-only vs 65% RAG-only.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Cost &amp; ROI Considerations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Prompt Eng.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$100-$1K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$500-$50K+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$1K-$100K+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Per-Query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+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Manual prompts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Doc updates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Periodic retrain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Time to 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Days-Weeks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Weeks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ROI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3891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ROI Argument for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One-time training investment</a:t>
            </a:r>
            <a:br/>
            <a:r>
              <a:t>- Lower per-query cost (no retrieval)</a:t>
            </a:r>
            <a:br/>
            <a:r>
              <a:t>- Higher accuracy = fewer errors = less human review</a:t>
            </a:r>
            <a:br/>
            <a:r>
              <a:t>- Break-even: often within weeks for high-volume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389120"/>
            <a:ext cx="530352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When RAG Has Better ROI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Low query volume (&lt; 1K/day)</a:t>
            </a:r>
            <a:br/>
            <a:r>
              <a:t>- Rapidly changing knowledge base</a:t>
            </a:r>
            <a:br/>
            <a:r>
              <a:t>- No training data available</a:t>
            </a:r>
            <a:br/>
            <a:r>
              <a:t>- Need to launch in &lt; 1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solidFill>
            <a:srgbClr val="1C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Fine-tuning teaches a model new SKILLS.  RAG gives a model new INFORMATION.  The hybrid approach provides BOTH.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Fine-tuning is essential for specialized reasoning, calculations, and consistent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611879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 is valuable for dynamic knowledge, source citations, and quick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The best production systems often combine both approaches (hybrid)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0060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Modern tools (Unsloth, LoRA, QLoRA) make fine-tuning accessible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Start with RAG for quick wins, add fine-tuning where accuracy gaps appear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893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The cost of fine-tuning is an investment - higher accuracy means fewer costly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DAEF2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Insights from Our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Three controlled experiments comparing Base vs Fine-Tuned vs RAG vs Hybrid</a:t>
            </a:r>
            <a:br/>
            <a:r>
              <a:t>Same architecture and parameter count -- the only variable is the approach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Experiments Overview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 number measured by running our actual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BERT-base (110M)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FinBERT,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classification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reasoning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 calculation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Methodology: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Each experiment uses the SAME architecture and parameter count. The only variable is the approach (base, fine-tuned, RAG, or hybrid). All results measured in our environment with our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BERT-base-uncased (110M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45.0%  (9/20)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BERT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65.0%  (13/20)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75.0%  (15/20)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Confidence 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371600"/>
          <a:ext cx="8229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FinBERT: 0.845 confidence vs Base: 0.375. Fine-tuning produces more decisive, confident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Jargon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Specific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Straightforward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Subtle 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Mixed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Net interest income grew 12% driven by higher...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from deposit com...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company maintained its quarterly dividend...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Credit costs increased significantly due to 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Strong demand in core markets contributed to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assets remained relatively unchanged fr...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restructuring program resulted in $450M 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efficiency improved with the cost-t...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Provisions for loan losses rose sharply amid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board approved a routine extension of the...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Revenue exceeded analyst consensus estimates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Non-performing loans increased to 1.2% of tot...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60.0%  (3/5)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40.0%  (2/5)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80.0%  (4/5)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30/30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Multi Step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Single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31/30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percentage change in total reven...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for 2023....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1.103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 [Y]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is the efficiency ratio (OpEx/Revenue) f...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56.6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Return on Equity (ROE = Net Inc...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 [Y]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year-over-year growth rate for A...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15.2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15.2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32/30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12.5%  (1/8)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33/30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Efficiency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Liquidity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Profitability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Shareholder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34/30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283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Decompose the Return on Equity using the 3-co...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3-year Compound Annual Growth 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0.178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working capital for both quarte...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by first s...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1.45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1.45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operating cash flow ratio. Firs...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gross margin, operating margin,...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15.0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sustainable growth rate: SGR =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interest coverage ratio (EBIT/I...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27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35/30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Insights: What the Data Tells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Sentiment: FinBERT 70.0% vs Base 45.0% vs RAG 65.0% vs Hybrid 75.0%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2023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Domain Jargon: FinBERT 100.0% vs Base 33.3% -- fine-tuning is critical for specialized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Numerical: FinQA-7B 60.0% vs Base 20.0% vs RAG 40.0% vs Hybrid 80.0%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39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Ratios: FinQA-7B 25.0% vs Base 25.0% vs RAG 12.5% vs Hybrid 25.0%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excels at tasks requiring REASONING and COMPUTATION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helps most when FRESH INFORMATION is the bottleneck, not skill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2064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approach consistently achieves the highest accuracy across all experiments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1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Latency: Fine-tuned models are 2-4x faster than RAG (no retrieval 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36/30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Striking Examples: Where Each Approach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35"/>
                </a:solidFill>
                <a:latin typeface="Calibri"/>
              </a:defRPr>
            </a:pPr>
            <a:r>
              <a:t>Fine-Tuning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"Management expects headwinds from deposit competition to per..."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'headwinds' is financial jargon meaning challenges/obstacles. A generic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"Margin compression accelerated due to competitive deposit pr..."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'Margin compression' and 'pricing pressures' are domain-specific negative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"Operating efficiency improved with the cost-to-income ratio 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'declining' normally sounds negative, but a DECLINING cost-to-income 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F9E"/>
                </a:solidFill>
                <a:latin typeface="Calibri"/>
              </a:defRPr>
            </a:pPr>
            <a:r>
              <a:t>RAG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is Meridian National Bancorp's CET1 capital ratio and h..."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requires specific factual knowledge about a company that is NOT in any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74320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drove the decline in investment banking revenue accordi..."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answer is in a specific document (investment_banking_review.txt). A fine-tun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5B04"/>
                </a:solidFill>
                <a:latin typeface="Calibri"/>
              </a:defRPr>
            </a:pPr>
            <a:r>
              <a:t>Hybrid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45920"/>
            <a:ext cx="347472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"Based on the annual report data, calculate the year-over-yea..."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needs BOTH retrieval (to get the actual efficiency ratio numbers from the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37/30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Summary: All Experiments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(BERT 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FinBERT + RAG (hybrid)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(Llama2 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FinQA-7B + RAG (hybrid)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Ratios (Llama2 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393192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consistently outperforms base models by 25-46 percentage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52628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alone improves over base but cannot match fine-tuning for reasoning tasks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12064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(FT + RAG) achieves the highest accuracy in every experiment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1500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The advantage of fine-tuning is largest on domain jargon and complex calculations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0936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All comparisons use the SAME architecture -- the only variable is the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38/30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C7E8"/>
                </a:solidFill>
                <a:latin typeface="Calibri"/>
              </a:defRPr>
            </a:pPr>
            <a:r>
              <a:t>"Fine-tuning teaches SKILLS. RAG provides INFORMATION.</a:t>
            </a:r>
            <a:br/>
            <a:r>
              <a:t>The best systems combine both."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