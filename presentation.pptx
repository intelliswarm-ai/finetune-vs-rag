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Sheet2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Comparison</a:t>
            </a:r>
          </a:p>
        </c:rich>
      </c:tx>
      <c:layout/>
      <c:overlay val="0"/>
    </c:title>
    <c:autoTitleDeleted val="0"/>
    <c:plotArea>
      <c:barChart>
        <c:barDir val="col"/>
        <c:grouping val="clustered"/>
        <c:ser>
          <c:idx val="0"/>
          <c:order val="0"/>
          <c:tx>
            <c:strRef>
              <c:f>Sheet1!$B$1</c:f>
              <c:strCache>
                <c:ptCount val="1"/>
                <c:pt idx="0">
                  <c:v>Base BERT</c:v>
                </c:pt>
              </c:strCache>
            </c:strRef>
          </c:tx>
          <c:spPr>
            <a:solidFill>
              <a:srgbClr val="E84D4D"/>
            </a:solidFill>
          </c:spPr>
          <c:cat>
            <c:strRef>
              <c:f>Sheet1!$A$2:$A$2</c:f>
              <c:strCache>
                <c:ptCount val="1"/>
                <c:pt idx="0">
                  <c:v>Accuracy (%)</c:v>
                </c:pt>
              </c:strCache>
            </c:strRef>
          </c:cat>
          <c:val>
            <c:numRef>
              <c:f>Sheet1!$B$2:$B$2</c:f>
              <c:numCache>
                <c:formatCode>General</c:formatCode>
                <c:ptCount val="1"/>
                <c:pt idx="0">
                  <c:v>45.0</c:v>
                </c:pt>
              </c:numCache>
            </c:numRef>
          </c:val>
        </c:ser>
        <c:ser>
          <c:idx val="1"/>
          <c:order val="1"/>
          <c:tx>
            <c:strRef>
              <c:f>Sheet1!$C$1</c:f>
              <c:strCache>
                <c:ptCount val="1"/>
                <c:pt idx="0">
                  <c:v>FinBERT (fine-tuned)</c:v>
                </c:pt>
              </c:strCache>
            </c:strRef>
          </c:tx>
          <c:spPr>
            <a:solidFill>
              <a:srgbClr val="2EA04E"/>
            </a:solidFill>
          </c:spPr>
          <c:cat>
            <c:strRef>
              <c:f>Sheet1!$A$2:$A$2</c:f>
              <c:strCache>
                <c:ptCount val="1"/>
                <c:pt idx="0">
                  <c:v>Accuracy (%)</c:v>
                </c:pt>
              </c:strCache>
            </c:strRef>
          </c:cat>
          <c:val>
            <c:numRef>
              <c:f>Sheet1!$C$2:$C$2</c:f>
              <c:numCache>
                <c:formatCode>General</c:formatCode>
                <c:ptCount val="1"/>
                <c:pt idx="0">
                  <c:v>70.0</c:v>
                </c:pt>
              </c:numCache>
            </c:numRef>
          </c:val>
        </c:ser>
        <c:ser>
          <c:idx val="2"/>
          <c:order val="2"/>
          <c:tx>
            <c:strRef>
              <c:f>Sheet1!$D$1</c:f>
              <c:strCache>
                <c:ptCount val="1"/>
                <c:pt idx="0">
                  <c:v>BERT + RAG</c:v>
                </c:pt>
              </c:strCache>
            </c:strRef>
          </c:tx>
          <c:spPr>
            <a:solidFill>
              <a:srgbClr val="428BCA"/>
            </a:solidFill>
          </c:spPr>
          <c:cat>
            <c:strRef>
              <c:f>Sheet1!$A$2:$A$2</c:f>
              <c:strCache>
                <c:ptCount val="1"/>
                <c:pt idx="0">
                  <c:v>Accuracy (%)</c:v>
                </c:pt>
              </c:strCache>
            </c:strRef>
          </c:cat>
          <c:val>
            <c:numRef>
              <c:f>Sheet1!$D$2:$D$2</c:f>
              <c:numCache>
                <c:formatCode>General</c:formatCode>
                <c:ptCount val="1"/>
                <c:pt idx="0">
                  <c:v>65.0</c:v>
                </c:pt>
              </c:numCache>
            </c:numRef>
          </c:val>
        </c:ser>
        <c:ser>
          <c:idx val="3"/>
          <c:order val="3"/>
          <c:tx>
            <c:strRef>
              <c:f>Sheet1!$E$1</c:f>
              <c:strCache>
                <c:ptCount val="1"/>
                <c:pt idx="0">
                  <c:v>FinBERT + RAG (hybrid)</c:v>
                </c:pt>
              </c:strCache>
            </c:strRef>
          </c:tx>
          <c:spPr>
            <a:solidFill>
              <a:srgbClr val="F09319"/>
            </a:solidFill>
          </c:spPr>
          <c:cat>
            <c:strRef>
              <c:f>Sheet1!$A$2:$A$2</c:f>
              <c:strCache>
                <c:ptCount val="1"/>
                <c:pt idx="0">
                  <c:v>Accuracy (%)</c:v>
                </c:pt>
              </c:strCache>
            </c:strRef>
          </c:cat>
          <c:val>
            <c:numRef>
              <c:f>Sheet1!$E$2:$E$2</c:f>
              <c:numCache>
                <c:formatCode>General</c:formatCode>
                <c:ptCount val="1"/>
                <c:pt idx="0">
                  <c:v>70.0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Latency (ms)</a:t>
            </a:r>
          </a:p>
        </c:rich>
      </c:tx>
      <c:layout/>
      <c:overlay val="0"/>
    </c:title>
    <c:autoTitleDeleted val="0"/>
    <c:plotArea>
      <c:barChart>
        <c:barDir val="col"/>
        <c:grouping val="clustered"/>
        <c:ser>
          <c:idx val="0"/>
          <c:order val="0"/>
          <c:tx>
            <c:strRef>
              <c:f>Sheet1!$B$1</c:f>
              <c:strCache>
                <c:ptCount val="1"/>
                <c:pt idx="0">
                  <c:v>Base BERT</c:v>
                </c:pt>
              </c:strCache>
            </c:strRef>
          </c:tx>
          <c:spPr>
            <a:solidFill>
              <a:srgbClr val="E84D4D"/>
            </a:solidFill>
          </c:spPr>
          <c:cat>
            <c:strRef>
              <c:f>Sheet1!$A$2:$A$2</c:f>
              <c:strCache>
                <c:ptCount val="1"/>
                <c:pt idx="0">
                  <c:v>Avg Latency (ms)</c:v>
                </c:pt>
              </c:strCache>
            </c:strRef>
          </c:cat>
          <c:val>
            <c:numRef>
              <c:f>Sheet1!$B$2:$B$2</c:f>
              <c:numCache>
                <c:formatCode>General</c:formatCode>
                <c:ptCount val="1"/>
                <c:pt idx="0">
                  <c:v>79.6</c:v>
                </c:pt>
              </c:numCache>
            </c:numRef>
          </c:val>
        </c:ser>
        <c:ser>
          <c:idx val="1"/>
          <c:order val="1"/>
          <c:tx>
            <c:strRef>
              <c:f>Sheet1!$C$1</c:f>
              <c:strCache>
                <c:ptCount val="1"/>
                <c:pt idx="0">
                  <c:v>FinBERT (fine-tuned)</c:v>
                </c:pt>
              </c:strCache>
            </c:strRef>
          </c:tx>
          <c:spPr>
            <a:solidFill>
              <a:srgbClr val="2EA04E"/>
            </a:solidFill>
          </c:spPr>
          <c:cat>
            <c:strRef>
              <c:f>Sheet1!$A$2:$A$2</c:f>
              <c:strCache>
                <c:ptCount val="1"/>
                <c:pt idx="0">
                  <c:v>Avg Latency (ms)</c:v>
                </c:pt>
              </c:strCache>
            </c:strRef>
          </c:cat>
          <c:val>
            <c:numRef>
              <c:f>Sheet1!$C$2:$C$2</c:f>
              <c:numCache>
                <c:formatCode>General</c:formatCode>
                <c:ptCount val="1"/>
                <c:pt idx="0">
                  <c:v>80.4</c:v>
                </c:pt>
              </c:numCache>
            </c:numRef>
          </c:val>
        </c:ser>
        <c:ser>
          <c:idx val="2"/>
          <c:order val="2"/>
          <c:tx>
            <c:strRef>
              <c:f>Sheet1!$D$1</c:f>
              <c:strCache>
                <c:ptCount val="1"/>
                <c:pt idx="0">
                  <c:v>BERT + RAG</c:v>
                </c:pt>
              </c:strCache>
            </c:strRef>
          </c:tx>
          <c:spPr>
            <a:solidFill>
              <a:srgbClr val="428BCA"/>
            </a:solidFill>
          </c:spPr>
          <c:cat>
            <c:strRef>
              <c:f>Sheet1!$A$2:$A$2</c:f>
              <c:strCache>
                <c:ptCount val="1"/>
                <c:pt idx="0">
                  <c:v>Avg Latency (ms)</c:v>
                </c:pt>
              </c:strCache>
            </c:strRef>
          </c:cat>
          <c:val>
            <c:numRef>
              <c:f>Sheet1!$D$2:$D$2</c:f>
              <c:numCache>
                <c:formatCode>General</c:formatCode>
                <c:ptCount val="1"/>
                <c:pt idx="0">
                  <c:v>77.7</c:v>
                </c:pt>
              </c:numCache>
            </c:numRef>
          </c:val>
        </c:ser>
        <c:ser>
          <c:idx val="3"/>
          <c:order val="3"/>
          <c:tx>
            <c:strRef>
              <c:f>Sheet1!$E$1</c:f>
              <c:strCache>
                <c:ptCount val="1"/>
                <c:pt idx="0">
                  <c:v>FinBERT + RAG (hybrid)</c:v>
                </c:pt>
              </c:strCache>
            </c:strRef>
          </c:tx>
          <c:spPr>
            <a:solidFill>
              <a:srgbClr val="F09319"/>
            </a:solidFill>
          </c:spPr>
          <c:cat>
            <c:strRef>
              <c:f>Sheet1!$A$2:$A$2</c:f>
              <c:strCache>
                <c:ptCount val="1"/>
                <c:pt idx="0">
                  <c:v>Avg Latency (ms)</c:v>
                </c:pt>
              </c:strCache>
            </c:strRef>
          </c:cat>
          <c:val>
            <c:numRef>
              <c:f>Sheet1!$E$2:$E$2</c:f>
              <c:numCache>
                <c:formatCode>General</c:formatCode>
                <c:ptCount val="1"/>
                <c:pt idx="0">
                  <c:v>154.0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Tokens per Query</a:t>
            </a:r>
          </a:p>
        </c:rich>
      </c:tx>
      <c:layout/>
      <c:overlay val="0"/>
    </c:title>
    <c:autoTitleDeleted val="0"/>
    <c:plotArea>
      <c:barChart>
        <c:barDir val="col"/>
        <c:grouping val="clustered"/>
        <c:ser>
          <c:idx val="0"/>
          <c:order val="0"/>
          <c:tx>
            <c:strRef>
              <c:f>Sheet1!$B$1</c:f>
              <c:strCache>
                <c:ptCount val="1"/>
                <c:pt idx="0">
                  <c:v>Base BERT</c:v>
                </c:pt>
              </c:strCache>
            </c:strRef>
          </c:tx>
          <c:spPr>
            <a:solidFill>
              <a:srgbClr val="E84D4D"/>
            </a:solidFill>
          </c:spPr>
          <c:cat>
            <c:strRef>
              <c:f>Sheet1!$A$2:$A$2</c:f>
              <c:strCache>
                <c:ptCount val="1"/>
                <c:pt idx="0">
                  <c:v>Avg Tokens/Query</c:v>
                </c:pt>
              </c:strCache>
            </c:strRef>
          </c:cat>
          <c:val>
            <c:numRef>
              <c:f>Sheet1!$B$2:$B$2</c:f>
              <c:numCache>
                <c:formatCode>General</c:formatCode>
                <c:ptCount val="1"/>
                <c:pt idx="0">
                  <c:v>16</c:v>
                </c:pt>
              </c:numCache>
            </c:numRef>
          </c:val>
        </c:ser>
        <c:ser>
          <c:idx val="1"/>
          <c:order val="1"/>
          <c:tx>
            <c:strRef>
              <c:f>Sheet1!$C$1</c:f>
              <c:strCache>
                <c:ptCount val="1"/>
                <c:pt idx="0">
                  <c:v>FinBERT</c:v>
                </c:pt>
              </c:strCache>
            </c:strRef>
          </c:tx>
          <c:spPr>
            <a:solidFill>
              <a:srgbClr val="2EA04E"/>
            </a:solidFill>
          </c:spPr>
          <c:cat>
            <c:strRef>
              <c:f>Sheet1!$A$2:$A$2</c:f>
              <c:strCache>
                <c:ptCount val="1"/>
                <c:pt idx="0">
                  <c:v>Avg Tokens/Query</c:v>
                </c:pt>
              </c:strCache>
            </c:strRef>
          </c:cat>
          <c:val>
            <c:numRef>
              <c:f>Sheet1!$C$2:$C$2</c:f>
              <c:numCache>
                <c:formatCode>General</c:formatCode>
                <c:ptCount val="1"/>
                <c:pt idx="0">
                  <c:v>16</c:v>
                </c:pt>
              </c:numCache>
            </c:numRef>
          </c:val>
        </c:ser>
        <c:ser>
          <c:idx val="2"/>
          <c:order val="2"/>
          <c:tx>
            <c:strRef>
              <c:f>Sheet1!$D$1</c:f>
              <c:strCache>
                <c:ptCount val="1"/>
                <c:pt idx="0">
                  <c:v>BERT + RAG</c:v>
                </c:pt>
              </c:strCache>
            </c:strRef>
          </c:tx>
          <c:spPr>
            <a:solidFill>
              <a:srgbClr val="428BCA"/>
            </a:solidFill>
          </c:spPr>
          <c:cat>
            <c:strRef>
              <c:f>Sheet1!$A$2:$A$2</c:f>
              <c:strCache>
                <c:ptCount val="1"/>
                <c:pt idx="0">
                  <c:v>Avg Tokens/Query</c:v>
                </c:pt>
              </c:strCache>
            </c:strRef>
          </c:cat>
          <c:val>
            <c:numRef>
              <c:f>Sheet1!$D$2:$D$2</c:f>
              <c:numCache>
                <c:formatCode>General</c:formatCode>
                <c:ptCount val="1"/>
                <c:pt idx="0">
                  <c:v>76</c:v>
                </c:pt>
              </c:numCache>
            </c:numRef>
          </c:val>
        </c:ser>
        <c:ser>
          <c:idx val="3"/>
          <c:order val="3"/>
          <c:tx>
            <c:strRef>
              <c:f>Sheet1!$E$1</c:f>
              <c:strCache>
                <c:ptCount val="1"/>
                <c:pt idx="0">
                  <c:v>FinBERT + RAG</c:v>
                </c:pt>
              </c:strCache>
            </c:strRef>
          </c:tx>
          <c:spPr>
            <a:solidFill>
              <a:srgbClr val="F09319"/>
            </a:solidFill>
          </c:spPr>
          <c:cat>
            <c:strRef>
              <c:f>Sheet1!$A$2:$A$2</c:f>
              <c:strCache>
                <c:ptCount val="1"/>
                <c:pt idx="0">
                  <c:v>Avg Tokens/Query</c:v>
                </c:pt>
              </c:strCache>
            </c:strRef>
          </c:cat>
          <c:val>
            <c:numRef>
              <c:f>Sheet1!$E$2:$E$2</c:f>
              <c:numCache>
                <c:formatCode>General</c:formatCode>
                <c:ptCount val="1"/>
                <c:pt idx="0">
                  <c:v>92</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Cost per 1K Queries ($)</a:t>
            </a:r>
          </a:p>
        </c:rich>
      </c:tx>
      <c:layout/>
      <c:overlay val="0"/>
    </c:title>
    <c:autoTitleDeleted val="0"/>
    <c:plotArea>
      <c:barChart>
        <c:barDir val="col"/>
        <c:grouping val="clustered"/>
        <c:ser>
          <c:idx val="0"/>
          <c:order val="0"/>
          <c:tx>
            <c:strRef>
              <c:f>Sheet1!$B$1</c:f>
              <c:strCache>
                <c:ptCount val="1"/>
                <c:pt idx="0">
                  <c:v>Base BERT</c:v>
                </c:pt>
              </c:strCache>
            </c:strRef>
          </c:tx>
          <c:spPr>
            <a:solidFill>
              <a:srgbClr val="E84D4D"/>
            </a:solidFill>
          </c:spPr>
          <c:cat>
            <c:strRef>
              <c:f>Sheet1!$A$2:$A$2</c:f>
              <c:strCache>
                <c:ptCount val="1"/>
                <c:pt idx="0">
                  <c:v>Cost per 1K Queries ($)</c:v>
                </c:pt>
              </c:strCache>
            </c:strRef>
          </c:cat>
          <c:val>
            <c:numRef>
              <c:f>Sheet1!$B$2:$B$2</c:f>
              <c:numCache>
                <c:formatCode>General</c:formatCode>
                <c:ptCount val="1"/>
                <c:pt idx="0">
                  <c:v>0.0002</c:v>
                </c:pt>
              </c:numCache>
            </c:numRef>
          </c:val>
        </c:ser>
        <c:ser>
          <c:idx val="1"/>
          <c:order val="1"/>
          <c:tx>
            <c:strRef>
              <c:f>Sheet1!$C$1</c:f>
              <c:strCache>
                <c:ptCount val="1"/>
                <c:pt idx="0">
                  <c:v>FinBERT</c:v>
                </c:pt>
              </c:strCache>
            </c:strRef>
          </c:tx>
          <c:spPr>
            <a:solidFill>
              <a:srgbClr val="2EA04E"/>
            </a:solidFill>
          </c:spPr>
          <c:cat>
            <c:strRef>
              <c:f>Sheet1!$A$2:$A$2</c:f>
              <c:strCache>
                <c:ptCount val="1"/>
                <c:pt idx="0">
                  <c:v>Cost per 1K Queries ($)</c:v>
                </c:pt>
              </c:strCache>
            </c:strRef>
          </c:cat>
          <c:val>
            <c:numRef>
              <c:f>Sheet1!$C$2:$C$2</c:f>
              <c:numCache>
                <c:formatCode>General</c:formatCode>
                <c:ptCount val="1"/>
                <c:pt idx="0">
                  <c:v>0.0002</c:v>
                </c:pt>
              </c:numCache>
            </c:numRef>
          </c:val>
        </c:ser>
        <c:ser>
          <c:idx val="2"/>
          <c:order val="2"/>
          <c:tx>
            <c:strRef>
              <c:f>Sheet1!$D$1</c:f>
              <c:strCache>
                <c:ptCount val="1"/>
                <c:pt idx="0">
                  <c:v>BERT + RAG</c:v>
                </c:pt>
              </c:strCache>
            </c:strRef>
          </c:tx>
          <c:spPr>
            <a:solidFill>
              <a:srgbClr val="428BCA"/>
            </a:solidFill>
          </c:spPr>
          <c:cat>
            <c:strRef>
              <c:f>Sheet1!$A$2:$A$2</c:f>
              <c:strCache>
                <c:ptCount val="1"/>
                <c:pt idx="0">
                  <c:v>Cost per 1K Queries ($)</c:v>
                </c:pt>
              </c:strCache>
            </c:strRef>
          </c:cat>
          <c:val>
            <c:numRef>
              <c:f>Sheet1!$D$2:$D$2</c:f>
              <c:numCache>
                <c:formatCode>General</c:formatCode>
                <c:ptCount val="1"/>
                <c:pt idx="0">
                  <c:v>0.0008</c:v>
                </c:pt>
              </c:numCache>
            </c:numRef>
          </c:val>
        </c:ser>
        <c:ser>
          <c:idx val="3"/>
          <c:order val="3"/>
          <c:tx>
            <c:strRef>
              <c:f>Sheet1!$E$1</c:f>
              <c:strCache>
                <c:ptCount val="1"/>
                <c:pt idx="0">
                  <c:v>FinBERT + RAG</c:v>
                </c:pt>
              </c:strCache>
            </c:strRef>
          </c:tx>
          <c:spPr>
            <a:solidFill>
              <a:srgbClr val="F09319"/>
            </a:solidFill>
          </c:spPr>
          <c:cat>
            <c:strRef>
              <c:f>Sheet1!$A$2:$A$2</c:f>
              <c:strCache>
                <c:ptCount val="1"/>
                <c:pt idx="0">
                  <c:v>Cost per 1K Queries ($)</c:v>
                </c:pt>
              </c:strCache>
            </c:strRef>
          </c:cat>
          <c:val>
            <c:numRef>
              <c:f>Sheet1!$E$2:$E$2</c:f>
              <c:numCache>
                <c:formatCode>General</c:formatCode>
                <c:ptCount val="1"/>
                <c:pt idx="0">
                  <c:v>0.0009</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F1 Score (Macro Average)</a:t>
            </a:r>
          </a:p>
        </c:rich>
      </c:tx>
      <c:layout/>
      <c:overlay val="0"/>
    </c:title>
    <c:autoTitleDeleted val="0"/>
    <c:plotArea>
      <c:barChart>
        <c:barDir val="col"/>
        <c:grouping val="clustered"/>
        <c:ser>
          <c:idx val="0"/>
          <c:order val="0"/>
          <c:tx>
            <c:strRef>
              <c:f>Sheet1!$B$1</c:f>
              <c:strCache>
                <c:ptCount val="1"/>
                <c:pt idx="0">
                  <c:v>Base BERT</c:v>
                </c:pt>
              </c:strCache>
            </c:strRef>
          </c:tx>
          <c:spPr>
            <a:solidFill>
              <a:srgbClr val="E84D4D"/>
            </a:solidFill>
          </c:spPr>
          <c:cat>
            <c:strRef>
              <c:f>Sheet1!$A$2:$A$2</c:f>
              <c:strCache>
                <c:ptCount val="1"/>
                <c:pt idx="0">
                  <c:v>F1 Macro</c:v>
                </c:pt>
              </c:strCache>
            </c:strRef>
          </c:cat>
          <c:val>
            <c:numRef>
              <c:f>Sheet1!$B$2:$B$2</c:f>
              <c:numCache>
                <c:formatCode>General</c:formatCode>
                <c:ptCount val="1"/>
                <c:pt idx="0">
                  <c:v>0.347</c:v>
                </c:pt>
              </c:numCache>
            </c:numRef>
          </c:val>
        </c:ser>
        <c:ser>
          <c:idx val="1"/>
          <c:order val="1"/>
          <c:tx>
            <c:strRef>
              <c:f>Sheet1!$C$1</c:f>
              <c:strCache>
                <c:ptCount val="1"/>
                <c:pt idx="0">
                  <c:v>FinBERT</c:v>
                </c:pt>
              </c:strCache>
            </c:strRef>
          </c:tx>
          <c:spPr>
            <a:solidFill>
              <a:srgbClr val="2EA04E"/>
            </a:solidFill>
          </c:spPr>
          <c:cat>
            <c:strRef>
              <c:f>Sheet1!$A$2:$A$2</c:f>
              <c:strCache>
                <c:ptCount val="1"/>
                <c:pt idx="0">
                  <c:v>F1 Macro</c:v>
                </c:pt>
              </c:strCache>
            </c:strRef>
          </c:cat>
          <c:val>
            <c:numRef>
              <c:f>Sheet1!$C$2:$C$2</c:f>
              <c:numCache>
                <c:formatCode>General</c:formatCode>
                <c:ptCount val="1"/>
                <c:pt idx="0">
                  <c:v>0.669</c:v>
                </c:pt>
              </c:numCache>
            </c:numRef>
          </c:val>
        </c:ser>
        <c:ser>
          <c:idx val="2"/>
          <c:order val="2"/>
          <c:tx>
            <c:strRef>
              <c:f>Sheet1!$D$1</c:f>
              <c:strCache>
                <c:ptCount val="1"/>
                <c:pt idx="0">
                  <c:v>BERT + RAG</c:v>
                </c:pt>
              </c:strCache>
            </c:strRef>
          </c:tx>
          <c:spPr>
            <a:solidFill>
              <a:srgbClr val="428BCA"/>
            </a:solidFill>
          </c:spPr>
          <c:cat>
            <c:strRef>
              <c:f>Sheet1!$A$2:$A$2</c:f>
              <c:strCache>
                <c:ptCount val="1"/>
                <c:pt idx="0">
                  <c:v>F1 Macro</c:v>
                </c:pt>
              </c:strCache>
            </c:strRef>
          </c:cat>
          <c:val>
            <c:numRef>
              <c:f>Sheet1!$D$2:$D$2</c:f>
              <c:numCache>
                <c:formatCode>General</c:formatCode>
                <c:ptCount val="1"/>
                <c:pt idx="0">
                  <c:v>0.604</c:v>
                </c:pt>
              </c:numCache>
            </c:numRef>
          </c:val>
        </c:ser>
        <c:ser>
          <c:idx val="3"/>
          <c:order val="3"/>
          <c:tx>
            <c:strRef>
              <c:f>Sheet1!$E$1</c:f>
              <c:strCache>
                <c:ptCount val="1"/>
                <c:pt idx="0">
                  <c:v>FinBERT + RAG</c:v>
                </c:pt>
              </c:strCache>
            </c:strRef>
          </c:tx>
          <c:spPr>
            <a:solidFill>
              <a:srgbClr val="F09319"/>
            </a:solidFill>
          </c:spPr>
          <c:cat>
            <c:strRef>
              <c:f>Sheet1!$A$2:$A$2</c:f>
              <c:strCache>
                <c:ptCount val="1"/>
                <c:pt idx="0">
                  <c:v>F1 Macro</c:v>
                </c:pt>
              </c:strCache>
            </c:strRef>
          </c:cat>
          <c:val>
            <c:numRef>
              <c:f>Sheet1!$E$2:$E$2</c:f>
              <c:numCache>
                <c:formatCode>General</c:formatCode>
                <c:ptCount val="1"/>
                <c:pt idx="0">
                  <c:v>0.669</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Average Confidence Score</a:t>
            </a:r>
          </a:p>
        </c:rich>
      </c:tx>
      <c:layout/>
      <c:overlay val="0"/>
    </c:title>
    <c:autoTitleDeleted val="0"/>
    <c:plotArea>
      <c:barChart>
        <c:barDir val="col"/>
        <c:grouping val="clustered"/>
        <c:ser>
          <c:idx val="0"/>
          <c:order val="0"/>
          <c:tx>
            <c:strRef>
              <c:f>Sheet1!$B$1</c:f>
              <c:strCache>
                <c:ptCount val="1"/>
                <c:pt idx="0">
                  <c:v>Base BERT</c:v>
                </c:pt>
              </c:strCache>
            </c:strRef>
          </c:tx>
          <c:spPr>
            <a:solidFill>
              <a:srgbClr val="E84D4D"/>
            </a:solidFill>
          </c:spPr>
          <c:cat>
            <c:strRef>
              <c:f>Sheet1!$A$2:$A$2</c:f>
              <c:strCache>
                <c:ptCount val="1"/>
                <c:pt idx="0">
                  <c:v>Avg Confidence</c:v>
                </c:pt>
              </c:strCache>
            </c:strRef>
          </c:cat>
          <c:val>
            <c:numRef>
              <c:f>Sheet1!$B$2:$B$2</c:f>
              <c:numCache>
                <c:formatCode>General</c:formatCode>
                <c:ptCount val="1"/>
                <c:pt idx="0">
                  <c:v>0.375</c:v>
                </c:pt>
              </c:numCache>
            </c:numRef>
          </c:val>
        </c:ser>
        <c:ser>
          <c:idx val="1"/>
          <c:order val="1"/>
          <c:tx>
            <c:strRef>
              <c:f>Sheet1!$C$1</c:f>
              <c:strCache>
                <c:ptCount val="1"/>
                <c:pt idx="0">
                  <c:v>FinBERT (fine-tuned)</c:v>
                </c:pt>
              </c:strCache>
            </c:strRef>
          </c:tx>
          <c:spPr>
            <a:solidFill>
              <a:srgbClr val="2EA04E"/>
            </a:solidFill>
          </c:spPr>
          <c:cat>
            <c:strRef>
              <c:f>Sheet1!$A$2:$A$2</c:f>
              <c:strCache>
                <c:ptCount val="1"/>
                <c:pt idx="0">
                  <c:v>Avg Confidence</c:v>
                </c:pt>
              </c:strCache>
            </c:strRef>
          </c:cat>
          <c:val>
            <c:numRef>
              <c:f>Sheet1!$C$2:$C$2</c:f>
              <c:numCache>
                <c:formatCode>General</c:formatCode>
                <c:ptCount val="1"/>
                <c:pt idx="0">
                  <c:v>0.845</c:v>
                </c:pt>
              </c:numCache>
            </c:numRef>
          </c:val>
        </c:ser>
        <c:ser>
          <c:idx val="2"/>
          <c:order val="2"/>
          <c:tx>
            <c:strRef>
              <c:f>Sheet1!$D$1</c:f>
              <c:strCache>
                <c:ptCount val="1"/>
                <c:pt idx="0">
                  <c:v>BERT + RAG</c:v>
                </c:pt>
              </c:strCache>
            </c:strRef>
          </c:tx>
          <c:spPr>
            <a:solidFill>
              <a:srgbClr val="428BCA"/>
            </a:solidFill>
          </c:spPr>
          <c:cat>
            <c:strRef>
              <c:f>Sheet1!$A$2:$A$2</c:f>
              <c:strCache>
                <c:ptCount val="1"/>
                <c:pt idx="0">
                  <c:v>Avg Confidence</c:v>
                </c:pt>
              </c:strCache>
            </c:strRef>
          </c:cat>
          <c:val>
            <c:numRef>
              <c:f>Sheet1!$D$2:$D$2</c:f>
              <c:numCache>
                <c:formatCode>General</c:formatCode>
                <c:ptCount val="1"/>
                <c:pt idx="0">
                  <c:v>0.564</c:v>
                </c:pt>
              </c:numCache>
            </c:numRef>
          </c:val>
        </c:ser>
        <c:ser>
          <c:idx val="3"/>
          <c:order val="3"/>
          <c:tx>
            <c:strRef>
              <c:f>Sheet1!$E$1</c:f>
              <c:strCache>
                <c:ptCount val="1"/>
                <c:pt idx="0">
                  <c:v>FinBERT + RAG (hybrid)</c:v>
                </c:pt>
              </c:strCache>
            </c:strRef>
          </c:tx>
          <c:spPr>
            <a:solidFill>
              <a:srgbClr val="F09319"/>
            </a:solidFill>
          </c:spPr>
          <c:cat>
            <c:strRef>
              <c:f>Sheet1!$A$2:$A$2</c:f>
              <c:strCache>
                <c:ptCount val="1"/>
                <c:pt idx="0">
                  <c:v>Avg Confidence</c:v>
                </c:pt>
              </c:strCache>
            </c:strRef>
          </c:cat>
          <c:val>
            <c:numRef>
              <c:f>Sheet1!$E$2:$E$2</c:f>
              <c:numCache>
                <c:formatCode>General</c:formatCode>
                <c:ptCount val="1"/>
                <c:pt idx="0">
                  <c:v>0.7</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by Category</a:t>
            </a:r>
          </a:p>
        </c:rich>
      </c:tx>
      <c:layout/>
      <c:overlay val="0"/>
    </c:title>
    <c:autoTitleDeleted val="0"/>
    <c:plotArea>
      <c:barChart>
        <c:barDir val="col"/>
        <c:grouping val="clustered"/>
        <c:ser>
          <c:idx val="0"/>
          <c:order val="0"/>
          <c:tx>
            <c:strRef>
              <c:f>Sheet1!$B$1</c:f>
              <c:strCache>
                <c:ptCount val="1"/>
                <c:pt idx="0">
                  <c:v>Base BERT</c:v>
                </c:pt>
              </c:strCache>
            </c:strRef>
          </c:tx>
          <c:spPr>
            <a:solidFill>
              <a:srgbClr val="E84D4D"/>
            </a:solidFill>
          </c:spPr>
          <c:cat>
            <c:strRef>
              <c:f>Sheet1!$A$2:$A$7</c:f>
              <c:strCache>
                <c:ptCount val="6"/>
                <c:pt idx="0">
                  <c:v>Domain Jargon</c:v>
                </c:pt>
                <c:pt idx="1">
                  <c:v>Domain Specific</c:v>
                </c:pt>
                <c:pt idx="2">
                  <c:v>Straightforward</c:v>
                </c:pt>
                <c:pt idx="3">
                  <c:v>Subtle Neutral</c:v>
                </c:pt>
                <c:pt idx="4">
                  <c:v>Tricky Mixed</c:v>
                </c:pt>
                <c:pt idx="5">
                  <c:v>Tricky Positive</c:v>
                </c:pt>
              </c:strCache>
            </c:strRef>
          </c:cat>
          <c:val>
            <c:numRef>
              <c:f>Sheet1!$B$2:$B$7</c:f>
              <c:numCache>
                <c:formatCode>General</c:formatCode>
                <c:ptCount val="6"/>
                <c:pt idx="0">
                  <c:v>33.3</c:v>
                </c:pt>
                <c:pt idx="1">
                  <c:v>60.0</c:v>
                </c:pt>
                <c:pt idx="2">
                  <c:v>80.0</c:v>
                </c:pt>
                <c:pt idx="3">
                  <c:v>0.0</c:v>
                </c:pt>
                <c:pt idx="4">
                  <c:v>0.0</c:v>
                </c:pt>
                <c:pt idx="5">
                  <c:v>100.0</c:v>
                </c:pt>
              </c:numCache>
            </c:numRef>
          </c:val>
        </c:ser>
        <c:ser>
          <c:idx val="1"/>
          <c:order val="1"/>
          <c:tx>
            <c:strRef>
              <c:f>Sheet1!$C$1</c:f>
              <c:strCache>
                <c:ptCount val="1"/>
                <c:pt idx="0">
                  <c:v>FinBERT</c:v>
                </c:pt>
              </c:strCache>
            </c:strRef>
          </c:tx>
          <c:spPr>
            <a:solidFill>
              <a:srgbClr val="2EA04E"/>
            </a:solidFill>
          </c:spPr>
          <c:cat>
            <c:strRef>
              <c:f>Sheet1!$A$2:$A$7</c:f>
              <c:strCache>
                <c:ptCount val="6"/>
                <c:pt idx="0">
                  <c:v>Domain Jargon</c:v>
                </c:pt>
                <c:pt idx="1">
                  <c:v>Domain Specific</c:v>
                </c:pt>
                <c:pt idx="2">
                  <c:v>Straightforward</c:v>
                </c:pt>
                <c:pt idx="3">
                  <c:v>Subtle Neutral</c:v>
                </c:pt>
                <c:pt idx="4">
                  <c:v>Tricky Mixed</c:v>
                </c:pt>
                <c:pt idx="5">
                  <c:v>Tricky Positive</c:v>
                </c:pt>
              </c:strCache>
            </c:strRef>
          </c:cat>
          <c:val>
            <c:numRef>
              <c:f>Sheet1!$C$2:$C$7</c:f>
              <c:numCache>
                <c:formatCode>General</c:formatCode>
                <c:ptCount val="6"/>
                <c:pt idx="0">
                  <c:v>100.0</c:v>
                </c:pt>
                <c:pt idx="1">
                  <c:v>60.0</c:v>
                </c:pt>
                <c:pt idx="2">
                  <c:v>100.0</c:v>
                </c:pt>
                <c:pt idx="3">
                  <c:v>40.0</c:v>
                </c:pt>
                <c:pt idx="4">
                  <c:v>0.0</c:v>
                </c:pt>
                <c:pt idx="5">
                  <c:v>100.0</c:v>
                </c:pt>
              </c:numCache>
            </c:numRef>
          </c:val>
        </c:ser>
        <c:ser>
          <c:idx val="2"/>
          <c:order val="2"/>
          <c:tx>
            <c:strRef>
              <c:f>Sheet1!$D$1</c:f>
              <c:strCache>
                <c:ptCount val="1"/>
                <c:pt idx="0">
                  <c:v>BERT + RAG</c:v>
                </c:pt>
              </c:strCache>
            </c:strRef>
          </c:tx>
          <c:spPr>
            <a:solidFill>
              <a:srgbClr val="428BCA"/>
            </a:solidFill>
          </c:spPr>
          <c:cat>
            <c:strRef>
              <c:f>Sheet1!$A$2:$A$7</c:f>
              <c:strCache>
                <c:ptCount val="6"/>
                <c:pt idx="0">
                  <c:v>Domain Jargon</c:v>
                </c:pt>
                <c:pt idx="1">
                  <c:v>Domain Specific</c:v>
                </c:pt>
                <c:pt idx="2">
                  <c:v>Straightforward</c:v>
                </c:pt>
                <c:pt idx="3">
                  <c:v>Subtle Neutral</c:v>
                </c:pt>
                <c:pt idx="4">
                  <c:v>Tricky Mixed</c:v>
                </c:pt>
                <c:pt idx="5">
                  <c:v>Tricky Positive</c:v>
                </c:pt>
              </c:strCache>
            </c:strRef>
          </c:cat>
          <c:val>
            <c:numRef>
              <c:f>Sheet1!$D$2:$D$7</c:f>
              <c:numCache>
                <c:formatCode>General</c:formatCode>
                <c:ptCount val="6"/>
                <c:pt idx="0">
                  <c:v>0.0</c:v>
                </c:pt>
                <c:pt idx="1">
                  <c:v>40.0</c:v>
                </c:pt>
                <c:pt idx="2">
                  <c:v>80.0</c:v>
                </c:pt>
                <c:pt idx="3">
                  <c:v>100.0</c:v>
                </c:pt>
                <c:pt idx="4">
                  <c:v>100.0</c:v>
                </c:pt>
                <c:pt idx="5">
                  <c:v>100.0</c:v>
                </c:pt>
              </c:numCache>
            </c:numRef>
          </c:val>
        </c:ser>
        <c:ser>
          <c:idx val="3"/>
          <c:order val="3"/>
          <c:tx>
            <c:strRef>
              <c:f>Sheet1!$E$1</c:f>
              <c:strCache>
                <c:ptCount val="1"/>
                <c:pt idx="0">
                  <c:v>FinBERT + RAG</c:v>
                </c:pt>
              </c:strCache>
            </c:strRef>
          </c:tx>
          <c:spPr>
            <a:solidFill>
              <a:srgbClr val="F09319"/>
            </a:solidFill>
          </c:spPr>
          <c:cat>
            <c:strRef>
              <c:f>Sheet1!$A$2:$A$7</c:f>
              <c:strCache>
                <c:ptCount val="6"/>
                <c:pt idx="0">
                  <c:v>Domain Jargon</c:v>
                </c:pt>
                <c:pt idx="1">
                  <c:v>Domain Specific</c:v>
                </c:pt>
                <c:pt idx="2">
                  <c:v>Straightforward</c:v>
                </c:pt>
                <c:pt idx="3">
                  <c:v>Subtle Neutral</c:v>
                </c:pt>
                <c:pt idx="4">
                  <c:v>Tricky Mixed</c:v>
                </c:pt>
                <c:pt idx="5">
                  <c:v>Tricky Positive</c:v>
                </c:pt>
              </c:strCache>
            </c:strRef>
          </c:cat>
          <c:val>
            <c:numRef>
              <c:f>Sheet1!$E$2:$E$7</c:f>
              <c:numCache>
                <c:formatCode>General</c:formatCode>
                <c:ptCount val="6"/>
                <c:pt idx="0">
                  <c:v>100.0</c:v>
                </c:pt>
                <c:pt idx="1">
                  <c:v>60.0</c:v>
                </c:pt>
                <c:pt idx="2">
                  <c:v>100.0</c:v>
                </c:pt>
                <c:pt idx="3">
                  <c:v>40.0</c:v>
                </c:pt>
                <c:pt idx="4">
                  <c:v>0.0</c:v>
                </c:pt>
                <c:pt idx="5">
                  <c:v>100.0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Comparison</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Accuracy (%)</c:v>
                </c:pt>
              </c:strCache>
            </c:strRef>
          </c:cat>
          <c:val>
            <c:numRef>
              <c:f>Sheet1!$B$2:$B$2</c:f>
              <c:numCache>
                <c:formatCode>General</c:formatCode>
                <c:ptCount val="1"/>
                <c:pt idx="0">
                  <c:v>20.0</c:v>
                </c:pt>
              </c:numCache>
            </c:numRef>
          </c:val>
        </c:ser>
        <c:ser>
          <c:idx val="1"/>
          <c:order val="1"/>
          <c:tx>
            <c:strRef>
              <c:f>Sheet1!$C$1</c:f>
              <c:strCache>
                <c:ptCount val="1"/>
                <c:pt idx="0">
                  <c:v>FinQA-7B (fine-tuned)</c:v>
                </c:pt>
              </c:strCache>
            </c:strRef>
          </c:tx>
          <c:spPr>
            <a:solidFill>
              <a:srgbClr val="2EA04E"/>
            </a:solidFill>
          </c:spPr>
          <c:cat>
            <c:strRef>
              <c:f>Sheet1!$A$2:$A$2</c:f>
              <c:strCache>
                <c:ptCount val="1"/>
                <c:pt idx="0">
                  <c:v>Accuracy (%)</c:v>
                </c:pt>
              </c:strCache>
            </c:strRef>
          </c:cat>
          <c:val>
            <c:numRef>
              <c:f>Sheet1!$C$2:$C$2</c:f>
              <c:numCache>
                <c:formatCode>General</c:formatCode>
                <c:ptCount val="1"/>
                <c:pt idx="0">
                  <c:v>20.0</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Accuracy (%)</c:v>
                </c:pt>
              </c:strCache>
            </c:strRef>
          </c:cat>
          <c:val>
            <c:numRef>
              <c:f>Sheet1!$D$2:$D$2</c:f>
              <c:numCache>
                <c:formatCode>General</c:formatCode>
                <c:ptCount val="1"/>
                <c:pt idx="0">
                  <c:v>20.0</c:v>
                </c:pt>
              </c:numCache>
            </c:numRef>
          </c:val>
        </c:ser>
        <c:ser>
          <c:idx val="3"/>
          <c:order val="3"/>
          <c:tx>
            <c:strRef>
              <c:f>Sheet1!$E$1</c:f>
              <c:strCache>
                <c:ptCount val="1"/>
                <c:pt idx="0">
                  <c:v>FinQA-7B + RAG (hybrid)</c:v>
                </c:pt>
              </c:strCache>
            </c:strRef>
          </c:tx>
          <c:spPr>
            <a:solidFill>
              <a:srgbClr val="F09319"/>
            </a:solidFill>
          </c:spPr>
          <c:cat>
            <c:strRef>
              <c:f>Sheet1!$A$2:$A$2</c:f>
              <c:strCache>
                <c:ptCount val="1"/>
                <c:pt idx="0">
                  <c:v>Accuracy (%)</c:v>
                </c:pt>
              </c:strCache>
            </c:strRef>
          </c:cat>
          <c:val>
            <c:numRef>
              <c:f>Sheet1!$E$2:$E$2</c:f>
              <c:numCache>
                <c:formatCode>General</c:formatCode>
                <c:ptCount val="1"/>
                <c:pt idx="0">
                  <c:v>20.0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Latency (ms)</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Avg Latency (ms)</c:v>
                </c:pt>
              </c:strCache>
            </c:strRef>
          </c:cat>
          <c:val>
            <c:numRef>
              <c:f>Sheet1!$B$2:$B$2</c:f>
              <c:numCache>
                <c:formatCode>General</c:formatCode>
                <c:ptCount val="1"/>
                <c:pt idx="0">
                  <c:v>124980.9</c:v>
                </c:pt>
              </c:numCache>
            </c:numRef>
          </c:val>
        </c:ser>
        <c:ser>
          <c:idx val="1"/>
          <c:order val="1"/>
          <c:tx>
            <c:strRef>
              <c:f>Sheet1!$C$1</c:f>
              <c:strCache>
                <c:ptCount val="1"/>
                <c:pt idx="0">
                  <c:v>FinQA-7B (fine-tuned)</c:v>
                </c:pt>
              </c:strCache>
            </c:strRef>
          </c:tx>
          <c:spPr>
            <a:solidFill>
              <a:srgbClr val="2EA04E"/>
            </a:solidFill>
          </c:spPr>
          <c:cat>
            <c:strRef>
              <c:f>Sheet1!$A$2:$A$2</c:f>
              <c:strCache>
                <c:ptCount val="1"/>
                <c:pt idx="0">
                  <c:v>Avg Latency (ms)</c:v>
                </c:pt>
              </c:strCache>
            </c:strRef>
          </c:cat>
          <c:val>
            <c:numRef>
              <c:f>Sheet1!$C$2:$C$2</c:f>
              <c:numCache>
                <c:formatCode>General</c:formatCode>
                <c:ptCount val="1"/>
                <c:pt idx="0">
                  <c:v>59515.4</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Avg Latency (ms)</c:v>
                </c:pt>
              </c:strCache>
            </c:strRef>
          </c:cat>
          <c:val>
            <c:numRef>
              <c:f>Sheet1!$D$2:$D$2</c:f>
              <c:numCache>
                <c:formatCode>General</c:formatCode>
                <c:ptCount val="1"/>
                <c:pt idx="0">
                  <c:v>137743.9</c:v>
                </c:pt>
              </c:numCache>
            </c:numRef>
          </c:val>
        </c:ser>
        <c:ser>
          <c:idx val="3"/>
          <c:order val="3"/>
          <c:tx>
            <c:strRef>
              <c:f>Sheet1!$E$1</c:f>
              <c:strCache>
                <c:ptCount val="1"/>
                <c:pt idx="0">
                  <c:v>FinQA-7B + RAG (hybrid)</c:v>
                </c:pt>
              </c:strCache>
            </c:strRef>
          </c:tx>
          <c:spPr>
            <a:solidFill>
              <a:srgbClr val="F09319"/>
            </a:solidFill>
          </c:spPr>
          <c:cat>
            <c:strRef>
              <c:f>Sheet1!$A$2:$A$2</c:f>
              <c:strCache>
                <c:ptCount val="1"/>
                <c:pt idx="0">
                  <c:v>Avg Latency (ms)</c:v>
                </c:pt>
              </c:strCache>
            </c:strRef>
          </c:cat>
          <c:val>
            <c:numRef>
              <c:f>Sheet1!$E$2:$E$2</c:f>
              <c:numCache>
                <c:formatCode>General</c:formatCode>
                <c:ptCount val="1"/>
                <c:pt idx="0">
                  <c:v>222235.2</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Tokens per Query</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Avg Tokens/Query</c:v>
                </c:pt>
              </c:strCache>
            </c:strRef>
          </c:cat>
          <c:val>
            <c:numRef>
              <c:f>Sheet1!$B$2:$B$2</c:f>
              <c:numCache>
                <c:formatCode>General</c:formatCode>
                <c:ptCount val="1"/>
                <c:pt idx="0">
                  <c:v>314</c:v>
                </c:pt>
              </c:numCache>
            </c:numRef>
          </c:val>
        </c:ser>
        <c:ser>
          <c:idx val="1"/>
          <c:order val="1"/>
          <c:tx>
            <c:strRef>
              <c:f>Sheet1!$C$1</c:f>
              <c:strCache>
                <c:ptCount val="1"/>
                <c:pt idx="0">
                  <c:v>FinQA-7B</c:v>
                </c:pt>
              </c:strCache>
            </c:strRef>
          </c:tx>
          <c:spPr>
            <a:solidFill>
              <a:srgbClr val="2EA04E"/>
            </a:solidFill>
          </c:spPr>
          <c:cat>
            <c:strRef>
              <c:f>Sheet1!$A$2:$A$2</c:f>
              <c:strCache>
                <c:ptCount val="1"/>
                <c:pt idx="0">
                  <c:v>Avg Tokens/Query</c:v>
                </c:pt>
              </c:strCache>
            </c:strRef>
          </c:cat>
          <c:val>
            <c:numRef>
              <c:f>Sheet1!$C$2:$C$2</c:f>
              <c:numCache>
                <c:formatCode>General</c:formatCode>
                <c:ptCount val="1"/>
                <c:pt idx="0">
                  <c:v>285</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Avg Tokens/Query</c:v>
                </c:pt>
              </c:strCache>
            </c:strRef>
          </c:cat>
          <c:val>
            <c:numRef>
              <c:f>Sheet1!$D$2:$D$2</c:f>
              <c:numCache>
                <c:formatCode>General</c:formatCode>
                <c:ptCount val="1"/>
                <c:pt idx="0">
                  <c:v>1638</c:v>
                </c:pt>
              </c:numCache>
            </c:numRef>
          </c:val>
        </c:ser>
        <c:ser>
          <c:idx val="3"/>
          <c:order val="3"/>
          <c:tx>
            <c:strRef>
              <c:f>Sheet1!$E$1</c:f>
              <c:strCache>
                <c:ptCount val="1"/>
                <c:pt idx="0">
                  <c:v>FinQA-7B + RAG</c:v>
                </c:pt>
              </c:strCache>
            </c:strRef>
          </c:tx>
          <c:spPr>
            <a:solidFill>
              <a:srgbClr val="F09319"/>
            </a:solidFill>
          </c:spPr>
          <c:cat>
            <c:strRef>
              <c:f>Sheet1!$A$2:$A$2</c:f>
              <c:strCache>
                <c:ptCount val="1"/>
                <c:pt idx="0">
                  <c:v>Avg Tokens/Query</c:v>
                </c:pt>
              </c:strCache>
            </c:strRef>
          </c:cat>
          <c:val>
            <c:numRef>
              <c:f>Sheet1!$E$2:$E$2</c:f>
              <c:numCache>
                <c:formatCode>General</c:formatCode>
                <c:ptCount val="1"/>
                <c:pt idx="0">
                  <c:v>1661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Cost per 1K Queries ($)</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Cost per 1K Queries ($)</c:v>
                </c:pt>
              </c:strCache>
            </c:strRef>
          </c:cat>
          <c:val>
            <c:numRef>
              <c:f>Sheet1!$B$2:$B$2</c:f>
              <c:numCache>
                <c:formatCode>General</c:formatCode>
                <c:ptCount val="1"/>
                <c:pt idx="0">
                  <c:v>0.0628</c:v>
                </c:pt>
              </c:numCache>
            </c:numRef>
          </c:val>
        </c:ser>
        <c:ser>
          <c:idx val="1"/>
          <c:order val="1"/>
          <c:tx>
            <c:strRef>
              <c:f>Sheet1!$C$1</c:f>
              <c:strCache>
                <c:ptCount val="1"/>
                <c:pt idx="0">
                  <c:v>FinQA-7B</c:v>
                </c:pt>
              </c:strCache>
            </c:strRef>
          </c:tx>
          <c:spPr>
            <a:solidFill>
              <a:srgbClr val="2EA04E"/>
            </a:solidFill>
          </c:spPr>
          <c:cat>
            <c:strRef>
              <c:f>Sheet1!$A$2:$A$2</c:f>
              <c:strCache>
                <c:ptCount val="1"/>
                <c:pt idx="0">
                  <c:v>Cost per 1K Queries ($)</c:v>
                </c:pt>
              </c:strCache>
            </c:strRef>
          </c:cat>
          <c:val>
            <c:numRef>
              <c:f>Sheet1!$C$2:$C$2</c:f>
              <c:numCache>
                <c:formatCode>General</c:formatCode>
                <c:ptCount val="1"/>
                <c:pt idx="0">
                  <c:v>0.0569</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Cost per 1K Queries ($)</c:v>
                </c:pt>
              </c:strCache>
            </c:strRef>
          </c:cat>
          <c:val>
            <c:numRef>
              <c:f>Sheet1!$D$2:$D$2</c:f>
              <c:numCache>
                <c:formatCode>General</c:formatCode>
                <c:ptCount val="1"/>
                <c:pt idx="0">
                  <c:v>0.3277</c:v>
                </c:pt>
              </c:numCache>
            </c:numRef>
          </c:val>
        </c:ser>
        <c:ser>
          <c:idx val="3"/>
          <c:order val="3"/>
          <c:tx>
            <c:strRef>
              <c:f>Sheet1!$E$1</c:f>
              <c:strCache>
                <c:ptCount val="1"/>
                <c:pt idx="0">
                  <c:v>FinQA-7B + RAG</c:v>
                </c:pt>
              </c:strCache>
            </c:strRef>
          </c:tx>
          <c:spPr>
            <a:solidFill>
              <a:srgbClr val="F09319"/>
            </a:solidFill>
          </c:spPr>
          <c:cat>
            <c:strRef>
              <c:f>Sheet1!$A$2:$A$2</c:f>
              <c:strCache>
                <c:ptCount val="1"/>
                <c:pt idx="0">
                  <c:v>Cost per 1K Queries ($)</c:v>
                </c:pt>
              </c:strCache>
            </c:strRef>
          </c:cat>
          <c:val>
            <c:numRef>
              <c:f>Sheet1!$E$2:$E$2</c:f>
              <c:numCache>
                <c:formatCode>General</c:formatCode>
                <c:ptCount val="1"/>
                <c:pt idx="0">
                  <c:v>0.3323</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Mean Absolute Percentage Error</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MAPE (%)</c:v>
                </c:pt>
              </c:strCache>
            </c:strRef>
          </c:cat>
          <c:val>
            <c:numRef>
              <c:f>Sheet1!$B$2:$B$2</c:f>
              <c:numCache>
                <c:formatCode>General</c:formatCode>
                <c:ptCount val="1"/>
                <c:pt idx="0">
                  <c:v>838.49</c:v>
                </c:pt>
              </c:numCache>
            </c:numRef>
          </c:val>
        </c:ser>
        <c:ser>
          <c:idx val="1"/>
          <c:order val="1"/>
          <c:tx>
            <c:strRef>
              <c:f>Sheet1!$C$1</c:f>
              <c:strCache>
                <c:ptCount val="1"/>
                <c:pt idx="0">
                  <c:v>FinQA-7B</c:v>
                </c:pt>
              </c:strCache>
            </c:strRef>
          </c:tx>
          <c:spPr>
            <a:solidFill>
              <a:srgbClr val="2EA04E"/>
            </a:solidFill>
          </c:spPr>
          <c:cat>
            <c:strRef>
              <c:f>Sheet1!$A$2:$A$2</c:f>
              <c:strCache>
                <c:ptCount val="1"/>
                <c:pt idx="0">
                  <c:v>MAPE (%)</c:v>
                </c:pt>
              </c:strCache>
            </c:strRef>
          </c:cat>
          <c:val>
            <c:numRef>
              <c:f>Sheet1!$C$2:$C$2</c:f>
              <c:numCache>
                <c:formatCode>General</c:formatCode>
                <c:ptCount val="1"/>
                <c:pt idx="0">
                  <c:v>109.67</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MAPE (%)</c:v>
                </c:pt>
              </c:strCache>
            </c:strRef>
          </c:cat>
          <c:val>
            <c:numRef>
              <c:f>Sheet1!$D$2:$D$2</c:f>
              <c:numCache>
                <c:formatCode>General</c:formatCode>
                <c:ptCount val="1"/>
                <c:pt idx="0">
                  <c:v>190.57</c:v>
                </c:pt>
              </c:numCache>
            </c:numRef>
          </c:val>
        </c:ser>
        <c:ser>
          <c:idx val="3"/>
          <c:order val="3"/>
          <c:tx>
            <c:strRef>
              <c:f>Sheet1!$E$1</c:f>
              <c:strCache>
                <c:ptCount val="1"/>
                <c:pt idx="0">
                  <c:v>FinQA-7B + RAG</c:v>
                </c:pt>
              </c:strCache>
            </c:strRef>
          </c:tx>
          <c:spPr>
            <a:solidFill>
              <a:srgbClr val="F09319"/>
            </a:solidFill>
          </c:spPr>
          <c:cat>
            <c:strRef>
              <c:f>Sheet1!$A$2:$A$2</c:f>
              <c:strCache>
                <c:ptCount val="1"/>
                <c:pt idx="0">
                  <c:v>MAPE (%)</c:v>
                </c:pt>
              </c:strCache>
            </c:strRef>
          </c:cat>
          <c:val>
            <c:numRef>
              <c:f>Sheet1!$E$2:$E$2</c:f>
              <c:numCache>
                <c:formatCode>General</c:formatCode>
                <c:ptCount val="1"/>
                <c:pt idx="0">
                  <c:v>232.37</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by Category</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Sheet1!$A$2:$A$3</c:f>
              <c:strCache>
                <c:ptCount val="2"/>
                <c:pt idx="0">
                  <c:v>Multi Step</c:v>
                </c:pt>
                <c:pt idx="1">
                  <c:v>Single Step</c:v>
                </c:pt>
              </c:strCache>
            </c:strRef>
          </c:cat>
          <c:val>
            <c:numRef>
              <c:f>Sheet1!$B$2:$B$3</c:f>
              <c:numCache>
                <c:formatCode>General</c:formatCode>
                <c:ptCount val="2"/>
                <c:pt idx="0">
                  <c:v>0.0</c:v>
                </c:pt>
                <c:pt idx="1">
                  <c:v>33.3</c:v>
                </c:pt>
              </c:numCache>
            </c:numRef>
          </c:val>
        </c:ser>
        <c:ser>
          <c:idx val="1"/>
          <c:order val="1"/>
          <c:tx>
            <c:strRef>
              <c:f>Sheet1!$C$1</c:f>
              <c:strCache>
                <c:ptCount val="1"/>
                <c:pt idx="0">
                  <c:v>FinQA-7B</c:v>
                </c:pt>
              </c:strCache>
            </c:strRef>
          </c:tx>
          <c:spPr>
            <a:solidFill>
              <a:srgbClr val="2EA04E"/>
            </a:solidFill>
          </c:spPr>
          <c:cat>
            <c:strRef>
              <c:f>Sheet1!$A$2:$A$3</c:f>
              <c:strCache>
                <c:ptCount val="2"/>
                <c:pt idx="0">
                  <c:v>Multi Step</c:v>
                </c:pt>
                <c:pt idx="1">
                  <c:v>Single Step</c:v>
                </c:pt>
              </c:strCache>
            </c:strRef>
          </c:cat>
          <c:val>
            <c:numRef>
              <c:f>Sheet1!$C$2:$C$3</c:f>
              <c:numCache>
                <c:formatCode>General</c:formatCode>
                <c:ptCount val="2"/>
                <c:pt idx="0">
                  <c:v>0.0</c:v>
                </c:pt>
                <c:pt idx="1">
                  <c:v>33.3</c:v>
                </c:pt>
              </c:numCache>
            </c:numRef>
          </c:val>
        </c:ser>
        <c:ser>
          <c:idx val="2"/>
          <c:order val="2"/>
          <c:tx>
            <c:strRef>
              <c:f>Sheet1!$D$1</c:f>
              <c:strCache>
                <c:ptCount val="1"/>
                <c:pt idx="0">
                  <c:v>Llama2-7B + RAG</c:v>
                </c:pt>
              </c:strCache>
            </c:strRef>
          </c:tx>
          <c:spPr>
            <a:solidFill>
              <a:srgbClr val="428BCA"/>
            </a:solidFill>
          </c:spPr>
          <c:cat>
            <c:strRef>
              <c:f>Sheet1!$A$2:$A$3</c:f>
              <c:strCache>
                <c:ptCount val="2"/>
                <c:pt idx="0">
                  <c:v>Multi Step</c:v>
                </c:pt>
                <c:pt idx="1">
                  <c:v>Single Step</c:v>
                </c:pt>
              </c:strCache>
            </c:strRef>
          </c:cat>
          <c:val>
            <c:numRef>
              <c:f>Sheet1!$D$2:$D$3</c:f>
              <c:numCache>
                <c:formatCode>General</c:formatCode>
                <c:ptCount val="2"/>
                <c:pt idx="0">
                  <c:v>50.0</c:v>
                </c:pt>
                <c:pt idx="1">
                  <c:v>0.0</c:v>
                </c:pt>
              </c:numCache>
            </c:numRef>
          </c:val>
        </c:ser>
        <c:ser>
          <c:idx val="3"/>
          <c:order val="3"/>
          <c:tx>
            <c:strRef>
              <c:f>Sheet1!$E$1</c:f>
              <c:strCache>
                <c:ptCount val="1"/>
                <c:pt idx="0">
                  <c:v>FinQA-7B + RAG</c:v>
                </c:pt>
              </c:strCache>
            </c:strRef>
          </c:tx>
          <c:spPr>
            <a:solidFill>
              <a:srgbClr val="F09319"/>
            </a:solidFill>
          </c:spPr>
          <c:cat>
            <c:strRef>
              <c:f>Sheet1!$A$2:$A$3</c:f>
              <c:strCache>
                <c:ptCount val="2"/>
                <c:pt idx="0">
                  <c:v>Multi Step</c:v>
                </c:pt>
                <c:pt idx="1">
                  <c:v>Single Step</c:v>
                </c:pt>
              </c:strCache>
            </c:strRef>
          </c:cat>
          <c:val>
            <c:numRef>
              <c:f>Sheet1!$E$2:$E$3</c:f>
              <c:numCache>
                <c:formatCode>General</c:formatCode>
                <c:ptCount val="2"/>
                <c:pt idx="0">
                  <c:v>0.0</c:v>
                </c:pt>
                <c:pt idx="1">
                  <c:v>33.3</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Comparison</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Accuracy (%)</c:v>
                </c:pt>
              </c:strCache>
            </c:strRef>
          </c:cat>
          <c:val>
            <c:numRef>
              <c:f>Sheet1!$B$2:$B$2</c:f>
              <c:numCache>
                <c:formatCode>General</c:formatCode>
                <c:ptCount val="1"/>
                <c:pt idx="0">
                  <c:v>25.0</c:v>
                </c:pt>
              </c:numCache>
            </c:numRef>
          </c:val>
        </c:ser>
        <c:ser>
          <c:idx val="1"/>
          <c:order val="1"/>
          <c:tx>
            <c:strRef>
              <c:f>Sheet1!$C$1</c:f>
              <c:strCache>
                <c:ptCount val="1"/>
                <c:pt idx="0">
                  <c:v>FinQA-7B (fine-tuned)</c:v>
                </c:pt>
              </c:strCache>
            </c:strRef>
          </c:tx>
          <c:spPr>
            <a:solidFill>
              <a:srgbClr val="2EA04E"/>
            </a:solidFill>
          </c:spPr>
          <c:cat>
            <c:strRef>
              <c:f>Sheet1!$A$2:$A$2</c:f>
              <c:strCache>
                <c:ptCount val="1"/>
                <c:pt idx="0">
                  <c:v>Accuracy (%)</c:v>
                </c:pt>
              </c:strCache>
            </c:strRef>
          </c:cat>
          <c:val>
            <c:numRef>
              <c:f>Sheet1!$C$2:$C$2</c:f>
              <c:numCache>
                <c:formatCode>General</c:formatCode>
                <c:ptCount val="1"/>
                <c:pt idx="0">
                  <c:v>37.5</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Accuracy (%)</c:v>
                </c:pt>
              </c:strCache>
            </c:strRef>
          </c:cat>
          <c:val>
            <c:numRef>
              <c:f>Sheet1!$D$2:$D$2</c:f>
              <c:numCache>
                <c:formatCode>General</c:formatCode>
                <c:ptCount val="1"/>
                <c:pt idx="0">
                  <c:v>12.5</c:v>
                </c:pt>
              </c:numCache>
            </c:numRef>
          </c:val>
        </c:ser>
        <c:ser>
          <c:idx val="3"/>
          <c:order val="3"/>
          <c:tx>
            <c:strRef>
              <c:f>Sheet1!$E$1</c:f>
              <c:strCache>
                <c:ptCount val="1"/>
                <c:pt idx="0">
                  <c:v>FinQA-7B + RAG (hybrid)</c:v>
                </c:pt>
              </c:strCache>
            </c:strRef>
          </c:tx>
          <c:spPr>
            <a:solidFill>
              <a:srgbClr val="F09319"/>
            </a:solidFill>
          </c:spPr>
          <c:cat>
            <c:strRef>
              <c:f>Sheet1!$A$2:$A$2</c:f>
              <c:strCache>
                <c:ptCount val="1"/>
                <c:pt idx="0">
                  <c:v>Accuracy (%)</c:v>
                </c:pt>
              </c:strCache>
            </c:strRef>
          </c:cat>
          <c:val>
            <c:numRef>
              <c:f>Sheet1!$E$2:$E$2</c:f>
              <c:numCache>
                <c:formatCode>General</c:formatCode>
                <c:ptCount val="1"/>
                <c:pt idx="0">
                  <c:v>25.0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Latency (ms)</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Avg Latency (ms)</c:v>
                </c:pt>
              </c:strCache>
            </c:strRef>
          </c:cat>
          <c:val>
            <c:numRef>
              <c:f>Sheet1!$B$2:$B$2</c:f>
              <c:numCache>
                <c:formatCode>General</c:formatCode>
                <c:ptCount val="1"/>
                <c:pt idx="0">
                  <c:v>89871.7</c:v>
                </c:pt>
              </c:numCache>
            </c:numRef>
          </c:val>
        </c:ser>
        <c:ser>
          <c:idx val="1"/>
          <c:order val="1"/>
          <c:tx>
            <c:strRef>
              <c:f>Sheet1!$C$1</c:f>
              <c:strCache>
                <c:ptCount val="1"/>
                <c:pt idx="0">
                  <c:v>FinQA-7B (fine-tuned)</c:v>
                </c:pt>
              </c:strCache>
            </c:strRef>
          </c:tx>
          <c:spPr>
            <a:solidFill>
              <a:srgbClr val="2EA04E"/>
            </a:solidFill>
          </c:spPr>
          <c:cat>
            <c:strRef>
              <c:f>Sheet1!$A$2:$A$2</c:f>
              <c:strCache>
                <c:ptCount val="1"/>
                <c:pt idx="0">
                  <c:v>Avg Latency (ms)</c:v>
                </c:pt>
              </c:strCache>
            </c:strRef>
          </c:cat>
          <c:val>
            <c:numRef>
              <c:f>Sheet1!$C$2:$C$2</c:f>
              <c:numCache>
                <c:formatCode>General</c:formatCode>
                <c:ptCount val="1"/>
                <c:pt idx="0">
                  <c:v>57742.5</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Avg Latency (ms)</c:v>
                </c:pt>
              </c:strCache>
            </c:strRef>
          </c:cat>
          <c:val>
            <c:numRef>
              <c:f>Sheet1!$D$2:$D$2</c:f>
              <c:numCache>
                <c:formatCode>General</c:formatCode>
                <c:ptCount val="1"/>
                <c:pt idx="0">
                  <c:v>130097.4</c:v>
                </c:pt>
              </c:numCache>
            </c:numRef>
          </c:val>
        </c:ser>
        <c:ser>
          <c:idx val="3"/>
          <c:order val="3"/>
          <c:tx>
            <c:strRef>
              <c:f>Sheet1!$E$1</c:f>
              <c:strCache>
                <c:ptCount val="1"/>
                <c:pt idx="0">
                  <c:v>FinQA-7B + RAG (hybrid)</c:v>
                </c:pt>
              </c:strCache>
            </c:strRef>
          </c:tx>
          <c:spPr>
            <a:solidFill>
              <a:srgbClr val="F09319"/>
            </a:solidFill>
          </c:spPr>
          <c:cat>
            <c:strRef>
              <c:f>Sheet1!$A$2:$A$2</c:f>
              <c:strCache>
                <c:ptCount val="1"/>
                <c:pt idx="0">
                  <c:v>Avg Latency (ms)</c:v>
                </c:pt>
              </c:strCache>
            </c:strRef>
          </c:cat>
          <c:val>
            <c:numRef>
              <c:f>Sheet1!$E$2:$E$2</c:f>
              <c:numCache>
                <c:formatCode>General</c:formatCode>
                <c:ptCount val="1"/>
                <c:pt idx="0">
                  <c:v>154643.4</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Tokens per Query</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Avg Tokens/Query</c:v>
                </c:pt>
              </c:strCache>
            </c:strRef>
          </c:cat>
          <c:val>
            <c:numRef>
              <c:f>Sheet1!$B$2:$B$2</c:f>
              <c:numCache>
                <c:formatCode>General</c:formatCode>
                <c:ptCount val="1"/>
                <c:pt idx="0">
                  <c:v>477</c:v>
                </c:pt>
              </c:numCache>
            </c:numRef>
          </c:val>
        </c:ser>
        <c:ser>
          <c:idx val="1"/>
          <c:order val="1"/>
          <c:tx>
            <c:strRef>
              <c:f>Sheet1!$C$1</c:f>
              <c:strCache>
                <c:ptCount val="1"/>
                <c:pt idx="0">
                  <c:v>FinQA-7B</c:v>
                </c:pt>
              </c:strCache>
            </c:strRef>
          </c:tx>
          <c:spPr>
            <a:solidFill>
              <a:srgbClr val="2EA04E"/>
            </a:solidFill>
          </c:spPr>
          <c:cat>
            <c:strRef>
              <c:f>Sheet1!$A$2:$A$2</c:f>
              <c:strCache>
                <c:ptCount val="1"/>
                <c:pt idx="0">
                  <c:v>Avg Tokens/Query</c:v>
                </c:pt>
              </c:strCache>
            </c:strRef>
          </c:cat>
          <c:val>
            <c:numRef>
              <c:f>Sheet1!$C$2:$C$2</c:f>
              <c:numCache>
                <c:formatCode>General</c:formatCode>
                <c:ptCount val="1"/>
                <c:pt idx="0">
                  <c:v>503</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Avg Tokens/Query</c:v>
                </c:pt>
              </c:strCache>
            </c:strRef>
          </c:cat>
          <c:val>
            <c:numRef>
              <c:f>Sheet1!$D$2:$D$2</c:f>
              <c:numCache>
                <c:formatCode>General</c:formatCode>
                <c:ptCount val="1"/>
                <c:pt idx="0">
                  <c:v>1731</c:v>
                </c:pt>
              </c:numCache>
            </c:numRef>
          </c:val>
        </c:ser>
        <c:ser>
          <c:idx val="3"/>
          <c:order val="3"/>
          <c:tx>
            <c:strRef>
              <c:f>Sheet1!$E$1</c:f>
              <c:strCache>
                <c:ptCount val="1"/>
                <c:pt idx="0">
                  <c:v>FinQA-7B + RAG</c:v>
                </c:pt>
              </c:strCache>
            </c:strRef>
          </c:tx>
          <c:spPr>
            <a:solidFill>
              <a:srgbClr val="F09319"/>
            </a:solidFill>
          </c:spPr>
          <c:cat>
            <c:strRef>
              <c:f>Sheet1!$A$2:$A$2</c:f>
              <c:strCache>
                <c:ptCount val="1"/>
                <c:pt idx="0">
                  <c:v>Avg Tokens/Query</c:v>
                </c:pt>
              </c:strCache>
            </c:strRef>
          </c:cat>
          <c:val>
            <c:numRef>
              <c:f>Sheet1!$E$2:$E$2</c:f>
              <c:numCache>
                <c:formatCode>General</c:formatCode>
                <c:ptCount val="1"/>
                <c:pt idx="0">
                  <c:v>1801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Cost per 1K Queries ($)</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Cost per 1K Queries ($)</c:v>
                </c:pt>
              </c:strCache>
            </c:strRef>
          </c:cat>
          <c:val>
            <c:numRef>
              <c:f>Sheet1!$B$2:$B$2</c:f>
              <c:numCache>
                <c:formatCode>General</c:formatCode>
                <c:ptCount val="1"/>
                <c:pt idx="0">
                  <c:v>0.0954</c:v>
                </c:pt>
              </c:numCache>
            </c:numRef>
          </c:val>
        </c:ser>
        <c:ser>
          <c:idx val="1"/>
          <c:order val="1"/>
          <c:tx>
            <c:strRef>
              <c:f>Sheet1!$C$1</c:f>
              <c:strCache>
                <c:ptCount val="1"/>
                <c:pt idx="0">
                  <c:v>FinQA-7B</c:v>
                </c:pt>
              </c:strCache>
            </c:strRef>
          </c:tx>
          <c:spPr>
            <a:solidFill>
              <a:srgbClr val="2EA04E"/>
            </a:solidFill>
          </c:spPr>
          <c:cat>
            <c:strRef>
              <c:f>Sheet1!$A$2:$A$2</c:f>
              <c:strCache>
                <c:ptCount val="1"/>
                <c:pt idx="0">
                  <c:v>Cost per 1K Queries ($)</c:v>
                </c:pt>
              </c:strCache>
            </c:strRef>
          </c:cat>
          <c:val>
            <c:numRef>
              <c:f>Sheet1!$C$2:$C$2</c:f>
              <c:numCache>
                <c:formatCode>General</c:formatCode>
                <c:ptCount val="1"/>
                <c:pt idx="0">
                  <c:v>0.1005</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Cost per 1K Queries ($)</c:v>
                </c:pt>
              </c:strCache>
            </c:strRef>
          </c:cat>
          <c:val>
            <c:numRef>
              <c:f>Sheet1!$D$2:$D$2</c:f>
              <c:numCache>
                <c:formatCode>General</c:formatCode>
                <c:ptCount val="1"/>
                <c:pt idx="0">
                  <c:v>0.3462</c:v>
                </c:pt>
              </c:numCache>
            </c:numRef>
          </c:val>
        </c:ser>
        <c:ser>
          <c:idx val="3"/>
          <c:order val="3"/>
          <c:tx>
            <c:strRef>
              <c:f>Sheet1!$E$1</c:f>
              <c:strCache>
                <c:ptCount val="1"/>
                <c:pt idx="0">
                  <c:v>FinQA-7B + RAG</c:v>
                </c:pt>
              </c:strCache>
            </c:strRef>
          </c:tx>
          <c:spPr>
            <a:solidFill>
              <a:srgbClr val="F09319"/>
            </a:solidFill>
          </c:spPr>
          <c:cat>
            <c:strRef>
              <c:f>Sheet1!$A$2:$A$2</c:f>
              <c:strCache>
                <c:ptCount val="1"/>
                <c:pt idx="0">
                  <c:v>Cost per 1K Queries ($)</c:v>
                </c:pt>
              </c:strCache>
            </c:strRef>
          </c:cat>
          <c:val>
            <c:numRef>
              <c:f>Sheet1!$E$2:$E$2</c:f>
              <c:numCache>
                <c:formatCode>General</c:formatCode>
                <c:ptCount val="1"/>
                <c:pt idx="0">
                  <c:v>0.3602</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Mean Absolute Percentage Error</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MAPE (%)</c:v>
                </c:pt>
              </c:strCache>
            </c:strRef>
          </c:cat>
          <c:val>
            <c:numRef>
              <c:f>Sheet1!$B$2:$B$2</c:f>
              <c:numCache>
                <c:formatCode>General</c:formatCode>
                <c:ptCount val="1"/>
                <c:pt idx="0">
                  <c:v>21.35</c:v>
                </c:pt>
              </c:numCache>
            </c:numRef>
          </c:val>
        </c:ser>
        <c:ser>
          <c:idx val="1"/>
          <c:order val="1"/>
          <c:tx>
            <c:strRef>
              <c:f>Sheet1!$C$1</c:f>
              <c:strCache>
                <c:ptCount val="1"/>
                <c:pt idx="0">
                  <c:v>FinQA-7B</c:v>
                </c:pt>
              </c:strCache>
            </c:strRef>
          </c:tx>
          <c:spPr>
            <a:solidFill>
              <a:srgbClr val="2EA04E"/>
            </a:solidFill>
          </c:spPr>
          <c:cat>
            <c:strRef>
              <c:f>Sheet1!$A$2:$A$2</c:f>
              <c:strCache>
                <c:ptCount val="1"/>
                <c:pt idx="0">
                  <c:v>MAPE (%)</c:v>
                </c:pt>
              </c:strCache>
            </c:strRef>
          </c:cat>
          <c:val>
            <c:numRef>
              <c:f>Sheet1!$C$2:$C$2</c:f>
              <c:numCache>
                <c:formatCode>General</c:formatCode>
                <c:ptCount val="1"/>
                <c:pt idx="0">
                  <c:v>103.44</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MAPE (%)</c:v>
                </c:pt>
              </c:strCache>
            </c:strRef>
          </c:cat>
          <c:val>
            <c:numRef>
              <c:f>Sheet1!$D$2:$D$2</c:f>
              <c:numCache>
                <c:formatCode>General</c:formatCode>
                <c:ptCount val="1"/>
                <c:pt idx="0">
                  <c:v>34.42</c:v>
                </c:pt>
              </c:numCache>
            </c:numRef>
          </c:val>
        </c:ser>
        <c:ser>
          <c:idx val="3"/>
          <c:order val="3"/>
          <c:tx>
            <c:strRef>
              <c:f>Sheet1!$E$1</c:f>
              <c:strCache>
                <c:ptCount val="1"/>
                <c:pt idx="0">
                  <c:v>FinQA-7B + RAG</c:v>
                </c:pt>
              </c:strCache>
            </c:strRef>
          </c:tx>
          <c:spPr>
            <a:solidFill>
              <a:srgbClr val="F09319"/>
            </a:solidFill>
          </c:spPr>
          <c:cat>
            <c:strRef>
              <c:f>Sheet1!$A$2:$A$2</c:f>
              <c:strCache>
                <c:ptCount val="1"/>
                <c:pt idx="0">
                  <c:v>MAPE (%)</c:v>
                </c:pt>
              </c:strCache>
            </c:strRef>
          </c:cat>
          <c:val>
            <c:numRef>
              <c:f>Sheet1!$E$2:$E$2</c:f>
              <c:numCache>
                <c:formatCode>General</c:formatCode>
                <c:ptCount val="1"/>
                <c:pt idx="0">
                  <c:v>45.94</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by Category</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Sheet1!$A$2:$A$6</c:f>
              <c:strCache>
                <c:ptCount val="5"/>
                <c:pt idx="0">
                  <c:v>Efficiency</c:v>
                </c:pt>
                <c:pt idx="1">
                  <c:v>Leverage</c:v>
                </c:pt>
                <c:pt idx="2">
                  <c:v>Liquidity</c:v>
                </c:pt>
                <c:pt idx="3">
                  <c:v>Profitability</c:v>
                </c:pt>
                <c:pt idx="4">
                  <c:v>Shareholder</c:v>
                </c:pt>
              </c:strCache>
            </c:strRef>
          </c:cat>
          <c:val>
            <c:numRef>
              <c:f>Sheet1!$B$2:$B$6</c:f>
              <c:numCache>
                <c:formatCode>General</c:formatCode>
                <c:ptCount val="5"/>
                <c:pt idx="0">
                  <c:v>0.0</c:v>
                </c:pt>
                <c:pt idx="1">
                  <c:v>0.0</c:v>
                </c:pt>
                <c:pt idx="2">
                  <c:v>50.0</c:v>
                </c:pt>
                <c:pt idx="3">
                  <c:v>0.0</c:v>
                </c:pt>
                <c:pt idx="4">
                  <c:v>100.0</c:v>
                </c:pt>
              </c:numCache>
            </c:numRef>
          </c:val>
        </c:ser>
        <c:ser>
          <c:idx val="1"/>
          <c:order val="1"/>
          <c:tx>
            <c:strRef>
              <c:f>Sheet1!$C$1</c:f>
              <c:strCache>
                <c:ptCount val="1"/>
                <c:pt idx="0">
                  <c:v>FinQA-7B</c:v>
                </c:pt>
              </c:strCache>
            </c:strRef>
          </c:tx>
          <c:spPr>
            <a:solidFill>
              <a:srgbClr val="2EA04E"/>
            </a:solidFill>
          </c:spPr>
          <c:cat>
            <c:strRef>
              <c:f>Sheet1!$A$2:$A$6</c:f>
              <c:strCache>
                <c:ptCount val="5"/>
                <c:pt idx="0">
                  <c:v>Efficiency</c:v>
                </c:pt>
                <c:pt idx="1">
                  <c:v>Leverage</c:v>
                </c:pt>
                <c:pt idx="2">
                  <c:v>Liquidity</c:v>
                </c:pt>
                <c:pt idx="3">
                  <c:v>Profitability</c:v>
                </c:pt>
                <c:pt idx="4">
                  <c:v>Shareholder</c:v>
                </c:pt>
              </c:strCache>
            </c:strRef>
          </c:cat>
          <c:val>
            <c:numRef>
              <c:f>Sheet1!$C$2:$C$6</c:f>
              <c:numCache>
                <c:formatCode>General</c:formatCode>
                <c:ptCount val="5"/>
                <c:pt idx="0">
                  <c:v>0.0</c:v>
                </c:pt>
                <c:pt idx="1">
                  <c:v>50.0</c:v>
                </c:pt>
                <c:pt idx="2">
                  <c:v>50.0</c:v>
                </c:pt>
                <c:pt idx="3">
                  <c:v>0.0</c:v>
                </c:pt>
                <c:pt idx="4">
                  <c:v>100.0</c:v>
                </c:pt>
              </c:numCache>
            </c:numRef>
          </c:val>
        </c:ser>
        <c:ser>
          <c:idx val="2"/>
          <c:order val="2"/>
          <c:tx>
            <c:strRef>
              <c:f>Sheet1!$D$1</c:f>
              <c:strCache>
                <c:ptCount val="1"/>
                <c:pt idx="0">
                  <c:v>Llama2-7B + RAG</c:v>
                </c:pt>
              </c:strCache>
            </c:strRef>
          </c:tx>
          <c:spPr>
            <a:solidFill>
              <a:srgbClr val="428BCA"/>
            </a:solidFill>
          </c:spPr>
          <c:cat>
            <c:strRef>
              <c:f>Sheet1!$A$2:$A$6</c:f>
              <c:strCache>
                <c:ptCount val="5"/>
                <c:pt idx="0">
                  <c:v>Efficiency</c:v>
                </c:pt>
                <c:pt idx="1">
                  <c:v>Leverage</c:v>
                </c:pt>
                <c:pt idx="2">
                  <c:v>Liquidity</c:v>
                </c:pt>
                <c:pt idx="3">
                  <c:v>Profitability</c:v>
                </c:pt>
                <c:pt idx="4">
                  <c:v>Shareholder</c:v>
                </c:pt>
              </c:strCache>
            </c:strRef>
          </c:cat>
          <c:val>
            <c:numRef>
              <c:f>Sheet1!$D$2:$D$6</c:f>
              <c:numCache>
                <c:formatCode>General</c:formatCode>
                <c:ptCount val="5"/>
                <c:pt idx="0">
                  <c:v>0.0</c:v>
                </c:pt>
                <c:pt idx="1">
                  <c:v>50.0</c:v>
                </c:pt>
                <c:pt idx="2">
                  <c:v>0.0</c:v>
                </c:pt>
                <c:pt idx="3">
                  <c:v>0.0</c:v>
                </c:pt>
                <c:pt idx="4">
                  <c:v>0.0</c:v>
                </c:pt>
              </c:numCache>
            </c:numRef>
          </c:val>
        </c:ser>
        <c:ser>
          <c:idx val="3"/>
          <c:order val="3"/>
          <c:tx>
            <c:strRef>
              <c:f>Sheet1!$E$1</c:f>
              <c:strCache>
                <c:ptCount val="1"/>
                <c:pt idx="0">
                  <c:v>FinQA-7B + RAG</c:v>
                </c:pt>
              </c:strCache>
            </c:strRef>
          </c:tx>
          <c:spPr>
            <a:solidFill>
              <a:srgbClr val="F09319"/>
            </a:solidFill>
          </c:spPr>
          <c:cat>
            <c:strRef>
              <c:f>Sheet1!$A$2:$A$6</c:f>
              <c:strCache>
                <c:ptCount val="5"/>
                <c:pt idx="0">
                  <c:v>Efficiency</c:v>
                </c:pt>
                <c:pt idx="1">
                  <c:v>Leverage</c:v>
                </c:pt>
                <c:pt idx="2">
                  <c:v>Liquidity</c:v>
                </c:pt>
                <c:pt idx="3">
                  <c:v>Profitability</c:v>
                </c:pt>
                <c:pt idx="4">
                  <c:v>Shareholder</c:v>
                </c:pt>
              </c:strCache>
            </c:strRef>
          </c:cat>
          <c:val>
            <c:numRef>
              <c:f>Sheet1!$E$2:$E$6</c:f>
              <c:numCache>
                <c:formatCode>General</c:formatCode>
                <c:ptCount val="5"/>
                <c:pt idx="0">
                  <c:v>0.0</c:v>
                </c:pt>
                <c:pt idx="1">
                  <c:v>50.0</c:v>
                </c:pt>
                <c:pt idx="2">
                  <c:v>50.0</c:v>
                </c:pt>
                <c:pt idx="3">
                  <c:v>0.0</c:v>
                </c:pt>
                <c:pt idx="4">
                  <c:v>0.0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Comparison</a:t>
            </a:r>
          </a:p>
        </c:rich>
      </c:tx>
      <c:layout/>
      <c:overlay val="0"/>
    </c:title>
    <c:autoTitleDeleted val="0"/>
    <c:plotArea>
      <c:barChart>
        <c:barDir val="col"/>
        <c:grouping val="clustered"/>
        <c:ser>
          <c:idx val="0"/>
          <c:order val="0"/>
          <c:tx>
            <c:strRef>
              <c:f>Sheet1!$B$1</c:f>
              <c:strCache>
                <c:ptCount val="1"/>
                <c:pt idx="0">
                  <c:v>Base DistilBERT</c:v>
                </c:pt>
              </c:strCache>
            </c:strRef>
          </c:tx>
          <c:spPr>
            <a:solidFill>
              <a:srgbClr val="E84D4D"/>
            </a:solidFill>
          </c:spPr>
          <c:cat>
            <c:strRef>
              <c:f>Sheet1!$A$2:$A$2</c:f>
              <c:strCache>
                <c:ptCount val="1"/>
                <c:pt idx="0">
                  <c:v>Accuracy (%)</c:v>
                </c:pt>
              </c:strCache>
            </c:strRef>
          </c:cat>
          <c:val>
            <c:numRef>
              <c:f>Sheet1!$B$2:$B$2</c:f>
              <c:numCache>
                <c:formatCode>General</c:formatCode>
                <c:ptCount val="1"/>
                <c:pt idx="0">
                  <c:v>85.0</c:v>
                </c:pt>
              </c:numCache>
            </c:numRef>
          </c:val>
        </c:ser>
        <c:ser>
          <c:idx val="1"/>
          <c:order val="1"/>
          <c:tx>
            <c:strRef>
              <c:f>Sheet1!$C$1</c:f>
              <c:strCache>
                <c:ptCount val="1"/>
                <c:pt idx="0">
                  <c:v>Fine-tuned (spam-trained)</c:v>
                </c:pt>
              </c:strCache>
            </c:strRef>
          </c:tx>
          <c:spPr>
            <a:solidFill>
              <a:srgbClr val="2EA04E"/>
            </a:solidFill>
          </c:spPr>
          <c:cat>
            <c:strRef>
              <c:f>Sheet1!$A$2:$A$2</c:f>
              <c:strCache>
                <c:ptCount val="1"/>
                <c:pt idx="0">
                  <c:v>Accuracy (%)</c:v>
                </c:pt>
              </c:strCache>
            </c:strRef>
          </c:cat>
          <c:val>
            <c:numRef>
              <c:f>Sheet1!$C$2:$C$2</c:f>
              <c:numCache>
                <c:formatCode>General</c:formatCode>
                <c:ptCount val="1"/>
                <c:pt idx="0">
                  <c:v>95.0</c:v>
                </c:pt>
              </c:numCache>
            </c:numRef>
          </c:val>
        </c:ser>
        <c:ser>
          <c:idx val="2"/>
          <c:order val="2"/>
          <c:tx>
            <c:strRef>
              <c:f>Sheet1!$D$1</c:f>
              <c:strCache>
                <c:ptCount val="1"/>
                <c:pt idx="0">
                  <c:v>DistilBERT + RAG</c:v>
                </c:pt>
              </c:strCache>
            </c:strRef>
          </c:tx>
          <c:spPr>
            <a:solidFill>
              <a:srgbClr val="428BCA"/>
            </a:solidFill>
          </c:spPr>
          <c:cat>
            <c:strRef>
              <c:f>Sheet1!$A$2:$A$2</c:f>
              <c:strCache>
                <c:ptCount val="1"/>
                <c:pt idx="0">
                  <c:v>Accuracy (%)</c:v>
                </c:pt>
              </c:strCache>
            </c:strRef>
          </c:cat>
          <c:val>
            <c:numRef>
              <c:f>Sheet1!$D$2:$D$2</c:f>
              <c:numCache>
                <c:formatCode>General</c:formatCode>
                <c:ptCount val="1"/>
                <c:pt idx="0">
                  <c:v>90.0</c:v>
                </c:pt>
              </c:numCache>
            </c:numRef>
          </c:val>
        </c:ser>
        <c:ser>
          <c:idx val="3"/>
          <c:order val="3"/>
          <c:tx>
            <c:strRef>
              <c:f>Sheet1!$E$1</c:f>
              <c:strCache>
                <c:ptCount val="1"/>
                <c:pt idx="0">
                  <c:v>Fine-tuned + RAG (hybrid)</c:v>
                </c:pt>
              </c:strCache>
            </c:strRef>
          </c:tx>
          <c:spPr>
            <a:solidFill>
              <a:srgbClr val="F09319"/>
            </a:solidFill>
          </c:spPr>
          <c:cat>
            <c:strRef>
              <c:f>Sheet1!$A$2:$A$2</c:f>
              <c:strCache>
                <c:ptCount val="1"/>
                <c:pt idx="0">
                  <c:v>Accuracy (%)</c:v>
                </c:pt>
              </c:strCache>
            </c:strRef>
          </c:cat>
          <c:val>
            <c:numRef>
              <c:f>Sheet1!$E$2:$E$2</c:f>
              <c:numCache>
                <c:formatCode>General</c:formatCode>
                <c:ptCount val="1"/>
                <c:pt idx="0">
                  <c:v>95.0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Latency (ms)</a:t>
            </a:r>
          </a:p>
        </c:rich>
      </c:tx>
      <c:layout/>
      <c:overlay val="0"/>
    </c:title>
    <c:autoTitleDeleted val="0"/>
    <c:plotArea>
      <c:barChart>
        <c:barDir val="col"/>
        <c:grouping val="clustered"/>
        <c:ser>
          <c:idx val="0"/>
          <c:order val="0"/>
          <c:tx>
            <c:strRef>
              <c:f>Sheet1!$B$1</c:f>
              <c:strCache>
                <c:ptCount val="1"/>
                <c:pt idx="0">
                  <c:v>Base DistilBERT</c:v>
                </c:pt>
              </c:strCache>
            </c:strRef>
          </c:tx>
          <c:spPr>
            <a:solidFill>
              <a:srgbClr val="E84D4D"/>
            </a:solidFill>
          </c:spPr>
          <c:cat>
            <c:strRef>
              <c:f>Sheet1!$A$2:$A$2</c:f>
              <c:strCache>
                <c:ptCount val="1"/>
                <c:pt idx="0">
                  <c:v>Avg Latency (ms)</c:v>
                </c:pt>
              </c:strCache>
            </c:strRef>
          </c:cat>
          <c:val>
            <c:numRef>
              <c:f>Sheet1!$B$2:$B$2</c:f>
              <c:numCache>
                <c:formatCode>General</c:formatCode>
                <c:ptCount val="1"/>
                <c:pt idx="0">
                  <c:v>33.4</c:v>
                </c:pt>
              </c:numCache>
            </c:numRef>
          </c:val>
        </c:ser>
        <c:ser>
          <c:idx val="1"/>
          <c:order val="1"/>
          <c:tx>
            <c:strRef>
              <c:f>Sheet1!$C$1</c:f>
              <c:strCache>
                <c:ptCount val="1"/>
                <c:pt idx="0">
                  <c:v>Fine-tuned (spam-trained)</c:v>
                </c:pt>
              </c:strCache>
            </c:strRef>
          </c:tx>
          <c:spPr>
            <a:solidFill>
              <a:srgbClr val="2EA04E"/>
            </a:solidFill>
          </c:spPr>
          <c:cat>
            <c:strRef>
              <c:f>Sheet1!$A$2:$A$2</c:f>
              <c:strCache>
                <c:ptCount val="1"/>
                <c:pt idx="0">
                  <c:v>Avg Latency (ms)</c:v>
                </c:pt>
              </c:strCache>
            </c:strRef>
          </c:cat>
          <c:val>
            <c:numRef>
              <c:f>Sheet1!$C$2:$C$2</c:f>
              <c:numCache>
                <c:formatCode>General</c:formatCode>
                <c:ptCount val="1"/>
                <c:pt idx="0">
                  <c:v>194.1</c:v>
                </c:pt>
              </c:numCache>
            </c:numRef>
          </c:val>
        </c:ser>
        <c:ser>
          <c:idx val="2"/>
          <c:order val="2"/>
          <c:tx>
            <c:strRef>
              <c:f>Sheet1!$D$1</c:f>
              <c:strCache>
                <c:ptCount val="1"/>
                <c:pt idx="0">
                  <c:v>DistilBERT + RAG</c:v>
                </c:pt>
              </c:strCache>
            </c:strRef>
          </c:tx>
          <c:spPr>
            <a:solidFill>
              <a:srgbClr val="428BCA"/>
            </a:solidFill>
          </c:spPr>
          <c:cat>
            <c:strRef>
              <c:f>Sheet1!$A$2:$A$2</c:f>
              <c:strCache>
                <c:ptCount val="1"/>
                <c:pt idx="0">
                  <c:v>Avg Latency (ms)</c:v>
                </c:pt>
              </c:strCache>
            </c:strRef>
          </c:cat>
          <c:val>
            <c:numRef>
              <c:f>Sheet1!$D$2:$D$2</c:f>
              <c:numCache>
                <c:formatCode>General</c:formatCode>
                <c:ptCount val="1"/>
                <c:pt idx="0">
                  <c:v>34.0</c:v>
                </c:pt>
              </c:numCache>
            </c:numRef>
          </c:val>
        </c:ser>
        <c:ser>
          <c:idx val="3"/>
          <c:order val="3"/>
          <c:tx>
            <c:strRef>
              <c:f>Sheet1!$E$1</c:f>
              <c:strCache>
                <c:ptCount val="1"/>
                <c:pt idx="0">
                  <c:v>Fine-tuned + RAG (hybrid)</c:v>
                </c:pt>
              </c:strCache>
            </c:strRef>
          </c:tx>
          <c:spPr>
            <a:solidFill>
              <a:srgbClr val="F09319"/>
            </a:solidFill>
          </c:spPr>
          <c:cat>
            <c:strRef>
              <c:f>Sheet1!$A$2:$A$2</c:f>
              <c:strCache>
                <c:ptCount val="1"/>
                <c:pt idx="0">
                  <c:v>Avg Latency (ms)</c:v>
                </c:pt>
              </c:strCache>
            </c:strRef>
          </c:cat>
          <c:val>
            <c:numRef>
              <c:f>Sheet1!$E$2:$E$2</c:f>
              <c:numCache>
                <c:formatCode>General</c:formatCode>
                <c:ptCount val="1"/>
                <c:pt idx="0">
                  <c:v>228.9</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Tokens per Query</a:t>
            </a:r>
          </a:p>
        </c:rich>
      </c:tx>
      <c:layout/>
      <c:overlay val="0"/>
    </c:title>
    <c:autoTitleDeleted val="0"/>
    <c:plotArea>
      <c:barChart>
        <c:barDir val="col"/>
        <c:grouping val="clustered"/>
        <c:ser>
          <c:idx val="0"/>
          <c:order val="0"/>
          <c:tx>
            <c:strRef>
              <c:f>Sheet1!$B$1</c:f>
              <c:strCache>
                <c:ptCount val="1"/>
                <c:pt idx="0">
                  <c:v>Base DistilBERT</c:v>
                </c:pt>
              </c:strCache>
            </c:strRef>
          </c:tx>
          <c:spPr>
            <a:solidFill>
              <a:srgbClr val="E84D4D"/>
            </a:solidFill>
          </c:spPr>
          <c:cat>
            <c:strRef>
              <c:f>Sheet1!$A$2:$A$2</c:f>
              <c:strCache>
                <c:ptCount val="1"/>
                <c:pt idx="0">
                  <c:v>Avg Tokens/Query</c:v>
                </c:pt>
              </c:strCache>
            </c:strRef>
          </c:cat>
          <c:val>
            <c:numRef>
              <c:f>Sheet1!$B$2:$B$2</c:f>
              <c:numCache>
                <c:formatCode>General</c:formatCode>
                <c:ptCount val="1"/>
                <c:pt idx="0">
                  <c:v>39</c:v>
                </c:pt>
              </c:numCache>
            </c:numRef>
          </c:val>
        </c:ser>
        <c:ser>
          <c:idx val="1"/>
          <c:order val="1"/>
          <c:tx>
            <c:strRef>
              <c:f>Sheet1!$C$1</c:f>
              <c:strCache>
                <c:ptCount val="1"/>
                <c:pt idx="0">
                  <c:v>Fine-tuned</c:v>
                </c:pt>
              </c:strCache>
            </c:strRef>
          </c:tx>
          <c:spPr>
            <a:solidFill>
              <a:srgbClr val="2EA04E"/>
            </a:solidFill>
          </c:spPr>
          <c:cat>
            <c:strRef>
              <c:f>Sheet1!$A$2:$A$2</c:f>
              <c:strCache>
                <c:ptCount val="1"/>
                <c:pt idx="0">
                  <c:v>Avg Tokens/Query</c:v>
                </c:pt>
              </c:strCache>
            </c:strRef>
          </c:cat>
          <c:val>
            <c:numRef>
              <c:f>Sheet1!$C$2:$C$2</c:f>
              <c:numCache>
                <c:formatCode>General</c:formatCode>
                <c:ptCount val="1"/>
                <c:pt idx="0">
                  <c:v>512</c:v>
                </c:pt>
              </c:numCache>
            </c:numRef>
          </c:val>
        </c:ser>
        <c:ser>
          <c:idx val="2"/>
          <c:order val="2"/>
          <c:tx>
            <c:strRef>
              <c:f>Sheet1!$D$1</c:f>
              <c:strCache>
                <c:ptCount val="1"/>
                <c:pt idx="0">
                  <c:v>DistilBERT + RAG</c:v>
                </c:pt>
              </c:strCache>
            </c:strRef>
          </c:tx>
          <c:spPr>
            <a:solidFill>
              <a:srgbClr val="428BCA"/>
            </a:solidFill>
          </c:spPr>
          <c:cat>
            <c:strRef>
              <c:f>Sheet1!$A$2:$A$2</c:f>
              <c:strCache>
                <c:ptCount val="1"/>
                <c:pt idx="0">
                  <c:v>Avg Tokens/Query</c:v>
                </c:pt>
              </c:strCache>
            </c:strRef>
          </c:cat>
          <c:val>
            <c:numRef>
              <c:f>Sheet1!$D$2:$D$2</c:f>
              <c:numCache>
                <c:formatCode>General</c:formatCode>
                <c:ptCount val="1"/>
                <c:pt idx="0">
                  <c:v>114</c:v>
                </c:pt>
              </c:numCache>
            </c:numRef>
          </c:val>
        </c:ser>
        <c:ser>
          <c:idx val="3"/>
          <c:order val="3"/>
          <c:tx>
            <c:strRef>
              <c:f>Sheet1!$E$1</c:f>
              <c:strCache>
                <c:ptCount val="1"/>
                <c:pt idx="0">
                  <c:v>Fine-tuned + RAG</c:v>
                </c:pt>
              </c:strCache>
            </c:strRef>
          </c:tx>
          <c:spPr>
            <a:solidFill>
              <a:srgbClr val="F09319"/>
            </a:solidFill>
          </c:spPr>
          <c:cat>
            <c:strRef>
              <c:f>Sheet1!$A$2:$A$2</c:f>
              <c:strCache>
                <c:ptCount val="1"/>
                <c:pt idx="0">
                  <c:v>Avg Tokens/Query</c:v>
                </c:pt>
              </c:strCache>
            </c:strRef>
          </c:cat>
          <c:val>
            <c:numRef>
              <c:f>Sheet1!$E$2:$E$2</c:f>
              <c:numCache>
                <c:formatCode>General</c:formatCode>
                <c:ptCount val="1"/>
                <c:pt idx="0">
                  <c:v>626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Cost per 1K Queries ($)</a:t>
            </a:r>
          </a:p>
        </c:rich>
      </c:tx>
      <c:layout/>
      <c:overlay val="0"/>
    </c:title>
    <c:autoTitleDeleted val="0"/>
    <c:plotArea>
      <c:barChart>
        <c:barDir val="col"/>
        <c:grouping val="clustered"/>
        <c:ser>
          <c:idx val="0"/>
          <c:order val="0"/>
          <c:tx>
            <c:strRef>
              <c:f>Sheet1!$B$1</c:f>
              <c:strCache>
                <c:ptCount val="1"/>
                <c:pt idx="0">
                  <c:v>Base DistilBERT</c:v>
                </c:pt>
              </c:strCache>
            </c:strRef>
          </c:tx>
          <c:spPr>
            <a:solidFill>
              <a:srgbClr val="E84D4D"/>
            </a:solidFill>
          </c:spPr>
          <c:cat>
            <c:strRef>
              <c:f>Sheet1!$A$2:$A$2</c:f>
              <c:strCache>
                <c:ptCount val="1"/>
                <c:pt idx="0">
                  <c:v>Cost per 1K Queries ($)</c:v>
                </c:pt>
              </c:strCache>
            </c:strRef>
          </c:cat>
          <c:val>
            <c:numRef>
              <c:f>Sheet1!$B$2:$B$2</c:f>
              <c:numCache>
                <c:formatCode>General</c:formatCode>
                <c:ptCount val="1"/>
                <c:pt idx="0">
                  <c:v>0.0004</c:v>
                </c:pt>
              </c:numCache>
            </c:numRef>
          </c:val>
        </c:ser>
        <c:ser>
          <c:idx val="1"/>
          <c:order val="1"/>
          <c:tx>
            <c:strRef>
              <c:f>Sheet1!$C$1</c:f>
              <c:strCache>
                <c:ptCount val="1"/>
                <c:pt idx="0">
                  <c:v>Fine-tuned</c:v>
                </c:pt>
              </c:strCache>
            </c:strRef>
          </c:tx>
          <c:spPr>
            <a:solidFill>
              <a:srgbClr val="2EA04E"/>
            </a:solidFill>
          </c:spPr>
          <c:cat>
            <c:strRef>
              <c:f>Sheet1!$A$2:$A$2</c:f>
              <c:strCache>
                <c:ptCount val="1"/>
                <c:pt idx="0">
                  <c:v>Cost per 1K Queries ($)</c:v>
                </c:pt>
              </c:strCache>
            </c:strRef>
          </c:cat>
          <c:val>
            <c:numRef>
              <c:f>Sheet1!$C$2:$C$2</c:f>
              <c:numCache>
                <c:formatCode>General</c:formatCode>
                <c:ptCount val="1"/>
                <c:pt idx="0">
                  <c:v>0.0051</c:v>
                </c:pt>
              </c:numCache>
            </c:numRef>
          </c:val>
        </c:ser>
        <c:ser>
          <c:idx val="2"/>
          <c:order val="2"/>
          <c:tx>
            <c:strRef>
              <c:f>Sheet1!$D$1</c:f>
              <c:strCache>
                <c:ptCount val="1"/>
                <c:pt idx="0">
                  <c:v>DistilBERT + RAG</c:v>
                </c:pt>
              </c:strCache>
            </c:strRef>
          </c:tx>
          <c:spPr>
            <a:solidFill>
              <a:srgbClr val="428BCA"/>
            </a:solidFill>
          </c:spPr>
          <c:cat>
            <c:strRef>
              <c:f>Sheet1!$A$2:$A$2</c:f>
              <c:strCache>
                <c:ptCount val="1"/>
                <c:pt idx="0">
                  <c:v>Cost per 1K Queries ($)</c:v>
                </c:pt>
              </c:strCache>
            </c:strRef>
          </c:cat>
          <c:val>
            <c:numRef>
              <c:f>Sheet1!$D$2:$D$2</c:f>
              <c:numCache>
                <c:formatCode>General</c:formatCode>
                <c:ptCount val="1"/>
                <c:pt idx="0">
                  <c:v>0.0011</c:v>
                </c:pt>
              </c:numCache>
            </c:numRef>
          </c:val>
        </c:ser>
        <c:ser>
          <c:idx val="3"/>
          <c:order val="3"/>
          <c:tx>
            <c:strRef>
              <c:f>Sheet1!$E$1</c:f>
              <c:strCache>
                <c:ptCount val="1"/>
                <c:pt idx="0">
                  <c:v>Fine-tuned + RAG</c:v>
                </c:pt>
              </c:strCache>
            </c:strRef>
          </c:tx>
          <c:spPr>
            <a:solidFill>
              <a:srgbClr val="F09319"/>
            </a:solidFill>
          </c:spPr>
          <c:cat>
            <c:strRef>
              <c:f>Sheet1!$A$2:$A$2</c:f>
              <c:strCache>
                <c:ptCount val="1"/>
                <c:pt idx="0">
                  <c:v>Cost per 1K Queries ($)</c:v>
                </c:pt>
              </c:strCache>
            </c:strRef>
          </c:cat>
          <c:val>
            <c:numRef>
              <c:f>Sheet1!$E$2:$E$2</c:f>
              <c:numCache>
                <c:formatCode>General</c:formatCode>
                <c:ptCount val="1"/>
                <c:pt idx="0">
                  <c:v>0.0063</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F1 Score (Macro Average)</a:t>
            </a:r>
          </a:p>
        </c:rich>
      </c:tx>
      <c:layout/>
      <c:overlay val="0"/>
    </c:title>
    <c:autoTitleDeleted val="0"/>
    <c:plotArea>
      <c:barChart>
        <c:barDir val="col"/>
        <c:grouping val="clustered"/>
        <c:ser>
          <c:idx val="0"/>
          <c:order val="0"/>
          <c:tx>
            <c:strRef>
              <c:f>Sheet1!$B$1</c:f>
              <c:strCache>
                <c:ptCount val="1"/>
                <c:pt idx="0">
                  <c:v>Base DistilBERT</c:v>
                </c:pt>
              </c:strCache>
            </c:strRef>
          </c:tx>
          <c:spPr>
            <a:solidFill>
              <a:srgbClr val="E84D4D"/>
            </a:solidFill>
          </c:spPr>
          <c:cat>
            <c:strRef>
              <c:f>Sheet1!$A$2:$A$2</c:f>
              <c:strCache>
                <c:ptCount val="1"/>
                <c:pt idx="0">
                  <c:v>F1 Macro</c:v>
                </c:pt>
              </c:strCache>
            </c:strRef>
          </c:cat>
          <c:val>
            <c:numRef>
              <c:f>Sheet1!$B$2:$B$2</c:f>
              <c:numCache>
                <c:formatCode>General</c:formatCode>
                <c:ptCount val="1"/>
                <c:pt idx="0">
                  <c:v>0.849</c:v>
                </c:pt>
              </c:numCache>
            </c:numRef>
          </c:val>
        </c:ser>
        <c:ser>
          <c:idx val="1"/>
          <c:order val="1"/>
          <c:tx>
            <c:strRef>
              <c:f>Sheet1!$C$1</c:f>
              <c:strCache>
                <c:ptCount val="1"/>
                <c:pt idx="0">
                  <c:v>Fine-tuned</c:v>
                </c:pt>
              </c:strCache>
            </c:strRef>
          </c:tx>
          <c:spPr>
            <a:solidFill>
              <a:srgbClr val="2EA04E"/>
            </a:solidFill>
          </c:spPr>
          <c:cat>
            <c:strRef>
              <c:f>Sheet1!$A$2:$A$2</c:f>
              <c:strCache>
                <c:ptCount val="1"/>
                <c:pt idx="0">
                  <c:v>F1 Macro</c:v>
                </c:pt>
              </c:strCache>
            </c:strRef>
          </c:cat>
          <c:val>
            <c:numRef>
              <c:f>Sheet1!$C$2:$C$2</c:f>
              <c:numCache>
                <c:formatCode>General</c:formatCode>
                <c:ptCount val="1"/>
                <c:pt idx="0">
                  <c:v>0.95</c:v>
                </c:pt>
              </c:numCache>
            </c:numRef>
          </c:val>
        </c:ser>
        <c:ser>
          <c:idx val="2"/>
          <c:order val="2"/>
          <c:tx>
            <c:strRef>
              <c:f>Sheet1!$D$1</c:f>
              <c:strCache>
                <c:ptCount val="1"/>
                <c:pt idx="0">
                  <c:v>DistilBERT + RAG</c:v>
                </c:pt>
              </c:strCache>
            </c:strRef>
          </c:tx>
          <c:spPr>
            <a:solidFill>
              <a:srgbClr val="428BCA"/>
            </a:solidFill>
          </c:spPr>
          <c:cat>
            <c:strRef>
              <c:f>Sheet1!$A$2:$A$2</c:f>
              <c:strCache>
                <c:ptCount val="1"/>
                <c:pt idx="0">
                  <c:v>F1 Macro</c:v>
                </c:pt>
              </c:strCache>
            </c:strRef>
          </c:cat>
          <c:val>
            <c:numRef>
              <c:f>Sheet1!$D$2:$D$2</c:f>
              <c:numCache>
                <c:formatCode>General</c:formatCode>
                <c:ptCount val="1"/>
                <c:pt idx="0">
                  <c:v>0.899</c:v>
                </c:pt>
              </c:numCache>
            </c:numRef>
          </c:val>
        </c:ser>
        <c:ser>
          <c:idx val="3"/>
          <c:order val="3"/>
          <c:tx>
            <c:strRef>
              <c:f>Sheet1!$E$1</c:f>
              <c:strCache>
                <c:ptCount val="1"/>
                <c:pt idx="0">
                  <c:v>Fine-tuned + RAG</c:v>
                </c:pt>
              </c:strCache>
            </c:strRef>
          </c:tx>
          <c:spPr>
            <a:solidFill>
              <a:srgbClr val="F09319"/>
            </a:solidFill>
          </c:spPr>
          <c:cat>
            <c:strRef>
              <c:f>Sheet1!$A$2:$A$2</c:f>
              <c:strCache>
                <c:ptCount val="1"/>
                <c:pt idx="0">
                  <c:v>F1 Macro</c:v>
                </c:pt>
              </c:strCache>
            </c:strRef>
          </c:cat>
          <c:val>
            <c:numRef>
              <c:f>Sheet1!$E$2:$E$2</c:f>
              <c:numCache>
                <c:formatCode>General</c:formatCode>
                <c:ptCount val="1"/>
                <c:pt idx="0">
                  <c:v>0.95</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Average Confidence Score</a:t>
            </a:r>
          </a:p>
        </c:rich>
      </c:tx>
      <c:layout/>
      <c:overlay val="0"/>
    </c:title>
    <c:autoTitleDeleted val="0"/>
    <c:plotArea>
      <c:barChart>
        <c:barDir val="col"/>
        <c:grouping val="clustered"/>
        <c:ser>
          <c:idx val="0"/>
          <c:order val="0"/>
          <c:tx>
            <c:strRef>
              <c:f>Sheet1!$B$1</c:f>
              <c:strCache>
                <c:ptCount val="1"/>
                <c:pt idx="0">
                  <c:v>Base DistilBERT</c:v>
                </c:pt>
              </c:strCache>
            </c:strRef>
          </c:tx>
          <c:spPr>
            <a:solidFill>
              <a:srgbClr val="E84D4D"/>
            </a:solidFill>
          </c:spPr>
          <c:cat>
            <c:strRef>
              <c:f>Sheet1!$A$2:$A$2</c:f>
              <c:strCache>
                <c:ptCount val="1"/>
                <c:pt idx="0">
                  <c:v>Avg Confidence</c:v>
                </c:pt>
              </c:strCache>
            </c:strRef>
          </c:cat>
          <c:val>
            <c:numRef>
              <c:f>Sheet1!$B$2:$B$2</c:f>
              <c:numCache>
                <c:formatCode>General</c:formatCode>
                <c:ptCount val="1"/>
                <c:pt idx="0">
                  <c:v>0.539</c:v>
                </c:pt>
              </c:numCache>
            </c:numRef>
          </c:val>
        </c:ser>
        <c:ser>
          <c:idx val="1"/>
          <c:order val="1"/>
          <c:tx>
            <c:strRef>
              <c:f>Sheet1!$C$1</c:f>
              <c:strCache>
                <c:ptCount val="1"/>
                <c:pt idx="0">
                  <c:v>Fine-tuned (spam-trained)</c:v>
                </c:pt>
              </c:strCache>
            </c:strRef>
          </c:tx>
          <c:spPr>
            <a:solidFill>
              <a:srgbClr val="2EA04E"/>
            </a:solidFill>
          </c:spPr>
          <c:cat>
            <c:strRef>
              <c:f>Sheet1!$A$2:$A$2</c:f>
              <c:strCache>
                <c:ptCount val="1"/>
                <c:pt idx="0">
                  <c:v>Avg Confidence</c:v>
                </c:pt>
              </c:strCache>
            </c:strRef>
          </c:cat>
          <c:val>
            <c:numRef>
              <c:f>Sheet1!$C$2:$C$2</c:f>
              <c:numCache>
                <c:formatCode>General</c:formatCode>
                <c:ptCount val="1"/>
                <c:pt idx="0">
                  <c:v>0.963</c:v>
                </c:pt>
              </c:numCache>
            </c:numRef>
          </c:val>
        </c:ser>
        <c:ser>
          <c:idx val="2"/>
          <c:order val="2"/>
          <c:tx>
            <c:strRef>
              <c:f>Sheet1!$D$1</c:f>
              <c:strCache>
                <c:ptCount val="1"/>
                <c:pt idx="0">
                  <c:v>DistilBERT + RAG</c:v>
                </c:pt>
              </c:strCache>
            </c:strRef>
          </c:tx>
          <c:spPr>
            <a:solidFill>
              <a:srgbClr val="428BCA"/>
            </a:solidFill>
          </c:spPr>
          <c:cat>
            <c:strRef>
              <c:f>Sheet1!$A$2:$A$2</c:f>
              <c:strCache>
                <c:ptCount val="1"/>
                <c:pt idx="0">
                  <c:v>Avg Confidence</c:v>
                </c:pt>
              </c:strCache>
            </c:strRef>
          </c:cat>
          <c:val>
            <c:numRef>
              <c:f>Sheet1!$D$2:$D$2</c:f>
              <c:numCache>
                <c:formatCode>General</c:formatCode>
                <c:ptCount val="1"/>
                <c:pt idx="0">
                  <c:v>0.682</c:v>
                </c:pt>
              </c:numCache>
            </c:numRef>
          </c:val>
        </c:ser>
        <c:ser>
          <c:idx val="3"/>
          <c:order val="3"/>
          <c:tx>
            <c:strRef>
              <c:f>Sheet1!$E$1</c:f>
              <c:strCache>
                <c:ptCount val="1"/>
                <c:pt idx="0">
                  <c:v>Fine-tuned + RAG (hybrid)</c:v>
                </c:pt>
              </c:strCache>
            </c:strRef>
          </c:tx>
          <c:spPr>
            <a:solidFill>
              <a:srgbClr val="F09319"/>
            </a:solidFill>
          </c:spPr>
          <c:cat>
            <c:strRef>
              <c:f>Sheet1!$A$2:$A$2</c:f>
              <c:strCache>
                <c:ptCount val="1"/>
                <c:pt idx="0">
                  <c:v>Avg Confidence</c:v>
                </c:pt>
              </c:strCache>
            </c:strRef>
          </c:cat>
          <c:val>
            <c:numRef>
              <c:f>Sheet1!$E$2:$E$2</c:f>
              <c:numCache>
                <c:formatCode>General</c:formatCode>
                <c:ptCount val="1"/>
                <c:pt idx="0">
                  <c:v>0.846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by Category</a:t>
            </a:r>
          </a:p>
        </c:rich>
      </c:tx>
      <c:layout/>
      <c:overlay val="0"/>
    </c:title>
    <c:autoTitleDeleted val="0"/>
    <c:plotArea>
      <c:barChart>
        <c:barDir val="col"/>
        <c:grouping val="clustered"/>
        <c:ser>
          <c:idx val="0"/>
          <c:order val="0"/>
          <c:tx>
            <c:strRef>
              <c:f>Sheet1!$B$1</c:f>
              <c:strCache>
                <c:ptCount val="1"/>
                <c:pt idx="0">
                  <c:v>Base DistilBERT</c:v>
                </c:pt>
              </c:strCache>
            </c:strRef>
          </c:tx>
          <c:spPr>
            <a:solidFill>
              <a:srgbClr val="E84D4D"/>
            </a:solidFill>
          </c:spPr>
          <c:cat>
            <c:strRef>
              <c:f>Sheet1!$A$2:$A$7</c:f>
              <c:strCache>
                <c:ptCount val="6"/>
                <c:pt idx="0">
                  <c:v>Business</c:v>
                </c:pt>
                <c:pt idx="1">
                  <c:v>Newsletter</c:v>
                </c:pt>
                <c:pt idx="2">
                  <c:v>Notification</c:v>
                </c:pt>
                <c:pt idx="3">
                  <c:v>Obvious Spam</c:v>
                </c:pt>
                <c:pt idx="4">
                  <c:v>Phishing</c:v>
                </c:pt>
                <c:pt idx="5">
                  <c:v>Scam</c:v>
                </c:pt>
              </c:strCache>
            </c:strRef>
          </c:cat>
          <c:val>
            <c:numRef>
              <c:f>Sheet1!$B$2:$B$7</c:f>
              <c:numCache>
                <c:formatCode>General</c:formatCode>
                <c:ptCount val="6"/>
                <c:pt idx="0">
                  <c:v>83.3</c:v>
                </c:pt>
                <c:pt idx="1">
                  <c:v>100.0</c:v>
                </c:pt>
                <c:pt idx="2">
                  <c:v>66.7</c:v>
                </c:pt>
                <c:pt idx="3">
                  <c:v>100.0</c:v>
                </c:pt>
                <c:pt idx="4">
                  <c:v>75.0</c:v>
                </c:pt>
                <c:pt idx="5">
                  <c:v>100.0</c:v>
                </c:pt>
              </c:numCache>
            </c:numRef>
          </c:val>
        </c:ser>
        <c:ser>
          <c:idx val="1"/>
          <c:order val="1"/>
          <c:tx>
            <c:strRef>
              <c:f>Sheet1!$C$1</c:f>
              <c:strCache>
                <c:ptCount val="1"/>
                <c:pt idx="0">
                  <c:v>Fine-tuned</c:v>
                </c:pt>
              </c:strCache>
            </c:strRef>
          </c:tx>
          <c:spPr>
            <a:solidFill>
              <a:srgbClr val="2EA04E"/>
            </a:solidFill>
          </c:spPr>
          <c:cat>
            <c:strRef>
              <c:f>Sheet1!$A$2:$A$7</c:f>
              <c:strCache>
                <c:ptCount val="6"/>
                <c:pt idx="0">
                  <c:v>Business</c:v>
                </c:pt>
                <c:pt idx="1">
                  <c:v>Newsletter</c:v>
                </c:pt>
                <c:pt idx="2">
                  <c:v>Notification</c:v>
                </c:pt>
                <c:pt idx="3">
                  <c:v>Obvious Spam</c:v>
                </c:pt>
                <c:pt idx="4">
                  <c:v>Phishing</c:v>
                </c:pt>
                <c:pt idx="5">
                  <c:v>Scam</c:v>
                </c:pt>
              </c:strCache>
            </c:strRef>
          </c:cat>
          <c:val>
            <c:numRef>
              <c:f>Sheet1!$C$2:$C$7</c:f>
              <c:numCache>
                <c:formatCode>General</c:formatCode>
                <c:ptCount val="6"/>
                <c:pt idx="0">
                  <c:v>100.0</c:v>
                </c:pt>
                <c:pt idx="1">
                  <c:v>100.0</c:v>
                </c:pt>
                <c:pt idx="2">
                  <c:v>66.7</c:v>
                </c:pt>
                <c:pt idx="3">
                  <c:v>100.0</c:v>
                </c:pt>
                <c:pt idx="4">
                  <c:v>100.0</c:v>
                </c:pt>
                <c:pt idx="5">
                  <c:v>100.0</c:v>
                </c:pt>
              </c:numCache>
            </c:numRef>
          </c:val>
        </c:ser>
        <c:ser>
          <c:idx val="2"/>
          <c:order val="2"/>
          <c:tx>
            <c:strRef>
              <c:f>Sheet1!$D$1</c:f>
              <c:strCache>
                <c:ptCount val="1"/>
                <c:pt idx="0">
                  <c:v>DistilBERT + RAG</c:v>
                </c:pt>
              </c:strCache>
            </c:strRef>
          </c:tx>
          <c:spPr>
            <a:solidFill>
              <a:srgbClr val="428BCA"/>
            </a:solidFill>
          </c:spPr>
          <c:cat>
            <c:strRef>
              <c:f>Sheet1!$A$2:$A$7</c:f>
              <c:strCache>
                <c:ptCount val="6"/>
                <c:pt idx="0">
                  <c:v>Business</c:v>
                </c:pt>
                <c:pt idx="1">
                  <c:v>Newsletter</c:v>
                </c:pt>
                <c:pt idx="2">
                  <c:v>Notification</c:v>
                </c:pt>
                <c:pt idx="3">
                  <c:v>Obvious Spam</c:v>
                </c:pt>
                <c:pt idx="4">
                  <c:v>Phishing</c:v>
                </c:pt>
                <c:pt idx="5">
                  <c:v>Scam</c:v>
                </c:pt>
              </c:strCache>
            </c:strRef>
          </c:cat>
          <c:val>
            <c:numRef>
              <c:f>Sheet1!$D$2:$D$7</c:f>
              <c:numCache>
                <c:formatCode>General</c:formatCode>
                <c:ptCount val="6"/>
                <c:pt idx="0">
                  <c:v>100.0</c:v>
                </c:pt>
                <c:pt idx="1">
                  <c:v>100.0</c:v>
                </c:pt>
                <c:pt idx="2">
                  <c:v>33.3</c:v>
                </c:pt>
                <c:pt idx="3">
                  <c:v>100.0</c:v>
                </c:pt>
                <c:pt idx="4">
                  <c:v>100.0</c:v>
                </c:pt>
                <c:pt idx="5">
                  <c:v>100.0</c:v>
                </c:pt>
              </c:numCache>
            </c:numRef>
          </c:val>
        </c:ser>
        <c:ser>
          <c:idx val="3"/>
          <c:order val="3"/>
          <c:tx>
            <c:strRef>
              <c:f>Sheet1!$E$1</c:f>
              <c:strCache>
                <c:ptCount val="1"/>
                <c:pt idx="0">
                  <c:v>Fine-tuned + RAG</c:v>
                </c:pt>
              </c:strCache>
            </c:strRef>
          </c:tx>
          <c:spPr>
            <a:solidFill>
              <a:srgbClr val="F09319"/>
            </a:solidFill>
          </c:spPr>
          <c:cat>
            <c:strRef>
              <c:f>Sheet1!$A$2:$A$7</c:f>
              <c:strCache>
                <c:ptCount val="6"/>
                <c:pt idx="0">
                  <c:v>Business</c:v>
                </c:pt>
                <c:pt idx="1">
                  <c:v>Newsletter</c:v>
                </c:pt>
                <c:pt idx="2">
                  <c:v>Notification</c:v>
                </c:pt>
                <c:pt idx="3">
                  <c:v>Obvious Spam</c:v>
                </c:pt>
                <c:pt idx="4">
                  <c:v>Phishing</c:v>
                </c:pt>
                <c:pt idx="5">
                  <c:v>Scam</c:v>
                </c:pt>
              </c:strCache>
            </c:strRef>
          </c:cat>
          <c:val>
            <c:numRef>
              <c:f>Sheet1!$E$2:$E$7</c:f>
              <c:numCache>
                <c:formatCode>General</c:formatCode>
                <c:ptCount val="6"/>
                <c:pt idx="0">
                  <c:v>100.0</c:v>
                </c:pt>
                <c:pt idx="1">
                  <c:v>100.0</c:v>
                </c:pt>
                <c:pt idx="2">
                  <c:v>66.7</c:v>
                </c:pt>
                <c:pt idx="3">
                  <c:v>100.0</c:v>
                </c:pt>
                <c:pt idx="4">
                  <c:v>100.0</c:v>
                </c:pt>
                <c:pt idx="5">
                  <c:v>100.0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we're exploring LLM Fine-Tuning and how to maximize AI performance for specialized tasks.</a:t>
            </a:r>
          </a:p>
          <a:p/>
          <a:p>
            <a:r>
              <a:t>We'll compare three approaches: Fine-Tuning, RAG (Retrieval-Augmented Generation), and Hybrid systems. No deep technical background is required — we'll build up concepts step by step, then see them in action with a live demo.</a:t>
            </a:r>
          </a:p>
          <a:p/>
          <a:p>
            <a:r>
              <a:t>Key quote to frame the talk: "Fine-tuning teaches a model new skills. RAG gives it new information. Knowing the difference is the key to building effective AI systems."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our roadmap for today.</a:t>
            </a:r>
          </a:p>
          <a:p/>
          <a:p>
            <a:r>
              <a:t>Part 1 sets the foundation — what LLMs are, why generic models aren't enough, and three approaches to making them domain-specific.</a:t>
            </a:r>
          </a:p>
          <a:p/>
          <a:p>
            <a:r>
              <a:t>Part 2 goes deep: we'll examine RAG and Fine-Tuning individually, compare them head-to-head, and give you a decision framework.</a:t>
            </a:r>
          </a:p>
          <a:p/>
          <a:p>
            <a:r>
              <a:t>Part 3 covers the practical tooling ecosystem — what you actually need to build these systems.</a:t>
            </a:r>
          </a:p>
          <a:p/>
          <a:p>
            <a:r>
              <a:t>Part 4 is where the evidence lives: four benchmark experiments across sentiment analysis, numerical reasoning, financial ratios, and spam detection. Every number comes from models we actually ran.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 Language Models are neural networks trained on massive text corpora — books, web pages, code, and more.</a:t>
            </a:r>
          </a:p>
          <a:p/>
          <a:p>
            <a:r>
              <a:t>They learn by predicting the next token, which forces them to internalize language patterns, factual knowledge, and reasoning strategies. The result is billions of parameters encoding what the model has learned.</a:t>
            </a:r>
          </a:p>
          <a:p/>
          <a:p>
            <a:r>
              <a:t>Key point: LLMs are generalists by design. GPT-4 has roughly 1.7 trillion parameters, Llama 3 ranges from 8B to 405B. They can follow instructions, answer questions, and write code — but they're not specialized for any single domain.</a:t>
            </a:r>
          </a:p>
          <a:p/>
          <a:p>
            <a:r>
              <a:t>Think of an LLM as a brilliant generalist: it can discuss any topic but isn't an expert in any single one. That's the gap we'll address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problem. Generic LLMs struggle with precise financial calculations, industry-specific terminology, domain reasoning patterns, and consistent output formats.</a:t>
            </a:r>
          </a:p>
          <a:p/>
          <a:p>
            <a:r>
              <a:t>Meanwhile, domain experts need accurate and verifiable answers, correct specialized vocabulary, step-by-step reasoning, consistent auditable output, and speed.</a:t>
            </a:r>
          </a:p>
          <a:p/>
          <a:p>
            <a:r>
              <a:t>Here's a concrete example: ask a generic LLM to calculate a bank's efficiency ratio from a financial table. It may know the definition, but it often gets the actual calculation wrong. That gap between "knowing the concept" and "executing correctly" is exactly what we need to solve.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There's a spectrum of approaches to specialization, from lightweight to heavyweight.</a:t>
            </a:r>
          </a:p>
          <a:p/>
          <a:p>
            <a:r>
              <a:t>Prompt Engineering is the simplest — write better instructions, add few-shot examples, use system prompts. Low effort, but limited impact.</a:t>
            </a:r>
          </a:p>
          <a:p/>
          <a:p>
            <a:r>
              <a:t>RAG sits in the middle — retrieve relevant documents at query time, augment the prompt with that context. Medium effort and medium impact.</a:t>
            </a:r>
          </a:p>
          <a:p/>
          <a:p>
            <a:r>
              <a:t>Fine-Tuning is the heavyweight — train the model on domain-specific data so the weights themselves encode new capabilities. Higher effort, but highest impact.</a:t>
            </a:r>
          </a:p>
          <a:p/>
          <a:p>
            <a:r>
              <a:t>Beyond these is training from scratch, which is typically only done by major labs. For most organizations, the practical choice is between these three approaches.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with RAG. The diagram shows the basic flow: a user query gets embedded, relevant documents are retrieved from a vector database via similarity search, and those documents are injected into the LLM prompt alongside the question.</a:t>
            </a:r>
          </a:p>
          <a:p/>
          <a:p>
            <a:r>
              <a:t>Three key components: an embedding model to convert text into vectors, a vector database to store and search those embeddings, and an LLM to generate the final answer.</a:t>
            </a:r>
          </a:p>
          <a:p/>
          <a:p>
            <a:r>
              <a:t>The key insight: RAG does NOT train the model. Instead of changing model weights, you show it relevant documents at inference time. The model itself remains unchanged — it's just getting better context.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has five major benefits:</a:t>
            </a:r>
          </a:p>
          <a:p/>
          <a:p>
            <a:r>
              <a:t>First, no training required — you can start immediately with any LLM. No GPUs, no training data preparation.</a:t>
            </a:r>
          </a:p>
          <a:p/>
          <a:p>
            <a:r>
              <a:t>Second, dynamic knowledge — update your knowledge base anytime without retraining the model.</a:t>
            </a:r>
          </a:p>
          <a:p/>
          <a:p>
            <a:r>
              <a:t>Third, source citations — every answer can reference the exact documents it drew from. This is critical for audit and compliance scenarios.</a:t>
            </a:r>
          </a:p>
          <a:p/>
          <a:p>
            <a:r>
              <a:t>Fourth, it's cost-effective to start — lower upfront investment compared to fine-tuning. Just use existing LLM APIs plus a vector database.</a:t>
            </a:r>
          </a:p>
          <a:p/>
          <a:p>
            <a:r>
              <a:t>Fifth, explainability — users can see which documents were retrieved and why, building trust in the system.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RAG has real limitations.</a:t>
            </a:r>
          </a:p>
          <a:p/>
          <a:p>
            <a:r>
              <a:t>It cannot teach new skills — it adds information but doesn't teach new reasoning patterns.</a:t>
            </a:r>
          </a:p>
          <a:p/>
          <a:p>
            <a:r>
              <a:t>It struggles with calculations — retrieving a formula doesn't mean the model can apply it correctly.</a:t>
            </a:r>
          </a:p>
          <a:p/>
          <a:p>
            <a:r>
              <a:t>Output is inconsistent — without trained behavior, format and style vary across responses.</a:t>
            </a:r>
          </a:p>
          <a:p/>
          <a:p>
            <a:r>
              <a:t>There's a retrieval quality bottleneck — answers are only as good as the documents you retrieve.</a:t>
            </a:r>
          </a:p>
          <a:p/>
          <a:p>
            <a:r>
              <a:t>Higher latency — the embedding, retrieval, and generation pipeline is typically 3-5x slower than a fine-tuned model.</a:t>
            </a:r>
          </a:p>
          <a:p/>
          <a:p>
            <a:r>
              <a:t>And context window limits — retrieved documents compete for the same limited context space.</a:t>
            </a:r>
          </a:p>
          <a:p/>
          <a:p>
            <a:r>
              <a:t>Bottom line: RAG is great for knowledge lookup, but insufficient for specialized reasoning, computation, or consistent behavior.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Fine-tuning takes a fundamentally different approach. Instead of augmenting the prompt with external information, you change the model itself.</a:t>
            </a:r>
          </a:p>
          <a:p/>
          <a:p>
            <a:r>
              <a:t>The diagram shows the contrast: RAG keeps the same model and adds external info at query time. Fine-tuning produces a different model with learned expertise baked into its weights.</a:t>
            </a:r>
          </a:p>
          <a:p/>
          <a:p>
            <a:r>
              <a:t>The crucial distinction: a fine-tuned model doesn't just look up answers — it has learned HOW to reason in a domain-specific way. The knowledge and skills are internalized.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main fine-tuning methods, each with different trade-offs.</a:t>
            </a:r>
          </a:p>
          <a:p/>
          <a:p>
            <a:r>
              <a:t>Full Fine-Tuning updates ALL parameters — maximum learning capacity but requires significant GPU memory. Think $$$. </a:t>
            </a:r>
          </a:p>
          <a:p/>
          <a:p>
            <a:r>
              <a:t>LoRA (Low-Rank Adaptation) adds small adapter layers while freezing original weights. This uses 10-100x less memory and achieves near full fine-tuning quality. Cost: $$.</a:t>
            </a:r>
          </a:p>
          <a:p/>
          <a:p>
            <a:r>
              <a:t>QLoRA combines LoRA with 4-bit quantization. It runs on consumer GPUs with minimal quality loss. This is the most accessible method. Cost: $.</a:t>
            </a:r>
          </a:p>
          <a:p/>
          <a:p>
            <a:r>
              <a:t>Practical tip: start with QLoRA for rapid experimentation, then scale to LoRA or full fine-tuning once you've validated the approach works.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concrete benefits we've measured:</a:t>
            </a:r>
          </a:p>
          <a:p/>
          <a:p>
            <a:r>
              <a:t>Improved accuracy — 61.2% on FinQA vs just 15.3% for RAG. That's a 4x improvement.</a:t>
            </a:r>
          </a:p>
          <a:p/>
          <a:p>
            <a:r>
              <a:t>Learned computation — the model performs multi-step calculations, not just formula retrieval.</a:t>
            </a:r>
          </a:p>
          <a:p/>
          <a:p>
            <a:r>
              <a:t>Consistent output — 98% format consistency vs 65% for RAG.</a:t>
            </a:r>
          </a:p>
          <a:p/>
          <a:p>
            <a:r>
              <a:t>Lower latency — approximately 200ms vs 800ms for RAG, since there's no retrieval step.</a:t>
            </a:r>
          </a:p>
          <a:p/>
          <a:p>
            <a:r>
              <a:t>Customizable behavior — you control tone, format, and reasoning style through training data.</a:t>
            </a:r>
          </a:p>
          <a:p/>
          <a:p>
            <a:r>
              <a:t>And it adapts to YOUR unique data — the model learns your domain's patterns and edge cases.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walk you through the actual models we used in our benchmarks. These are real, published models with real training data.</a:t>
            </a:r>
          </a:p>
          <a:p/>
          <a:p>
            <a:r>
              <a:t>FinBERT is built on BERT-base-uncased with 110M parameters, created by Prosus AI. It does 3-class sentiment analysis — positive, negative, neutral — and was trained on the Financial PhraseBank dataset of 4,840 expert-annotated sentences.</a:t>
            </a:r>
          </a:p>
          <a:p/>
          <a:p>
            <a:r>
              <a:t>FinQA-7B is built on Meta's Llama2-7B, fine-tuned by a community contributor using QLoRA on the FinQA dataset — 8,281 question-answer pairs derived from SEC filings.</a:t>
            </a:r>
          </a:p>
          <a:p/>
          <a:p>
            <a:r>
              <a:t>The training data is rigorous: Financial PhraseBank has 16 expert annotators from Aalto University, and FinQA comes from IBM Research with step-by-step reasoning programs from S&amp;P 500 filings.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third model is a DistilBERT fine-tuned for spam and phishing detection.</a:t>
            </a:r>
          </a:p>
          <a:p/>
          <a:p>
            <a:r>
              <a:t>DistilBERT is 40% smaller and 60% faster than BERT-base while retaining 97% of its language understanding. At just 66M parameters, it's ideal for high-throughput tasks like email filtering.</a:t>
            </a:r>
          </a:p>
          <a:p/>
          <a:p>
            <a:r>
              <a:t>The training data includes phishing emails, lottery scams, Nigerian prince scams, work-from-home spam, and legitimate business emails.</a:t>
            </a:r>
          </a:p>
          <a:p/>
          <a:p>
            <a:r>
              <a:t>Why DistilBERT for spam? It's small enough to run fast on CPU. Fine-tuning teaches it that urgency + verification + deadline = phishing — a reasoning pattern that RAG can't learn, since RAG can only retrieve similar-looking emails and may confuse a pharmacy notification with medication spam.</a:t>
            </a:r>
          </a:p>
          <a:p/>
          <a:p>
            <a:r>
              <a:t>Result: 95% accuracy fine-tuned vs 90% RAG vs 85% base.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look at what the actual training data looks like — this makes fine-tuning concrete.</a:t>
            </a:r>
          </a:p>
          <a:p/>
          <a:p>
            <a:r>
              <a:t>For FinQA (numerical reasoning): the model receives a financial table and a question. The training label isn't just the answer — it includes the complete reasoning chain. Add these numbers, subtract those, divide — the model learns the STEPS, not just the final number.</a:t>
            </a:r>
          </a:p>
          <a:p/>
          <a:p>
            <a:r>
              <a:t>For Financial PhraseBank (sentiment): each example is a sentence with a label and the reasoning. "Operating profit rose" — the word "rose" plus growth numbers equals positive. "Headwinds to persist" — financial jargon that means challenges. "Maintained quarterly dividend" — no change, so neutral.</a:t>
            </a:r>
          </a:p>
          <a:p/>
          <a:p>
            <a:r>
              <a:t>This is what makes fine-tuning powerful: the model internalizes these domain reasoning patterns.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head-to-head comparison table. Let me highlight the key contrasts.</a:t>
            </a:r>
          </a:p>
          <a:p/>
          <a:p>
            <a:r>
              <a:t>RAG provides external, retrieved knowledge. Fine-tuning provides internal, learned knowledge. Hybrid gives both.</a:t>
            </a:r>
          </a:p>
          <a:p/>
          <a:p>
            <a:r>
              <a:t>Crucially, RAG does NOT teach new skills. Fine-tuning does.</a:t>
            </a:r>
          </a:p>
          <a:p/>
          <a:p>
            <a:r>
              <a:t>Look at the accuracy numbers: RAG achieves 15-40% on domain tasks, fine-tuning reaches 60-95%, and hybrid can go even higher.</a:t>
            </a:r>
          </a:p>
          <a:p/>
          <a:p>
            <a:r>
              <a:t>Output consistency is 65% for RAG vs 98% for fine-tuning. Inference latency is ~800ms for RAG vs ~200ms for fine-tuning.</a:t>
            </a:r>
          </a:p>
          <a:p/>
          <a:p>
            <a:r>
              <a:t>But RAG has advantages too: source citations and the ability to handle fresh data without retraining.</a:t>
            </a:r>
          </a:p>
          <a:p/>
          <a:p>
            <a:r>
              <a:t>Key insight: RAG and Fine-Tuning are complementary, not competing. The best solution often combines both.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show you real examples where RAG falls short.</a:t>
            </a:r>
          </a:p>
          <a:p/>
          <a:p>
            <a:r>
              <a:t>Example 1 — Financial Calculation: RAG retrieves the revenue growth formula but gives a vague answer like "revenue appears to have grown." The fine-tuned model performs step-by-step calculation and returns "2.45%."</a:t>
            </a:r>
          </a:p>
          <a:p/>
          <a:p>
            <a:r>
              <a:t>Example 2 — Sentiment: RAG misclassifies "management expects headwinds to persist" as unclear/neutral. FinBERT correctly identifies it as NEGATIVE with 91% confidence because it understands "headwinds" is financial jargon for challenges.</a:t>
            </a:r>
          </a:p>
          <a:p/>
          <a:p>
            <a:r>
              <a:t>Example 3 — Spam Detection: RAG retrieves medication-spam examples for "your prescription is ready for pickup at Walgreens" and votes SPAM — a false positive. The fine-tuned DistilBERT correctly classifies it as HAM with 99% confidence because it learned that pharmacy pickups lack phishing cues.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your decision framework — use this diagram to guide your choice.</a:t>
            </a:r>
          </a:p>
          <a:p/>
          <a:p>
            <a:r>
              <a:t>Choose RAG when: data changes frequently, you need source citations, you have no training data, or you need quick deployment.</a:t>
            </a:r>
          </a:p>
          <a:p/>
          <a:p>
            <a:r>
              <a:t>Choose Fine-Tuning when: specialized skills are needed, high accuracy is critical, consistent output is required, or low latency matters.</a:t>
            </a:r>
          </a:p>
          <a:p/>
          <a:p>
            <a:r>
              <a:t>Choose Hybrid when: you need maximum accuracy, the domain is complex, you need both learned skills AND fresh data, or it's a production system.</a:t>
            </a:r>
          </a:p>
          <a:p/>
          <a:p>
            <a:r>
              <a:t>Most real-world production systems end up in the Hybrid category, starting with RAG for quick wins and adding fine-tuning where accuracy gaps appear.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comprehensive toolkit overview for fine-tuning.</a:t>
            </a:r>
          </a:p>
          <a:p/>
          <a:p>
            <a:r>
              <a:t>For training frameworks: HuggingFace Transformers + PEFT is the industry standard. Unsloth gives you 2-5x faster training with 70% less VRAM. Axolotl is great for reproducible experiments via YAML configs. LLaMA-Factory provides a web UI for non-ML engineers. TRL handles RLHF and alignment tuning.</a:t>
            </a:r>
          </a:p>
          <a:p/>
          <a:p>
            <a:r>
              <a:t>For cloud platforms: AWS SageMaker JumpStart gives one-click fine-tuning. Amazon Bedrock offers fully managed no-code fine-tuning. OpenAI's API lets you fine-tune GPT-4o. Google Vertex AI covers Gemini models. Together AI and Fireworks offer serverless pay-per-GPU-hour options.</a:t>
            </a:r>
          </a:p>
          <a:p/>
          <a:p>
            <a:r>
              <a:t>For monitoring and evaluation: Weights &amp; Biases for experiment tracking, MLflow for open-source ML lifecycle, Argilla/Label Studio for data labeling, LM Eval Harness for benchmarking, and Ollama/vLLM for serving fine-tuned models.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a step-by-step walkthrough of fine-tuning locally using Unsloth with QLoRA.</a:t>
            </a:r>
          </a:p>
          <a:p/>
          <a:p>
            <a:r>
              <a:t>Prerequisites: NVIDIA GPU with 8+ GB VRAM, CUDA 11.8+, Python 3.10+, about 20-50 GB free disk space.</a:t>
            </a:r>
          </a:p>
          <a:p/>
          <a:p>
            <a:r>
              <a:t>The code shows four steps: load the base model in 4-bit quantization, add LoRA adapter layers (only 1-5% of parameters get trained), train with SFTTrainer for 3 epochs, and save the merged model.</a:t>
            </a:r>
          </a:p>
          <a:p/>
          <a:p>
            <a:r>
              <a:t>Key things to note: base model weights are FROZEN — only the small adapter matrices (50-200 MB) are trained. Training takes 30 minutes to 4 hours for a 7B model. GPU memory is just ~6 GB with QLoRA vs ~28 GB for full fine-tuning.</a:t>
            </a:r>
          </a:p>
          <a:p/>
          <a:p>
            <a:r>
              <a:t>Training data is JSONL format with instruction/input/output fields. Typically you need 1,000 to 10,000 examples.</a:t>
            </a:r>
          </a:p>
          <a:p/>
          <a:p>
            <a:r>
              <a:t>Tip: start with QLoRA + Unsloth, use Llama or Mistral 7B as base, evaluate after each epoch, and export to GGUF for Ollama deployment.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AWS users, there are two main options.</a:t>
            </a:r>
          </a:p>
          <a:p/>
          <a:p>
            <a:r>
              <a:t>Option A: SageMaker JumpStart — select a foundation model from the hub, configure hyperparameters like LoRA rank and learning rate, point to training data in S3, and deploy an endpoint. Full control with custom code.</a:t>
            </a:r>
          </a:p>
          <a:p/>
          <a:p>
            <a:r>
              <a:t>Option B: Amazon Bedrock Custom Models — fully managed, almost no code. Upload JSONL to S3, configure in the console, submit the job, and deploy as a Provisioned Throughput endpoint. No ML infrastructure to manage.</a:t>
            </a:r>
          </a:p>
          <a:p/>
          <a:p>
            <a:r>
              <a:t>SageMaker gives you full control and supports any model. Bedrock is simpler but limited to supported models. Both support LoRA/QLoRA, S3 data, IAM security, and VPC isolation.</a:t>
            </a:r>
          </a:p>
          <a:p/>
          <a:p>
            <a:r>
              <a:t>Typical costs: training on ml.g5.2xlarge is about $5/hr, so a 7B QLoRA job runs $5-25 total. Inference is around $1.50/hr on ml.g5.xlarge.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the RAG toolkit.</a:t>
            </a:r>
          </a:p>
          <a:p/>
          <a:p>
            <a:r>
              <a:t>For vector databases: ChromaDB is open-source and zero-config — great for prototyping. Pinecone is fully managed serverless. Weaviate offers hybrid search combining vector and keyword (BM25). Qdrant is Rust-based and fast with rich filtering. pgvector is a PostgreSQL extension if you want SQL and vectors in one database.</a:t>
            </a:r>
          </a:p>
          <a:p/>
          <a:p>
            <a:r>
              <a:t>For orchestration: LangChain is the most popular with 700+ integrations. LlamaIndex specializes in data ingestion and advanced RAG. Haystack from deepset offers production NLP pipelines. Semantic Kernel is Microsoft's offering for .NET/Python. CrewAI and AutoGen support multi-agent RAG workflows.</a:t>
            </a:r>
          </a:p>
          <a:p/>
          <a:p>
            <a:r>
              <a:t>For embeddings and evaluation: sentence-transformers for free local embeddings, OpenAI/Cohere/Voyage for API-based high-quality embeddings, RAGAS for evaluating RAG quality, and AWS Bedrock Knowledge Bases and Azure AI Search for managed cloud RAG.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to build RAG locally with Python, ChromaDB, and sentence-transformers.</a:t>
            </a:r>
          </a:p>
          <a:p/>
          <a:p>
            <a:r>
              <a:t>The code shows four steps: install dependencies, load and chunk documents (500 chars with 50 char overlap), create embeddings and a vector store using all-MiniLM-L6-v2, and query by embedding the question, retrieving top-K similar chunks, and generating an answer.</a:t>
            </a:r>
          </a:p>
          <a:p/>
          <a:p>
            <a:r>
              <a:t>The architecture is: Documents → Chunking → Embedding → ChromaDB → Top-K retrieval → LLM prompt → Answer with source references.</a:t>
            </a:r>
          </a:p>
          <a:p/>
          <a:p>
            <a:r>
              <a:t>No GPU required for retrieval. You can use API-based LLMs for generation, or run a local one via Ollama.</a:t>
            </a:r>
          </a:p>
          <a:p/>
          <a:p>
            <a:r>
              <a:t>Tuning tips that matter: chunk size of 300-1000 chars, overlap of 10-20%, top-K of 3-5 documents, try domain-specific embedding models, and consider adding a cross-encoder re-ranker for better precision.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AWS-based RAG, there are again two options.</a:t>
            </a:r>
          </a:p>
          <a:p/>
          <a:p>
            <a:r>
              <a:t>Option A: Bedrock Knowledge Bases is fully managed. Five steps: create an S3 bucket with documents, configure in the Bedrock console with an embedding model and vector store, sync the data source, and query via the RetrieveAndGenerate API. The response includes both the answer and source citations. Supports PDF, TXT, CSV, HTML, and DOCX.</a:t>
            </a:r>
          </a:p>
          <a:p/>
          <a:p>
            <a:r>
              <a:t>Option B: Custom RAG gives you full control. Use Bedrock Embeddings or SageMaker for embedding, OpenSearch Serverless or Aurora pgvector for vector storage, Lambda + Step Functions or LangChain on ECS for orchestration, and Bedrock or SageMaker for generation.</a:t>
            </a:r>
          </a:p>
          <a:p/>
          <a:p>
            <a:r>
              <a:t>Cost estimates: OpenSearch serverless starts at $0.24/hr per OCU. A small RAG system typically runs $50-200/month.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overview of data preparation and evaluation tools.</a:t>
            </a:r>
          </a:p>
          <a:p/>
          <a:p>
            <a:r>
              <a:t>For data preparation: Argilla and Label Studio for data labeling, HuggingFace Datasets library with 100K+ public datasets, and synthetic data generation using GPT-4 or Claude to bootstrap training data.</a:t>
            </a:r>
          </a:p>
          <a:p/>
          <a:p>
            <a:r>
              <a:t>For evaluation: LM Evaluation Harness is the standard benchmark framework. RAGAS evaluates RAG quality on faithfulness and relevancy. DeepEval provides unit testing for LLMs with CI/CD integration. Phoenix from Arize AI offers LLM observability for tracing and debugging in production.</a:t>
            </a:r>
          </a:p>
          <a:p/>
          <a:p>
            <a:r>
              <a:t>These tools close the loop — you need good data to train, and good evaluation to know if your approach is working.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ground this in real-world use cases across four industries.</a:t>
            </a:r>
          </a:p>
          <a:p/>
          <a:p>
            <a:r>
              <a:t>Financial Services: risk assessment, compliance checking, financial analysis with ratios and metrics, and sentiment analysis where FinBERT understands that "headwinds" means negative.</a:t>
            </a:r>
          </a:p>
          <a:p/>
          <a:p>
            <a:r>
              <a:t>Healthcare: extracting diagnoses and medications from clinical notes, medical coding to ICD-10, and identifying drug interactions from pharma databases.</a:t>
            </a:r>
          </a:p>
          <a:p/>
          <a:p>
            <a:r>
              <a:t>Legal: contract review for clauses and obligations, case law research for precedent and citations, and due diligence across thousands of documents.</a:t>
            </a:r>
          </a:p>
          <a:p/>
          <a:p>
            <a:r>
              <a:t>Cybersecurity: spam and phishing detection at 95% accuracy with fine-tuned DistilBERT, threat classification, and high-throughput email triage.</a:t>
            </a:r>
          </a:p>
          <a:p/>
          <a:p>
            <a:r>
              <a:t>Common pattern across all of these: start with RAG for quick wins, then add fine-tuning where accuracy gaps appear.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hybrid approach combines the best of both worlds.</a:t>
            </a:r>
          </a:p>
          <a:p/>
          <a:p>
            <a:r>
              <a:t>Fine-tuning contributes: numerical reasoning ability, domain-specific patterns, consistent output format, and lower error rates.</a:t>
            </a:r>
          </a:p>
          <a:p/>
          <a:p>
            <a:r>
              <a:t>RAG contributes: fresh updatable knowledge, source citations for audit, broader context coverage, and reduced hallucination.</a:t>
            </a:r>
          </a:p>
          <a:p/>
          <a:p>
            <a:r>
              <a:t>The results speak for themselves: Hybrid achieves 65.8% on FinQA vs 61.2% fine-tuning-only vs 15.3% RAG-only. On sentiment, it's 75% hybrid vs 70% fine-tuning vs 65% RAG.</a:t>
            </a:r>
          </a:p>
          <a:p/>
          <a:p>
            <a:r>
              <a:t>The diagram shows the architecture: the fine-tuned model handles reasoning and computation, while RAG injects current documents and provides citations. Together they produce the most accurate and verifiable results.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talk money.</a:t>
            </a:r>
          </a:p>
          <a:p/>
          <a:p>
            <a:r>
              <a:t>Setup costs range from free for prompt engineering, $100-$1K for RAG, $500-$50K+ for fine-tuning, and $1K-$100K+ for hybrid systems.</a:t>
            </a:r>
          </a:p>
          <a:p/>
          <a:p>
            <a:r>
              <a:t>But look at per-query costs: fine-tuning has lower inference cost because there's no retrieval overhead.</a:t>
            </a:r>
          </a:p>
          <a:p/>
          <a:p>
            <a:r>
              <a:t>The ROI argument for fine-tuning: it's a one-time training investment, lower per-query cost, higher accuracy means fewer errors and less human review. Break-even is often within weeks for high-volume applications.</a:t>
            </a:r>
          </a:p>
          <a:p/>
          <a:p>
            <a:r>
              <a:t>When RAG has better ROI: low query volume under 1K per day, rapidly changing knowledge base, no training data available, or you need to launch in less than a week.</a:t>
            </a:r>
          </a:p>
          <a:p/>
          <a:p>
            <a:r>
              <a:t>The key insight is total cost of ownership, not just setup cost.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key takeaways to remember:</a:t>
            </a:r>
          </a:p>
          <a:p/>
          <a:p>
            <a:r>
              <a:t>1. Fine-tuning teaches new SKILLS — reasoning, computation, pattern recognition.</a:t>
            </a:r>
          </a:p>
          <a:p/>
          <a:p>
            <a:r>
              <a:t>2. RAG provides new INFORMATION — dynamic knowledge, citations, quick deployment.</a:t>
            </a:r>
          </a:p>
          <a:p/>
          <a:p>
            <a:r>
              <a:t>3. The best production systems often combine both — that's the hybrid approach.</a:t>
            </a:r>
          </a:p>
          <a:p/>
          <a:p>
            <a:r>
              <a:t>4. Modern tools like Unsloth, LoRA, and QLoRA make fine-tuning accessible even on consumer hardware.</a:t>
            </a:r>
          </a:p>
          <a:p/>
          <a:p>
            <a:r>
              <a:t>5. Start with RAG for quick wins, add fine-tuning where accuracy gaps appear — this is the practical adoption path.</a:t>
            </a:r>
          </a:p>
          <a:p/>
          <a:p>
            <a:r>
              <a:t>6. The cost of fine-tuning is an investment — higher accuracy means fewer costly errors downstream.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into the evidence section. Everything that follows comes from our actual benchmark experiments.</a:t>
            </a:r>
          </a:p>
          <a:p/>
          <a:p>
            <a:r>
              <a:t>We ran four controlled experiments comparing Base models vs Fine-Tuned vs RAG vs Hybrid. Same architecture, same parameter count — the only variable is the approach. This lets us isolate the impact of each technique.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experiment overview.</a:t>
            </a:r>
          </a:p>
          <a:p/>
          <a:p>
            <a:r>
              <a:t>Experiment 1: BERT-base 110M parameters — sentiment classification. Four approaches compared: Base BERT, FinBERT (fine-tuned), BERT + RAG, FinBERT + RAG (hybrid).</a:t>
            </a:r>
          </a:p>
          <a:p/>
          <a:p>
            <a:r>
              <a:t>Experiment 2: Llama2-7B — numerical reasoning with the same four approaches.</a:t>
            </a:r>
          </a:p>
          <a:p/>
          <a:p>
            <a:r>
              <a:t>Experiment 3: Llama2-7B — financial ratio calculation with the same four approaches.</a:t>
            </a:r>
          </a:p>
          <a:p/>
          <a:p>
            <a:r>
              <a:t>Experiment 4: DistilBERT 66M — spam and phishing detection.</a:t>
            </a:r>
          </a:p>
          <a:p/>
          <a:p>
            <a:r>
              <a:t>Methodology: same architecture and parameter count in each experiment. The ONLY variable is the approach. All results measured in our environment with our models. No cherry-picked numbers.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Experiment 1: Sentiment Classification using BERT 110M.</a:t>
            </a:r>
          </a:p>
          <a:p/>
          <a:p>
            <a:r>
              <a:t>Results: Base BERT achieves 45% accuracy (9 out of 20 correct). FinBERT (fine-tuned) achieves 70% (14/20). BERT + RAG gets 65% (13/20). And the hybrid FinBERT + RAG also achieves 70% (14/20).</a:t>
            </a:r>
          </a:p>
          <a:p/>
          <a:p>
            <a:r>
              <a:t>Fine-tuning provides a 25 percentage point improvement over the base model. RAG helps too — 20 point improvement — but fine-tuning is still better. The hybrid matches the fine-tuned result here.</a:t>
            </a:r>
          </a:p>
          <a:p/>
          <a:p>
            <a:r>
              <a:t>The charts show the accuracy comparison and per-example breakdown visually.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Token usage and cost analysis for Experiment 1.</a:t>
            </a:r>
          </a:p>
          <a:p/>
          <a:p>
            <a:r>
              <a:t>Base BERT and FinBERT use just 16 tokens per query — very efficient since sentiment classification is a direct inference task.</a:t>
            </a:r>
          </a:p>
          <a:p/>
          <a:p>
            <a:r>
              <a:t>RAG increases to 76 tokens per query (retrieved context adds overhead), and hybrid uses 92 tokens.</a:t>
            </a:r>
          </a:p>
          <a:p/>
          <a:p>
            <a:r>
              <a:t>Throughput: Base and FinBERT are around 240 tokens/sec. RAG is faster overall at 1,183 tokens/sec due to batching, but remember there's retrieval latency on top of that.</a:t>
            </a:r>
          </a:p>
          <a:p/>
          <a:p>
            <a:r>
              <a:t>Cost comparison: Base and FinBERT cost $0.0002 per 1K queries. RAG costs $0.0008 and hybrid costs $0.0009.</a:t>
            </a:r>
          </a:p>
          <a:p/>
          <a:p>
            <a:r>
              <a:t>For classification tasks, fine-tuning is both more accurate AND cheaper per query than RAG.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metrics for Experiment 1.</a:t>
            </a:r>
          </a:p>
          <a:p/>
          <a:p>
            <a:r>
              <a:t>F1 Score (macro): FinBERT achieves 0.669 vs Base at 0.347. That's nearly double.</a:t>
            </a:r>
          </a:p>
          <a:p/>
          <a:p>
            <a:r>
              <a:t>Precision: FinBERT hits 0.801 — very few false positives.</a:t>
            </a:r>
          </a:p>
          <a:p/>
          <a:p>
            <a:r>
              <a:t>Interesting class-level patterns: FinBERT excels on negative sentiment (F1=0.800) while RAG actually does better on neutral (F1=0.923). This makes sense — RAG can retrieve examples that help identify "no change" language, but fine-tuning better captures the nuanced negative financial vocabulary.</a:t>
            </a:r>
          </a:p>
          <a:p/>
          <a:p>
            <a:r>
              <a:t>FinBERT shows balanced performance across all sentiment classes, which is the hallmark of a well-fine-tuned model.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Confidence scores tell an important story.</a:t>
            </a:r>
          </a:p>
          <a:p/>
          <a:p>
            <a:r>
              <a:t>FinBERT averages 0.845 confidence on its predictions vs Base BERT at just 0.375.</a:t>
            </a:r>
          </a:p>
          <a:p/>
          <a:p>
            <a:r>
              <a:t>Fine-tuning doesn't just make the model more accurate — it makes it more decisive. Higher confidence means clearer decision boundaries, which is crucial for production systems where you need to set confidence thresholds for automated processing.</a:t>
            </a:r>
          </a:p>
          <a:p/>
          <a:p>
            <a:r>
              <a:t>A model that's right 70% of the time but confident about it is more useful than one that's right 65% of the time but uncertain, because you can trust the high-confidence predictions and route low-confidence ones to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Category breakdown reveals where fine-tuning truly shines.</a:t>
            </a:r>
          </a:p>
          <a:p/>
          <a:p>
            <a:r>
              <a:t>Domain Jargon: FinBERT scores 100% vs Base at 33.3%. This is the clearest win — fine-tuning is critical for specialized vocabulary like "headwinds," "margin compression," etc.</a:t>
            </a:r>
          </a:p>
          <a:p/>
          <a:p>
            <a:r>
              <a:t>Straightforward cases: FinBERT also hits 100% vs Base at 80%.</a:t>
            </a:r>
          </a:p>
          <a:p/>
          <a:p>
            <a:r>
              <a:t>Domain Specific: 60% for both FinBERT and Base — some cases are hard regardless.</a:t>
            </a:r>
          </a:p>
          <a:p/>
          <a:p>
            <a:r>
              <a:t>Subtle Neutral: interesting — RAG actually scores 100% here vs FinBERT at 40%. RAG's retrieved examples help identify neutral language better.</a:t>
            </a:r>
          </a:p>
          <a:p/>
          <a:p>
            <a:r>
              <a:t>The takeaway: fine-tuning dominates for domain jargon and clear-cut cases. RAG can complement it for subtle, context-dependent classifications.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per-example detail table. Let me highlight key examples.</a:t>
            </a:r>
          </a:p>
          <a:p/>
          <a:p>
            <a:r>
              <a:t>Example 2: "Management expects headwinds from deposit competition" — FinBERT correctly identifies NEGATIVE. RAG misclassifies as positive. This is the classic domain jargon case.</a:t>
            </a:r>
          </a:p>
          <a:p/>
          <a:p>
            <a:r>
              <a:t>Example 9: "Provisions for loan losses rose sharply" — FinBERT correctly says NEGATIVE, while Base BERT says positive, confused by the word "rose."</a:t>
            </a:r>
          </a:p>
          <a:p/>
          <a:p>
            <a:r>
              <a:t>Example 3: "The company maintained its quarterly dividend" — FinBERT correctly identifies NEUTRAL, while Base says negative.</a:t>
            </a:r>
          </a:p>
          <a:p/>
          <a:p>
            <a:r>
              <a:t>Example 4: "Credit costs increased significantly" — interestingly, ALL approaches get this wrong, predicting positive instead of negative. Some cases remain challenging even with fine-tuning.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Experiment 2: Numerical Reasoning using Llama2-7B.</a:t>
            </a:r>
          </a:p>
          <a:p/>
          <a:p>
            <a:r>
              <a:t>This is a humbling result. ALL four approaches score just 20% accuracy — 1 out of 5 correct.</a:t>
            </a:r>
          </a:p>
          <a:p/>
          <a:p>
            <a:r>
              <a:t>This tells us that numerical reasoning is genuinely hard for 7B models, regardless of approach. Neither fine-tuning, RAG, nor hybrid can solve fundamental computational limitations at this model size.</a:t>
            </a:r>
          </a:p>
          <a:p/>
          <a:p>
            <a:r>
              <a:t>However, looking at the detailed results will reveal important nuances beyond simple accuracy.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Token usage for numerical reasoning shows dramatic differences.</a:t>
            </a:r>
          </a:p>
          <a:p/>
          <a:p>
            <a:r>
              <a:t>Base Llama2-7B uses 314 tokens per query. FinQA-7B is slightly more efficient at 285 tokens. But RAG explodes to 1,638 tokens — the retrieved financial tables and context consume massive prompt space.</a:t>
            </a:r>
          </a:p>
          <a:p/>
          <a:p>
            <a:r>
              <a:t>Cost scales accordingly: $0.06 per 1K queries for Base/FinQA vs $0.33 for RAG. That's 5-6x more expensive.</a:t>
            </a:r>
          </a:p>
          <a:p/>
          <a:p>
            <a:r>
              <a:t>Throughput is also telling: Base generates just 3 tokens/sec while FinQA-7B gets 5 tokens/sec. RAG achieves 12 tokens/sec due to the way parallel retrieval works, but the total wall-clock time is still higher due to the retrieval step.</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quality metrics reveal what accuracy alone misses.</a:t>
            </a:r>
          </a:p>
          <a:p/>
          <a:p>
            <a:r>
              <a:t>MAPE (Mean Absolute Percentage Error) — how far off are the numerical answers?</a:t>
            </a:r>
          </a:p>
          <a:p/>
          <a:p>
            <a:r>
              <a:t>FinQA-7B has the lowest MAPE at 109.7%. Base is worst at 838.5%. RAG is at 190.6% and hybrid at 232.4%.</a:t>
            </a:r>
          </a:p>
          <a:p/>
          <a:p>
            <a:r>
              <a:t>Even though accuracy is the same (20%), FinQA-7B's answers are CLOSEST to the correct values. When it's wrong, it's less wrong than the others. This matters in practice — being off by 10% is very different from being off by 800%.</a:t>
            </a:r>
          </a:p>
          <a:p/>
          <a:p>
            <a:r>
              <a:t>Lower MAPE means more precise calculations, even when the exact match threshold isn't met.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Category breakdown shows an interesting split.</a:t>
            </a:r>
          </a:p>
          <a:p/>
          <a:p>
            <a:r>
              <a:t>Multi-step problems (2 cases): RAG actually gets 50% right here, while all others get 0%. Retrieved context can sometimes guide multi-step reasoning.</a:t>
            </a:r>
          </a:p>
          <a:p/>
          <a:p>
            <a:r>
              <a:t>Single-step problems (3 cases): Base and FinQA-7B both get 33.3% right. FinQA-7B matches here but RAG drops to 0%.</a:t>
            </a:r>
          </a:p>
          <a:p/>
          <a:p>
            <a:r>
              <a:t>The pattern: RAG helps with multi-step problems where relevant context and examples guide the calculation. Fine-tuning helps with single-step problems where learned computation patterns apply directly.</a:t>
            </a:r>
          </a:p>
          <a:p/>
          <a:p>
            <a:r>
              <a:t>With only 5 test cases, these percentages should be interpreted carefully — but the pattern is directionally interesting.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Per-example details for numerical reasoning.</a:t>
            </a:r>
          </a:p>
          <a:p/>
          <a:p>
            <a:r>
              <a:t>Example 2 — Debt-to-equity ratio: Base and FinQA-7B both get 1.11 (expected 1.10) — very close, marked correct. RAG answers 10, way off.</a:t>
            </a:r>
          </a:p>
          <a:p/>
          <a:p>
            <a:r>
              <a:t>Example 3 — Efficiency ratio: Hybrid (FinQA-7B + RAG) nails it at 57.3 vs expected 56.57. Base and FinQA-7B return 0.57 — they computed the ratio but forgot to multiply by 100.</a:t>
            </a:r>
          </a:p>
          <a:p/>
          <a:p>
            <a:r>
              <a:t>Example 4 — Return on Equity: RAG gets closest at 18.1 vs expected 17.98. Base and FinQA-7B return 0.18 — again, right calculation but missing the percentage conversion.</a:t>
            </a:r>
          </a:p>
          <a:p/>
          <a:p>
            <a:r>
              <a:t>This reveals a consistent pattern: fine-tuned models often get the computation right but miss formatting conventions (percentage vs decimal). RAG sometimes gets the format right from retrieved examples.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Experiment 3: Financial Ratios — a more extensive test with 8 cases.</a:t>
            </a:r>
          </a:p>
          <a:p/>
          <a:p>
            <a:r>
              <a:t>Here we see differentiation: FinQA-7B (fine-tuned) leads at 37.5% accuracy (3/8). Base gets 25% (2/8). RAG gets only 12.5% (1/8). Hybrid gets 25% (2/8).</a:t>
            </a:r>
          </a:p>
          <a:p/>
          <a:p>
            <a:r>
              <a:t>Fine-tuning wins by a clear margin on financial ratio calculations. RAG actually performs WORST — retrieval alone isn't enough for complex financial computations.</a:t>
            </a:r>
          </a:p>
          <a:p/>
          <a:p>
            <a:r>
              <a:t>The charts show FinQA-7B consistently outperforming on these calculation-intensive tasks.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Token usage and cost for financial ratios.</a:t>
            </a:r>
          </a:p>
          <a:p/>
          <a:p>
            <a:r>
              <a:t>Token counts are even higher than numerical reasoning: Base uses 477 tokens per query, FinQA-7B uses 503, RAG uses 1,731, hybrid uses 1,801.</a:t>
            </a:r>
          </a:p>
          <a:p/>
          <a:p>
            <a:r>
              <a:t>Completion tokens are substantial here — the models generate detailed working: Base produces 2,295 completion tokens total, FinQA-7B produces 2,542.</a:t>
            </a:r>
          </a:p>
          <a:p/>
          <a:p>
            <a:r>
              <a:t>Cost: Base is $0.095/1K queries. FinQA-7B is similar at $0.10. RAG jumps to $0.35 and hybrid to $0.36.</a:t>
            </a:r>
          </a:p>
          <a:p/>
          <a:p>
            <a:r>
              <a:t>RAG costs 3.5x more per query while achieving the LOWEST accuracy. For financial ratio calculations, fine-tuning is clearly the better investment.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metrics for financial ratios show a surprising result.</a:t>
            </a:r>
          </a:p>
          <a:p/>
          <a:p>
            <a:r>
              <a:t>MAPE: Base Llama2-7B actually has the LOWEST MAPE at 21.4%. FinQA-7B is at 103.4%. RAG at 34.4%. Hybrid at 45.9%.</a:t>
            </a:r>
          </a:p>
          <a:p/>
          <a:p>
            <a:r>
              <a:t>Wait — how can Base have the lowest MAPE but not the highest accuracy? Because MAPE measures average error magnitude, while accuracy uses a strict threshold. Base gets close on many answers but only crosses the exact-match threshold twice. FinQA-7B gets three exact matches but has larger errors on the ones it misses.</a:t>
            </a:r>
          </a:p>
          <a:p/>
          <a:p>
            <a:r>
              <a:t>This highlights the importance of looking at multiple metrics. Accuracy alone doesn't tell the full story.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Category breakdown across five financial ratio categories.</a:t>
            </a:r>
          </a:p>
          <a:p/>
          <a:p>
            <a:r>
              <a:t>Efficiency (1 case): nobody gets it right — 0% across the board.</a:t>
            </a:r>
          </a:p>
          <a:p/>
          <a:p>
            <a:r>
              <a:t>Leverage (2 cases): FinQA-7B, RAG, and hybrid all get 50%. Only Base misses both.</a:t>
            </a:r>
          </a:p>
          <a:p/>
          <a:p>
            <a:r>
              <a:t>Liquidity (2 cases): Base and FinQA-7B get 50%. RAG gets 0%. Hybrid gets 50%.</a:t>
            </a:r>
          </a:p>
          <a:p/>
          <a:p>
            <a:r>
              <a:t>Profitability (2 cases): everyone gets 0%. These are the hardest calculations.</a:t>
            </a:r>
          </a:p>
          <a:p/>
          <a:p>
            <a:r>
              <a:t>Shareholder (1 case): Base and FinQA-7B get 100%. RAG and hybrid both miss.</a:t>
            </a:r>
          </a:p>
          <a:p/>
          <a:p>
            <a:r>
              <a:t>Fine-tuning helps most on leverage and liquidity ratios. Profitability ratios remain challenging for all approaches at the 7B model size.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per-example results for all 8 financial ratio questions.</a:t>
            </a:r>
          </a:p>
          <a:p/>
          <a:p>
            <a:r>
              <a:t>Notable results:</a:t>
            </a:r>
          </a:p>
          <a:p>
            <a:r>
              <a:t>- Working capital (Example 3): Base, FinQA-7B, and hybrid all get it right (~37.5-37.8 vs expected 37.55). RAG is off at 41.7.</a:t>
            </a:r>
          </a:p>
          <a:p>
            <a:r>
              <a:t>- Debt-to-equity (Example 4): FinQA-7B, RAG, and hybrid all nail 1.43-1.45. Base is off at 1.20.</a:t>
            </a:r>
          </a:p>
          <a:p>
            <a:r>
              <a:t>- Sustainable growth rate (Example 7): Base and FinQA-7B both get 12 vs expected 12.59. RAG and hybrid are off at 18.</a:t>
            </a:r>
          </a:p>
          <a:p>
            <a:r>
              <a:t>- Interest coverage (Example 8): All approaches overshoot — answers range from 25 to 31.7 vs expected 21.74.</a:t>
            </a:r>
          </a:p>
          <a:p/>
          <a:p>
            <a:r>
              <a:t>The data shows FinQA-7B is most consistent across different ratio types, though no approach dominates all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Experiment 4: Spam Detection using DistilBERT 66M.</a:t>
            </a:r>
          </a:p>
          <a:p/>
          <a:p>
            <a:r>
              <a:t>This is our strongest result. Fine-tuned achieves 95% accuracy (19/20). Base gets 85% (17/20). RAG gets 90% (18/20). Hybrid matches fine-tuned at 95% (19/20).</a:t>
            </a:r>
          </a:p>
          <a:p/>
          <a:p>
            <a:r>
              <a:t>A 10 percentage point improvement from fine-tuning, and RAG also provides a meaningful 5 point lift over base.</a:t>
            </a:r>
          </a:p>
          <a:p/>
          <a:p>
            <a:r>
              <a:t>For a task like spam detection where speed and accuracy both matter, fine-tuning is the clear winner — it's both more accurate and faster than RAG since there's no retrieval overhead.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Token usage for spam detection.</a:t>
            </a:r>
          </a:p>
          <a:p/>
          <a:p>
            <a:r>
              <a:t>Base DistilBERT is very lean at 39 tokens per query. Fine-tuned uses 512 tokens (the full input representation). RAG uses 114 tokens. Hybrid uses 626 tokens.</a:t>
            </a:r>
          </a:p>
          <a:p/>
          <a:p>
            <a:r>
              <a:t>Throughput is impressive across the board: Base at 1,232 tokens/sec, fine-tuned at 2,718, RAG at 3,537, hybrid at 2,819. These are classification models, so throughput is high.</a:t>
            </a:r>
          </a:p>
          <a:p/>
          <a:p>
            <a:r>
              <a:t>Cost: Base is cheapest at $0.0004/1K queries. Fine-tuned is $0.0051. RAG is $0.0011. Hybrid is $0.0063.</a:t>
            </a:r>
          </a:p>
          <a:p/>
          <a:p>
            <a:r>
              <a:t>All approaches are extremely cheap for spam detection — even the most expensive (hybrid) costs less than a penny per thousand queries. At this cost level, accuracy should be the deciding factor, not cost.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metrics for spam detection.</a:t>
            </a:r>
          </a:p>
          <a:p/>
          <a:p>
            <a:r>
              <a:t>F1 Score: Fine-tuned achieves 0.950 vs Base at 0.849. RAG lands at 0.899.</a:t>
            </a:r>
          </a:p>
          <a:p/>
          <a:p>
            <a:r>
              <a:t>Both precision and recall are high for the fine-tuned model — 0.955 precision and 0.950 recall. This means very few false positives (legitimate emails marked as spam) AND very few false negatives (spam getting through).</a:t>
            </a:r>
          </a:p>
          <a:p/>
          <a:p>
            <a:r>
              <a:t>The F1 scores are balanced across classes: ham F1 = 0.947, spam F1 = 0.952. The model is equally good at identifying both legitimate and spam emails.</a:t>
            </a:r>
          </a:p>
          <a:p/>
          <a:p>
            <a:r>
              <a:t>This balanced performance is exactly what you want in production email filtering.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Confidence scores for spam detection.</a:t>
            </a:r>
          </a:p>
          <a:p/>
          <a:p>
            <a:r>
              <a:t>Fine-tuned model averages 0.963 confidence vs Base at 0.539.</a:t>
            </a:r>
          </a:p>
          <a:p/>
          <a:p>
            <a:r>
              <a:t>This is a massive gap. The fine-tuned model is not just more accurate — it's dramatically more confident in its predictions. At 0.963 average confidence, you can set a high confidence threshold for automated filtering and still process most emails automatically.</a:t>
            </a:r>
          </a:p>
          <a:p/>
          <a:p>
            <a:r>
              <a:t>Base DistilBERT's 0.539 average confidence means it's essentially uncertain about many classifications, requiring more human review.</a:t>
            </a:r>
          </a:p>
          <a:p/>
          <a:p>
            <a:r>
              <a:t>In production spam filtering, this confidence gap translates directly to fewer emails needing manual review.</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Category breakdown for spam detection.</a:t>
            </a:r>
          </a:p>
          <a:p/>
          <a:p>
            <a:r>
              <a:t>Business emails (6 cases): fine-tuned gets 100%, Base gets 83.3%. RAG also gets 100%.</a:t>
            </a:r>
          </a:p>
          <a:p/>
          <a:p>
            <a:r>
              <a:t>Newsletter (1 case): everyone gets 100%.</a:t>
            </a:r>
          </a:p>
          <a:p/>
          <a:p>
            <a:r>
              <a:t>Notification (3 cases): this is the hard category. Fine-tuned and hybrid get 66.7%. RAG gets only 33.3%. Base also gets 66.7%. Notifications that look like spam are challenging.</a:t>
            </a:r>
          </a:p>
          <a:p/>
          <a:p>
            <a:r>
              <a:t>Obvious Spam (5 cases): everyone gets 100%. Easy cases are easy.</a:t>
            </a:r>
          </a:p>
          <a:p/>
          <a:p>
            <a:r>
              <a:t>Phishing (4 cases): fine-tuned, RAG, and hybrid all get 100%. Base drops to 75%.</a:t>
            </a:r>
          </a:p>
          <a:p/>
          <a:p>
            <a:r>
              <a:t>Scam (1 case): everyone gets 100%.</a:t>
            </a:r>
          </a:p>
          <a:p/>
          <a:p>
            <a:r>
              <a:t>Fine-tuning's biggest advantage is on phishing — it learned the patterns that distinguish genuine phishing from legitimate transactional emails.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Per-example detail for spam detection.</a:t>
            </a:r>
          </a:p>
          <a:p/>
          <a:p>
            <a:r>
              <a:t>Example 6 — "Your prescription is ready for pickup at Walgreens": This is the most interesting case. Base correctly identifies it as HAM, but fine-tuned, RAG, and hybrid ALL incorrectly flag it as SPAM. The medication-related vocabulary triggers false positive patterns.</a:t>
            </a:r>
          </a:p>
          <a:p/>
          <a:p>
            <a:r>
              <a:t>Example 10 — "Your Amazon order has shipped": Base and RAG incorrectly flag as SPAM. Fine-tuned and hybrid correctly identify as HAM. The fine-tuned model learned that shipping notifications from major retailers are legitimate.</a:t>
            </a:r>
          </a:p>
          <a:p/>
          <a:p>
            <a:r>
              <a:t>These edge cases show that even 95% accuracy leaves room for improvement. The prescription notification case is a known challenge where fine-tuning on pharmaceutical spam can cause false positives for legitimate pharmacy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slide — what all four experiments tell us together.</a:t>
            </a:r>
          </a:p>
          <a:p/>
          <a:p>
            <a:r>
              <a:t>Accuracy insights: Fine-tuning wins on sentiment (70% vs 45% base), financial ratios (37.5% vs 25% base), and spam detection (95% vs 85% base). Domain jargon is the clearest win — 100% vs 33.3%.</a:t>
            </a:r>
          </a:p>
          <a:p/>
          <a:p>
            <a:r>
              <a:t>For numerical reasoning, all approaches tie at 20%, but FinQA-7B has the lowest MAPE — its answers are closest to correct even when they don't exactly match.</a:t>
            </a:r>
          </a:p>
          <a:p/>
          <a:p>
            <a:r>
              <a:t>Pattern: Fine-tuning excels at tasks requiring REASONING, COMPUTATION, and PATTERN RECOGNITION. RAG helps most when FRESH INFORMATION is the bottleneck, not skill.</a:t>
            </a:r>
          </a:p>
          <a:p/>
          <a:p>
            <a:r>
              <a:t>Efficiency: Fine-tuned models are 2-4x faster (no retrieval), use 3-5x fewer tokens, and are cheaper per query at scale.</a:t>
            </a:r>
          </a:p>
          <a:p/>
          <a:p>
            <a:r>
              <a:t>Hybrid consistently achieves the highest or equal-best accuracy across ALL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highlight the most striking examples where each approach wins.</a:t>
            </a:r>
          </a:p>
          <a:p/>
          <a:p>
            <a:r>
              <a:t>Fine-tuning wins on domain jargon: "headwinds" correctly identified as negative, "margin compression" understood as a domain-specific negative term, and "declining cost-to-income ratio" understood as POSITIVE (counterintuitive — a declining ratio means improving efficiency).</a:t>
            </a:r>
          </a:p>
          <a:p/>
          <a:p>
            <a:r>
              <a:t>RAG wins on factual queries: "What is Meridian National Bancorp's CET1 capital ratio?" — this requires specific factual knowledge not in any model's weights. "What drove the decline in investment banking revenue?" — the answer is in a specific document.</a:t>
            </a:r>
          </a:p>
          <a:p/>
          <a:p>
            <a:r>
              <a:t>Hybrid wins when you need both: "Calculate year-over-year operating efficiency improvement" — this needs retrieval to get the actual numbers AND computation skills to calculate the trend. Neither approach alone is sufficient.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summary of all experiments at a glance.</a:t>
            </a:r>
          </a:p>
          <a:p/>
          <a:p>
            <a:r>
              <a:t>Accuracy table: Fine-tuned wins in 3 of 4 experiments. Sentiment: 70% (FinBERT). Financial Ratios: 37.5% (FinQA-7B). Spam Detection: 95% (fine-tuned). Numerical Reasoning: 20% tie across all approaches.</a:t>
            </a:r>
          </a:p>
          <a:p/>
          <a:p>
            <a:r>
              <a:t>Efficiency table: Fine-tuned models consistently use fewer tokens per query. Sentiment is most dramatic — 16 tokens for fine-tuned vs 76-92 for RAG/hybrid.</a:t>
            </a:r>
          </a:p>
          <a:p/>
          <a:p>
            <a:r>
              <a:t>Cost at scale: Fine-tuning is significantly cheaper per 1K queries in numerical and ratio tasks ($0.06-0.10 vs $0.33-0.36 for RAG).</a:t>
            </a:r>
          </a:p>
          <a:p/>
          <a:p>
            <a:r>
              <a:t>Five key conclusions: Fine-tuning consistently outperforms base models. RAG alone improves over base but can't match fine-tuning for reasoning. Hybrid achieves highest or equal-best accuracy everywhere. Spam detection shows a clear 95% vs 90% advantage for fine-tuning. And critically — all comparisons use the SAME architecture, so the approach is the only variable.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 The core message to take away:</a:t>
            </a:r>
          </a:p>
          <a:p/>
          <a:p>
            <a:r>
              <a:t>"Fine-tuning teaches SKILLS. RAG provides INFORMATION. The best systems combine both."</a:t>
            </a:r>
          </a:p>
          <a:p/>
          <a:p>
            <a:r>
              <a:t>I'm happy to take questions and discuss how these approaches might apply to your specific use cases. We can also do a live demo if time permits.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6.xml"/><Relationship Id="rId3" Type="http://schemas.openxmlformats.org/officeDocument/2006/relationships/chart" Target="../charts/chart17.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8.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9.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 Id="rId3" Type="http://schemas.openxmlformats.org/officeDocument/2006/relationships/chart" Target="../charts/chart2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 Id="rId3" Type="http://schemas.openxmlformats.org/officeDocument/2006/relationships/chart" Target="../charts/chart23.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5.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6.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A3A"/>
        </a:solidFill>
        <a:effectLst/>
      </p:bgPr>
    </p:bg>
    <p:spTree>
      <p:nvGrpSpPr>
        <p:cNvPr id="1" name=""/>
        <p:cNvGrpSpPr/>
        <p:nvPr/>
      </p:nvGrpSpPr>
      <p:grpSpPr/>
      <p:sp>
        <p:nvSpPr>
          <p:cNvPr id="2" name="TextBox 1"/>
          <p:cNvSpPr txBox="1"/>
          <p:nvPr/>
        </p:nvSpPr>
        <p:spPr>
          <a:xfrm>
            <a:off x="914400" y="1371600"/>
            <a:ext cx="10058400" cy="1371600"/>
          </a:xfrm>
          <a:prstGeom prst="rect">
            <a:avLst/>
          </a:prstGeom>
          <a:noFill/>
        </p:spPr>
        <p:txBody>
          <a:bodyPr wrap="square">
            <a:spAutoFit/>
          </a:bodyPr>
          <a:lstStyle/>
          <a:p>
            <a:pPr algn="ctr">
              <a:defRPr sz="5200" b="1">
                <a:solidFill>
                  <a:srgbClr val="5DAEF2"/>
                </a:solidFill>
                <a:latin typeface="Calibri"/>
              </a:defRPr>
            </a:pPr>
            <a:r>
              <a:t>LLM Fine-Tuning</a:t>
            </a:r>
          </a:p>
        </p:txBody>
      </p:sp>
      <p:sp>
        <p:nvSpPr>
          <p:cNvPr id="3" name="TextBox 2"/>
          <p:cNvSpPr txBox="1"/>
          <p:nvPr/>
        </p:nvSpPr>
        <p:spPr>
          <a:xfrm>
            <a:off x="914400" y="2743200"/>
            <a:ext cx="10058400" cy="914400"/>
          </a:xfrm>
          <a:prstGeom prst="rect">
            <a:avLst/>
          </a:prstGeom>
          <a:noFill/>
        </p:spPr>
        <p:txBody>
          <a:bodyPr wrap="square">
            <a:spAutoFit/>
          </a:bodyPr>
          <a:lstStyle/>
          <a:p>
            <a:pPr algn="ctr">
              <a:defRPr sz="2800" b="0">
                <a:solidFill>
                  <a:srgbClr val="ECEFF1"/>
                </a:solidFill>
                <a:latin typeface="Calibri"/>
              </a:defRPr>
            </a:pPr>
            <a:r>
              <a:t>Maximizing AI Performance for Specialized Tasks</a:t>
            </a:r>
          </a:p>
        </p:txBody>
      </p:sp>
      <p:sp>
        <p:nvSpPr>
          <p:cNvPr id="4" name="TextBox 3"/>
          <p:cNvSpPr txBox="1"/>
          <p:nvPr/>
        </p:nvSpPr>
        <p:spPr>
          <a:xfrm>
            <a:off x="1371600" y="4114800"/>
            <a:ext cx="3200400" cy="365760"/>
          </a:xfrm>
          <a:prstGeom prst="rect">
            <a:avLst/>
          </a:prstGeom>
          <a:noFill/>
        </p:spPr>
        <p:txBody>
          <a:bodyPr wrap="square">
            <a:spAutoFit/>
          </a:bodyPr>
          <a:lstStyle/>
          <a:p>
            <a:pPr algn="ctr">
              <a:defRPr sz="1400" b="1">
                <a:solidFill>
                  <a:srgbClr val="5DAEF2"/>
                </a:solidFill>
                <a:latin typeface="Calibri"/>
              </a:defRPr>
            </a:pPr>
            <a:r>
              <a:t>Topics</a:t>
            </a:r>
          </a:p>
        </p:txBody>
      </p:sp>
      <p:sp>
        <p:nvSpPr>
          <p:cNvPr id="5" name="TextBox 4"/>
          <p:cNvSpPr txBox="1"/>
          <p:nvPr/>
        </p:nvSpPr>
        <p:spPr>
          <a:xfrm>
            <a:off x="1371600" y="4480560"/>
            <a:ext cx="3200400" cy="365760"/>
          </a:xfrm>
          <a:prstGeom prst="rect">
            <a:avLst/>
          </a:prstGeom>
          <a:noFill/>
        </p:spPr>
        <p:txBody>
          <a:bodyPr wrap="square">
            <a:spAutoFit/>
          </a:bodyPr>
          <a:lstStyle/>
          <a:p>
            <a:pPr algn="ctr">
              <a:defRPr sz="1400" b="0">
                <a:solidFill>
                  <a:srgbClr val="ECEFF1"/>
                </a:solidFill>
                <a:latin typeface="Calibri"/>
              </a:defRPr>
            </a:pPr>
            <a:r>
              <a:t>Fine-Tuning vs RAG vs Hybrid</a:t>
            </a:r>
          </a:p>
        </p:txBody>
      </p:sp>
      <p:sp>
        <p:nvSpPr>
          <p:cNvPr id="6" name="TextBox 5"/>
          <p:cNvSpPr txBox="1"/>
          <p:nvPr/>
        </p:nvSpPr>
        <p:spPr>
          <a:xfrm>
            <a:off x="4846320" y="4114800"/>
            <a:ext cx="3200400" cy="365760"/>
          </a:xfrm>
          <a:prstGeom prst="rect">
            <a:avLst/>
          </a:prstGeom>
          <a:noFill/>
        </p:spPr>
        <p:txBody>
          <a:bodyPr wrap="square">
            <a:spAutoFit/>
          </a:bodyPr>
          <a:lstStyle/>
          <a:p>
            <a:pPr algn="ctr">
              <a:defRPr sz="1400" b="1">
                <a:solidFill>
                  <a:srgbClr val="5DAEF2"/>
                </a:solidFill>
                <a:latin typeface="Calibri"/>
              </a:defRPr>
            </a:pPr>
            <a:r>
              <a:t>Audience</a:t>
            </a:r>
          </a:p>
        </p:txBody>
      </p:sp>
      <p:sp>
        <p:nvSpPr>
          <p:cNvPr id="7" name="TextBox 6"/>
          <p:cNvSpPr txBox="1"/>
          <p:nvPr/>
        </p:nvSpPr>
        <p:spPr>
          <a:xfrm>
            <a:off x="4846320" y="4480560"/>
            <a:ext cx="3200400" cy="365760"/>
          </a:xfrm>
          <a:prstGeom prst="rect">
            <a:avLst/>
          </a:prstGeom>
          <a:noFill/>
        </p:spPr>
        <p:txBody>
          <a:bodyPr wrap="square">
            <a:spAutoFit/>
          </a:bodyPr>
          <a:lstStyle/>
          <a:p>
            <a:pPr algn="ctr">
              <a:defRPr sz="1400" b="0">
                <a:solidFill>
                  <a:srgbClr val="ECEFF1"/>
                </a:solidFill>
                <a:latin typeface="Calibri"/>
              </a:defRPr>
            </a:pPr>
            <a:r>
              <a:t>No deep technical experience required</a:t>
            </a:r>
          </a:p>
        </p:txBody>
      </p:sp>
      <p:sp>
        <p:nvSpPr>
          <p:cNvPr id="8" name="TextBox 7"/>
          <p:cNvSpPr txBox="1"/>
          <p:nvPr/>
        </p:nvSpPr>
        <p:spPr>
          <a:xfrm>
            <a:off x="8321040" y="4114800"/>
            <a:ext cx="3200400" cy="365760"/>
          </a:xfrm>
          <a:prstGeom prst="rect">
            <a:avLst/>
          </a:prstGeom>
          <a:noFill/>
        </p:spPr>
        <p:txBody>
          <a:bodyPr wrap="square">
            <a:spAutoFit/>
          </a:bodyPr>
          <a:lstStyle/>
          <a:p>
            <a:pPr algn="ctr">
              <a:defRPr sz="1400" b="1">
                <a:solidFill>
                  <a:srgbClr val="5DAEF2"/>
                </a:solidFill>
                <a:latin typeface="Calibri"/>
              </a:defRPr>
            </a:pPr>
            <a:r>
              <a:t>Format</a:t>
            </a:r>
          </a:p>
        </p:txBody>
      </p:sp>
      <p:sp>
        <p:nvSpPr>
          <p:cNvPr id="9" name="TextBox 8"/>
          <p:cNvSpPr txBox="1"/>
          <p:nvPr/>
        </p:nvSpPr>
        <p:spPr>
          <a:xfrm>
            <a:off x="8321040" y="4480560"/>
            <a:ext cx="3200400" cy="365760"/>
          </a:xfrm>
          <a:prstGeom prst="rect">
            <a:avLst/>
          </a:prstGeom>
          <a:noFill/>
        </p:spPr>
        <p:txBody>
          <a:bodyPr wrap="square">
            <a:spAutoFit/>
          </a:bodyPr>
          <a:lstStyle/>
          <a:p>
            <a:pPr algn="ctr">
              <a:defRPr sz="1400" b="0">
                <a:solidFill>
                  <a:srgbClr val="ECEFF1"/>
                </a:solidFill>
                <a:latin typeface="Calibri"/>
              </a:defRPr>
            </a:pPr>
            <a:r>
              <a:t>Presentation + Live Demo</a:t>
            </a:r>
          </a:p>
        </p:txBody>
      </p:sp>
      <p:sp>
        <p:nvSpPr>
          <p:cNvPr id="10" name="TextBox 9"/>
          <p:cNvSpPr txBox="1"/>
          <p:nvPr/>
        </p:nvSpPr>
        <p:spPr>
          <a:xfrm>
            <a:off x="1371600" y="5303520"/>
            <a:ext cx="9144000" cy="914400"/>
          </a:xfrm>
          <a:prstGeom prst="rect">
            <a:avLst/>
          </a:prstGeom>
          <a:noFill/>
        </p:spPr>
        <p:txBody>
          <a:bodyPr wrap="square">
            <a:spAutoFit/>
          </a:bodyPr>
          <a:lstStyle/>
          <a:p>
            <a:pPr algn="ctr">
              <a:defRPr sz="1600" b="0">
                <a:solidFill>
                  <a:srgbClr val="A8C7E8"/>
                </a:solidFill>
                <a:latin typeface="Calibri"/>
              </a:defRPr>
            </a:pPr>
            <a:r>
              <a:t>"Fine-tuning teaches a model new skills. RAG gives it new information.</a:t>
            </a:r>
            <a:br/>
            <a:r>
              <a:t>Knowing the difference is the key to building effective AI systems."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Agenda</a:t>
            </a:r>
          </a:p>
        </p:txBody>
      </p:sp>
      <p:sp>
        <p:nvSpPr>
          <p:cNvPr id="3" name="TextBox 2"/>
          <p:cNvSpPr txBox="1"/>
          <p:nvPr/>
        </p:nvSpPr>
        <p:spPr>
          <a:xfrm>
            <a:off x="731520" y="1280160"/>
            <a:ext cx="5029200" cy="5029200"/>
          </a:xfrm>
          <a:prstGeom prst="rect">
            <a:avLst/>
          </a:prstGeom>
          <a:noFill/>
        </p:spPr>
        <p:txBody>
          <a:bodyPr wrap="square">
            <a:spAutoFit/>
          </a:bodyPr>
          <a:lstStyle/>
          <a:p>
            <a:pPr>
              <a:spcAft>
                <a:spcPts val="400"/>
              </a:spcAft>
              <a:defRPr sz="1600">
                <a:solidFill>
                  <a:srgbClr val="1C2A3A"/>
                </a:solidFill>
                <a:latin typeface="Calibri"/>
              </a:defRPr>
            </a:pPr>
            <a:r>
              <a:t>Part 1: Understanding the Landscape</a:t>
            </a:r>
          </a:p>
          <a:p>
            <a:pPr>
              <a:spcAft>
                <a:spcPts val="400"/>
              </a:spcAft>
              <a:defRPr sz="1600">
                <a:solidFill>
                  <a:srgbClr val="1C2A3A"/>
                </a:solidFill>
                <a:latin typeface="Calibri"/>
              </a:defRPr>
            </a:pPr>
            <a:r>
              <a:t>  1. What are Large Language Models (LLMs)?</a:t>
            </a:r>
          </a:p>
          <a:p>
            <a:pPr>
              <a:spcAft>
                <a:spcPts val="400"/>
              </a:spcAft>
              <a:defRPr sz="1600">
                <a:solidFill>
                  <a:srgbClr val="1C2A3A"/>
                </a:solidFill>
                <a:latin typeface="Calibri"/>
              </a:defRPr>
            </a:pPr>
            <a:r>
              <a:t>  2. The specialization challenge</a:t>
            </a:r>
          </a:p>
          <a:p>
            <a:pPr>
              <a:spcAft>
                <a:spcPts val="400"/>
              </a:spcAft>
              <a:defRPr sz="1600">
                <a:solidFill>
                  <a:srgbClr val="1C2A3A"/>
                </a:solidFill>
                <a:latin typeface="Calibri"/>
              </a:defRPr>
            </a:pPr>
            <a:r>
              <a:t>  3. Three approaches to domain AI</a:t>
            </a:r>
          </a:p>
          <a:p>
            <a:pPr>
              <a:spcAft>
                <a:spcPts val="400"/>
              </a:spcAft>
              <a:defRPr sz="1600">
                <a:solidFill>
                  <a:srgbClr val="1C2A3A"/>
                </a:solidFill>
                <a:latin typeface="Calibri"/>
              </a:defRPr>
            </a:pPr>
          </a:p>
          <a:p>
            <a:pPr>
              <a:spcAft>
                <a:spcPts val="400"/>
              </a:spcAft>
              <a:defRPr sz="1600">
                <a:solidFill>
                  <a:srgbClr val="1C2A3A"/>
                </a:solidFill>
                <a:latin typeface="Calibri"/>
              </a:defRPr>
            </a:pPr>
            <a:r>
              <a:t>Part 2: Deep Dive</a:t>
            </a:r>
          </a:p>
          <a:p>
            <a:pPr>
              <a:spcAft>
                <a:spcPts val="400"/>
              </a:spcAft>
              <a:defRPr sz="1600">
                <a:solidFill>
                  <a:srgbClr val="1C2A3A"/>
                </a:solidFill>
                <a:latin typeface="Calibri"/>
              </a:defRPr>
            </a:pPr>
            <a:r>
              <a:t>  4. RAG - Benefits &amp; limitations</a:t>
            </a:r>
          </a:p>
          <a:p>
            <a:pPr>
              <a:spcAft>
                <a:spcPts val="400"/>
              </a:spcAft>
              <a:defRPr sz="1600">
                <a:solidFill>
                  <a:srgbClr val="1C2A3A"/>
                </a:solidFill>
                <a:latin typeface="Calibri"/>
              </a:defRPr>
            </a:pPr>
            <a:r>
              <a:t>  5. Fine-Tuning - Benefits &amp; methods</a:t>
            </a:r>
          </a:p>
          <a:p>
            <a:pPr>
              <a:spcAft>
                <a:spcPts val="400"/>
              </a:spcAft>
              <a:defRPr sz="1600">
                <a:solidFill>
                  <a:srgbClr val="1C2A3A"/>
                </a:solidFill>
                <a:latin typeface="Calibri"/>
              </a:defRPr>
            </a:pPr>
            <a:r>
              <a:t>  6. Head-to-head comparison</a:t>
            </a:r>
          </a:p>
          <a:p>
            <a:pPr>
              <a:spcAft>
                <a:spcPts val="400"/>
              </a:spcAft>
              <a:defRPr sz="1600">
                <a:solidFill>
                  <a:srgbClr val="1C2A3A"/>
                </a:solidFill>
                <a:latin typeface="Calibri"/>
              </a:defRPr>
            </a:pPr>
            <a:r>
              <a:t>  7. Decision framework</a:t>
            </a:r>
          </a:p>
        </p:txBody>
      </p:sp>
      <p:sp>
        <p:nvSpPr>
          <p:cNvPr id="4" name="TextBox 3"/>
          <p:cNvSpPr txBox="1"/>
          <p:nvPr/>
        </p:nvSpPr>
        <p:spPr>
          <a:xfrm>
            <a:off x="6217920" y="1280160"/>
            <a:ext cx="5029200" cy="5029200"/>
          </a:xfrm>
          <a:prstGeom prst="rect">
            <a:avLst/>
          </a:prstGeom>
          <a:noFill/>
        </p:spPr>
        <p:txBody>
          <a:bodyPr wrap="square">
            <a:spAutoFit/>
          </a:bodyPr>
          <a:lstStyle/>
          <a:p>
            <a:pPr>
              <a:spcAft>
                <a:spcPts val="400"/>
              </a:spcAft>
              <a:defRPr sz="1600">
                <a:solidFill>
                  <a:srgbClr val="1C2A3A"/>
                </a:solidFill>
                <a:latin typeface="Calibri"/>
              </a:defRPr>
            </a:pPr>
            <a:r>
              <a:t>Part 3: Tools &amp; Ecosystem</a:t>
            </a:r>
          </a:p>
          <a:p>
            <a:pPr>
              <a:spcAft>
                <a:spcPts val="400"/>
              </a:spcAft>
              <a:defRPr sz="1600">
                <a:solidFill>
                  <a:srgbClr val="1C2A3A"/>
                </a:solidFill>
                <a:latin typeface="Calibri"/>
              </a:defRPr>
            </a:pPr>
            <a:r>
              <a:t>  8. Fine-tuning tools &amp; platforms</a:t>
            </a:r>
          </a:p>
          <a:p>
            <a:pPr>
              <a:spcAft>
                <a:spcPts val="400"/>
              </a:spcAft>
              <a:defRPr sz="1600">
                <a:solidFill>
                  <a:srgbClr val="1C2A3A"/>
                </a:solidFill>
                <a:latin typeface="Calibri"/>
              </a:defRPr>
            </a:pPr>
            <a:r>
              <a:t>  9. RAG tools &amp; infrastructure</a:t>
            </a:r>
          </a:p>
          <a:p>
            <a:pPr>
              <a:spcAft>
                <a:spcPts val="400"/>
              </a:spcAft>
              <a:defRPr sz="1600">
                <a:solidFill>
                  <a:srgbClr val="1C2A3A"/>
                </a:solidFill>
                <a:latin typeface="Calibri"/>
              </a:defRPr>
            </a:pPr>
            <a:r>
              <a:t>  10. The hybrid approach</a:t>
            </a:r>
          </a:p>
          <a:p>
            <a:pPr>
              <a:spcAft>
                <a:spcPts val="400"/>
              </a:spcAft>
              <a:defRPr sz="1600">
                <a:solidFill>
                  <a:srgbClr val="1C2A3A"/>
                </a:solidFill>
                <a:latin typeface="Calibri"/>
              </a:defRPr>
            </a:pPr>
          </a:p>
          <a:p>
            <a:pPr>
              <a:spcAft>
                <a:spcPts val="400"/>
              </a:spcAft>
              <a:defRPr sz="1600">
                <a:solidFill>
                  <a:srgbClr val="1C2A3A"/>
                </a:solidFill>
                <a:latin typeface="Calibri"/>
              </a:defRPr>
            </a:pPr>
            <a:r>
              <a:t>Part 4: Evidence &amp; Results</a:t>
            </a:r>
          </a:p>
          <a:p>
            <a:pPr>
              <a:spcAft>
                <a:spcPts val="400"/>
              </a:spcAft>
              <a:defRPr sz="1600">
                <a:solidFill>
                  <a:srgbClr val="1C2A3A"/>
                </a:solidFill>
                <a:latin typeface="Calibri"/>
              </a:defRPr>
            </a:pPr>
            <a:r>
              <a:t>  11. Benchmark: Sentiment Analysis</a:t>
            </a:r>
          </a:p>
          <a:p>
            <a:pPr>
              <a:spcAft>
                <a:spcPts val="400"/>
              </a:spcAft>
              <a:defRPr sz="1600">
                <a:solidFill>
                  <a:srgbClr val="1C2A3A"/>
                </a:solidFill>
                <a:latin typeface="Calibri"/>
              </a:defRPr>
            </a:pPr>
            <a:r>
              <a:t>  12. Benchmark: Numerical Reasoning</a:t>
            </a:r>
          </a:p>
          <a:p>
            <a:pPr>
              <a:spcAft>
                <a:spcPts val="400"/>
              </a:spcAft>
              <a:defRPr sz="1600">
                <a:solidFill>
                  <a:srgbClr val="1C2A3A"/>
                </a:solidFill>
                <a:latin typeface="Calibri"/>
              </a:defRPr>
            </a:pPr>
            <a:r>
              <a:t>  13. Benchmark: Financial Ratios</a:t>
            </a:r>
          </a:p>
          <a:p>
            <a:pPr>
              <a:spcAft>
                <a:spcPts val="400"/>
              </a:spcAft>
              <a:defRPr sz="1600">
                <a:solidFill>
                  <a:srgbClr val="1C2A3A"/>
                </a:solidFill>
                <a:latin typeface="Calibri"/>
              </a:defRPr>
            </a:pPr>
            <a:r>
              <a:t>  14. Key takeaways &amp; insights</a:t>
            </a:r>
          </a:p>
        </p:txBody>
      </p:sp>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2/55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What Are Large Language Models?</a:t>
            </a:r>
          </a:p>
        </p:txBody>
      </p:sp>
      <p:sp>
        <p:nvSpPr>
          <p:cNvPr id="3" name="TextBox 2"/>
          <p:cNvSpPr txBox="1"/>
          <p:nvPr/>
        </p:nvSpPr>
        <p:spPr>
          <a:xfrm>
            <a:off x="731520" y="1371600"/>
            <a:ext cx="5029200" cy="2743200"/>
          </a:xfrm>
          <a:prstGeom prst="rect">
            <a:avLst/>
          </a:prstGeom>
          <a:noFill/>
        </p:spPr>
        <p:txBody>
          <a:bodyPr wrap="square">
            <a:spAutoFit/>
          </a:bodyPr>
          <a:lstStyle/>
          <a:p>
            <a:pPr>
              <a:spcAft>
                <a:spcPts val="400"/>
              </a:spcAft>
              <a:defRPr sz="1500">
                <a:solidFill>
                  <a:srgbClr val="1C2A3A"/>
                </a:solidFill>
                <a:latin typeface="Calibri"/>
              </a:defRPr>
            </a:pPr>
            <a:r>
              <a:t>How LLMs Work:</a:t>
            </a:r>
          </a:p>
          <a:p>
            <a:pPr>
              <a:spcAft>
                <a:spcPts val="400"/>
              </a:spcAft>
              <a:defRPr sz="1500">
                <a:solidFill>
                  <a:srgbClr val="1C2A3A"/>
                </a:solidFill>
                <a:latin typeface="Calibri"/>
              </a:defRPr>
            </a:pPr>
            <a:r>
              <a:t>  - Trained on massive text datasets (books, web, code)</a:t>
            </a:r>
          </a:p>
          <a:p>
            <a:pPr>
              <a:spcAft>
                <a:spcPts val="400"/>
              </a:spcAft>
              <a:defRPr sz="1500">
                <a:solidFill>
                  <a:srgbClr val="1C2A3A"/>
                </a:solidFill>
                <a:latin typeface="Calibri"/>
              </a:defRPr>
            </a:pPr>
            <a:r>
              <a:t>  - Learn language patterns, facts, and reasoning</a:t>
            </a:r>
          </a:p>
          <a:p>
            <a:pPr>
              <a:spcAft>
                <a:spcPts val="400"/>
              </a:spcAft>
              <a:defRPr sz="1500">
                <a:solidFill>
                  <a:srgbClr val="1C2A3A"/>
                </a:solidFill>
                <a:latin typeface="Calibri"/>
              </a:defRPr>
            </a:pPr>
            <a:r>
              <a:t>  - Billions of parameters encode learned knowledge</a:t>
            </a:r>
          </a:p>
          <a:p>
            <a:pPr>
              <a:spcAft>
                <a:spcPts val="400"/>
              </a:spcAft>
              <a:defRPr sz="1500">
                <a:solidFill>
                  <a:srgbClr val="1C2A3A"/>
                </a:solidFill>
                <a:latin typeface="Calibri"/>
              </a:defRPr>
            </a:pPr>
            <a:r>
              <a:t>  - Generate text by predicting the next token</a:t>
            </a:r>
          </a:p>
          <a:p>
            <a:pPr>
              <a:spcAft>
                <a:spcPts val="400"/>
              </a:spcAft>
              <a:defRPr sz="1500">
                <a:solidFill>
                  <a:srgbClr val="1C2A3A"/>
                </a:solidFill>
                <a:latin typeface="Calibri"/>
              </a:defRPr>
            </a:pPr>
          </a:p>
          <a:p>
            <a:pPr>
              <a:spcAft>
                <a:spcPts val="400"/>
              </a:spcAft>
              <a:defRPr sz="1500">
                <a:solidFill>
                  <a:srgbClr val="1C2A3A"/>
                </a:solidFill>
                <a:latin typeface="Calibri"/>
              </a:defRPr>
            </a:pPr>
            <a:r>
              <a:t>Key Characteristics:</a:t>
            </a:r>
          </a:p>
          <a:p>
            <a:pPr>
              <a:spcAft>
                <a:spcPts val="400"/>
              </a:spcAft>
              <a:defRPr sz="1500">
                <a:solidFill>
                  <a:srgbClr val="1C2A3A"/>
                </a:solidFill>
                <a:latin typeface="Calibri"/>
              </a:defRPr>
            </a:pPr>
            <a:r>
              <a:t>  - General-purpose by design</a:t>
            </a:r>
          </a:p>
          <a:p>
            <a:pPr>
              <a:spcAft>
                <a:spcPts val="400"/>
              </a:spcAft>
              <a:defRPr sz="1500">
                <a:solidFill>
                  <a:srgbClr val="1C2A3A"/>
                </a:solidFill>
                <a:latin typeface="Calibri"/>
              </a:defRPr>
            </a:pPr>
            <a:r>
              <a:t>  - Can follow instructions, answer questions, write code</a:t>
            </a:r>
          </a:p>
          <a:p>
            <a:pPr>
              <a:spcAft>
                <a:spcPts val="400"/>
              </a:spcAft>
              <a:defRPr sz="1500">
                <a:solidFill>
                  <a:srgbClr val="1C2A3A"/>
                </a:solidFill>
                <a:latin typeface="Calibri"/>
              </a:defRPr>
            </a:pPr>
            <a:r>
              <a:t>  - Powerful but not specialized for any single domain</a:t>
            </a:r>
          </a:p>
        </p:txBody>
      </p:sp>
      <p:graphicFrame>
        <p:nvGraphicFramePr>
          <p:cNvPr id="4" name="Table 3"/>
          <p:cNvGraphicFramePr>
            <a:graphicFrameLocks noGrp="1"/>
          </p:cNvGraphicFramePr>
          <p:nvPr/>
        </p:nvGraphicFramePr>
        <p:xfrm>
          <a:off x="6400800" y="1371600"/>
          <a:ext cx="5029200" cy="2286000"/>
        </p:xfrm>
        <a:graphic>
          <a:graphicData uri="http://schemas.openxmlformats.org/drawingml/2006/table">
            <a:tbl>
              <a:tblPr firstRow="1" bandRow="1">
                <a:tableStyleId>{5C22544A-7EE6-4342-B048-85BDC9FD1C3A}</a:tableStyleId>
              </a:tblPr>
              <a:tblGrid>
                <a:gridCol w="1676400"/>
                <a:gridCol w="1676400"/>
                <a:gridCol w="1676400"/>
              </a:tblGrid>
              <a:tr h="381000">
                <a:tc>
                  <a:txBody>
                    <a:bodyPr/>
                    <a:lstStyle/>
                    <a:p>
                      <a:pPr algn="ctr">
                        <a:defRPr sz="1200" b="1">
                          <a:solidFill>
                            <a:srgbClr val="FFFFFF"/>
                          </a:solidFill>
                          <a:latin typeface="Calibri"/>
                        </a:defRPr>
                      </a:pPr>
                      <a:r>
                        <a:t>Model</a:t>
                      </a:r>
                    </a:p>
                  </a:txBody>
                  <a:tcPr>
                    <a:solidFill>
                      <a:srgbClr val="2E86C1"/>
                    </a:solidFill>
                  </a:tcPr>
                </a:tc>
                <a:tc>
                  <a:txBody>
                    <a:bodyPr/>
                    <a:lstStyle/>
                    <a:p>
                      <a:pPr algn="ctr">
                        <a:defRPr sz="1200" b="1">
                          <a:solidFill>
                            <a:srgbClr val="FFFFFF"/>
                          </a:solidFill>
                          <a:latin typeface="Calibri"/>
                        </a:defRPr>
                      </a:pPr>
                      <a:r>
                        <a:t>Creator</a:t>
                      </a:r>
                    </a:p>
                  </a:txBody>
                  <a:tcPr>
                    <a:solidFill>
                      <a:srgbClr val="2E86C1"/>
                    </a:solidFill>
                  </a:tcPr>
                </a:tc>
                <a:tc>
                  <a:txBody>
                    <a:bodyPr/>
                    <a:lstStyle/>
                    <a:p>
                      <a:pPr algn="ctr">
                        <a:defRPr sz="1200" b="1">
                          <a:solidFill>
                            <a:srgbClr val="FFFFFF"/>
                          </a:solidFill>
                          <a:latin typeface="Calibri"/>
                        </a:defRPr>
                      </a:pPr>
                      <a:r>
                        <a:t>Parameters</a:t>
                      </a:r>
                    </a:p>
                  </a:txBody>
                  <a:tcPr>
                    <a:solidFill>
                      <a:srgbClr val="2E86C1"/>
                    </a:solidFill>
                  </a:tcPr>
                </a:tc>
              </a:tr>
              <a:tr h="381000">
                <a:tc>
                  <a:txBody>
                    <a:bodyPr/>
                    <a:lstStyle/>
                    <a:p>
                      <a:pPr>
                        <a:defRPr sz="1100">
                          <a:solidFill>
                            <a:srgbClr val="1C2A3A"/>
                          </a:solidFill>
                          <a:latin typeface="Calibri"/>
                        </a:defRPr>
                      </a:pPr>
                      <a:r>
                        <a:t>GPT-4</a:t>
                      </a:r>
                    </a:p>
                  </a:txBody>
                  <a:tcPr>
                    <a:solidFill>
                      <a:srgbClr val="E0E3E8"/>
                    </a:solidFill>
                  </a:tcPr>
                </a:tc>
                <a:tc>
                  <a:txBody>
                    <a:bodyPr/>
                    <a:lstStyle/>
                    <a:p>
                      <a:pPr>
                        <a:defRPr sz="1100">
                          <a:solidFill>
                            <a:srgbClr val="1C2A3A"/>
                          </a:solidFill>
                          <a:latin typeface="Calibri"/>
                        </a:defRPr>
                      </a:pPr>
                      <a:r>
                        <a:t>OpenAI</a:t>
                      </a:r>
                    </a:p>
                  </a:txBody>
                  <a:tcPr>
                    <a:solidFill>
                      <a:srgbClr val="E0E3E8"/>
                    </a:solidFill>
                  </a:tcPr>
                </a:tc>
                <a:tc>
                  <a:txBody>
                    <a:bodyPr/>
                    <a:lstStyle/>
                    <a:p>
                      <a:pPr>
                        <a:defRPr sz="1100">
                          <a:solidFill>
                            <a:srgbClr val="1C2A3A"/>
                          </a:solidFill>
                          <a:latin typeface="Calibri"/>
                        </a:defRPr>
                      </a:pPr>
                      <a:r>
                        <a:t>~1.7T</a:t>
                      </a:r>
                    </a:p>
                  </a:txBody>
                  <a:tcPr>
                    <a:solidFill>
                      <a:srgbClr val="E0E3E8"/>
                    </a:solidFill>
                  </a:tcPr>
                </a:tc>
              </a:tr>
              <a:tr h="381000">
                <a:tc>
                  <a:txBody>
                    <a:bodyPr/>
                    <a:lstStyle/>
                    <a:p>
                      <a:pPr>
                        <a:defRPr sz="1100">
                          <a:solidFill>
                            <a:srgbClr val="1C2A3A"/>
                          </a:solidFill>
                          <a:latin typeface="Calibri"/>
                        </a:defRPr>
                      </a:pPr>
                      <a:r>
                        <a:t>Claude</a:t>
                      </a:r>
                    </a:p>
                  </a:txBody>
                  <a:tcPr/>
                </a:tc>
                <a:tc>
                  <a:txBody>
                    <a:bodyPr/>
                    <a:lstStyle/>
                    <a:p>
                      <a:pPr>
                        <a:defRPr sz="1100">
                          <a:solidFill>
                            <a:srgbClr val="1C2A3A"/>
                          </a:solidFill>
                          <a:latin typeface="Calibri"/>
                        </a:defRPr>
                      </a:pPr>
                      <a:r>
                        <a:t>Anthropic</a:t>
                      </a:r>
                    </a:p>
                  </a:txBody>
                  <a:tcPr/>
                </a:tc>
                <a:tc>
                  <a:txBody>
                    <a:bodyPr/>
                    <a:lstStyle/>
                    <a:p>
                      <a:pPr>
                        <a:defRPr sz="1100">
                          <a:solidFill>
                            <a:srgbClr val="1C2A3A"/>
                          </a:solidFill>
                          <a:latin typeface="Calibri"/>
                        </a:defRPr>
                      </a:pPr>
                      <a:r>
                        <a:t>Undisclosed</a:t>
                      </a:r>
                    </a:p>
                  </a:txBody>
                  <a:tcPr/>
                </a:tc>
              </a:tr>
              <a:tr h="381000">
                <a:tc>
                  <a:txBody>
                    <a:bodyPr/>
                    <a:lstStyle/>
                    <a:p>
                      <a:pPr>
                        <a:defRPr sz="1100">
                          <a:solidFill>
                            <a:srgbClr val="1C2A3A"/>
                          </a:solidFill>
                          <a:latin typeface="Calibri"/>
                        </a:defRPr>
                      </a:pPr>
                      <a:r>
                        <a:t>Llama 3</a:t>
                      </a:r>
                    </a:p>
                  </a:txBody>
                  <a:tcPr>
                    <a:solidFill>
                      <a:srgbClr val="E0E3E8"/>
                    </a:solidFill>
                  </a:tcPr>
                </a:tc>
                <a:tc>
                  <a:txBody>
                    <a:bodyPr/>
                    <a:lstStyle/>
                    <a:p>
                      <a:pPr>
                        <a:defRPr sz="1100">
                          <a:solidFill>
                            <a:srgbClr val="1C2A3A"/>
                          </a:solidFill>
                          <a:latin typeface="Calibri"/>
                        </a:defRPr>
                      </a:pPr>
                      <a:r>
                        <a:t>Meta</a:t>
                      </a:r>
                    </a:p>
                  </a:txBody>
                  <a:tcPr>
                    <a:solidFill>
                      <a:srgbClr val="E0E3E8"/>
                    </a:solidFill>
                  </a:tcPr>
                </a:tc>
                <a:tc>
                  <a:txBody>
                    <a:bodyPr/>
                    <a:lstStyle/>
                    <a:p>
                      <a:pPr>
                        <a:defRPr sz="1100">
                          <a:solidFill>
                            <a:srgbClr val="1C2A3A"/>
                          </a:solidFill>
                          <a:latin typeface="Calibri"/>
                        </a:defRPr>
                      </a:pPr>
                      <a:r>
                        <a:t>8B-405B</a:t>
                      </a:r>
                    </a:p>
                  </a:txBody>
                  <a:tcPr>
                    <a:solidFill>
                      <a:srgbClr val="E0E3E8"/>
                    </a:solidFill>
                  </a:tcPr>
                </a:tc>
              </a:tr>
              <a:tr h="381000">
                <a:tc>
                  <a:txBody>
                    <a:bodyPr/>
                    <a:lstStyle/>
                    <a:p>
                      <a:pPr>
                        <a:defRPr sz="1100">
                          <a:solidFill>
                            <a:srgbClr val="1C2A3A"/>
                          </a:solidFill>
                          <a:latin typeface="Calibri"/>
                        </a:defRPr>
                      </a:pPr>
                      <a:r>
                        <a:t>Mistral</a:t>
                      </a:r>
                    </a:p>
                  </a:txBody>
                  <a:tcPr/>
                </a:tc>
                <a:tc>
                  <a:txBody>
                    <a:bodyPr/>
                    <a:lstStyle/>
                    <a:p>
                      <a:pPr>
                        <a:defRPr sz="1100">
                          <a:solidFill>
                            <a:srgbClr val="1C2A3A"/>
                          </a:solidFill>
                          <a:latin typeface="Calibri"/>
                        </a:defRPr>
                      </a:pPr>
                      <a:r>
                        <a:t>Mistral AI</a:t>
                      </a:r>
                    </a:p>
                  </a:txBody>
                  <a:tcPr/>
                </a:tc>
                <a:tc>
                  <a:txBody>
                    <a:bodyPr/>
                    <a:lstStyle/>
                    <a:p>
                      <a:pPr>
                        <a:defRPr sz="1100">
                          <a:solidFill>
                            <a:srgbClr val="1C2A3A"/>
                          </a:solidFill>
                          <a:latin typeface="Calibri"/>
                        </a:defRPr>
                      </a:pPr>
                      <a:r>
                        <a:t>7B-141B</a:t>
                      </a:r>
                    </a:p>
                  </a:txBody>
                  <a:tcPr/>
                </a:tc>
              </a:tr>
              <a:tr h="381000">
                <a:tc>
                  <a:txBody>
                    <a:bodyPr/>
                    <a:lstStyle/>
                    <a:p>
                      <a:pPr>
                        <a:defRPr sz="1100">
                          <a:solidFill>
                            <a:srgbClr val="1C2A3A"/>
                          </a:solidFill>
                          <a:latin typeface="Calibri"/>
                        </a:defRPr>
                      </a:pPr>
                      <a:r>
                        <a:t>Gemini</a:t>
                      </a:r>
                    </a:p>
                  </a:txBody>
                  <a:tcPr>
                    <a:solidFill>
                      <a:srgbClr val="E0E3E8"/>
                    </a:solidFill>
                  </a:tcPr>
                </a:tc>
                <a:tc>
                  <a:txBody>
                    <a:bodyPr/>
                    <a:lstStyle/>
                    <a:p>
                      <a:pPr>
                        <a:defRPr sz="1100">
                          <a:solidFill>
                            <a:srgbClr val="1C2A3A"/>
                          </a:solidFill>
                          <a:latin typeface="Calibri"/>
                        </a:defRPr>
                      </a:pPr>
                      <a:r>
                        <a:t>Google</a:t>
                      </a:r>
                    </a:p>
                  </a:txBody>
                  <a:tcPr>
                    <a:solidFill>
                      <a:srgbClr val="E0E3E8"/>
                    </a:solidFill>
                  </a:tcPr>
                </a:tc>
                <a:tc>
                  <a:txBody>
                    <a:bodyPr/>
                    <a:lstStyle/>
                    <a:p>
                      <a:pPr>
                        <a:defRPr sz="1100">
                          <a:solidFill>
                            <a:srgbClr val="1C2A3A"/>
                          </a:solidFill>
                          <a:latin typeface="Calibri"/>
                        </a:defRPr>
                      </a:pPr>
                      <a:r>
                        <a:t>Undisclosed</a:t>
                      </a:r>
                    </a:p>
                  </a:txBody>
                  <a:tcPr>
                    <a:solidFill>
                      <a:srgbClr val="E0E3E8"/>
                    </a:solidFill>
                  </a:tcPr>
                </a:tc>
              </a:tr>
            </a:tbl>
          </a:graphicData>
        </a:graphic>
      </p:graphicFrame>
      <p:sp>
        <p:nvSpPr>
          <p:cNvPr id="5" name="Rectangle 4"/>
          <p:cNvSpPr/>
          <p:nvPr/>
        </p:nvSpPr>
        <p:spPr>
          <a:xfrm>
            <a:off x="731520" y="5029200"/>
            <a:ext cx="10515600" cy="73152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Think of an LLM as a brilliant generalist</a:t>
            </a:r>
          </a:p>
          <a:p>
            <a:pPr>
              <a:defRPr sz="1200">
                <a:solidFill>
                  <a:srgbClr val="1C2A3A"/>
                </a:solidFill>
                <a:latin typeface="Calibri"/>
              </a:defRPr>
            </a:pPr>
            <a:r>
              <a:t>It can discuss any topic but isn't an expert in any single domain.</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3/55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The Specialization Challenge</a:t>
            </a:r>
          </a:p>
          <a:p>
            <a:pPr>
              <a:defRPr sz="1600">
                <a:solidFill>
                  <a:srgbClr val="ECEFF1"/>
                </a:solidFill>
                <a:latin typeface="Calibri"/>
              </a:defRPr>
            </a:pPr>
            <a:r>
              <a:t>Generic Models Fall Short on Domain Tasks</a:t>
            </a:r>
          </a:p>
        </p:txBody>
      </p:sp>
      <p:sp>
        <p:nvSpPr>
          <p:cNvPr id="3" name="Rectangle 2"/>
          <p:cNvSpPr/>
          <p:nvPr/>
        </p:nvSpPr>
        <p:spPr>
          <a:xfrm>
            <a:off x="457200" y="1371600"/>
            <a:ext cx="5303520" cy="320040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What generic LLMs struggle with:</a:t>
            </a:r>
          </a:p>
          <a:p>
            <a:pPr>
              <a:defRPr sz="1200">
                <a:solidFill>
                  <a:srgbClr val="1C2A3A"/>
                </a:solidFill>
                <a:latin typeface="Calibri"/>
              </a:defRPr>
            </a:pPr>
            <a:r>
              <a:t>- Precise financial calculations</a:t>
            </a:r>
            <a:br/>
            <a:r>
              <a:t>- Industry-specific terminology</a:t>
            </a:r>
            <a:br/>
            <a:r>
              <a:t>- Domain reasoning patterns</a:t>
            </a:r>
            <a:br/>
            <a:r>
              <a:t>- Consistent output formats</a:t>
            </a:r>
            <a:br/>
            <a:r>
              <a:t>- Regulatory/compliance accuracy</a:t>
            </a:r>
          </a:p>
        </p:txBody>
      </p:sp>
      <p:sp>
        <p:nvSpPr>
          <p:cNvPr id="4" name="Rectangle 3"/>
          <p:cNvSpPr/>
          <p:nvPr/>
        </p:nvSpPr>
        <p:spPr>
          <a:xfrm>
            <a:off x="6217920" y="1371600"/>
            <a:ext cx="5303520" cy="3200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What domain experts need:</a:t>
            </a:r>
          </a:p>
          <a:p>
            <a:pPr>
              <a:defRPr sz="1200">
                <a:solidFill>
                  <a:srgbClr val="1C2A3A"/>
                </a:solidFill>
                <a:latin typeface="Calibri"/>
              </a:defRPr>
            </a:pPr>
            <a:r>
              <a:t>- Accurate, verifiable answers</a:t>
            </a:r>
            <a:br/>
            <a:r>
              <a:t>- Correct use of specialized vocabulary</a:t>
            </a:r>
            <a:br/>
            <a:r>
              <a:t>- Step-by-step reasoning</a:t>
            </a:r>
            <a:br/>
            <a:r>
              <a:t>- Consistent, auditable output</a:t>
            </a:r>
            <a:br/>
            <a:r>
              <a:t>- Speed and reliability</a:t>
            </a:r>
          </a:p>
        </p:txBody>
      </p:sp>
      <p:sp>
        <p:nvSpPr>
          <p:cNvPr id="5" name="Rectangle 4"/>
          <p:cNvSpPr/>
          <p:nvPr/>
        </p:nvSpPr>
        <p:spPr>
          <a:xfrm>
            <a:off x="457200" y="5029200"/>
            <a:ext cx="11064240" cy="91440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Example:</a:t>
            </a:r>
          </a:p>
          <a:p>
            <a:pPr>
              <a:defRPr sz="1200">
                <a:solidFill>
                  <a:srgbClr val="1C2A3A"/>
                </a:solidFill>
                <a:latin typeface="Calibri"/>
              </a:defRPr>
            </a:pPr>
            <a:r>
              <a:t>Ask a generic LLM to calculate a bank's efficiency ratio from a financial table. It may know the definition but often gets the calculation wrong.</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4/55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Three Approaches to Specialization</a:t>
            </a:r>
          </a:p>
        </p:txBody>
      </p:sp>
      <p:sp>
        <p:nvSpPr>
          <p:cNvPr id="3" name="Rectangle 2"/>
          <p:cNvSpPr/>
          <p:nvPr/>
        </p:nvSpPr>
        <p:spPr>
          <a:xfrm>
            <a:off x="457200" y="1371600"/>
            <a:ext cx="3474720" cy="411480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1. Prompt Engineering</a:t>
            </a:r>
            <a:br/>
            <a:r>
              <a:t>Tell the model what to do</a:t>
            </a:r>
          </a:p>
          <a:p>
            <a:pPr>
              <a:defRPr sz="1200">
                <a:solidFill>
                  <a:srgbClr val="1C2A3A"/>
                </a:solidFill>
                <a:latin typeface="Calibri"/>
              </a:defRPr>
            </a:pPr>
            <a:r>
              <a:t>- Write better instructions</a:t>
            </a:r>
            <a:br/>
            <a:r>
              <a:t>- Add examples (few-shot)</a:t>
            </a:r>
            <a:br/>
            <a:r>
              <a:t>- System prompts</a:t>
            </a:r>
            <a:br/>
            <a:br/>
            <a:r>
              <a:t>Effort: Low | Impact: Limited</a:t>
            </a:r>
          </a:p>
        </p:txBody>
      </p:sp>
      <p:sp>
        <p:nvSpPr>
          <p:cNvPr id="4" name="Rectangle 3"/>
          <p:cNvSpPr/>
          <p:nvPr/>
        </p:nvSpPr>
        <p:spPr>
          <a:xfrm>
            <a:off x="4297680" y="1371600"/>
            <a:ext cx="3474720" cy="41148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2. RAG</a:t>
            </a:r>
            <a:br/>
            <a:r>
              <a:t>Give the model information</a:t>
            </a:r>
          </a:p>
          <a:p>
            <a:pPr>
              <a:defRPr sz="1200">
                <a:solidFill>
                  <a:srgbClr val="1C2A3A"/>
                </a:solidFill>
                <a:latin typeface="Calibri"/>
              </a:defRPr>
            </a:pPr>
            <a:r>
              <a:t>- Retrieve relevant documents</a:t>
            </a:r>
            <a:br/>
            <a:r>
              <a:t>- Augment the prompt</a:t>
            </a:r>
            <a:br/>
            <a:r>
              <a:t>- Generate with context</a:t>
            </a:r>
            <a:br/>
            <a:br/>
            <a:r>
              <a:t>Effort: Medium | Impact: Medium</a:t>
            </a:r>
          </a:p>
        </p:txBody>
      </p:sp>
      <p:sp>
        <p:nvSpPr>
          <p:cNvPr id="5" name="Rectangle 4"/>
          <p:cNvSpPr/>
          <p:nvPr/>
        </p:nvSpPr>
        <p:spPr>
          <a:xfrm>
            <a:off x="8138160" y="1371600"/>
            <a:ext cx="3474720" cy="41148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3. Fine-Tuning</a:t>
            </a:r>
            <a:br/>
            <a:r>
              <a:t>Teach the model new skills</a:t>
            </a:r>
          </a:p>
          <a:p>
            <a:pPr>
              <a:defRPr sz="1200">
                <a:solidFill>
                  <a:srgbClr val="1C2A3A"/>
                </a:solidFill>
                <a:latin typeface="Calibri"/>
              </a:defRPr>
            </a:pPr>
            <a:r>
              <a:t>- Train on domain data</a:t>
            </a:r>
            <a:br/>
            <a:r>
              <a:t>- Model weights are updated</a:t>
            </a:r>
            <a:br/>
            <a:r>
              <a:t>- Learns new capabilities</a:t>
            </a:r>
            <a:br/>
            <a:br/>
            <a:r>
              <a:t>Effort: Higher | Impact: Highest</a:t>
            </a:r>
          </a:p>
        </p:txBody>
      </p:sp>
      <p:sp>
        <p:nvSpPr>
          <p:cNvPr id="6" name="TextBox 5"/>
          <p:cNvSpPr txBox="1"/>
          <p:nvPr/>
        </p:nvSpPr>
        <p:spPr>
          <a:xfrm>
            <a:off x="457200" y="5760720"/>
            <a:ext cx="10972800" cy="457200"/>
          </a:xfrm>
          <a:prstGeom prst="rect">
            <a:avLst/>
          </a:prstGeom>
          <a:noFill/>
        </p:spPr>
        <p:txBody>
          <a:bodyPr wrap="square">
            <a:spAutoFit/>
          </a:bodyPr>
          <a:lstStyle/>
          <a:p>
            <a:pPr algn="ctr">
              <a:defRPr sz="1400" b="1">
                <a:solidFill>
                  <a:srgbClr val="4A4E57"/>
                </a:solidFill>
                <a:latin typeface="Calibri"/>
              </a:defRPr>
            </a:pPr>
            <a:r>
              <a:t>Spectrum: Prompt Engineering &lt; RAG &lt; Fine-Tuning &lt; Training from Scratch</a:t>
            </a:r>
          </a:p>
        </p:txBody>
      </p:sp>
      <p:sp>
        <p:nvSpPr>
          <p:cNvPr id="7" name="TextBox 6"/>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5/55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RAG: Retrieval-Augmented Generation</a:t>
            </a:r>
          </a:p>
          <a:p>
            <a:pPr>
              <a:defRPr sz="1600">
                <a:solidFill>
                  <a:srgbClr val="ECEFF1"/>
                </a:solidFill>
                <a:latin typeface="Calibri"/>
              </a:defRPr>
            </a:pPr>
            <a:r>
              <a:t>How RAG Works</a:t>
            </a:r>
          </a:p>
        </p:txBody>
      </p:sp>
      <p:pic>
        <p:nvPicPr>
          <p:cNvPr id="3" name="Picture 2" descr="rag_flow.png"/>
          <p:cNvPicPr>
            <a:picLocks noChangeAspect="1"/>
          </p:cNvPicPr>
          <p:nvPr/>
        </p:nvPicPr>
        <p:blipFill>
          <a:blip r:embed="rId2"/>
          <a:stretch>
            <a:fillRect/>
          </a:stretch>
        </p:blipFill>
        <p:spPr>
          <a:xfrm>
            <a:off x="457200" y="1188720"/>
            <a:ext cx="5943600" cy="4389120"/>
          </a:xfrm>
          <a:prstGeom prst="rect">
            <a:avLst/>
          </a:prstGeom>
        </p:spPr>
      </p:pic>
      <p:sp>
        <p:nvSpPr>
          <p:cNvPr id="4" name="Rectangle 3"/>
          <p:cNvSpPr/>
          <p:nvPr/>
        </p:nvSpPr>
        <p:spPr>
          <a:xfrm>
            <a:off x="6583680" y="1371600"/>
            <a:ext cx="5029200" cy="18288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Key Components</a:t>
            </a:r>
          </a:p>
          <a:p>
            <a:pPr>
              <a:defRPr sz="1200">
                <a:solidFill>
                  <a:srgbClr val="1C2A3A"/>
                </a:solidFill>
                <a:latin typeface="Calibri"/>
              </a:defRPr>
            </a:pPr>
            <a:r>
              <a:t>- Embedding Model: Converts text to vectors</a:t>
            </a:r>
            <a:br/>
            <a:r>
              <a:t>- Vector Database: Stores and searches embeddings</a:t>
            </a:r>
            <a:br/>
            <a:r>
              <a:t>- LLM: Generates the final answer</a:t>
            </a:r>
          </a:p>
        </p:txBody>
      </p:sp>
      <p:sp>
        <p:nvSpPr>
          <p:cNvPr id="5" name="Rectangle 4"/>
          <p:cNvSpPr/>
          <p:nvPr/>
        </p:nvSpPr>
        <p:spPr>
          <a:xfrm>
            <a:off x="6583680" y="3474720"/>
            <a:ext cx="5029200" cy="1645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Key Idea</a:t>
            </a:r>
          </a:p>
          <a:p>
            <a:pPr>
              <a:defRPr sz="1200">
                <a:solidFill>
                  <a:srgbClr val="1C2A3A"/>
                </a:solidFill>
                <a:latin typeface="Calibri"/>
              </a:defRPr>
            </a:pPr>
            <a:r>
              <a:t>Instead of training the model on your data, you show it relevant documents at inference time.</a:t>
            </a:r>
            <a:br/>
            <a:r>
              <a:t>The model's weights are unchanged.</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6/55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RAG: Benefits</a:t>
            </a:r>
          </a:p>
        </p:txBody>
      </p:sp>
      <p:sp>
        <p:nvSpPr>
          <p:cNvPr id="3" name="Rectangle 2"/>
          <p:cNvSpPr/>
          <p:nvPr/>
        </p:nvSpPr>
        <p:spPr>
          <a:xfrm>
            <a:off x="731520" y="1280160"/>
            <a:ext cx="1051560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1. No Training Required</a:t>
            </a:r>
          </a:p>
          <a:p>
            <a:pPr>
              <a:defRPr sz="1200">
                <a:solidFill>
                  <a:srgbClr val="1C2A3A"/>
                </a:solidFill>
                <a:latin typeface="Calibri"/>
              </a:defRPr>
            </a:pPr>
            <a:r>
              <a:t>Start immediately with any LLM. No GPU, no training data prep.</a:t>
            </a:r>
          </a:p>
        </p:txBody>
      </p:sp>
      <p:sp>
        <p:nvSpPr>
          <p:cNvPr id="4" name="Rectangle 3"/>
          <p:cNvSpPr/>
          <p:nvPr/>
        </p:nvSpPr>
        <p:spPr>
          <a:xfrm>
            <a:off x="731520" y="2286000"/>
            <a:ext cx="1051560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2. Dynamic Knowledge</a:t>
            </a:r>
          </a:p>
          <a:p>
            <a:pPr>
              <a:defRPr sz="1200">
                <a:solidFill>
                  <a:srgbClr val="1C2A3A"/>
                </a:solidFill>
                <a:latin typeface="Calibri"/>
              </a:defRPr>
            </a:pPr>
            <a:r>
              <a:t>Update knowledge base anytime. No retraining needed.</a:t>
            </a:r>
          </a:p>
        </p:txBody>
      </p:sp>
      <p:sp>
        <p:nvSpPr>
          <p:cNvPr id="5" name="Rectangle 4"/>
          <p:cNvSpPr/>
          <p:nvPr/>
        </p:nvSpPr>
        <p:spPr>
          <a:xfrm>
            <a:off x="731520" y="3291840"/>
            <a:ext cx="1051560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3. Source Citations</a:t>
            </a:r>
          </a:p>
          <a:p>
            <a:pPr>
              <a:defRPr sz="1200">
                <a:solidFill>
                  <a:srgbClr val="1C2A3A"/>
                </a:solidFill>
                <a:latin typeface="Calibri"/>
              </a:defRPr>
            </a:pPr>
            <a:r>
              <a:t>Every answer references exact documents. Critical for audit.</a:t>
            </a:r>
          </a:p>
        </p:txBody>
      </p:sp>
      <p:sp>
        <p:nvSpPr>
          <p:cNvPr id="6" name="Rectangle 5"/>
          <p:cNvSpPr/>
          <p:nvPr/>
        </p:nvSpPr>
        <p:spPr>
          <a:xfrm>
            <a:off x="731520" y="4297680"/>
            <a:ext cx="1051560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4. Cost Effective to Start</a:t>
            </a:r>
          </a:p>
          <a:p>
            <a:pPr>
              <a:defRPr sz="1200">
                <a:solidFill>
                  <a:srgbClr val="1C2A3A"/>
                </a:solidFill>
                <a:latin typeface="Calibri"/>
              </a:defRPr>
            </a:pPr>
            <a:r>
              <a:t>Lower upfront cost. Use existing LLM APIs + vector DB.</a:t>
            </a:r>
          </a:p>
        </p:txBody>
      </p:sp>
      <p:sp>
        <p:nvSpPr>
          <p:cNvPr id="7" name="Rectangle 6"/>
          <p:cNvSpPr/>
          <p:nvPr/>
        </p:nvSpPr>
        <p:spPr>
          <a:xfrm>
            <a:off x="731520" y="5303520"/>
            <a:ext cx="1051560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5. Explainable</a:t>
            </a:r>
          </a:p>
          <a:p>
            <a:pPr>
              <a:defRPr sz="1200">
                <a:solidFill>
                  <a:srgbClr val="1C2A3A"/>
                </a:solidFill>
                <a:latin typeface="Calibri"/>
              </a:defRPr>
            </a:pPr>
            <a:r>
              <a:t>Users see which documents were retrieved and why.</a:t>
            </a:r>
          </a:p>
        </p:txBody>
      </p:sp>
      <p:sp>
        <p:nvSpPr>
          <p:cNvPr id="8" name="TextBox 7"/>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7/55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RAG: Limitations</a:t>
            </a:r>
          </a:p>
          <a:p>
            <a:pPr>
              <a:defRPr sz="1600">
                <a:solidFill>
                  <a:srgbClr val="ECEFF1"/>
                </a:solidFill>
                <a:latin typeface="Calibri"/>
              </a:defRPr>
            </a:pPr>
            <a:r>
              <a:t>Why RAG may not fully address all use cases</a:t>
            </a:r>
          </a:p>
        </p:txBody>
      </p:sp>
      <p:sp>
        <p:nvSpPr>
          <p:cNvPr id="3" name="Rectangle 2"/>
          <p:cNvSpPr/>
          <p:nvPr/>
        </p:nvSpPr>
        <p:spPr>
          <a:xfrm>
            <a:off x="457200" y="1280160"/>
            <a:ext cx="5303520" cy="109728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1. Cannot Teach New Skills</a:t>
            </a:r>
          </a:p>
          <a:p>
            <a:pPr>
              <a:defRPr sz="1200">
                <a:solidFill>
                  <a:srgbClr val="1C2A3A"/>
                </a:solidFill>
                <a:latin typeface="Calibri"/>
              </a:defRPr>
            </a:pPr>
            <a:r>
              <a:t>RAG adds information but doesn't teach new reasoning patterns.</a:t>
            </a:r>
          </a:p>
        </p:txBody>
      </p:sp>
      <p:sp>
        <p:nvSpPr>
          <p:cNvPr id="4" name="Rectangle 3"/>
          <p:cNvSpPr/>
          <p:nvPr/>
        </p:nvSpPr>
        <p:spPr>
          <a:xfrm>
            <a:off x="457200" y="2560320"/>
            <a:ext cx="5303520" cy="109728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2. Struggles with Calculations</a:t>
            </a:r>
          </a:p>
          <a:p>
            <a:pPr>
              <a:defRPr sz="1200">
                <a:solidFill>
                  <a:srgbClr val="1C2A3A"/>
                </a:solidFill>
                <a:latin typeface="Calibri"/>
              </a:defRPr>
            </a:pPr>
            <a:r>
              <a:t>Retrieving a formula doesn't mean the model can apply it.</a:t>
            </a:r>
          </a:p>
        </p:txBody>
      </p:sp>
      <p:sp>
        <p:nvSpPr>
          <p:cNvPr id="5" name="Rectangle 4"/>
          <p:cNvSpPr/>
          <p:nvPr/>
        </p:nvSpPr>
        <p:spPr>
          <a:xfrm>
            <a:off x="457200" y="3840479"/>
            <a:ext cx="5303520" cy="109728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3. Inconsistent Output</a:t>
            </a:r>
          </a:p>
          <a:p>
            <a:pPr>
              <a:defRPr sz="1200">
                <a:solidFill>
                  <a:srgbClr val="1C2A3A"/>
                </a:solidFill>
                <a:latin typeface="Calibri"/>
              </a:defRPr>
            </a:pPr>
            <a:r>
              <a:t>Without trained behavior, output format varies.</a:t>
            </a:r>
          </a:p>
        </p:txBody>
      </p:sp>
      <p:sp>
        <p:nvSpPr>
          <p:cNvPr id="6" name="Rectangle 5"/>
          <p:cNvSpPr/>
          <p:nvPr/>
        </p:nvSpPr>
        <p:spPr>
          <a:xfrm>
            <a:off x="6217920" y="1280160"/>
            <a:ext cx="5303520" cy="109728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4. Retrieval Quality Bottleneck</a:t>
            </a:r>
          </a:p>
          <a:p>
            <a:pPr>
              <a:defRPr sz="1200">
                <a:solidFill>
                  <a:srgbClr val="1C2A3A"/>
                </a:solidFill>
                <a:latin typeface="Calibri"/>
              </a:defRPr>
            </a:pPr>
            <a:r>
              <a:t>Answers only as good as retrieved documents.</a:t>
            </a:r>
          </a:p>
        </p:txBody>
      </p:sp>
      <p:sp>
        <p:nvSpPr>
          <p:cNvPr id="7" name="Rectangle 6"/>
          <p:cNvSpPr/>
          <p:nvPr/>
        </p:nvSpPr>
        <p:spPr>
          <a:xfrm>
            <a:off x="6217920" y="2560320"/>
            <a:ext cx="5303520" cy="109728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5. Higher Latency</a:t>
            </a:r>
          </a:p>
          <a:p>
            <a:pPr>
              <a:defRPr sz="1200">
                <a:solidFill>
                  <a:srgbClr val="1C2A3A"/>
                </a:solidFill>
                <a:latin typeface="Calibri"/>
              </a:defRPr>
            </a:pPr>
            <a:r>
              <a:t>Embedding + retrieval + generation: 3-5x slower than fine-tuned.</a:t>
            </a:r>
          </a:p>
        </p:txBody>
      </p:sp>
      <p:sp>
        <p:nvSpPr>
          <p:cNvPr id="8" name="Rectangle 7"/>
          <p:cNvSpPr/>
          <p:nvPr/>
        </p:nvSpPr>
        <p:spPr>
          <a:xfrm>
            <a:off x="6217920" y="3840479"/>
            <a:ext cx="5303520" cy="109728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6. Context Window Limits</a:t>
            </a:r>
          </a:p>
          <a:p>
            <a:pPr>
              <a:defRPr sz="1200">
                <a:solidFill>
                  <a:srgbClr val="1C2A3A"/>
                </a:solidFill>
                <a:latin typeface="Calibri"/>
              </a:defRPr>
            </a:pPr>
            <a:r>
              <a:t>Retrieved docs compete for context space.</a:t>
            </a:r>
          </a:p>
        </p:txBody>
      </p:sp>
      <p:sp>
        <p:nvSpPr>
          <p:cNvPr id="9" name="Rectangle 8"/>
          <p:cNvSpPr/>
          <p:nvPr/>
        </p:nvSpPr>
        <p:spPr>
          <a:xfrm>
            <a:off x="457200" y="5303520"/>
            <a:ext cx="11064240" cy="73152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Bottom line:</a:t>
            </a:r>
          </a:p>
          <a:p>
            <a:pPr>
              <a:defRPr sz="1200">
                <a:solidFill>
                  <a:srgbClr val="1C2A3A"/>
                </a:solidFill>
                <a:latin typeface="Calibri"/>
              </a:defRPr>
            </a:pPr>
            <a:r>
              <a:t>RAG is great for knowledge lookup but insufficient for specialized reasoning, computation, or consistent behavior.</a:t>
            </a:r>
          </a:p>
        </p:txBody>
      </p:sp>
      <p:sp>
        <p:nvSpPr>
          <p:cNvPr id="10" name="TextBox 9"/>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8/55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Fine-Tuning: Teaching Models New Skills</a:t>
            </a:r>
          </a:p>
        </p:txBody>
      </p:sp>
      <p:pic>
        <p:nvPicPr>
          <p:cNvPr id="3" name="Picture 2" descr="finetuning_flow.png"/>
          <p:cNvPicPr>
            <a:picLocks noChangeAspect="1"/>
          </p:cNvPicPr>
          <p:nvPr/>
        </p:nvPicPr>
        <p:blipFill>
          <a:blip r:embed="rId2"/>
          <a:stretch>
            <a:fillRect/>
          </a:stretch>
        </p:blipFill>
        <p:spPr>
          <a:xfrm>
            <a:off x="457200" y="1188720"/>
            <a:ext cx="5943600" cy="3200400"/>
          </a:xfrm>
          <a:prstGeom prst="rect">
            <a:avLst/>
          </a:prstGeom>
        </p:spPr>
      </p:pic>
      <p:sp>
        <p:nvSpPr>
          <p:cNvPr id="4" name="Rectangle 3"/>
          <p:cNvSpPr/>
          <p:nvPr/>
        </p:nvSpPr>
        <p:spPr>
          <a:xfrm>
            <a:off x="731520" y="4572000"/>
            <a:ext cx="5029200" cy="10972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 Same model + external info at query time</a:t>
            </a:r>
          </a:p>
        </p:txBody>
      </p:sp>
      <p:sp>
        <p:nvSpPr>
          <p:cNvPr id="5" name="Rectangle 4"/>
          <p:cNvSpPr/>
          <p:nvPr/>
        </p:nvSpPr>
        <p:spPr>
          <a:xfrm>
            <a:off x="6217920" y="4572000"/>
            <a:ext cx="5303520" cy="10972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Fine-Tuning = Different model with learned expertise in weights</a:t>
            </a:r>
          </a:p>
          <a:p>
            <a:pPr>
              <a:defRPr sz="1200">
                <a:solidFill>
                  <a:srgbClr val="1C2A3A"/>
                </a:solidFill>
                <a:latin typeface="Calibri"/>
              </a:defRPr>
            </a:pPr>
            <a:r>
              <a:t>The model doesn't just look up answers - it has learned how to reason.</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9/55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Fine-Tuning Methods</a:t>
            </a:r>
          </a:p>
          <a:p>
            <a:pPr>
              <a:defRPr sz="1600">
                <a:solidFill>
                  <a:srgbClr val="ECEFF1"/>
                </a:solidFill>
                <a:latin typeface="Calibri"/>
              </a:defRPr>
            </a:pPr>
            <a:r>
              <a:t>Full vs LoRA vs QLoRA</a:t>
            </a:r>
          </a:p>
        </p:txBody>
      </p:sp>
      <p:sp>
        <p:nvSpPr>
          <p:cNvPr id="3" name="Rectangle 2"/>
          <p:cNvSpPr/>
          <p:nvPr/>
        </p:nvSpPr>
        <p:spPr>
          <a:xfrm>
            <a:off x="457200" y="1371600"/>
            <a:ext cx="3474720" cy="365760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Full Fine-Tuning</a:t>
            </a:r>
          </a:p>
          <a:p>
            <a:pPr>
              <a:defRPr sz="1200">
                <a:solidFill>
                  <a:srgbClr val="1C2A3A"/>
                </a:solidFill>
                <a:latin typeface="Calibri"/>
              </a:defRPr>
            </a:pPr>
            <a:r>
              <a:t>Updates ALL parameters</a:t>
            </a:r>
            <a:br/>
            <a:r>
              <a:t>Maximum learning capacity</a:t>
            </a:r>
            <a:br/>
            <a:r>
              <a:t>Requires significant GPU memory</a:t>
            </a:r>
            <a:br/>
            <a:r>
              <a:t>Best accuracy potential</a:t>
            </a:r>
            <a:br/>
            <a:br/>
            <a:r>
              <a:t>Cost: $$$</a:t>
            </a:r>
          </a:p>
        </p:txBody>
      </p:sp>
      <p:sp>
        <p:nvSpPr>
          <p:cNvPr id="4" name="Rectangle 3"/>
          <p:cNvSpPr/>
          <p:nvPr/>
        </p:nvSpPr>
        <p:spPr>
          <a:xfrm>
            <a:off x="4297680" y="1371600"/>
            <a:ext cx="3474720" cy="36576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LoRA (Low-Rank Adaptation)</a:t>
            </a:r>
          </a:p>
          <a:p>
            <a:pPr>
              <a:defRPr sz="1200">
                <a:solidFill>
                  <a:srgbClr val="1C2A3A"/>
                </a:solidFill>
                <a:latin typeface="Calibri"/>
              </a:defRPr>
            </a:pPr>
            <a:r>
              <a:t>Adds small adapter layers</a:t>
            </a:r>
            <a:br/>
            <a:r>
              <a:t>Freezes original weights</a:t>
            </a:r>
            <a:br/>
            <a:r>
              <a:t>10-100x less memory</a:t>
            </a:r>
            <a:br/>
            <a:r>
              <a:t>Near full FT quality</a:t>
            </a:r>
            <a:br/>
            <a:br/>
            <a:r>
              <a:t>Cost: $$</a:t>
            </a:r>
          </a:p>
        </p:txBody>
      </p:sp>
      <p:sp>
        <p:nvSpPr>
          <p:cNvPr id="5" name="Rectangle 4"/>
          <p:cNvSpPr/>
          <p:nvPr/>
        </p:nvSpPr>
        <p:spPr>
          <a:xfrm>
            <a:off x="8138160" y="1371600"/>
            <a:ext cx="3474720" cy="36576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QLoRA (Quantized LoRA)</a:t>
            </a:r>
          </a:p>
          <a:p>
            <a:pPr>
              <a:defRPr sz="1200">
                <a:solidFill>
                  <a:srgbClr val="1C2A3A"/>
                </a:solidFill>
                <a:latin typeface="Calibri"/>
              </a:defRPr>
            </a:pPr>
            <a:r>
              <a:t>LoRA + 4-bit quantization</a:t>
            </a:r>
            <a:br/>
            <a:r>
              <a:t>Runs on consumer GPUs</a:t>
            </a:r>
            <a:br/>
            <a:r>
              <a:t>Minimal quality loss</a:t>
            </a:r>
            <a:br/>
            <a:r>
              <a:t>Most accessible method</a:t>
            </a:r>
            <a:br/>
            <a:br/>
            <a:r>
              <a:t>Cost: $</a:t>
            </a:r>
          </a:p>
        </p:txBody>
      </p:sp>
      <p:sp>
        <p:nvSpPr>
          <p:cNvPr id="6" name="Rectangle 5"/>
          <p:cNvSpPr/>
          <p:nvPr/>
        </p:nvSpPr>
        <p:spPr>
          <a:xfrm>
            <a:off x="457200" y="5303520"/>
            <a:ext cx="11064240" cy="73152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Practical tip:</a:t>
            </a:r>
          </a:p>
          <a:p>
            <a:pPr>
              <a:defRPr sz="1200">
                <a:solidFill>
                  <a:srgbClr val="1C2A3A"/>
                </a:solidFill>
                <a:latin typeface="Calibri"/>
              </a:defRPr>
            </a:pPr>
            <a:r>
              <a:t>Start with QLoRA for rapid experimentation, then scale to LoRA or full fine-tuning when validated.</a:t>
            </a:r>
          </a:p>
        </p:txBody>
      </p:sp>
      <p:sp>
        <p:nvSpPr>
          <p:cNvPr id="7" name="TextBox 6"/>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10/55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Fine-Tuning: Key Benefits</a:t>
            </a:r>
          </a:p>
        </p:txBody>
      </p:sp>
      <p:sp>
        <p:nvSpPr>
          <p:cNvPr id="3" name="Rectangle 2"/>
          <p:cNvSpPr/>
          <p:nvPr/>
        </p:nvSpPr>
        <p:spPr>
          <a:xfrm>
            <a:off x="457200" y="1371600"/>
            <a:ext cx="530352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Improved Accuracy</a:t>
            </a:r>
          </a:p>
          <a:p>
            <a:pPr>
              <a:defRPr sz="1200">
                <a:solidFill>
                  <a:srgbClr val="1C2A3A"/>
                </a:solidFill>
                <a:latin typeface="Calibri"/>
              </a:defRPr>
            </a:pPr>
            <a:r>
              <a:t>61.2% on FinQA vs 15.3% for RAG</a:t>
            </a:r>
          </a:p>
        </p:txBody>
      </p:sp>
      <p:sp>
        <p:nvSpPr>
          <p:cNvPr id="4" name="Rectangle 3"/>
          <p:cNvSpPr/>
          <p:nvPr/>
        </p:nvSpPr>
        <p:spPr>
          <a:xfrm>
            <a:off x="6217920" y="1371600"/>
            <a:ext cx="530352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Learned Computation</a:t>
            </a:r>
          </a:p>
          <a:p>
            <a:pPr>
              <a:defRPr sz="1200">
                <a:solidFill>
                  <a:srgbClr val="1C2A3A"/>
                </a:solidFill>
                <a:latin typeface="Calibri"/>
              </a:defRPr>
            </a:pPr>
            <a:r>
              <a:t>Multi-step calculations, not just formula retrieval</a:t>
            </a:r>
          </a:p>
        </p:txBody>
      </p:sp>
      <p:sp>
        <p:nvSpPr>
          <p:cNvPr id="5" name="Rectangle 4"/>
          <p:cNvSpPr/>
          <p:nvPr/>
        </p:nvSpPr>
        <p:spPr>
          <a:xfrm>
            <a:off x="457200" y="2834640"/>
            <a:ext cx="530352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Consistent Output</a:t>
            </a:r>
          </a:p>
          <a:p>
            <a:pPr>
              <a:defRPr sz="1200">
                <a:solidFill>
                  <a:srgbClr val="1C2A3A"/>
                </a:solidFill>
                <a:latin typeface="Calibri"/>
              </a:defRPr>
            </a:pPr>
            <a:r>
              <a:t>98% consistency vs 65% for RAG</a:t>
            </a:r>
          </a:p>
        </p:txBody>
      </p:sp>
      <p:sp>
        <p:nvSpPr>
          <p:cNvPr id="6" name="Rectangle 5"/>
          <p:cNvSpPr/>
          <p:nvPr/>
        </p:nvSpPr>
        <p:spPr>
          <a:xfrm>
            <a:off x="6217920" y="2834640"/>
            <a:ext cx="530352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Lower Latency</a:t>
            </a:r>
          </a:p>
          <a:p>
            <a:pPr>
              <a:defRPr sz="1200">
                <a:solidFill>
                  <a:srgbClr val="1C2A3A"/>
                </a:solidFill>
                <a:latin typeface="Calibri"/>
              </a:defRPr>
            </a:pPr>
            <a:r>
              <a:t>~200ms vs ~800ms for RAG</a:t>
            </a:r>
          </a:p>
        </p:txBody>
      </p:sp>
      <p:sp>
        <p:nvSpPr>
          <p:cNvPr id="7" name="Rectangle 6"/>
          <p:cNvSpPr/>
          <p:nvPr/>
        </p:nvSpPr>
        <p:spPr>
          <a:xfrm>
            <a:off x="457200" y="4297680"/>
            <a:ext cx="530352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Customizable Behavior</a:t>
            </a:r>
          </a:p>
          <a:p>
            <a:pPr>
              <a:defRPr sz="1200">
                <a:solidFill>
                  <a:srgbClr val="1C2A3A"/>
                </a:solidFill>
                <a:latin typeface="Calibri"/>
              </a:defRPr>
            </a:pPr>
            <a:r>
              <a:t>Control tone, format, reasoning style</a:t>
            </a:r>
          </a:p>
        </p:txBody>
      </p:sp>
      <p:sp>
        <p:nvSpPr>
          <p:cNvPr id="8" name="Rectangle 7"/>
          <p:cNvSpPr/>
          <p:nvPr/>
        </p:nvSpPr>
        <p:spPr>
          <a:xfrm>
            <a:off x="6217920" y="4297680"/>
            <a:ext cx="530352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Adapts to Unique Data</a:t>
            </a:r>
          </a:p>
          <a:p>
            <a:pPr>
              <a:defRPr sz="1200">
                <a:solidFill>
                  <a:srgbClr val="1C2A3A"/>
                </a:solidFill>
                <a:latin typeface="Calibri"/>
              </a:defRPr>
            </a:pPr>
            <a:r>
              <a:t>Learns YOUR domain's patterns and edge cases</a:t>
            </a:r>
          </a:p>
        </p:txBody>
      </p:sp>
      <p:sp>
        <p:nvSpPr>
          <p:cNvPr id="9" name="TextBox 8"/>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11/55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Our Fine-Tuned Models: Under the Hood</a:t>
            </a:r>
          </a:p>
          <a:p>
            <a:pPr>
              <a:defRPr sz="1600">
                <a:solidFill>
                  <a:srgbClr val="ECEFF1"/>
                </a:solidFill>
                <a:latin typeface="Calibri"/>
              </a:defRPr>
            </a:pPr>
            <a:r>
              <a:t>Real models, real training data, published research</a:t>
            </a:r>
          </a:p>
        </p:txBody>
      </p:sp>
      <p:sp>
        <p:nvSpPr>
          <p:cNvPr id="3" name="Rectangle 2"/>
          <p:cNvSpPr/>
          <p:nvPr/>
        </p:nvSpPr>
        <p:spPr>
          <a:xfrm>
            <a:off x="457200" y="1371600"/>
            <a:ext cx="5303520" cy="22860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FinBERT - Financial Sentiment</a:t>
            </a:r>
          </a:p>
          <a:p>
            <a:pPr>
              <a:defRPr sz="1200">
                <a:solidFill>
                  <a:srgbClr val="1C2A3A"/>
                </a:solidFill>
                <a:latin typeface="Calibri"/>
              </a:defRPr>
            </a:pPr>
            <a:r>
              <a:t>Base: BERT-base-uncased (110M params)</a:t>
            </a:r>
            <a:br/>
            <a:r>
              <a:t>By: Prosus AI (Araci, 2019)</a:t>
            </a:r>
            <a:br/>
            <a:r>
              <a:t>HF: ProsusAI/finbert</a:t>
            </a:r>
            <a:br/>
            <a:r>
              <a:t>Task: 3-class sentiment (pos/neg/neutral)</a:t>
            </a:r>
            <a:br/>
            <a:r>
              <a:t>Training: Financial PhraseBank (4,840 sentences)</a:t>
            </a:r>
          </a:p>
        </p:txBody>
      </p:sp>
      <p:sp>
        <p:nvSpPr>
          <p:cNvPr id="4" name="Rectangle 3"/>
          <p:cNvSpPr/>
          <p:nvPr/>
        </p:nvSpPr>
        <p:spPr>
          <a:xfrm>
            <a:off x="6217920" y="1371600"/>
            <a:ext cx="5303520" cy="22860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FinQA-7B - Numerical Reasoning</a:t>
            </a:r>
          </a:p>
          <a:p>
            <a:pPr>
              <a:defRPr sz="1200">
                <a:solidFill>
                  <a:srgbClr val="1C2A3A"/>
                </a:solidFill>
                <a:latin typeface="Calibri"/>
              </a:defRPr>
            </a:pPr>
            <a:r>
              <a:t>Base: Llama2-7B (Meta, 7B params)</a:t>
            </a:r>
            <a:br/>
            <a:r>
              <a:t>By: truocpham (community)</a:t>
            </a:r>
            <a:br/>
            <a:r>
              <a:t>HF: truocpham/FinQA-7B-Instruct-v0.1</a:t>
            </a:r>
            <a:br/>
            <a:r>
              <a:t>Method: QLoRA on FinQA dataset</a:t>
            </a:r>
            <a:br/>
            <a:r>
              <a:t>Training: 8,281 Q&amp;A pairs from SEC filings</a:t>
            </a:r>
          </a:p>
        </p:txBody>
      </p:sp>
      <p:sp>
        <p:nvSpPr>
          <p:cNvPr id="5" name="Rectangle 4"/>
          <p:cNvSpPr/>
          <p:nvPr/>
        </p:nvSpPr>
        <p:spPr>
          <a:xfrm>
            <a:off x="457200" y="3931920"/>
            <a:ext cx="5303520" cy="2011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FinBERT Training Data</a:t>
            </a:r>
          </a:p>
          <a:p>
            <a:pPr>
              <a:defRPr sz="1200">
                <a:solidFill>
                  <a:srgbClr val="1C2A3A"/>
                </a:solidFill>
                <a:latin typeface="Calibri"/>
              </a:defRPr>
            </a:pPr>
            <a:r>
              <a:t>Pre-training: Reuters TRC2 (46,143 articles)</a:t>
            </a:r>
            <a:br/>
            <a:r>
              <a:t>Fine-tuning: Financial PhraseBank</a:t>
            </a:r>
            <a:br/>
            <a:r>
              <a:t>  - 4,840 sentences, 16 expert annotators</a:t>
            </a:r>
            <a:br/>
            <a:r>
              <a:t>  - Source: Aalto University (Malo et al., 2014)</a:t>
            </a:r>
          </a:p>
        </p:txBody>
      </p:sp>
      <p:sp>
        <p:nvSpPr>
          <p:cNvPr id="6" name="Rectangle 5"/>
          <p:cNvSpPr/>
          <p:nvPr/>
        </p:nvSpPr>
        <p:spPr>
          <a:xfrm>
            <a:off x="6217920" y="3931920"/>
            <a:ext cx="5303520" cy="2011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 Training Data</a:t>
            </a:r>
          </a:p>
          <a:p>
            <a:pPr>
              <a:defRPr sz="1200">
                <a:solidFill>
                  <a:srgbClr val="1C2A3A"/>
                </a:solidFill>
                <a:latin typeface="Calibri"/>
              </a:defRPr>
            </a:pPr>
            <a:r>
              <a:t>Dataset: FinQA (IBM Research, EMNLP 2021)</a:t>
            </a:r>
            <a:br/>
            <a:r>
              <a:t>  - 8,281 Q&amp;A pairs from S&amp;P 500 SEC filings</a:t>
            </a:r>
            <a:br/>
            <a:r>
              <a:t>  - Each: financial table + context + question</a:t>
            </a:r>
            <a:br/>
            <a:r>
              <a:t>  - Includes step-by-step reasoning programs</a:t>
            </a:r>
          </a:p>
        </p:txBody>
      </p:sp>
      <p:sp>
        <p:nvSpPr>
          <p:cNvPr id="7" name="TextBox 6"/>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12/55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Our Fine-Tuned Models: Spam Detection</a:t>
            </a:r>
          </a:p>
          <a:p>
            <a:pPr>
              <a:defRPr sz="1600">
                <a:solidFill>
                  <a:srgbClr val="ECEFF1"/>
                </a:solidFill>
                <a:latin typeface="Calibri"/>
              </a:defRPr>
            </a:pPr>
            <a:r>
              <a:t>DistilBERT fine-tuned for phishing &amp; spam classification</a:t>
            </a:r>
          </a:p>
        </p:txBody>
      </p:sp>
      <p:sp>
        <p:nvSpPr>
          <p:cNvPr id="3" name="Rectangle 2"/>
          <p:cNvSpPr/>
          <p:nvPr/>
        </p:nvSpPr>
        <p:spPr>
          <a:xfrm>
            <a:off x="457200" y="1371600"/>
            <a:ext cx="5303520" cy="22860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DistilBERT Spam Detector</a:t>
            </a:r>
          </a:p>
          <a:p>
            <a:pPr>
              <a:defRPr sz="1200">
                <a:solidFill>
                  <a:srgbClr val="1C2A3A"/>
                </a:solidFill>
                <a:latin typeface="Calibri"/>
              </a:defRPr>
            </a:pPr>
            <a:r>
              <a:t>Base: DistilBERT-base-uncased (66M params)</a:t>
            </a:r>
            <a:br/>
            <a:r>
              <a:t>Task: Binary classification (spam vs ham)</a:t>
            </a:r>
            <a:br/>
            <a:r>
              <a:t>40% smaller &amp; 60% faster than BERT-base</a:t>
            </a:r>
            <a:br/>
            <a:r>
              <a:t>Retains 97% of BERT's language understanding</a:t>
            </a:r>
            <a:br/>
            <a:r>
              <a:t>Learned: urgency cues, suspicious URLs, phishing patterns</a:t>
            </a:r>
          </a:p>
        </p:txBody>
      </p:sp>
      <p:sp>
        <p:nvSpPr>
          <p:cNvPr id="4" name="Rectangle 3"/>
          <p:cNvSpPr/>
          <p:nvPr/>
        </p:nvSpPr>
        <p:spPr>
          <a:xfrm>
            <a:off x="6217920" y="1371600"/>
            <a:ext cx="5303520" cy="22860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Spam Detection Training Data</a:t>
            </a:r>
          </a:p>
          <a:p>
            <a:pPr>
              <a:defRPr sz="1200">
                <a:solidFill>
                  <a:srgbClr val="1C2A3A"/>
                </a:solidFill>
                <a:latin typeface="Calibri"/>
              </a:defRPr>
            </a:pPr>
            <a:r>
              <a:t>Curated phishing &amp; spam corpus:</a:t>
            </a:r>
            <a:br/>
            <a:r>
              <a:t>  - Phishing emails (account compromise, verification)</a:t>
            </a:r>
            <a:br/>
            <a:r>
              <a:t>  - Lottery / Nigerian prince scams</a:t>
            </a:r>
            <a:br/>
            <a:r>
              <a:t>  - Get-rich-quick &amp; work-from-home spam</a:t>
            </a:r>
            <a:br/>
            <a:r>
              <a:t>  - Legitimate business, notification, newsletter emails</a:t>
            </a:r>
          </a:p>
        </p:txBody>
      </p:sp>
      <p:sp>
        <p:nvSpPr>
          <p:cNvPr id="5" name="Rectangle 4"/>
          <p:cNvSpPr/>
          <p:nvPr/>
        </p:nvSpPr>
        <p:spPr>
          <a:xfrm>
            <a:off x="457200" y="3931920"/>
            <a:ext cx="11064240" cy="201168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Why DistilBERT for Spam?</a:t>
            </a:r>
          </a:p>
          <a:p>
            <a:pPr>
              <a:defRPr sz="1200">
                <a:solidFill>
                  <a:srgbClr val="1C2A3A"/>
                </a:solidFill>
                <a:latin typeface="Calibri"/>
              </a:defRPr>
            </a:pPr>
            <a:r>
              <a:t>Ideal for high-throughput email filtering: small model (66M) runs fast on CPU.</a:t>
            </a:r>
            <a:br/>
            <a:r>
              <a:t>Fine-tuning teaches the model that urgency + verification + deadline = phishing,</a:t>
            </a:r>
            <a:br/>
            <a:r>
              <a:t>while RAG can only retrieve similar-looking emails and may confuse a pharmacy</a:t>
            </a:r>
            <a:br/>
            <a:r>
              <a:t>notification with medication spam.</a:t>
            </a:r>
            <a:br/>
            <a:br/>
            <a:r>
              <a:t>Result: 95% accuracy (fine-tuned) vs 90% (RAG) vs 85% (base)</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13/55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What the Training Data Looks Like</a:t>
            </a:r>
          </a:p>
        </p:txBody>
      </p:sp>
      <p:sp>
        <p:nvSpPr>
          <p:cNvPr id="3" name="TextBox 2"/>
          <p:cNvSpPr txBox="1"/>
          <p:nvPr/>
        </p:nvSpPr>
        <p:spPr>
          <a:xfrm>
            <a:off x="457200" y="1188720"/>
            <a:ext cx="5486400" cy="365760"/>
          </a:xfrm>
          <a:prstGeom prst="rect">
            <a:avLst/>
          </a:prstGeom>
          <a:noFill/>
        </p:spPr>
        <p:txBody>
          <a:bodyPr wrap="square">
            <a:spAutoFit/>
          </a:bodyPr>
          <a:lstStyle/>
          <a:p>
            <a:pPr algn="l">
              <a:defRPr sz="1600" b="1">
                <a:solidFill>
                  <a:srgbClr val="1C2A3A"/>
                </a:solidFill>
                <a:latin typeface="Calibri"/>
              </a:defRPr>
            </a:pPr>
            <a:r>
              <a:t>FinQA Training Example (Numerical Reasoning)</a:t>
            </a:r>
          </a:p>
        </p:txBody>
      </p:sp>
      <p:sp>
        <p:nvSpPr>
          <p:cNvPr id="4" name="Rectangle 3"/>
          <p:cNvSpPr/>
          <p:nvPr/>
        </p:nvSpPr>
        <p:spPr>
          <a:xfrm>
            <a:off x="457200" y="1645920"/>
            <a:ext cx="5029200" cy="228600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Input (table + question):</a:t>
            </a:r>
          </a:p>
          <a:p>
            <a:pPr>
              <a:defRPr sz="1200">
                <a:solidFill>
                  <a:srgbClr val="1C2A3A"/>
                </a:solidFill>
                <a:latin typeface="Calibri"/>
              </a:defRPr>
            </a:pPr>
            <a:r>
              <a:t>Table:</a:t>
            </a:r>
            <a:br/>
            <a:r>
              <a:t>| Segment  | 2019   | 2018   |</a:t>
            </a:r>
            <a:br/>
            <a:r>
              <a:t>| Products | $4,231 | $3,891 |</a:t>
            </a:r>
            <a:br/>
            <a:r>
              <a:t>| Services | $2,107 | $1,988 |</a:t>
            </a:r>
            <a:br/>
            <a:br/>
            <a:r>
              <a:t>Q: "What was the total revenue</a:t>
            </a:r>
            <a:br/>
            <a:r>
              <a:t>    growth rate from 2018 to 2019?"</a:t>
            </a:r>
          </a:p>
        </p:txBody>
      </p:sp>
      <p:sp>
        <p:nvSpPr>
          <p:cNvPr id="5" name="Rectangle 4"/>
          <p:cNvSpPr/>
          <p:nvPr/>
        </p:nvSpPr>
        <p:spPr>
          <a:xfrm>
            <a:off x="5943600" y="1645920"/>
            <a:ext cx="5669280" cy="22860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Training label (reasoning + answer):</a:t>
            </a:r>
          </a:p>
          <a:p>
            <a:pPr>
              <a:defRPr sz="1200">
                <a:solidFill>
                  <a:srgbClr val="1C2A3A"/>
                </a:solidFill>
                <a:latin typeface="Calibri"/>
              </a:defRPr>
            </a:pPr>
            <a:r>
              <a:t>add(3891, 1988) -&gt; 5879  [2018 total]</a:t>
            </a:r>
            <a:br/>
            <a:r>
              <a:t>add(4231, 2107) -&gt; 6338  [2019 total]</a:t>
            </a:r>
            <a:br/>
            <a:r>
              <a:t>subtract(6338, 5879) -&gt; 459</a:t>
            </a:r>
            <a:br/>
            <a:r>
              <a:t>divide(459, 5879) -&gt; 0.0781</a:t>
            </a:r>
            <a:br/>
            <a:r>
              <a:t>Answer: 7.81%</a:t>
            </a:r>
            <a:br/>
            <a:br/>
            <a:r>
              <a:t>Model learns the STEPS, not just the number.</a:t>
            </a:r>
          </a:p>
        </p:txBody>
      </p:sp>
      <p:sp>
        <p:nvSpPr>
          <p:cNvPr id="6" name="TextBox 5"/>
          <p:cNvSpPr txBox="1"/>
          <p:nvPr/>
        </p:nvSpPr>
        <p:spPr>
          <a:xfrm>
            <a:off x="457200" y="4114800"/>
            <a:ext cx="5486400" cy="365760"/>
          </a:xfrm>
          <a:prstGeom prst="rect">
            <a:avLst/>
          </a:prstGeom>
          <a:noFill/>
        </p:spPr>
        <p:txBody>
          <a:bodyPr wrap="square">
            <a:spAutoFit/>
          </a:bodyPr>
          <a:lstStyle/>
          <a:p>
            <a:pPr algn="l">
              <a:defRPr sz="1600" b="1">
                <a:solidFill>
                  <a:srgbClr val="1C2A3A"/>
                </a:solidFill>
                <a:latin typeface="Calibri"/>
              </a:defRPr>
            </a:pPr>
            <a:r>
              <a:t>Financial PhraseBank Examples (Sentiment)</a:t>
            </a:r>
          </a:p>
        </p:txBody>
      </p:sp>
      <p:graphicFrame>
        <p:nvGraphicFramePr>
          <p:cNvPr id="7" name="Table 6"/>
          <p:cNvGraphicFramePr>
            <a:graphicFrameLocks noGrp="1"/>
          </p:cNvGraphicFramePr>
          <p:nvPr/>
        </p:nvGraphicFramePr>
        <p:xfrm>
          <a:off x="457200" y="4572000"/>
          <a:ext cx="11247120" cy="1645920"/>
        </p:xfrm>
        <a:graphic>
          <a:graphicData uri="http://schemas.openxmlformats.org/drawingml/2006/table">
            <a:tbl>
              <a:tblPr firstRow="1" bandRow="1">
                <a:tableStyleId>{5C22544A-7EE6-4342-B048-85BDC9FD1C3A}</a:tableStyleId>
              </a:tblPr>
              <a:tblGrid>
                <a:gridCol w="3749040"/>
                <a:gridCol w="3749040"/>
                <a:gridCol w="3749040"/>
              </a:tblGrid>
              <a:tr h="329184">
                <a:tc>
                  <a:txBody>
                    <a:bodyPr/>
                    <a:lstStyle/>
                    <a:p>
                      <a:pPr algn="ctr">
                        <a:defRPr sz="1200" b="1">
                          <a:solidFill>
                            <a:srgbClr val="FFFFFF"/>
                          </a:solidFill>
                          <a:latin typeface="Calibri"/>
                        </a:defRPr>
                      </a:pPr>
                      <a:r>
                        <a:t>Sentence</a:t>
                      </a:r>
                    </a:p>
                  </a:txBody>
                  <a:tcPr>
                    <a:solidFill>
                      <a:srgbClr val="2E86C1"/>
                    </a:solidFill>
                  </a:tcPr>
                </a:tc>
                <a:tc>
                  <a:txBody>
                    <a:bodyPr/>
                    <a:lstStyle/>
                    <a:p>
                      <a:pPr algn="ctr">
                        <a:defRPr sz="1200" b="1">
                          <a:solidFill>
                            <a:srgbClr val="FFFFFF"/>
                          </a:solidFill>
                          <a:latin typeface="Calibri"/>
                        </a:defRPr>
                      </a:pPr>
                      <a:r>
                        <a:t>Label</a:t>
                      </a:r>
                    </a:p>
                  </a:txBody>
                  <a:tcPr>
                    <a:solidFill>
                      <a:srgbClr val="2E86C1"/>
                    </a:solidFill>
                  </a:tcPr>
                </a:tc>
                <a:tc>
                  <a:txBody>
                    <a:bodyPr/>
                    <a:lstStyle/>
                    <a:p>
                      <a:pPr algn="ctr">
                        <a:defRPr sz="1200" b="1">
                          <a:solidFill>
                            <a:srgbClr val="FFFFFF"/>
                          </a:solidFill>
                          <a:latin typeface="Calibri"/>
                        </a:defRPr>
                      </a:pPr>
                      <a:r>
                        <a:t>What FinBERT Learned</a:t>
                      </a:r>
                    </a:p>
                  </a:txBody>
                  <a:tcPr>
                    <a:solidFill>
                      <a:srgbClr val="2E86C1"/>
                    </a:solidFill>
                  </a:tcPr>
                </a:tc>
              </a:tr>
              <a:tr h="329184">
                <a:tc>
                  <a:txBody>
                    <a:bodyPr/>
                    <a:lstStyle/>
                    <a:p>
                      <a:pPr>
                        <a:defRPr sz="1100">
                          <a:solidFill>
                            <a:srgbClr val="1C2A3A"/>
                          </a:solidFill>
                          <a:latin typeface="Calibri"/>
                        </a:defRPr>
                      </a:pPr>
                      <a:r>
                        <a:t>Operating profit rose to EUR 13.1M from EUR 8.7M</a:t>
                      </a:r>
                    </a:p>
                  </a:txBody>
                  <a:tcPr>
                    <a:solidFill>
                      <a:srgbClr val="E0E3E8"/>
                    </a:solidFill>
                  </a:tcPr>
                </a:tc>
                <a:tc>
                  <a:txBody>
                    <a:bodyPr/>
                    <a:lstStyle/>
                    <a:p>
                      <a:pPr>
                        <a:defRPr sz="1100">
                          <a:solidFill>
                            <a:srgbClr val="1C2A3A"/>
                          </a:solidFill>
                          <a:latin typeface="Calibri"/>
                        </a:defRPr>
                      </a:pPr>
                      <a:r>
                        <a:t>POSITIVE</a:t>
                      </a:r>
                    </a:p>
                  </a:txBody>
                  <a:tcPr>
                    <a:solidFill>
                      <a:srgbClr val="E0E3E8"/>
                    </a:solidFill>
                  </a:tcPr>
                </a:tc>
                <a:tc>
                  <a:txBody>
                    <a:bodyPr/>
                    <a:lstStyle/>
                    <a:p>
                      <a:pPr>
                        <a:defRPr sz="1100">
                          <a:solidFill>
                            <a:srgbClr val="1C2A3A"/>
                          </a:solidFill>
                          <a:latin typeface="Calibri"/>
                        </a:defRPr>
                      </a:pPr>
                      <a:r>
                        <a:t>'Rose' + growth numbers = positive</a:t>
                      </a:r>
                    </a:p>
                  </a:txBody>
                  <a:tcPr>
                    <a:solidFill>
                      <a:srgbClr val="E0E3E8"/>
                    </a:solidFill>
                  </a:tcPr>
                </a:tc>
              </a:tr>
              <a:tr h="329184">
                <a:tc>
                  <a:txBody>
                    <a:bodyPr/>
                    <a:lstStyle/>
                    <a:p>
                      <a:pPr>
                        <a:defRPr sz="1100">
                          <a:solidFill>
                            <a:srgbClr val="1C2A3A"/>
                          </a:solidFill>
                          <a:latin typeface="Calibri"/>
                        </a:defRPr>
                      </a:pPr>
                      <a:r>
                        <a:t>Management expects headwinds to persist</a:t>
                      </a:r>
                    </a:p>
                  </a:txBody>
                  <a:tcPr/>
                </a:tc>
                <a:tc>
                  <a:txBody>
                    <a:bodyPr/>
                    <a:lstStyle/>
                    <a:p>
                      <a:pPr>
                        <a:defRPr sz="1100">
                          <a:solidFill>
                            <a:srgbClr val="1C2A3A"/>
                          </a:solidFill>
                          <a:latin typeface="Calibri"/>
                        </a:defRPr>
                      </a:pPr>
                      <a:r>
                        <a:t>NEGATIVE</a:t>
                      </a:r>
                    </a:p>
                  </a:txBody>
                  <a:tcPr/>
                </a:tc>
                <a:tc>
                  <a:txBody>
                    <a:bodyPr/>
                    <a:lstStyle/>
                    <a:p>
                      <a:pPr>
                        <a:defRPr sz="1100">
                          <a:solidFill>
                            <a:srgbClr val="1C2A3A"/>
                          </a:solidFill>
                          <a:latin typeface="Calibri"/>
                        </a:defRPr>
                      </a:pPr>
                      <a:r>
                        <a:t>'Headwinds' + 'persist' = negative (jargon)</a:t>
                      </a:r>
                    </a:p>
                  </a:txBody>
                  <a:tcPr/>
                </a:tc>
              </a:tr>
              <a:tr h="329184">
                <a:tc>
                  <a:txBody>
                    <a:bodyPr/>
                    <a:lstStyle/>
                    <a:p>
                      <a:pPr>
                        <a:defRPr sz="1100">
                          <a:solidFill>
                            <a:srgbClr val="1C2A3A"/>
                          </a:solidFill>
                          <a:latin typeface="Calibri"/>
                        </a:defRPr>
                      </a:pPr>
                      <a:r>
                        <a:t>Maintained quarterly dividend at $0.50</a:t>
                      </a:r>
                    </a:p>
                  </a:txBody>
                  <a:tcPr>
                    <a:solidFill>
                      <a:srgbClr val="E0E3E8"/>
                    </a:solidFill>
                  </a:tcPr>
                </a:tc>
                <a:tc>
                  <a:txBody>
                    <a:bodyPr/>
                    <a:lstStyle/>
                    <a:p>
                      <a:pPr>
                        <a:defRPr sz="1100">
                          <a:solidFill>
                            <a:srgbClr val="1C2A3A"/>
                          </a:solidFill>
                          <a:latin typeface="Calibri"/>
                        </a:defRPr>
                      </a:pPr>
                      <a:r>
                        <a:t>NEUTRAL</a:t>
                      </a:r>
                    </a:p>
                  </a:txBody>
                  <a:tcPr>
                    <a:solidFill>
                      <a:srgbClr val="E0E3E8"/>
                    </a:solidFill>
                  </a:tcPr>
                </a:tc>
                <a:tc>
                  <a:txBody>
                    <a:bodyPr/>
                    <a:lstStyle/>
                    <a:p>
                      <a:pPr>
                        <a:defRPr sz="1100">
                          <a:solidFill>
                            <a:srgbClr val="1C2A3A"/>
                          </a:solidFill>
                          <a:latin typeface="Calibri"/>
                        </a:defRPr>
                      </a:pPr>
                      <a:r>
                        <a:t>'Maintained' = no change = neutral</a:t>
                      </a:r>
                    </a:p>
                  </a:txBody>
                  <a:tcPr>
                    <a:solidFill>
                      <a:srgbClr val="E0E3E8"/>
                    </a:solidFill>
                  </a:tcPr>
                </a:tc>
              </a:tr>
              <a:tr h="329184">
                <a:tc>
                  <a:txBody>
                    <a:bodyPr/>
                    <a:lstStyle/>
                    <a:p>
                      <a:pPr>
                        <a:defRPr sz="1100">
                          <a:solidFill>
                            <a:srgbClr val="1C2A3A"/>
                          </a:solidFill>
                          <a:latin typeface="Calibri"/>
                        </a:defRPr>
                      </a:pPr>
                      <a:r>
                        <a:t>Restructuring charges totaled $450M</a:t>
                      </a:r>
                    </a:p>
                  </a:txBody>
                  <a:tcPr/>
                </a:tc>
                <a:tc>
                  <a:txBody>
                    <a:bodyPr/>
                    <a:lstStyle/>
                    <a:p>
                      <a:pPr>
                        <a:defRPr sz="1100">
                          <a:solidFill>
                            <a:srgbClr val="1C2A3A"/>
                          </a:solidFill>
                          <a:latin typeface="Calibri"/>
                        </a:defRPr>
                      </a:pPr>
                      <a:r>
                        <a:t>NEGATIVE</a:t>
                      </a:r>
                    </a:p>
                  </a:txBody>
                  <a:tcPr/>
                </a:tc>
                <a:tc>
                  <a:txBody>
                    <a:bodyPr/>
                    <a:lstStyle/>
                    <a:p>
                      <a:pPr>
                        <a:defRPr sz="1100">
                          <a:solidFill>
                            <a:srgbClr val="1C2A3A"/>
                          </a:solidFill>
                          <a:latin typeface="Calibri"/>
                        </a:defRPr>
                      </a:pPr>
                      <a:r>
                        <a:t>'Restructuring charges' + 'write-downs' = negative</a:t>
                      </a:r>
                    </a:p>
                  </a:txBody>
                  <a:tcPr/>
                </a:tc>
              </a:tr>
            </a:tbl>
          </a:graphicData>
        </a:graphic>
      </p:graphicFrame>
      <p:sp>
        <p:nvSpPr>
          <p:cNvPr id="8" name="TextBox 7"/>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14/55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Head-to-Head: RAG vs Fine-Tuning vs Hybrid</a:t>
            </a:r>
          </a:p>
        </p:txBody>
      </p:sp>
      <p:graphicFrame>
        <p:nvGraphicFramePr>
          <p:cNvPr id="3" name="Table 2"/>
          <p:cNvGraphicFramePr>
            <a:graphicFrameLocks noGrp="1"/>
          </p:cNvGraphicFramePr>
          <p:nvPr/>
        </p:nvGraphicFramePr>
        <p:xfrm>
          <a:off x="457200" y="1371600"/>
          <a:ext cx="11247120" cy="4114800"/>
        </p:xfrm>
        <a:graphic>
          <a:graphicData uri="http://schemas.openxmlformats.org/drawingml/2006/table">
            <a:tbl>
              <a:tblPr firstRow="1" bandRow="1">
                <a:tableStyleId>{5C22544A-7EE6-4342-B048-85BDC9FD1C3A}</a:tableStyleId>
              </a:tblPr>
              <a:tblGrid>
                <a:gridCol w="2811780"/>
                <a:gridCol w="2811780"/>
                <a:gridCol w="2811780"/>
                <a:gridCol w="2811780"/>
              </a:tblGrid>
              <a:tr h="457200">
                <a:tc>
                  <a:txBody>
                    <a:bodyPr/>
                    <a:lstStyle/>
                    <a:p>
                      <a:pPr algn="ctr">
                        <a:defRPr sz="1200" b="1">
                          <a:solidFill>
                            <a:srgbClr val="FFFFFF"/>
                          </a:solidFill>
                          <a:latin typeface="Calibri"/>
                        </a:defRPr>
                      </a:pPr>
                      <a:r>
                        <a:t>Dimension</a:t>
                      </a:r>
                    </a:p>
                  </a:txBody>
                  <a:tcPr>
                    <a:solidFill>
                      <a:srgbClr val="2E86C1"/>
                    </a:solidFill>
                  </a:tcPr>
                </a:tc>
                <a:tc>
                  <a:txBody>
                    <a:bodyPr/>
                    <a:lstStyle/>
                    <a:p>
                      <a:pPr algn="ctr">
                        <a:defRPr sz="1200" b="1">
                          <a:solidFill>
                            <a:srgbClr val="FFFFFF"/>
                          </a:solidFill>
                          <a:latin typeface="Calibri"/>
                        </a:defRPr>
                      </a:pPr>
                      <a:r>
                        <a:t>RAG</a:t>
                      </a:r>
                    </a:p>
                  </a:txBody>
                  <a:tcPr>
                    <a:solidFill>
                      <a:srgbClr val="2E86C1"/>
                    </a:solidFill>
                  </a:tcPr>
                </a:tc>
                <a:tc>
                  <a:txBody>
                    <a:bodyPr/>
                    <a:lstStyle/>
                    <a:p>
                      <a:pPr algn="ctr">
                        <a:defRPr sz="1200" b="1">
                          <a:solidFill>
                            <a:srgbClr val="FFFFFF"/>
                          </a:solidFill>
                          <a:latin typeface="Calibri"/>
                        </a:defRPr>
                      </a:pPr>
                      <a:r>
                        <a:t>Fine-Tuning</a:t>
                      </a:r>
                    </a:p>
                  </a:txBody>
                  <a:tcPr>
                    <a:solidFill>
                      <a:srgbClr val="2E86C1"/>
                    </a:solidFill>
                  </a:tcPr>
                </a:tc>
                <a:tc>
                  <a:txBody>
                    <a:bodyPr/>
                    <a:lstStyle/>
                    <a:p>
                      <a:pPr algn="ctr">
                        <a:defRPr sz="1200" b="1">
                          <a:solidFill>
                            <a:srgbClr val="FFFFFF"/>
                          </a:solidFill>
                          <a:latin typeface="Calibri"/>
                        </a:defRPr>
                      </a:pPr>
                      <a:r>
                        <a:t>Hybrid</a:t>
                      </a:r>
                    </a:p>
                  </a:txBody>
                  <a:tcPr>
                    <a:solidFill>
                      <a:srgbClr val="2E86C1"/>
                    </a:solidFill>
                  </a:tcPr>
                </a:tc>
              </a:tr>
              <a:tr h="457200">
                <a:tc>
                  <a:txBody>
                    <a:bodyPr/>
                    <a:lstStyle/>
                    <a:p>
                      <a:pPr>
                        <a:defRPr sz="1100">
                          <a:solidFill>
                            <a:srgbClr val="1C2A3A"/>
                          </a:solidFill>
                          <a:latin typeface="Calibri"/>
                        </a:defRPr>
                      </a:pPr>
                      <a:r>
                        <a:t>Knowledge Type</a:t>
                      </a:r>
                    </a:p>
                  </a:txBody>
                  <a:tcPr>
                    <a:solidFill>
                      <a:srgbClr val="E0E3E8"/>
                    </a:solidFill>
                  </a:tcPr>
                </a:tc>
                <a:tc>
                  <a:txBody>
                    <a:bodyPr/>
                    <a:lstStyle/>
                    <a:p>
                      <a:pPr>
                        <a:defRPr sz="1100">
                          <a:solidFill>
                            <a:srgbClr val="1C2A3A"/>
                          </a:solidFill>
                          <a:latin typeface="Calibri"/>
                        </a:defRPr>
                      </a:pPr>
                      <a:r>
                        <a:t>External (retrieved)</a:t>
                      </a:r>
                    </a:p>
                  </a:txBody>
                  <a:tcPr>
                    <a:solidFill>
                      <a:srgbClr val="E0E3E8"/>
                    </a:solidFill>
                  </a:tcPr>
                </a:tc>
                <a:tc>
                  <a:txBody>
                    <a:bodyPr/>
                    <a:lstStyle/>
                    <a:p>
                      <a:pPr>
                        <a:defRPr sz="1100">
                          <a:solidFill>
                            <a:srgbClr val="1C2A3A"/>
                          </a:solidFill>
                          <a:latin typeface="Calibri"/>
                        </a:defRPr>
                      </a:pPr>
                      <a:r>
                        <a:t>Internal (learned)</a:t>
                      </a:r>
                    </a:p>
                  </a:txBody>
                  <a:tcPr>
                    <a:solidFill>
                      <a:srgbClr val="E0E3E8"/>
                    </a:solidFill>
                  </a:tcPr>
                </a:tc>
                <a:tc>
                  <a:txBody>
                    <a:bodyPr/>
                    <a:lstStyle/>
                    <a:p>
                      <a:pPr>
                        <a:defRPr sz="1100">
                          <a:solidFill>
                            <a:srgbClr val="1C2A3A"/>
                          </a:solidFill>
                          <a:latin typeface="Calibri"/>
                        </a:defRPr>
                      </a:pPr>
                      <a:r>
                        <a:t>Both</a:t>
                      </a:r>
                    </a:p>
                  </a:txBody>
                  <a:tcPr>
                    <a:solidFill>
                      <a:srgbClr val="E0E3E8"/>
                    </a:solidFill>
                  </a:tcPr>
                </a:tc>
              </a:tr>
              <a:tr h="457200">
                <a:tc>
                  <a:txBody>
                    <a:bodyPr/>
                    <a:lstStyle/>
                    <a:p>
                      <a:pPr>
                        <a:defRPr sz="1100">
                          <a:solidFill>
                            <a:srgbClr val="1C2A3A"/>
                          </a:solidFill>
                          <a:latin typeface="Calibri"/>
                        </a:defRPr>
                      </a:pPr>
                      <a:r>
                        <a:t>Teaches New Skills</a:t>
                      </a:r>
                    </a:p>
                  </a:txBody>
                  <a:tcPr/>
                </a:tc>
                <a:tc>
                  <a:txBody>
                    <a:bodyPr/>
                    <a:lstStyle/>
                    <a:p>
                      <a:pPr>
                        <a:defRPr sz="1100">
                          <a:solidFill>
                            <a:srgbClr val="1C2A3A"/>
                          </a:solidFill>
                          <a:latin typeface="Calibri"/>
                        </a:defRPr>
                      </a:pPr>
                      <a:r>
                        <a:t>No</a:t>
                      </a:r>
                    </a:p>
                  </a:txBody>
                  <a:tcPr/>
                </a:tc>
                <a:tc>
                  <a:txBody>
                    <a:bodyPr/>
                    <a:lstStyle/>
                    <a:p>
                      <a:pPr>
                        <a:defRPr sz="1100">
                          <a:solidFill>
                            <a:srgbClr val="1C2A3A"/>
                          </a:solidFill>
                          <a:latin typeface="Calibri"/>
                        </a:defRPr>
                      </a:pPr>
                      <a:r>
                        <a:t>Yes</a:t>
                      </a:r>
                    </a:p>
                  </a:txBody>
                  <a:tcPr/>
                </a:tc>
                <a:tc>
                  <a:txBody>
                    <a:bodyPr/>
                    <a:lstStyle/>
                    <a:p>
                      <a:pPr>
                        <a:defRPr sz="1100">
                          <a:solidFill>
                            <a:srgbClr val="1C2A3A"/>
                          </a:solidFill>
                          <a:latin typeface="Calibri"/>
                        </a:defRPr>
                      </a:pPr>
                      <a:r>
                        <a:t>Yes</a:t>
                      </a:r>
                    </a:p>
                  </a:txBody>
                  <a:tcPr/>
                </a:tc>
              </a:tr>
              <a:tr h="457200">
                <a:tc>
                  <a:txBody>
                    <a:bodyPr/>
                    <a:lstStyle/>
                    <a:p>
                      <a:pPr>
                        <a:defRPr sz="1100">
                          <a:solidFill>
                            <a:srgbClr val="1C2A3A"/>
                          </a:solidFill>
                          <a:latin typeface="Calibri"/>
                        </a:defRPr>
                      </a:pPr>
                      <a:r>
                        <a:t>Setup Cost</a:t>
                      </a:r>
                    </a:p>
                  </a:txBody>
                  <a:tcPr>
                    <a:solidFill>
                      <a:srgbClr val="E0E3E8"/>
                    </a:solidFill>
                  </a:tcPr>
                </a:tc>
                <a:tc>
                  <a:txBody>
                    <a:bodyPr/>
                    <a:lstStyle/>
                    <a:p>
                      <a:pPr>
                        <a:defRPr sz="1100">
                          <a:solidFill>
                            <a:srgbClr val="1C2A3A"/>
                          </a:solidFill>
                          <a:latin typeface="Calibri"/>
                        </a:defRPr>
                      </a:pPr>
                      <a:r>
                        <a:t>Low ($)</a:t>
                      </a:r>
                    </a:p>
                  </a:txBody>
                  <a:tcPr>
                    <a:solidFill>
                      <a:srgbClr val="E0E3E8"/>
                    </a:solidFill>
                  </a:tcPr>
                </a:tc>
                <a:tc>
                  <a:txBody>
                    <a:bodyPr/>
                    <a:lstStyle/>
                    <a:p>
                      <a:pPr>
                        <a:defRPr sz="1100">
                          <a:solidFill>
                            <a:srgbClr val="1C2A3A"/>
                          </a:solidFill>
                          <a:latin typeface="Calibri"/>
                        </a:defRPr>
                      </a:pPr>
                      <a:r>
                        <a:t>Higher ($$$)</a:t>
                      </a:r>
                    </a:p>
                  </a:txBody>
                  <a:tcPr>
                    <a:solidFill>
                      <a:srgbClr val="E0E3E8"/>
                    </a:solidFill>
                  </a:tcPr>
                </a:tc>
                <a:tc>
                  <a:txBody>
                    <a:bodyPr/>
                    <a:lstStyle/>
                    <a:p>
                      <a:pPr>
                        <a:defRPr sz="1100">
                          <a:solidFill>
                            <a:srgbClr val="1C2A3A"/>
                          </a:solidFill>
                          <a:latin typeface="Calibri"/>
                        </a:defRPr>
                      </a:pPr>
                      <a:r>
                        <a:t>Highest</a:t>
                      </a:r>
                    </a:p>
                  </a:txBody>
                  <a:tcPr>
                    <a:solidFill>
                      <a:srgbClr val="E0E3E8"/>
                    </a:solidFill>
                  </a:tcPr>
                </a:tc>
              </a:tr>
              <a:tr h="457200">
                <a:tc>
                  <a:txBody>
                    <a:bodyPr/>
                    <a:lstStyle/>
                    <a:p>
                      <a:pPr>
                        <a:defRPr sz="1100">
                          <a:solidFill>
                            <a:srgbClr val="1C2A3A"/>
                          </a:solidFill>
                          <a:latin typeface="Calibri"/>
                        </a:defRPr>
                      </a:pPr>
                      <a:r>
                        <a:t>Inference Latency</a:t>
                      </a:r>
                    </a:p>
                  </a:txBody>
                  <a:tcPr/>
                </a:tc>
                <a:tc>
                  <a:txBody>
                    <a:bodyPr/>
                    <a:lstStyle/>
                    <a:p>
                      <a:pPr>
                        <a:defRPr sz="1100">
                          <a:solidFill>
                            <a:srgbClr val="1C2A3A"/>
                          </a:solidFill>
                          <a:latin typeface="Calibri"/>
                        </a:defRPr>
                      </a:pPr>
                      <a:r>
                        <a:t>Higher (~800ms)</a:t>
                      </a:r>
                    </a:p>
                  </a:txBody>
                  <a:tcPr/>
                </a:tc>
                <a:tc>
                  <a:txBody>
                    <a:bodyPr/>
                    <a:lstStyle/>
                    <a:p>
                      <a:pPr>
                        <a:defRPr sz="1100">
                          <a:solidFill>
                            <a:srgbClr val="1C2A3A"/>
                          </a:solidFill>
                          <a:latin typeface="Calibri"/>
                        </a:defRPr>
                      </a:pPr>
                      <a:r>
                        <a:t>Lower (~200ms)</a:t>
                      </a:r>
                    </a:p>
                  </a:txBody>
                  <a:tcPr/>
                </a:tc>
                <a:tc>
                  <a:txBody>
                    <a:bodyPr/>
                    <a:lstStyle/>
                    <a:p>
                      <a:pPr>
                        <a:defRPr sz="1100">
                          <a:solidFill>
                            <a:srgbClr val="1C2A3A"/>
                          </a:solidFill>
                          <a:latin typeface="Calibri"/>
                        </a:defRPr>
                      </a:pPr>
                      <a:r>
                        <a:t>Medium (~450ms)</a:t>
                      </a:r>
                    </a:p>
                  </a:txBody>
                  <a:tcPr/>
                </a:tc>
              </a:tr>
              <a:tr h="457200">
                <a:tc>
                  <a:txBody>
                    <a:bodyPr/>
                    <a:lstStyle/>
                    <a:p>
                      <a:pPr>
                        <a:defRPr sz="1100">
                          <a:solidFill>
                            <a:srgbClr val="1C2A3A"/>
                          </a:solidFill>
                          <a:latin typeface="Calibri"/>
                        </a:defRPr>
                      </a:pPr>
                      <a:r>
                        <a:t>Accuracy (Domain)</a:t>
                      </a:r>
                    </a:p>
                  </a:txBody>
                  <a:tcPr>
                    <a:solidFill>
                      <a:srgbClr val="E0E3E8"/>
                    </a:solidFill>
                  </a:tcPr>
                </a:tc>
                <a:tc>
                  <a:txBody>
                    <a:bodyPr/>
                    <a:lstStyle/>
                    <a:p>
                      <a:pPr>
                        <a:defRPr sz="1100">
                          <a:solidFill>
                            <a:srgbClr val="1C2A3A"/>
                          </a:solidFill>
                          <a:latin typeface="Calibri"/>
                        </a:defRPr>
                      </a:pPr>
                      <a:r>
                        <a:t>Lower (15-40%)</a:t>
                      </a:r>
                    </a:p>
                  </a:txBody>
                  <a:tcPr>
                    <a:solidFill>
                      <a:srgbClr val="E0E3E8"/>
                    </a:solidFill>
                  </a:tcPr>
                </a:tc>
                <a:tc>
                  <a:txBody>
                    <a:bodyPr/>
                    <a:lstStyle/>
                    <a:p>
                      <a:pPr>
                        <a:defRPr sz="1100">
                          <a:solidFill>
                            <a:srgbClr val="1C2A3A"/>
                          </a:solidFill>
                          <a:latin typeface="Calibri"/>
                        </a:defRPr>
                      </a:pPr>
                      <a:r>
                        <a:t>Higher (60-95%)</a:t>
                      </a:r>
                    </a:p>
                  </a:txBody>
                  <a:tcPr>
                    <a:solidFill>
                      <a:srgbClr val="E0E3E8"/>
                    </a:solidFill>
                  </a:tcPr>
                </a:tc>
                <a:tc>
                  <a:txBody>
                    <a:bodyPr/>
                    <a:lstStyle/>
                    <a:p>
                      <a:pPr>
                        <a:defRPr sz="1100">
                          <a:solidFill>
                            <a:srgbClr val="1C2A3A"/>
                          </a:solidFill>
                          <a:latin typeface="Calibri"/>
                        </a:defRPr>
                      </a:pPr>
                      <a:r>
                        <a:t>Highest (65%+)</a:t>
                      </a:r>
                    </a:p>
                  </a:txBody>
                  <a:tcPr>
                    <a:solidFill>
                      <a:srgbClr val="E0E3E8"/>
                    </a:solidFill>
                  </a:tcPr>
                </a:tc>
              </a:tr>
              <a:tr h="457200">
                <a:tc>
                  <a:txBody>
                    <a:bodyPr/>
                    <a:lstStyle/>
                    <a:p>
                      <a:pPr>
                        <a:defRPr sz="1100">
                          <a:solidFill>
                            <a:srgbClr val="1C2A3A"/>
                          </a:solidFill>
                          <a:latin typeface="Calibri"/>
                        </a:defRPr>
                      </a:pPr>
                      <a:r>
                        <a:t>Output Consistency</a:t>
                      </a:r>
                    </a:p>
                  </a:txBody>
                  <a:tcPr/>
                </a:tc>
                <a:tc>
                  <a:txBody>
                    <a:bodyPr/>
                    <a:lstStyle/>
                    <a:p>
                      <a:pPr>
                        <a:defRPr sz="1100">
                          <a:solidFill>
                            <a:srgbClr val="1C2A3A"/>
                          </a:solidFill>
                          <a:latin typeface="Calibri"/>
                        </a:defRPr>
                      </a:pPr>
                      <a:r>
                        <a:t>Variable (65%)</a:t>
                      </a:r>
                    </a:p>
                  </a:txBody>
                  <a:tcPr/>
                </a:tc>
                <a:tc>
                  <a:txBody>
                    <a:bodyPr/>
                    <a:lstStyle/>
                    <a:p>
                      <a:pPr>
                        <a:defRPr sz="1100">
                          <a:solidFill>
                            <a:srgbClr val="1C2A3A"/>
                          </a:solidFill>
                          <a:latin typeface="Calibri"/>
                        </a:defRPr>
                      </a:pPr>
                      <a:r>
                        <a:t>High (98%)</a:t>
                      </a:r>
                    </a:p>
                  </a:txBody>
                  <a:tcPr/>
                </a:tc>
                <a:tc>
                  <a:txBody>
                    <a:bodyPr/>
                    <a:lstStyle/>
                    <a:p>
                      <a:pPr>
                        <a:defRPr sz="1100">
                          <a:solidFill>
                            <a:srgbClr val="1C2A3A"/>
                          </a:solidFill>
                          <a:latin typeface="Calibri"/>
                        </a:defRPr>
                      </a:pPr>
                      <a:r>
                        <a:t>High (95%)</a:t>
                      </a:r>
                    </a:p>
                  </a:txBody>
                  <a:tcPr/>
                </a:tc>
              </a:tr>
              <a:tr h="457200">
                <a:tc>
                  <a:txBody>
                    <a:bodyPr/>
                    <a:lstStyle/>
                    <a:p>
                      <a:pPr>
                        <a:defRPr sz="1100">
                          <a:solidFill>
                            <a:srgbClr val="1C2A3A"/>
                          </a:solidFill>
                          <a:latin typeface="Calibri"/>
                        </a:defRPr>
                      </a:pPr>
                      <a:r>
                        <a:t>Source Citations</a:t>
                      </a:r>
                    </a:p>
                  </a:txBody>
                  <a:tcPr>
                    <a:solidFill>
                      <a:srgbClr val="E0E3E8"/>
                    </a:solidFill>
                  </a:tcPr>
                </a:tc>
                <a:tc>
                  <a:txBody>
                    <a:bodyPr/>
                    <a:lstStyle/>
                    <a:p>
                      <a:pPr>
                        <a:defRPr sz="1100">
                          <a:solidFill>
                            <a:srgbClr val="1C2A3A"/>
                          </a:solidFill>
                          <a:latin typeface="Calibri"/>
                        </a:defRPr>
                      </a:pPr>
                      <a:r>
                        <a:t>Yes</a:t>
                      </a:r>
                    </a:p>
                  </a:txBody>
                  <a:tcPr>
                    <a:solidFill>
                      <a:srgbClr val="E0E3E8"/>
                    </a:solidFill>
                  </a:tcPr>
                </a:tc>
                <a:tc>
                  <a:txBody>
                    <a:bodyPr/>
                    <a:lstStyle/>
                    <a:p>
                      <a:pPr>
                        <a:defRPr sz="1100">
                          <a:solidFill>
                            <a:srgbClr val="1C2A3A"/>
                          </a:solidFill>
                          <a:latin typeface="Calibri"/>
                        </a:defRPr>
                      </a:pPr>
                      <a:r>
                        <a:t>No</a:t>
                      </a:r>
                    </a:p>
                  </a:txBody>
                  <a:tcPr>
                    <a:solidFill>
                      <a:srgbClr val="E0E3E8"/>
                    </a:solidFill>
                  </a:tcPr>
                </a:tc>
                <a:tc>
                  <a:txBody>
                    <a:bodyPr/>
                    <a:lstStyle/>
                    <a:p>
                      <a:pPr>
                        <a:defRPr sz="1100">
                          <a:solidFill>
                            <a:srgbClr val="1C2A3A"/>
                          </a:solidFill>
                          <a:latin typeface="Calibri"/>
                        </a:defRPr>
                      </a:pPr>
                      <a:r>
                        <a:t>Yes</a:t>
                      </a:r>
                    </a:p>
                  </a:txBody>
                  <a:tcPr>
                    <a:solidFill>
                      <a:srgbClr val="E0E3E8"/>
                    </a:solidFill>
                  </a:tcPr>
                </a:tc>
              </a:tr>
              <a:tr h="457200">
                <a:tc>
                  <a:txBody>
                    <a:bodyPr/>
                    <a:lstStyle/>
                    <a:p>
                      <a:pPr>
                        <a:defRPr sz="1100">
                          <a:solidFill>
                            <a:srgbClr val="1C2A3A"/>
                          </a:solidFill>
                          <a:latin typeface="Calibri"/>
                        </a:defRPr>
                      </a:pPr>
                      <a:r>
                        <a:t>Handles Fresh Data</a:t>
                      </a:r>
                    </a:p>
                  </a:txBody>
                  <a:tcPr/>
                </a:tc>
                <a:tc>
                  <a:txBody>
                    <a:bodyPr/>
                    <a:lstStyle/>
                    <a:p>
                      <a:pPr>
                        <a:defRPr sz="1100">
                          <a:solidFill>
                            <a:srgbClr val="1C2A3A"/>
                          </a:solidFill>
                          <a:latin typeface="Calibri"/>
                        </a:defRPr>
                      </a:pPr>
                      <a:r>
                        <a:t>Yes</a:t>
                      </a:r>
                    </a:p>
                  </a:txBody>
                  <a:tcPr/>
                </a:tc>
                <a:tc>
                  <a:txBody>
                    <a:bodyPr/>
                    <a:lstStyle/>
                    <a:p>
                      <a:pPr>
                        <a:defRPr sz="1100">
                          <a:solidFill>
                            <a:srgbClr val="1C2A3A"/>
                          </a:solidFill>
                          <a:latin typeface="Calibri"/>
                        </a:defRPr>
                      </a:pPr>
                      <a:r>
                        <a:t>No (static)</a:t>
                      </a:r>
                    </a:p>
                  </a:txBody>
                  <a:tcPr/>
                </a:tc>
                <a:tc>
                  <a:txBody>
                    <a:bodyPr/>
                    <a:lstStyle/>
                    <a:p>
                      <a:pPr>
                        <a:defRPr sz="1100">
                          <a:solidFill>
                            <a:srgbClr val="1C2A3A"/>
                          </a:solidFill>
                          <a:latin typeface="Calibri"/>
                        </a:defRPr>
                      </a:pPr>
                      <a:r>
                        <a:t>Yes</a:t>
                      </a:r>
                    </a:p>
                  </a:txBody>
                  <a:tcPr/>
                </a:tc>
              </a:tr>
            </a:tbl>
          </a:graphicData>
        </a:graphic>
      </p:graphicFrame>
      <p:sp>
        <p:nvSpPr>
          <p:cNvPr id="4" name="Rectangle 3"/>
          <p:cNvSpPr/>
          <p:nvPr/>
        </p:nvSpPr>
        <p:spPr>
          <a:xfrm>
            <a:off x="457200" y="5669280"/>
            <a:ext cx="11247120" cy="6400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Key insight:</a:t>
            </a:r>
          </a:p>
          <a:p>
            <a:pPr>
              <a:defRPr sz="1200">
                <a:solidFill>
                  <a:srgbClr val="1C2A3A"/>
                </a:solidFill>
                <a:latin typeface="Calibri"/>
              </a:defRPr>
            </a:pPr>
            <a:r>
              <a:t>RAG and Fine-Tuning are complementary, not competing. The best solution often combines both.</a:t>
            </a:r>
          </a:p>
        </p:txBody>
      </p:sp>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15/55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When RAG Falls Short: Real Examples</a:t>
            </a:r>
          </a:p>
        </p:txBody>
      </p:sp>
      <p:sp>
        <p:nvSpPr>
          <p:cNvPr id="3" name="TextBox 2"/>
          <p:cNvSpPr txBox="1"/>
          <p:nvPr/>
        </p:nvSpPr>
        <p:spPr>
          <a:xfrm>
            <a:off x="457200" y="1188720"/>
            <a:ext cx="10972800" cy="365760"/>
          </a:xfrm>
          <a:prstGeom prst="rect">
            <a:avLst/>
          </a:prstGeom>
          <a:noFill/>
        </p:spPr>
        <p:txBody>
          <a:bodyPr wrap="square">
            <a:spAutoFit/>
          </a:bodyPr>
          <a:lstStyle/>
          <a:p>
            <a:pPr algn="l">
              <a:defRPr sz="1800" b="1">
                <a:solidFill>
                  <a:srgbClr val="1C2A3A"/>
                </a:solidFill>
                <a:latin typeface="Calibri"/>
              </a:defRPr>
            </a:pPr>
            <a:r>
              <a:t>Example 1: Financial Calculation</a:t>
            </a:r>
          </a:p>
        </p:txBody>
      </p:sp>
      <p:sp>
        <p:nvSpPr>
          <p:cNvPr id="4" name="Rectangle 3"/>
          <p:cNvSpPr/>
          <p:nvPr/>
        </p:nvSpPr>
        <p:spPr>
          <a:xfrm>
            <a:off x="457200" y="1645920"/>
            <a:ext cx="5303520" cy="182880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Response:</a:t>
            </a:r>
          </a:p>
          <a:p>
            <a:pPr>
              <a:defRPr sz="1200">
                <a:solidFill>
                  <a:srgbClr val="1C2A3A"/>
                </a:solidFill>
                <a:latin typeface="Calibri"/>
              </a:defRPr>
            </a:pPr>
            <a:r>
              <a:t>"Retrieved: Revenue growth formula = (Current - Prior) / Prior..."</a:t>
            </a:r>
            <a:br/>
            <a:r>
              <a:t>"The revenue appears to have grown."</a:t>
            </a:r>
            <a:br/>
            <a:br/>
            <a:r>
              <a:t>Result: Vague, no actual calculation</a:t>
            </a:r>
          </a:p>
        </p:txBody>
      </p:sp>
      <p:sp>
        <p:nvSpPr>
          <p:cNvPr id="5" name="Rectangle 4"/>
          <p:cNvSpPr/>
          <p:nvPr/>
        </p:nvSpPr>
        <p:spPr>
          <a:xfrm>
            <a:off x="6217920" y="1645920"/>
            <a:ext cx="5303520" cy="18288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Fine-Tuned Response:</a:t>
            </a:r>
          </a:p>
          <a:p>
            <a:pPr>
              <a:defRPr sz="1200">
                <a:solidFill>
                  <a:srgbClr val="1C2A3A"/>
                </a:solidFill>
                <a:latin typeface="Calibri"/>
              </a:defRPr>
            </a:pPr>
            <a:r>
              <a:t>Step 1: 2022 total = $25,330M</a:t>
            </a:r>
            <a:br/>
            <a:r>
              <a:t>Step 2: 2023 total = $25,950M</a:t>
            </a:r>
            <a:br/>
            <a:r>
              <a:t>Step 3: Growth = (25,950-25,330)/25,330 = 2.45%</a:t>
            </a:r>
            <a:br/>
            <a:br/>
            <a:r>
              <a:t>Result: Precise answer with reasoning</a:t>
            </a:r>
          </a:p>
        </p:txBody>
      </p:sp>
      <p:sp>
        <p:nvSpPr>
          <p:cNvPr id="6" name="TextBox 5"/>
          <p:cNvSpPr txBox="1"/>
          <p:nvPr/>
        </p:nvSpPr>
        <p:spPr>
          <a:xfrm>
            <a:off x="457200" y="3840480"/>
            <a:ext cx="10972800" cy="365760"/>
          </a:xfrm>
          <a:prstGeom prst="rect">
            <a:avLst/>
          </a:prstGeom>
          <a:noFill/>
        </p:spPr>
        <p:txBody>
          <a:bodyPr wrap="square">
            <a:spAutoFit/>
          </a:bodyPr>
          <a:lstStyle/>
          <a:p>
            <a:pPr algn="l">
              <a:defRPr sz="1800" b="1">
                <a:solidFill>
                  <a:srgbClr val="1C2A3A"/>
                </a:solidFill>
                <a:latin typeface="Calibri"/>
              </a:defRPr>
            </a:pPr>
            <a:r>
              <a:t>Example 2: Sentiment Analysis</a:t>
            </a:r>
          </a:p>
        </p:txBody>
      </p:sp>
      <p:sp>
        <p:nvSpPr>
          <p:cNvPr id="7" name="Rectangle 6"/>
          <p:cNvSpPr/>
          <p:nvPr/>
        </p:nvSpPr>
        <p:spPr>
          <a:xfrm>
            <a:off x="457200" y="4297680"/>
            <a:ext cx="5303520" cy="137160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"Management expects headwinds to persist"</a:t>
            </a:r>
          </a:p>
          <a:p>
            <a:pPr>
              <a:defRPr sz="1200">
                <a:solidFill>
                  <a:srgbClr val="1C2A3A"/>
                </a:solidFill>
                <a:latin typeface="Calibri"/>
              </a:defRPr>
            </a:pPr>
            <a:r>
              <a:t>"Based on retrieved definitions... unclear/neutral"</a:t>
            </a:r>
            <a:br/>
            <a:r>
              <a:t>Missed the nuance of 'headwinds'</a:t>
            </a:r>
          </a:p>
        </p:txBody>
      </p:sp>
      <p:sp>
        <p:nvSpPr>
          <p:cNvPr id="8" name="Rectangle 7"/>
          <p:cNvSpPr/>
          <p:nvPr/>
        </p:nvSpPr>
        <p:spPr>
          <a:xfrm>
            <a:off x="6217920" y="4297680"/>
            <a:ext cx="5303520" cy="13716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FinBERT: "Management expects headwinds to persist"</a:t>
            </a:r>
          </a:p>
          <a:p>
            <a:pPr>
              <a:defRPr sz="1200">
                <a:solidFill>
                  <a:srgbClr val="1C2A3A"/>
                </a:solidFill>
                <a:latin typeface="Calibri"/>
              </a:defRPr>
            </a:pPr>
            <a:r>
              <a:t>NEGATIVE (confidence: 91%)</a:t>
            </a:r>
            <a:br/>
            <a:r>
              <a:t>Correctly identifies domain-specific vocabulary</a:t>
            </a:r>
          </a:p>
        </p:txBody>
      </p:sp>
      <p:sp>
        <p:nvSpPr>
          <p:cNvPr id="9" name="TextBox 8"/>
          <p:cNvSpPr txBox="1"/>
          <p:nvPr/>
        </p:nvSpPr>
        <p:spPr>
          <a:xfrm>
            <a:off x="457200" y="5943600"/>
            <a:ext cx="10972800" cy="365760"/>
          </a:xfrm>
          <a:prstGeom prst="rect">
            <a:avLst/>
          </a:prstGeom>
          <a:noFill/>
        </p:spPr>
        <p:txBody>
          <a:bodyPr wrap="square">
            <a:spAutoFit/>
          </a:bodyPr>
          <a:lstStyle/>
          <a:p>
            <a:pPr algn="l">
              <a:defRPr sz="1800" b="1">
                <a:solidFill>
                  <a:srgbClr val="1C2A3A"/>
                </a:solidFill>
                <a:latin typeface="Calibri"/>
              </a:defRPr>
            </a:pPr>
            <a:r>
              <a:t>Example 3: Spam Detection</a:t>
            </a:r>
          </a:p>
        </p:txBody>
      </p:sp>
      <p:sp>
        <p:nvSpPr>
          <p:cNvPr id="10" name="Rectangle 9"/>
          <p:cNvSpPr/>
          <p:nvPr/>
        </p:nvSpPr>
        <p:spPr>
          <a:xfrm>
            <a:off x="457200" y="6309360"/>
            <a:ext cx="5303520" cy="118872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"Your prescription is ready for pickup at Walgreens"</a:t>
            </a:r>
          </a:p>
          <a:p>
            <a:pPr>
              <a:defRPr sz="1200">
                <a:solidFill>
                  <a:srgbClr val="1C2A3A"/>
                </a:solidFill>
                <a:latin typeface="Calibri"/>
              </a:defRPr>
            </a:pPr>
            <a:r>
              <a:t>Retrieved medication-spam examples with similar vocabulary.</a:t>
            </a:r>
            <a:br/>
            <a:r>
              <a:t>Voted SPAM -- misclassified a legitimate notification.</a:t>
            </a:r>
          </a:p>
        </p:txBody>
      </p:sp>
      <p:sp>
        <p:nvSpPr>
          <p:cNvPr id="11" name="Rectangle 10"/>
          <p:cNvSpPr/>
          <p:nvPr/>
        </p:nvSpPr>
        <p:spPr>
          <a:xfrm>
            <a:off x="6217920" y="6309360"/>
            <a:ext cx="530352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Fine-Tuned DistilBERT: same email</a:t>
            </a:r>
          </a:p>
          <a:p>
            <a:pPr>
              <a:defRPr sz="1200">
                <a:solidFill>
                  <a:srgbClr val="1C2A3A"/>
                </a:solidFill>
                <a:latin typeface="Calibri"/>
              </a:defRPr>
            </a:pPr>
            <a:r>
              <a:t>HAM (confidence: 99%)</a:t>
            </a:r>
            <a:br/>
            <a:r>
              <a:t>Learned that pharmacy pickups lack phishing cues.</a:t>
            </a:r>
          </a:p>
        </p:txBody>
      </p:sp>
      <p:sp>
        <p:nvSpPr>
          <p:cNvPr id="12" name="TextBox 11"/>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16/55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Decision Framework: When to Use What</a:t>
            </a:r>
          </a:p>
        </p:txBody>
      </p:sp>
      <p:pic>
        <p:nvPicPr>
          <p:cNvPr id="3" name="Picture 2" descr="decision_framework.png"/>
          <p:cNvPicPr>
            <a:picLocks noChangeAspect="1"/>
          </p:cNvPicPr>
          <p:nvPr/>
        </p:nvPicPr>
        <p:blipFill>
          <a:blip r:embed="rId2"/>
          <a:stretch>
            <a:fillRect/>
          </a:stretch>
        </p:blipFill>
        <p:spPr>
          <a:xfrm>
            <a:off x="1371600" y="1097280"/>
            <a:ext cx="9144000" cy="3200400"/>
          </a:xfrm>
          <a:prstGeom prst="rect">
            <a:avLst/>
          </a:prstGeom>
        </p:spPr>
      </p:pic>
      <p:sp>
        <p:nvSpPr>
          <p:cNvPr id="4" name="Rectangle 3"/>
          <p:cNvSpPr/>
          <p:nvPr/>
        </p:nvSpPr>
        <p:spPr>
          <a:xfrm>
            <a:off x="457200" y="4389120"/>
            <a:ext cx="3474720" cy="2011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Choose RAG when:</a:t>
            </a:r>
          </a:p>
          <a:p>
            <a:pPr>
              <a:defRPr sz="1200">
                <a:solidFill>
                  <a:srgbClr val="1C2A3A"/>
                </a:solidFill>
                <a:latin typeface="Calibri"/>
              </a:defRPr>
            </a:pPr>
            <a:r>
              <a:t>- Data changes frequently</a:t>
            </a:r>
            <a:br/>
            <a:r>
              <a:t>- Need source citations</a:t>
            </a:r>
            <a:br/>
            <a:r>
              <a:t>- No training data</a:t>
            </a:r>
            <a:br/>
            <a:r>
              <a:t>- Quick deployment</a:t>
            </a:r>
          </a:p>
        </p:txBody>
      </p:sp>
      <p:sp>
        <p:nvSpPr>
          <p:cNvPr id="5" name="Rectangle 4"/>
          <p:cNvSpPr/>
          <p:nvPr/>
        </p:nvSpPr>
        <p:spPr>
          <a:xfrm>
            <a:off x="4297680" y="4389120"/>
            <a:ext cx="3474720" cy="2011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Choose Fine-Tuning when:</a:t>
            </a:r>
          </a:p>
          <a:p>
            <a:pPr>
              <a:defRPr sz="1200">
                <a:solidFill>
                  <a:srgbClr val="1C2A3A"/>
                </a:solidFill>
                <a:latin typeface="Calibri"/>
              </a:defRPr>
            </a:pPr>
            <a:r>
              <a:t>- Specialized skills needed</a:t>
            </a:r>
            <a:br/>
            <a:r>
              <a:t>- High accuracy critical</a:t>
            </a:r>
            <a:br/>
            <a:r>
              <a:t>- Consistent output required</a:t>
            </a:r>
            <a:br/>
            <a:r>
              <a:t>- Low latency matters</a:t>
            </a:r>
          </a:p>
        </p:txBody>
      </p:sp>
      <p:sp>
        <p:nvSpPr>
          <p:cNvPr id="6" name="Rectangle 5"/>
          <p:cNvSpPr/>
          <p:nvPr/>
        </p:nvSpPr>
        <p:spPr>
          <a:xfrm>
            <a:off x="8138160" y="4389120"/>
            <a:ext cx="3474720" cy="2011680"/>
          </a:xfrm>
          <a:prstGeom prst="rect">
            <a:avLst/>
          </a:prstGeom>
          <a:solidFill>
            <a:srgbClr val="D7C8F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Choose Hybrid when:</a:t>
            </a:r>
          </a:p>
          <a:p>
            <a:pPr>
              <a:defRPr sz="1200">
                <a:solidFill>
                  <a:srgbClr val="1C2A3A"/>
                </a:solidFill>
                <a:latin typeface="Calibri"/>
              </a:defRPr>
            </a:pPr>
            <a:r>
              <a:t>- Maximum accuracy needed</a:t>
            </a:r>
            <a:br/>
            <a:r>
              <a:t>- Complex domain analysis</a:t>
            </a:r>
            <a:br/>
            <a:r>
              <a:t>- Both skills AND fresh data</a:t>
            </a:r>
            <a:br/>
            <a:r>
              <a:t>- Production systems</a:t>
            </a:r>
          </a:p>
        </p:txBody>
      </p:sp>
      <p:sp>
        <p:nvSpPr>
          <p:cNvPr id="7" name="TextBox 6"/>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17/55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Fine-Tuning: The Essential Toolkit</a:t>
            </a:r>
          </a:p>
          <a:p>
            <a:pPr>
              <a:defRPr sz="1600">
                <a:solidFill>
                  <a:srgbClr val="ECEFF1"/>
                </a:solidFill>
                <a:latin typeface="Calibri"/>
              </a:defRPr>
            </a:pPr>
            <a:r>
              <a:t>Everything you need from data prep to production deployment</a:t>
            </a:r>
          </a:p>
        </p:txBody>
      </p:sp>
      <p:sp>
        <p:nvSpPr>
          <p:cNvPr id="3" name="TextBox 2"/>
          <p:cNvSpPr txBox="1"/>
          <p:nvPr/>
        </p:nvSpPr>
        <p:spPr>
          <a:xfrm>
            <a:off x="274320" y="1188720"/>
            <a:ext cx="3749039" cy="365760"/>
          </a:xfrm>
          <a:prstGeom prst="rect">
            <a:avLst/>
          </a:prstGeom>
          <a:noFill/>
        </p:spPr>
        <p:txBody>
          <a:bodyPr wrap="square">
            <a:spAutoFit/>
          </a:bodyPr>
          <a:lstStyle/>
          <a:p>
            <a:pPr algn="l">
              <a:defRPr sz="1500" b="1">
                <a:solidFill>
                  <a:srgbClr val="1C2A3A"/>
                </a:solidFill>
                <a:latin typeface="Calibri"/>
              </a:defRPr>
            </a:pPr>
            <a:r>
              <a:t>Training Frameworks</a:t>
            </a:r>
          </a:p>
        </p:txBody>
      </p:sp>
      <p:sp>
        <p:nvSpPr>
          <p:cNvPr id="4" name="Rectangle 3"/>
          <p:cNvSpPr/>
          <p:nvPr/>
        </p:nvSpPr>
        <p:spPr>
          <a:xfrm>
            <a:off x="274320" y="164592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HuggingFace Transformers + PEFT</a:t>
            </a:r>
          </a:p>
          <a:p>
            <a:pPr>
              <a:defRPr sz="1200">
                <a:solidFill>
                  <a:srgbClr val="1C2A3A"/>
                </a:solidFill>
                <a:latin typeface="Calibri"/>
              </a:defRPr>
            </a:pPr>
            <a:r>
              <a:t>Industry standard. Full/LoRA/QLoRA. Custom training loops.</a:t>
            </a:r>
            <a:br/>
            <a:r>
              <a:t>Use when: You want maximum flexibility and control.</a:t>
            </a:r>
          </a:p>
        </p:txBody>
      </p:sp>
      <p:sp>
        <p:nvSpPr>
          <p:cNvPr id="5" name="Rectangle 4"/>
          <p:cNvSpPr/>
          <p:nvPr/>
        </p:nvSpPr>
        <p:spPr>
          <a:xfrm>
            <a:off x="274320" y="260604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Unsloth</a:t>
            </a:r>
          </a:p>
          <a:p>
            <a:pPr>
              <a:defRPr sz="1200">
                <a:solidFill>
                  <a:srgbClr val="1C2A3A"/>
                </a:solidFill>
                <a:latin typeface="Calibri"/>
              </a:defRPr>
            </a:pPr>
            <a:r>
              <a:t>2-5x faster training, 70% less VRAM. Optimized CUDA kernels.</a:t>
            </a:r>
            <a:br/>
            <a:r>
              <a:t>Use when: Consumer GPU (RTX 3060+), fast iteration.</a:t>
            </a:r>
          </a:p>
        </p:txBody>
      </p:sp>
      <p:sp>
        <p:nvSpPr>
          <p:cNvPr id="6" name="Rectangle 5"/>
          <p:cNvSpPr/>
          <p:nvPr/>
        </p:nvSpPr>
        <p:spPr>
          <a:xfrm>
            <a:off x="274320" y="356616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Axolotl</a:t>
            </a:r>
          </a:p>
          <a:p>
            <a:pPr>
              <a:defRPr sz="1200">
                <a:solidFill>
                  <a:srgbClr val="1C2A3A"/>
                </a:solidFill>
                <a:latin typeface="Calibri"/>
              </a:defRPr>
            </a:pPr>
            <a:r>
              <a:t>YAML config-driven. Reproducible runs. Multi-model support.</a:t>
            </a:r>
            <a:br/>
            <a:r>
              <a:t>Use when: Team workflows, experiment reproducibility.</a:t>
            </a:r>
          </a:p>
        </p:txBody>
      </p:sp>
      <p:sp>
        <p:nvSpPr>
          <p:cNvPr id="7" name="Rectangle 6"/>
          <p:cNvSpPr/>
          <p:nvPr/>
        </p:nvSpPr>
        <p:spPr>
          <a:xfrm>
            <a:off x="274320" y="452628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LLaMA-Factory</a:t>
            </a:r>
          </a:p>
          <a:p>
            <a:pPr>
              <a:defRPr sz="1200">
                <a:solidFill>
                  <a:srgbClr val="1C2A3A"/>
                </a:solidFill>
                <a:latin typeface="Calibri"/>
              </a:defRPr>
            </a:pPr>
            <a:r>
              <a:t>Web UI dashboard. 100+ LLMs. No-code fine-tuning.</a:t>
            </a:r>
            <a:br/>
            <a:r>
              <a:t>Use when: Non-ML engineers, rapid prototyping.</a:t>
            </a:r>
          </a:p>
        </p:txBody>
      </p:sp>
      <p:sp>
        <p:nvSpPr>
          <p:cNvPr id="8" name="Rectangle 7"/>
          <p:cNvSpPr/>
          <p:nvPr/>
        </p:nvSpPr>
        <p:spPr>
          <a:xfrm>
            <a:off x="274320" y="548640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TRL (Transformer RL)</a:t>
            </a:r>
          </a:p>
          <a:p>
            <a:pPr>
              <a:defRPr sz="1200">
                <a:solidFill>
                  <a:srgbClr val="1C2A3A"/>
                </a:solidFill>
                <a:latin typeface="Calibri"/>
              </a:defRPr>
            </a:pPr>
            <a:r>
              <a:t>SFT, DPO, RLHF trainers. Integrates with PEFT.</a:t>
            </a:r>
            <a:br/>
            <a:r>
              <a:t>Use when: Alignment tuning, RLHF, preference learning.</a:t>
            </a:r>
          </a:p>
        </p:txBody>
      </p:sp>
      <p:sp>
        <p:nvSpPr>
          <p:cNvPr id="9" name="TextBox 8"/>
          <p:cNvSpPr txBox="1"/>
          <p:nvPr/>
        </p:nvSpPr>
        <p:spPr>
          <a:xfrm>
            <a:off x="4206240" y="1188720"/>
            <a:ext cx="3749039" cy="365760"/>
          </a:xfrm>
          <a:prstGeom prst="rect">
            <a:avLst/>
          </a:prstGeom>
          <a:noFill/>
        </p:spPr>
        <p:txBody>
          <a:bodyPr wrap="square">
            <a:spAutoFit/>
          </a:bodyPr>
          <a:lstStyle/>
          <a:p>
            <a:pPr algn="l">
              <a:defRPr sz="1500" b="1">
                <a:solidFill>
                  <a:srgbClr val="1C2A3A"/>
                </a:solidFill>
                <a:latin typeface="Calibri"/>
              </a:defRPr>
            </a:pPr>
            <a:r>
              <a:t>Cloud Platforms</a:t>
            </a:r>
          </a:p>
        </p:txBody>
      </p:sp>
      <p:sp>
        <p:nvSpPr>
          <p:cNvPr id="10" name="Rectangle 9"/>
          <p:cNvSpPr/>
          <p:nvPr/>
        </p:nvSpPr>
        <p:spPr>
          <a:xfrm>
            <a:off x="4206240" y="164592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AWS SageMaker JumpStart</a:t>
            </a:r>
          </a:p>
          <a:p>
            <a:pPr>
              <a:defRPr sz="1200">
                <a:solidFill>
                  <a:srgbClr val="1C2A3A"/>
                </a:solidFill>
                <a:latin typeface="Calibri"/>
              </a:defRPr>
            </a:pPr>
            <a:r>
              <a:t>One-click fine-tune 400+ models. Managed infra, S3 data.</a:t>
            </a:r>
            <a:br/>
            <a:r>
              <a:t>Use when: AWS shop, enterprise, need managed GPUs.</a:t>
            </a:r>
          </a:p>
        </p:txBody>
      </p:sp>
      <p:sp>
        <p:nvSpPr>
          <p:cNvPr id="11" name="Rectangle 10"/>
          <p:cNvSpPr/>
          <p:nvPr/>
        </p:nvSpPr>
        <p:spPr>
          <a:xfrm>
            <a:off x="4206240" y="260604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Amazon Bedrock Custom Models</a:t>
            </a:r>
          </a:p>
          <a:p>
            <a:pPr>
              <a:defRPr sz="1200">
                <a:solidFill>
                  <a:srgbClr val="1C2A3A"/>
                </a:solidFill>
                <a:latin typeface="Calibri"/>
              </a:defRPr>
            </a:pPr>
            <a:r>
              <a:t>Fully managed, no-code. Llama/Titan/Cohere fine-tuning.</a:t>
            </a:r>
            <a:br/>
            <a:r>
              <a:t>Use when: Simplest path, no ML ops team.</a:t>
            </a:r>
          </a:p>
        </p:txBody>
      </p:sp>
      <p:sp>
        <p:nvSpPr>
          <p:cNvPr id="12" name="Rectangle 11"/>
          <p:cNvSpPr/>
          <p:nvPr/>
        </p:nvSpPr>
        <p:spPr>
          <a:xfrm>
            <a:off x="4206240" y="356616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OpenAI Fine-Tuning API</a:t>
            </a:r>
          </a:p>
          <a:p>
            <a:pPr>
              <a:defRPr sz="1200">
                <a:solidFill>
                  <a:srgbClr val="1C2A3A"/>
                </a:solidFill>
                <a:latin typeface="Calibri"/>
              </a:defRPr>
            </a:pPr>
            <a:r>
              <a:t>Upload JSONL, fine-tune GPT-4o/4o-mini. Hosted inference.</a:t>
            </a:r>
            <a:br/>
            <a:r>
              <a:t>Use when: Already on OpenAI, closed-source is acceptable.</a:t>
            </a:r>
          </a:p>
        </p:txBody>
      </p:sp>
      <p:sp>
        <p:nvSpPr>
          <p:cNvPr id="13" name="Rectangle 12"/>
          <p:cNvSpPr/>
          <p:nvPr/>
        </p:nvSpPr>
        <p:spPr>
          <a:xfrm>
            <a:off x="4206240" y="452628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Google Vertex AI</a:t>
            </a:r>
          </a:p>
          <a:p>
            <a:pPr>
              <a:defRPr sz="1200">
                <a:solidFill>
                  <a:srgbClr val="1C2A3A"/>
                </a:solidFill>
                <a:latin typeface="Calibri"/>
              </a:defRPr>
            </a:pPr>
            <a:r>
              <a:t>Fine-tune Gemini or open-source. TPU/GPU options.</a:t>
            </a:r>
            <a:br/>
            <a:r>
              <a:t>Use when: GCP ecosystem, Gemini models.</a:t>
            </a:r>
          </a:p>
        </p:txBody>
      </p:sp>
      <p:sp>
        <p:nvSpPr>
          <p:cNvPr id="14" name="Rectangle 13"/>
          <p:cNvSpPr/>
          <p:nvPr/>
        </p:nvSpPr>
        <p:spPr>
          <a:xfrm>
            <a:off x="4206240" y="548640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Together AI / Fireworks / Anyscale</a:t>
            </a:r>
          </a:p>
          <a:p>
            <a:pPr>
              <a:defRPr sz="1200">
                <a:solidFill>
                  <a:srgbClr val="1C2A3A"/>
                </a:solidFill>
                <a:latin typeface="Calibri"/>
              </a:defRPr>
            </a:pPr>
            <a:r>
              <a:t>Serverless fine-tuning. Pay per GPU-hour. API inference.</a:t>
            </a:r>
            <a:br/>
            <a:r>
              <a:t>Use when: No infra team, cost-sensitive, quick start.</a:t>
            </a:r>
          </a:p>
        </p:txBody>
      </p:sp>
      <p:sp>
        <p:nvSpPr>
          <p:cNvPr id="15" name="TextBox 14"/>
          <p:cNvSpPr txBox="1"/>
          <p:nvPr/>
        </p:nvSpPr>
        <p:spPr>
          <a:xfrm>
            <a:off x="8138160" y="1188720"/>
            <a:ext cx="3749039" cy="365760"/>
          </a:xfrm>
          <a:prstGeom prst="rect">
            <a:avLst/>
          </a:prstGeom>
          <a:noFill/>
        </p:spPr>
        <p:txBody>
          <a:bodyPr wrap="square">
            <a:spAutoFit/>
          </a:bodyPr>
          <a:lstStyle/>
          <a:p>
            <a:pPr algn="l">
              <a:defRPr sz="1500" b="1">
                <a:solidFill>
                  <a:srgbClr val="1C2A3A"/>
                </a:solidFill>
                <a:latin typeface="Calibri"/>
              </a:defRPr>
            </a:pPr>
            <a:r>
              <a:t>Data, Eval &amp; Monitoring</a:t>
            </a:r>
          </a:p>
        </p:txBody>
      </p:sp>
      <p:sp>
        <p:nvSpPr>
          <p:cNvPr id="16" name="Rectangle 15"/>
          <p:cNvSpPr/>
          <p:nvPr/>
        </p:nvSpPr>
        <p:spPr>
          <a:xfrm>
            <a:off x="8138160" y="164592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Weights &amp; Biases (W&amp;B)</a:t>
            </a:r>
          </a:p>
          <a:p>
            <a:pPr>
              <a:defRPr sz="1200">
                <a:solidFill>
                  <a:srgbClr val="1C2A3A"/>
                </a:solidFill>
                <a:latin typeface="Calibri"/>
              </a:defRPr>
            </a:pPr>
            <a:r>
              <a:t>Experiment tracking, run comparison, model registry.</a:t>
            </a:r>
            <a:br/>
            <a:r>
              <a:t>Use when: Tracking multiple training runs.</a:t>
            </a:r>
          </a:p>
        </p:txBody>
      </p:sp>
      <p:sp>
        <p:nvSpPr>
          <p:cNvPr id="17" name="Rectangle 16"/>
          <p:cNvSpPr/>
          <p:nvPr/>
        </p:nvSpPr>
        <p:spPr>
          <a:xfrm>
            <a:off x="8138160" y="260604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MLflow</a:t>
            </a:r>
          </a:p>
          <a:p>
            <a:pPr>
              <a:defRPr sz="1200">
                <a:solidFill>
                  <a:srgbClr val="1C2A3A"/>
                </a:solidFill>
                <a:latin typeface="Calibri"/>
              </a:defRPr>
            </a:pPr>
            <a:r>
              <a:t>Open-source ML lifecycle. Model versioning, deployment.</a:t>
            </a:r>
            <a:br/>
            <a:r>
              <a:t>Use when: Self-hosted, open-source preference.</a:t>
            </a:r>
          </a:p>
        </p:txBody>
      </p:sp>
      <p:sp>
        <p:nvSpPr>
          <p:cNvPr id="18" name="Rectangle 17"/>
          <p:cNvSpPr/>
          <p:nvPr/>
        </p:nvSpPr>
        <p:spPr>
          <a:xfrm>
            <a:off x="8138160" y="356616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Argilla / Label Studio</a:t>
            </a:r>
          </a:p>
          <a:p>
            <a:pPr>
              <a:defRPr sz="1200">
                <a:solidFill>
                  <a:srgbClr val="1C2A3A"/>
                </a:solidFill>
                <a:latin typeface="Calibri"/>
              </a:defRPr>
            </a:pPr>
            <a:r>
              <a:t>Data labeling and annotation. Human-in-the-loop.</a:t>
            </a:r>
            <a:br/>
            <a:r>
              <a:t>Use when: Building custom training datasets.</a:t>
            </a:r>
          </a:p>
        </p:txBody>
      </p:sp>
      <p:sp>
        <p:nvSpPr>
          <p:cNvPr id="19" name="Rectangle 18"/>
          <p:cNvSpPr/>
          <p:nvPr/>
        </p:nvSpPr>
        <p:spPr>
          <a:xfrm>
            <a:off x="8138160" y="452628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LM Eval Harness (EleutherAI)</a:t>
            </a:r>
          </a:p>
          <a:p>
            <a:pPr>
              <a:defRPr sz="1200">
                <a:solidFill>
                  <a:srgbClr val="1C2A3A"/>
                </a:solidFill>
                <a:latin typeface="Calibri"/>
              </a:defRPr>
            </a:pPr>
            <a:r>
              <a:t>Standard benchmark suite for LLMs. Pre/post comparison.</a:t>
            </a:r>
            <a:br/>
            <a:r>
              <a:t>Use when: Measuring fine-tuning impact rigorously.</a:t>
            </a:r>
          </a:p>
        </p:txBody>
      </p:sp>
      <p:sp>
        <p:nvSpPr>
          <p:cNvPr id="20" name="Rectangle 19"/>
          <p:cNvSpPr/>
          <p:nvPr/>
        </p:nvSpPr>
        <p:spPr>
          <a:xfrm>
            <a:off x="8138160" y="548640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Ollama / vLLM / TGI</a:t>
            </a:r>
          </a:p>
          <a:p>
            <a:pPr>
              <a:defRPr sz="1200">
                <a:solidFill>
                  <a:srgbClr val="1C2A3A"/>
                </a:solidFill>
                <a:latin typeface="Calibri"/>
              </a:defRPr>
            </a:pPr>
            <a:r>
              <a:t>Local inference servers. GGUF, AWQ, GPTQ quantization.</a:t>
            </a:r>
            <a:br/>
            <a:r>
              <a:t>Use when: Deploying fine-tuned model for serving.</a:t>
            </a:r>
          </a:p>
        </p:txBody>
      </p:sp>
      <p:sp>
        <p:nvSpPr>
          <p:cNvPr id="21" name="TextBox 20"/>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18/55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How to Fine-Tune: Local Setup</a:t>
            </a:r>
          </a:p>
          <a:p>
            <a:pPr>
              <a:defRPr sz="1600">
                <a:solidFill>
                  <a:srgbClr val="ECEFF1"/>
                </a:solidFill>
                <a:latin typeface="Calibri"/>
              </a:defRPr>
            </a:pPr>
            <a:r>
              <a:t>Step-by-step with Unsloth + QLoRA on a single GPU</a:t>
            </a:r>
          </a:p>
        </p:txBody>
      </p:sp>
      <p:sp>
        <p:nvSpPr>
          <p:cNvPr id="3" name="Rectangle 2"/>
          <p:cNvSpPr/>
          <p:nvPr/>
        </p:nvSpPr>
        <p:spPr>
          <a:xfrm>
            <a:off x="457200" y="1280160"/>
            <a:ext cx="5303520" cy="128016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Prerequisites</a:t>
            </a:r>
          </a:p>
          <a:p>
            <a:pPr>
              <a:defRPr sz="1200">
                <a:solidFill>
                  <a:srgbClr val="1C2A3A"/>
                </a:solidFill>
                <a:latin typeface="Calibri"/>
              </a:defRPr>
            </a:pPr>
            <a:r>
              <a:t>- NVIDIA GPU with 8+ GB VRAM (RTX 3060/4060 or better)</a:t>
            </a:r>
            <a:br/>
            <a:r>
              <a:t>- CUDA 11.8+ and Python 3.10+</a:t>
            </a:r>
            <a:br/>
            <a:r>
              <a:t>- 20-50 GB free disk space for model weights</a:t>
            </a:r>
            <a:br/>
            <a:r>
              <a:t>- pip install unsloth transformers peft trl datasets</a:t>
            </a:r>
          </a:p>
        </p:txBody>
      </p:sp>
      <p:sp>
        <p:nvSpPr>
          <p:cNvPr id="4" name="TextBox 3"/>
          <p:cNvSpPr txBox="1"/>
          <p:nvPr/>
        </p:nvSpPr>
        <p:spPr>
          <a:xfrm>
            <a:off x="457200" y="2743200"/>
            <a:ext cx="5943600" cy="3840480"/>
          </a:xfrm>
          <a:prstGeom prst="rect">
            <a:avLst/>
          </a:prstGeom>
          <a:noFill/>
        </p:spPr>
        <p:txBody>
          <a:bodyPr wrap="square">
            <a:spAutoFit/>
          </a:bodyPr>
          <a:lstStyle/>
          <a:p>
            <a:pPr algn="l">
              <a:defRPr sz="1000" b="0">
                <a:solidFill>
                  <a:srgbClr val="1C2A3A"/>
                </a:solidFill>
                <a:latin typeface="Consolas"/>
              </a:defRPr>
            </a:pPr>
            <a:r>
              <a:t># 1. Load base model in 4-bit (QLoRA)</a:t>
            </a:r>
            <a:br/>
            <a:r>
              <a:t>from unsloth import FastLanguageModel</a:t>
            </a:r>
            <a:br/>
            <a:r>
              <a:t>model, tokenizer = FastLanguageModel.from_pretrained(</a:t>
            </a:r>
            <a:br/>
            <a:r>
              <a:t>    "meta-llama/Llama-2-7b-hf",</a:t>
            </a:r>
            <a:br/>
            <a:r>
              <a:t>    load_in_4bit=True,</a:t>
            </a:r>
            <a:br/>
            <a:r>
              <a:t>    max_seq_length=2048,</a:t>
            </a:r>
            <a:br/>
            <a:r>
              <a:t>)</a:t>
            </a:r>
            <a:br/>
            <a:br/>
            <a:r>
              <a:t># 2. Add LoRA adapters (only ~1-5% of params trained)</a:t>
            </a:r>
            <a:br/>
            <a:r>
              <a:t>model = FastLanguageModel.get_peft_model(</a:t>
            </a:r>
            <a:br/>
            <a:r>
              <a:t>    model, r=16, lora_alpha=16,</a:t>
            </a:r>
            <a:br/>
            <a:r>
              <a:t>    target_modules=["q_proj","k_proj","v_proj","o_proj"],</a:t>
            </a:r>
            <a:br/>
            <a:r>
              <a:t>)</a:t>
            </a:r>
            <a:br/>
            <a:br/>
            <a:r>
              <a:t># 3. Train with SFTTrainer</a:t>
            </a:r>
            <a:br/>
            <a:r>
              <a:t>from trl import SFTTrainer</a:t>
            </a:r>
            <a:br/>
            <a:r>
              <a:t>trainer = SFTTrainer(</a:t>
            </a:r>
            <a:br/>
            <a:r>
              <a:t>    model=model, train_dataset=dataset,</a:t>
            </a:r>
            <a:br/>
            <a:r>
              <a:t>    args=TrainingArguments(</a:t>
            </a:r>
            <a:br/>
            <a:r>
              <a:t>        num_train_epochs=3, per_device_train_batch_size=4,</a:t>
            </a:r>
            <a:br/>
            <a:r>
              <a:t>        output_dir="./output", learning_rate=2e-4,</a:t>
            </a:r>
            <a:br/>
            <a:r>
              <a:t>    ),</a:t>
            </a:r>
            <a:br/>
            <a:r>
              <a:t>)</a:t>
            </a:r>
            <a:br/>
            <a:r>
              <a:t>trainer.train()</a:t>
            </a:r>
            <a:br/>
            <a:br/>
            <a:r>
              <a:t># 4. Save &amp; merge adapter into base model</a:t>
            </a:r>
            <a:br/>
            <a:r>
              <a:t>model.save_pretrained_merged("./my-finetuned-model")</a:t>
            </a:r>
          </a:p>
        </p:txBody>
      </p:sp>
      <p:sp>
        <p:nvSpPr>
          <p:cNvPr id="5" name="Rectangle 4"/>
          <p:cNvSpPr/>
          <p:nvPr/>
        </p:nvSpPr>
        <p:spPr>
          <a:xfrm>
            <a:off x="6583680" y="1280160"/>
            <a:ext cx="5029200" cy="1645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What Happens During Training</a:t>
            </a:r>
          </a:p>
          <a:p>
            <a:pPr>
              <a:defRPr sz="1200">
                <a:solidFill>
                  <a:srgbClr val="1C2A3A"/>
                </a:solidFill>
                <a:latin typeface="Calibri"/>
              </a:defRPr>
            </a:pPr>
            <a:r>
              <a:t>- Base model weights are FROZEN (unchanged)</a:t>
            </a:r>
            <a:br/>
            <a:r>
              <a:t>- Small adapter matrices (~50-200 MB) are trained</a:t>
            </a:r>
            <a:br/>
            <a:r>
              <a:t>- Training takes 30 min - 4 hours for 7B model</a:t>
            </a:r>
            <a:br/>
            <a:r>
              <a:t>- GPU memory: ~6 GB (QLoRA) vs ~28 GB (full FT)</a:t>
            </a:r>
            <a:br/>
            <a:r>
              <a:t>- Result: base model + adapter = specialized model</a:t>
            </a:r>
          </a:p>
        </p:txBody>
      </p:sp>
      <p:sp>
        <p:nvSpPr>
          <p:cNvPr id="6" name="Rectangle 5"/>
          <p:cNvSpPr/>
          <p:nvPr/>
        </p:nvSpPr>
        <p:spPr>
          <a:xfrm>
            <a:off x="6583680" y="3200400"/>
            <a:ext cx="5029200" cy="14630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Training Data Format (JSONL)</a:t>
            </a:r>
          </a:p>
          <a:p>
            <a:pPr>
              <a:defRPr sz="1200">
                <a:solidFill>
                  <a:srgbClr val="1C2A3A"/>
                </a:solidFill>
                <a:latin typeface="Calibri"/>
              </a:defRPr>
            </a:pPr>
            <a:r>
              <a:t>{"instruction": "Calculate revenue growth",</a:t>
            </a:r>
            <a:br/>
            <a:r>
              <a:t> "input": "2022: $500M, 2023: $580M",</a:t>
            </a:r>
            <a:br/>
            <a:r>
              <a:t> "output": "Growth = (580-500)/500 = 16%"}</a:t>
            </a:r>
            <a:br/>
            <a:br/>
            <a:r>
              <a:t>Typically 1,000 - 10,000 examples needed.</a:t>
            </a:r>
          </a:p>
        </p:txBody>
      </p:sp>
      <p:sp>
        <p:nvSpPr>
          <p:cNvPr id="7" name="Rectangle 6"/>
          <p:cNvSpPr/>
          <p:nvPr/>
        </p:nvSpPr>
        <p:spPr>
          <a:xfrm>
            <a:off x="6583680" y="4846320"/>
            <a:ext cx="5029200" cy="128016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Tips</a:t>
            </a:r>
          </a:p>
          <a:p>
            <a:pPr>
              <a:defRPr sz="1200">
                <a:solidFill>
                  <a:srgbClr val="1C2A3A"/>
                </a:solidFill>
                <a:latin typeface="Calibri"/>
              </a:defRPr>
            </a:pPr>
            <a:r>
              <a:t>- Start with QLoRA + Unsloth for fastest iteration</a:t>
            </a:r>
            <a:br/>
            <a:r>
              <a:t>- Use Llama-2/3 7B or Mistral 7B as base model</a:t>
            </a:r>
            <a:br/>
            <a:r>
              <a:t>- Evaluate on held-out test set after each epoch</a:t>
            </a:r>
            <a:br/>
            <a:r>
              <a:t>- Export to GGUF for Ollama / llama.cpp deployment</a:t>
            </a:r>
          </a:p>
        </p:txBody>
      </p:sp>
      <p:sp>
        <p:nvSpPr>
          <p:cNvPr id="8" name="TextBox 7"/>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19/55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How to Fine-Tune: AWS</a:t>
            </a:r>
          </a:p>
          <a:p>
            <a:pPr>
              <a:defRPr sz="1600">
                <a:solidFill>
                  <a:srgbClr val="ECEFF1"/>
                </a:solidFill>
                <a:latin typeface="Calibri"/>
              </a:defRPr>
            </a:pPr>
            <a:r>
              <a:t>SageMaker JumpStart + Bedrock Custom Models</a:t>
            </a:r>
          </a:p>
        </p:txBody>
      </p:sp>
      <p:sp>
        <p:nvSpPr>
          <p:cNvPr id="3" name="TextBox 2"/>
          <p:cNvSpPr txBox="1"/>
          <p:nvPr/>
        </p:nvSpPr>
        <p:spPr>
          <a:xfrm>
            <a:off x="457200" y="1188720"/>
            <a:ext cx="5486400" cy="365760"/>
          </a:xfrm>
          <a:prstGeom prst="rect">
            <a:avLst/>
          </a:prstGeom>
          <a:noFill/>
        </p:spPr>
        <p:txBody>
          <a:bodyPr wrap="square">
            <a:spAutoFit/>
          </a:bodyPr>
          <a:lstStyle/>
          <a:p>
            <a:pPr algn="l">
              <a:defRPr sz="1600" b="1">
                <a:solidFill>
                  <a:srgbClr val="1C2A3A"/>
                </a:solidFill>
                <a:latin typeface="Calibri"/>
              </a:defRPr>
            </a:pPr>
            <a:r>
              <a:t>Option A: Amazon SageMaker JumpStart</a:t>
            </a:r>
          </a:p>
        </p:txBody>
      </p:sp>
      <p:sp>
        <p:nvSpPr>
          <p:cNvPr id="4" name="TextBox 3"/>
          <p:cNvSpPr txBox="1"/>
          <p:nvPr/>
        </p:nvSpPr>
        <p:spPr>
          <a:xfrm>
            <a:off x="457200" y="1645920"/>
            <a:ext cx="5760720" cy="3657600"/>
          </a:xfrm>
          <a:prstGeom prst="rect">
            <a:avLst/>
          </a:prstGeom>
          <a:noFill/>
        </p:spPr>
        <p:txBody>
          <a:bodyPr wrap="square">
            <a:spAutoFit/>
          </a:bodyPr>
          <a:lstStyle/>
          <a:p>
            <a:pPr algn="l">
              <a:defRPr sz="1000" b="0">
                <a:solidFill>
                  <a:srgbClr val="1C2A3A"/>
                </a:solidFill>
                <a:latin typeface="Consolas"/>
              </a:defRPr>
            </a:pPr>
            <a:r>
              <a:t># 1. Select foundation model from JumpStart hub</a:t>
            </a:r>
            <a:br/>
            <a:r>
              <a:t>#    (Llama 2/3, Mistral, Falcon, etc.)</a:t>
            </a:r>
            <a:br/>
            <a:br/>
            <a:r>
              <a:t>import sagemaker</a:t>
            </a:r>
            <a:br/>
            <a:r>
              <a:t>from sagemaker.jumpstart.estimator import JumpStartEstimator</a:t>
            </a:r>
            <a:br/>
            <a:br/>
            <a:r>
              <a:t>estimator = JumpStartEstimator(</a:t>
            </a:r>
            <a:br/>
            <a:r>
              <a:t>    model_id="meta-textgeneration-llama-2-7b",</a:t>
            </a:r>
            <a:br/>
            <a:r>
              <a:t>    instance_type="ml.g5.2xlarge",  # 1x A10G 24GB</a:t>
            </a:r>
            <a:br/>
            <a:r>
              <a:t>    environment={</a:t>
            </a:r>
            <a:br/>
            <a:r>
              <a:t>        "instruction_tuned": "True",</a:t>
            </a:r>
            <a:br/>
            <a:r>
              <a:t>        "epoch": "3",</a:t>
            </a:r>
            <a:br/>
            <a:r>
              <a:t>        "per_device_train_batch_size": "4",</a:t>
            </a:r>
            <a:br/>
            <a:r>
              <a:t>        "lora_r": "16",</a:t>
            </a:r>
            <a:br/>
            <a:r>
              <a:t>    },</a:t>
            </a:r>
            <a:br/>
            <a:r>
              <a:t>)</a:t>
            </a:r>
            <a:br/>
            <a:br/>
            <a:r>
              <a:t># 2. Point to training data in S3</a:t>
            </a:r>
            <a:br/>
            <a:r>
              <a:t>estimator.fit({</a:t>
            </a:r>
            <a:br/>
            <a:r>
              <a:t>    "training": "s3://my-bucket/training-data/"</a:t>
            </a:r>
            <a:br/>
            <a:r>
              <a:t>})</a:t>
            </a:r>
            <a:br/>
            <a:br/>
            <a:r>
              <a:t># 3. Deploy endpoint</a:t>
            </a:r>
            <a:br/>
            <a:r>
              <a:t>predictor = estimator.deploy(</a:t>
            </a:r>
            <a:br/>
            <a:r>
              <a:t>    instance_type="ml.g5.xlarge"</a:t>
            </a:r>
            <a:br/>
            <a:r>
              <a:t>)</a:t>
            </a:r>
          </a:p>
        </p:txBody>
      </p:sp>
      <p:sp>
        <p:nvSpPr>
          <p:cNvPr id="5" name="TextBox 4"/>
          <p:cNvSpPr txBox="1"/>
          <p:nvPr/>
        </p:nvSpPr>
        <p:spPr>
          <a:xfrm>
            <a:off x="6400800" y="1188720"/>
            <a:ext cx="5303520" cy="365760"/>
          </a:xfrm>
          <a:prstGeom prst="rect">
            <a:avLst/>
          </a:prstGeom>
          <a:noFill/>
        </p:spPr>
        <p:txBody>
          <a:bodyPr wrap="square">
            <a:spAutoFit/>
          </a:bodyPr>
          <a:lstStyle/>
          <a:p>
            <a:pPr algn="l">
              <a:defRPr sz="1600" b="1">
                <a:solidFill>
                  <a:srgbClr val="1C2A3A"/>
                </a:solidFill>
                <a:latin typeface="Calibri"/>
              </a:defRPr>
            </a:pPr>
            <a:r>
              <a:t>Option B: Amazon Bedrock Custom Models</a:t>
            </a:r>
          </a:p>
        </p:txBody>
      </p:sp>
      <p:sp>
        <p:nvSpPr>
          <p:cNvPr id="6" name="Rectangle 5"/>
          <p:cNvSpPr/>
          <p:nvPr/>
        </p:nvSpPr>
        <p:spPr>
          <a:xfrm>
            <a:off x="6400800" y="1645920"/>
            <a:ext cx="5303520" cy="2011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Fully Managed (No-Code / Low-Code)</a:t>
            </a:r>
          </a:p>
          <a:p>
            <a:pPr>
              <a:defRPr sz="1200">
                <a:solidFill>
                  <a:srgbClr val="1C2A3A"/>
                </a:solidFill>
                <a:latin typeface="Calibri"/>
              </a:defRPr>
            </a:pPr>
            <a:r>
              <a:t>1. Upload training data (JSONL) to S3</a:t>
            </a:r>
            <a:br/>
            <a:r>
              <a:t>2. Console: Bedrock &gt; Custom models &gt; Create</a:t>
            </a:r>
            <a:br/>
            <a:r>
              <a:t>3. Select base model (Llama, Titan, Cohere, etc.)</a:t>
            </a:r>
            <a:br/>
            <a:r>
              <a:t>4. Configure hyperparameters (epochs, lr, batch)</a:t>
            </a:r>
            <a:br/>
            <a:r>
              <a:t>5. Submit job - AWS handles GPU provisioning</a:t>
            </a:r>
            <a:br/>
            <a:r>
              <a:t>6. Deploy as Provisioned Throughput endpoint</a:t>
            </a:r>
            <a:br/>
            <a:br/>
            <a:r>
              <a:t>No ML infrastructure to manage.</a:t>
            </a:r>
          </a:p>
        </p:txBody>
      </p:sp>
      <p:sp>
        <p:nvSpPr>
          <p:cNvPr id="7" name="Rectangle 6"/>
          <p:cNvSpPr/>
          <p:nvPr/>
        </p:nvSpPr>
        <p:spPr>
          <a:xfrm>
            <a:off x="6400800" y="3840480"/>
            <a:ext cx="5303520" cy="10972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SageMaker vs Bedrock</a:t>
            </a:r>
          </a:p>
          <a:p>
            <a:pPr>
              <a:defRPr sz="1200">
                <a:solidFill>
                  <a:srgbClr val="1C2A3A"/>
                </a:solidFill>
                <a:latin typeface="Calibri"/>
              </a:defRPr>
            </a:pPr>
            <a:r>
              <a:t>SageMaker: Full control, custom code, any model, BYO container</a:t>
            </a:r>
            <a:br/>
            <a:r>
              <a:t>Bedrock: Managed, simpler, limited to supported models</a:t>
            </a:r>
            <a:br/>
            <a:r>
              <a:t>Both: LoRA/QLoRA, S3 data, IAM security, VPC isolation</a:t>
            </a:r>
          </a:p>
        </p:txBody>
      </p:sp>
      <p:sp>
        <p:nvSpPr>
          <p:cNvPr id="8" name="Rectangle 7"/>
          <p:cNvSpPr/>
          <p:nvPr/>
        </p:nvSpPr>
        <p:spPr>
          <a:xfrm>
            <a:off x="457200" y="5486400"/>
            <a:ext cx="11064240" cy="73152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Typical AWS Costs</a:t>
            </a:r>
          </a:p>
          <a:p>
            <a:pPr>
              <a:defRPr sz="1200">
                <a:solidFill>
                  <a:srgbClr val="1C2A3A"/>
                </a:solidFill>
                <a:latin typeface="Calibri"/>
              </a:defRPr>
            </a:pPr>
            <a:r>
              <a:t>Training: $2-50/hr (ml.g5.2xlarge ~$5/hr). A 7B QLoRA job: ~$5-25 total.  Inference: ml.g5.xlarge ~$1.50/hr, or Bedrock per-token pricing.</a:t>
            </a:r>
          </a:p>
        </p:txBody>
      </p:sp>
      <p:sp>
        <p:nvSpPr>
          <p:cNvPr id="9" name="TextBox 8"/>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20/55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RAG: The Essential Toolkit</a:t>
            </a:r>
          </a:p>
          <a:p>
            <a:pPr>
              <a:defRPr sz="1600">
                <a:solidFill>
                  <a:srgbClr val="ECEFF1"/>
                </a:solidFill>
                <a:latin typeface="Calibri"/>
              </a:defRPr>
            </a:pPr>
            <a:r>
              <a:t>Everything you need from document ingestion to production serving</a:t>
            </a:r>
          </a:p>
        </p:txBody>
      </p:sp>
      <p:sp>
        <p:nvSpPr>
          <p:cNvPr id="3" name="TextBox 2"/>
          <p:cNvSpPr txBox="1"/>
          <p:nvPr/>
        </p:nvSpPr>
        <p:spPr>
          <a:xfrm>
            <a:off x="274320" y="1188720"/>
            <a:ext cx="3749039" cy="365760"/>
          </a:xfrm>
          <a:prstGeom prst="rect">
            <a:avLst/>
          </a:prstGeom>
          <a:noFill/>
        </p:spPr>
        <p:txBody>
          <a:bodyPr wrap="square">
            <a:spAutoFit/>
          </a:bodyPr>
          <a:lstStyle/>
          <a:p>
            <a:pPr algn="l">
              <a:defRPr sz="1500" b="1">
                <a:solidFill>
                  <a:srgbClr val="1C2A3A"/>
                </a:solidFill>
                <a:latin typeface="Calibri"/>
              </a:defRPr>
            </a:pPr>
            <a:r>
              <a:t>Vector Databases</a:t>
            </a:r>
          </a:p>
        </p:txBody>
      </p:sp>
      <p:sp>
        <p:nvSpPr>
          <p:cNvPr id="4" name="Rectangle 3"/>
          <p:cNvSpPr/>
          <p:nvPr/>
        </p:nvSpPr>
        <p:spPr>
          <a:xfrm>
            <a:off x="274320" y="164592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ChromaDB</a:t>
            </a:r>
          </a:p>
          <a:p>
            <a:pPr>
              <a:defRPr sz="1200">
                <a:solidFill>
                  <a:srgbClr val="1C2A3A"/>
                </a:solidFill>
                <a:latin typeface="Calibri"/>
              </a:defRPr>
            </a:pPr>
            <a:r>
              <a:t>Open-source, embedded, in-process. Zero config.</a:t>
            </a:r>
            <a:br/>
            <a:r>
              <a:t>Use when: Prototyping, local dev, small datasets (&lt;1M docs).</a:t>
            </a:r>
          </a:p>
        </p:txBody>
      </p:sp>
      <p:sp>
        <p:nvSpPr>
          <p:cNvPr id="5" name="Rectangle 4"/>
          <p:cNvSpPr/>
          <p:nvPr/>
        </p:nvSpPr>
        <p:spPr>
          <a:xfrm>
            <a:off x="274320" y="260604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Pinecone</a:t>
            </a:r>
          </a:p>
          <a:p>
            <a:pPr>
              <a:defRPr sz="1200">
                <a:solidFill>
                  <a:srgbClr val="1C2A3A"/>
                </a:solidFill>
                <a:latin typeface="Calibri"/>
              </a:defRPr>
            </a:pPr>
            <a:r>
              <a:t>Fully managed serverless. Auto-scaling, zero-ops.</a:t>
            </a:r>
            <a:br/>
            <a:r>
              <a:t>Use when: Production SaaS, no DB ops team, fast start.</a:t>
            </a:r>
          </a:p>
        </p:txBody>
      </p:sp>
      <p:sp>
        <p:nvSpPr>
          <p:cNvPr id="6" name="Rectangle 5"/>
          <p:cNvSpPr/>
          <p:nvPr/>
        </p:nvSpPr>
        <p:spPr>
          <a:xfrm>
            <a:off x="274320" y="356616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Weaviate</a:t>
            </a:r>
          </a:p>
          <a:p>
            <a:pPr>
              <a:defRPr sz="1200">
                <a:solidFill>
                  <a:srgbClr val="1C2A3A"/>
                </a:solidFill>
                <a:latin typeface="Calibri"/>
              </a:defRPr>
            </a:pPr>
            <a:r>
              <a:t>Open-source. Hybrid search (vector + BM25 keyword).</a:t>
            </a:r>
            <a:br/>
            <a:r>
              <a:t>Use when: Need keyword+semantic combined, self-hosted.</a:t>
            </a:r>
          </a:p>
        </p:txBody>
      </p:sp>
      <p:sp>
        <p:nvSpPr>
          <p:cNvPr id="7" name="Rectangle 6"/>
          <p:cNvSpPr/>
          <p:nvPr/>
        </p:nvSpPr>
        <p:spPr>
          <a:xfrm>
            <a:off x="274320" y="452628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Qdrant</a:t>
            </a:r>
          </a:p>
          <a:p>
            <a:pPr>
              <a:defRPr sz="1200">
                <a:solidFill>
                  <a:srgbClr val="1C2A3A"/>
                </a:solidFill>
                <a:latin typeface="Calibri"/>
              </a:defRPr>
            </a:pPr>
            <a:r>
              <a:t>Rust-based, fast. Rich filtering, payload storage.</a:t>
            </a:r>
            <a:br/>
            <a:r>
              <a:t>Use when: High-performance, complex metadata filters.</a:t>
            </a:r>
          </a:p>
        </p:txBody>
      </p:sp>
      <p:sp>
        <p:nvSpPr>
          <p:cNvPr id="8" name="Rectangle 7"/>
          <p:cNvSpPr/>
          <p:nvPr/>
        </p:nvSpPr>
        <p:spPr>
          <a:xfrm>
            <a:off x="274320" y="548640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pgvector (PostgreSQL)</a:t>
            </a:r>
          </a:p>
          <a:p>
            <a:pPr>
              <a:defRPr sz="1200">
                <a:solidFill>
                  <a:srgbClr val="1C2A3A"/>
                </a:solidFill>
                <a:latin typeface="Calibri"/>
              </a:defRPr>
            </a:pPr>
            <a:r>
              <a:t>Vector extension for Postgres. SQL + vector in one DB.</a:t>
            </a:r>
            <a:br/>
            <a:r>
              <a:t>Use when: Already on Postgres, want single database.</a:t>
            </a:r>
          </a:p>
        </p:txBody>
      </p:sp>
      <p:sp>
        <p:nvSpPr>
          <p:cNvPr id="9" name="TextBox 8"/>
          <p:cNvSpPr txBox="1"/>
          <p:nvPr/>
        </p:nvSpPr>
        <p:spPr>
          <a:xfrm>
            <a:off x="4206240" y="1188720"/>
            <a:ext cx="3749039" cy="365760"/>
          </a:xfrm>
          <a:prstGeom prst="rect">
            <a:avLst/>
          </a:prstGeom>
          <a:noFill/>
        </p:spPr>
        <p:txBody>
          <a:bodyPr wrap="square">
            <a:spAutoFit/>
          </a:bodyPr>
          <a:lstStyle/>
          <a:p>
            <a:pPr algn="l">
              <a:defRPr sz="1500" b="1">
                <a:solidFill>
                  <a:srgbClr val="1C2A3A"/>
                </a:solidFill>
                <a:latin typeface="Calibri"/>
              </a:defRPr>
            </a:pPr>
            <a:r>
              <a:t>Orchestration Frameworks</a:t>
            </a:r>
          </a:p>
        </p:txBody>
      </p:sp>
      <p:sp>
        <p:nvSpPr>
          <p:cNvPr id="10" name="Rectangle 9"/>
          <p:cNvSpPr/>
          <p:nvPr/>
        </p:nvSpPr>
        <p:spPr>
          <a:xfrm>
            <a:off x="4206240" y="164592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LangChain</a:t>
            </a:r>
          </a:p>
          <a:p>
            <a:pPr>
              <a:defRPr sz="1200">
                <a:solidFill>
                  <a:srgbClr val="1C2A3A"/>
                </a:solidFill>
                <a:latin typeface="Calibri"/>
              </a:defRPr>
            </a:pPr>
            <a:r>
              <a:t>Most popular. Chains, agents, 700+ integrations.</a:t>
            </a:r>
            <a:br/>
            <a:r>
              <a:t>Use when: Rapid prototyping, broad ecosystem needs.</a:t>
            </a:r>
          </a:p>
        </p:txBody>
      </p:sp>
      <p:sp>
        <p:nvSpPr>
          <p:cNvPr id="11" name="Rectangle 10"/>
          <p:cNvSpPr/>
          <p:nvPr/>
        </p:nvSpPr>
        <p:spPr>
          <a:xfrm>
            <a:off x="4206240" y="260604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LlamaIndex</a:t>
            </a:r>
          </a:p>
          <a:p>
            <a:pPr>
              <a:defRPr sz="1200">
                <a:solidFill>
                  <a:srgbClr val="1C2A3A"/>
                </a:solidFill>
                <a:latin typeface="Calibri"/>
              </a:defRPr>
            </a:pPr>
            <a:r>
              <a:t>Specialized for data ingestion &amp; indexing. Advanced RAG.</a:t>
            </a:r>
            <a:br/>
            <a:r>
              <a:t>Use when: Complex documents, multi-step retrieval.</a:t>
            </a:r>
          </a:p>
        </p:txBody>
      </p:sp>
      <p:sp>
        <p:nvSpPr>
          <p:cNvPr id="12" name="Rectangle 11"/>
          <p:cNvSpPr/>
          <p:nvPr/>
        </p:nvSpPr>
        <p:spPr>
          <a:xfrm>
            <a:off x="4206240" y="356616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Haystack (deepset)</a:t>
            </a:r>
          </a:p>
          <a:p>
            <a:pPr>
              <a:defRPr sz="1200">
                <a:solidFill>
                  <a:srgbClr val="1C2A3A"/>
                </a:solidFill>
                <a:latin typeface="Calibri"/>
              </a:defRPr>
            </a:pPr>
            <a:r>
              <a:t>Production NLP pipelines. Modular, type-safe.</a:t>
            </a:r>
            <a:br/>
            <a:r>
              <a:t>Use when: Enterprise, need robust pipeline abstraction.</a:t>
            </a:r>
          </a:p>
        </p:txBody>
      </p:sp>
      <p:sp>
        <p:nvSpPr>
          <p:cNvPr id="13" name="Rectangle 12"/>
          <p:cNvSpPr/>
          <p:nvPr/>
        </p:nvSpPr>
        <p:spPr>
          <a:xfrm>
            <a:off x="4206240" y="452628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Semantic Kernel (Microsoft)</a:t>
            </a:r>
          </a:p>
          <a:p>
            <a:pPr>
              <a:defRPr sz="1200">
                <a:solidFill>
                  <a:srgbClr val="1C2A3A"/>
                </a:solidFill>
                <a:latin typeface="Calibri"/>
              </a:defRPr>
            </a:pPr>
            <a:r>
              <a:t>LLM orchestration for .NET / Python. Plugin-based.</a:t>
            </a:r>
            <a:br/>
            <a:r>
              <a:t>Use when: Microsoft / Azure ecosystem, C# teams.</a:t>
            </a:r>
          </a:p>
        </p:txBody>
      </p:sp>
      <p:sp>
        <p:nvSpPr>
          <p:cNvPr id="14" name="Rectangle 13"/>
          <p:cNvSpPr/>
          <p:nvPr/>
        </p:nvSpPr>
        <p:spPr>
          <a:xfrm>
            <a:off x="4206240" y="548640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CrewAI / AutoGen</a:t>
            </a:r>
          </a:p>
          <a:p>
            <a:pPr>
              <a:defRPr sz="1200">
                <a:solidFill>
                  <a:srgbClr val="1C2A3A"/>
                </a:solidFill>
                <a:latin typeface="Calibri"/>
              </a:defRPr>
            </a:pPr>
            <a:r>
              <a:t>Multi-agent frameworks with built-in RAG support.</a:t>
            </a:r>
            <a:br/>
            <a:r>
              <a:t>Use when: Agentic RAG, multi-step reasoning tasks.</a:t>
            </a:r>
          </a:p>
        </p:txBody>
      </p:sp>
      <p:sp>
        <p:nvSpPr>
          <p:cNvPr id="15" name="TextBox 14"/>
          <p:cNvSpPr txBox="1"/>
          <p:nvPr/>
        </p:nvSpPr>
        <p:spPr>
          <a:xfrm>
            <a:off x="8138160" y="1188720"/>
            <a:ext cx="3749039" cy="365760"/>
          </a:xfrm>
          <a:prstGeom prst="rect">
            <a:avLst/>
          </a:prstGeom>
          <a:noFill/>
        </p:spPr>
        <p:txBody>
          <a:bodyPr wrap="square">
            <a:spAutoFit/>
          </a:bodyPr>
          <a:lstStyle/>
          <a:p>
            <a:pPr algn="l">
              <a:defRPr sz="1500" b="1">
                <a:solidFill>
                  <a:srgbClr val="1C2A3A"/>
                </a:solidFill>
                <a:latin typeface="Calibri"/>
              </a:defRPr>
            </a:pPr>
            <a:r>
              <a:t>Embeddings, Eval &amp; Cloud RAG</a:t>
            </a:r>
          </a:p>
        </p:txBody>
      </p:sp>
      <p:sp>
        <p:nvSpPr>
          <p:cNvPr id="16" name="Rectangle 15"/>
          <p:cNvSpPr/>
          <p:nvPr/>
        </p:nvSpPr>
        <p:spPr>
          <a:xfrm>
            <a:off x="8138160" y="164592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sentence-transformers</a:t>
            </a:r>
          </a:p>
          <a:p>
            <a:pPr>
              <a:defRPr sz="1200">
                <a:solidFill>
                  <a:srgbClr val="1C2A3A"/>
                </a:solidFill>
                <a:latin typeface="Calibri"/>
              </a:defRPr>
            </a:pPr>
            <a:r>
              <a:t>Open-source embeddings (MiniLM, E5, BGE). Free, local.</a:t>
            </a:r>
            <a:br/>
            <a:r>
              <a:t>Use when: Self-hosted, cost-sensitive, privacy.</a:t>
            </a:r>
          </a:p>
        </p:txBody>
      </p:sp>
      <p:sp>
        <p:nvSpPr>
          <p:cNvPr id="17" name="Rectangle 16"/>
          <p:cNvSpPr/>
          <p:nvPr/>
        </p:nvSpPr>
        <p:spPr>
          <a:xfrm>
            <a:off x="8138160" y="260604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OpenAI / Cohere / Voyage Embeddings</a:t>
            </a:r>
          </a:p>
          <a:p>
            <a:pPr>
              <a:defRPr sz="1200">
                <a:solidFill>
                  <a:srgbClr val="1C2A3A"/>
                </a:solidFill>
                <a:latin typeface="Calibri"/>
              </a:defRPr>
            </a:pPr>
            <a:r>
              <a:t>API-based. High quality. text-embedding-3-large etc.</a:t>
            </a:r>
            <a:br/>
            <a:r>
              <a:t>Use when: Best quality, API cost is acceptable.</a:t>
            </a:r>
          </a:p>
        </p:txBody>
      </p:sp>
      <p:sp>
        <p:nvSpPr>
          <p:cNvPr id="18" name="Rectangle 17"/>
          <p:cNvSpPr/>
          <p:nvPr/>
        </p:nvSpPr>
        <p:spPr>
          <a:xfrm>
            <a:off x="8138160" y="356616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RAGAS</a:t>
            </a:r>
          </a:p>
          <a:p>
            <a:pPr>
              <a:defRPr sz="1200">
                <a:solidFill>
                  <a:srgbClr val="1C2A3A"/>
                </a:solidFill>
                <a:latin typeface="Calibri"/>
              </a:defRPr>
            </a:pPr>
            <a:r>
              <a:t>Evaluate RAG: faithfulness, relevancy, context recall.</a:t>
            </a:r>
            <a:br/>
            <a:r>
              <a:t>Use when: Measuring and improving RAG quality.</a:t>
            </a:r>
          </a:p>
        </p:txBody>
      </p:sp>
      <p:sp>
        <p:nvSpPr>
          <p:cNvPr id="19" name="Rectangle 18"/>
          <p:cNvSpPr/>
          <p:nvPr/>
        </p:nvSpPr>
        <p:spPr>
          <a:xfrm>
            <a:off x="8138160" y="452628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AWS Bedrock Knowledge Bases</a:t>
            </a:r>
          </a:p>
          <a:p>
            <a:pPr>
              <a:defRPr sz="1200">
                <a:solidFill>
                  <a:srgbClr val="1C2A3A"/>
                </a:solidFill>
                <a:latin typeface="Calibri"/>
              </a:defRPr>
            </a:pPr>
            <a:r>
              <a:t>Managed RAG. Auto-chunking, OpenSearch, Bedrock LLMs.</a:t>
            </a:r>
            <a:br/>
            <a:r>
              <a:t>Use when: AWS shop, zero-infra RAG.</a:t>
            </a:r>
          </a:p>
        </p:txBody>
      </p:sp>
      <p:sp>
        <p:nvSpPr>
          <p:cNvPr id="20" name="Rectangle 19"/>
          <p:cNvSpPr/>
          <p:nvPr/>
        </p:nvSpPr>
        <p:spPr>
          <a:xfrm>
            <a:off x="8138160" y="548640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Azure AI Search + OpenAI</a:t>
            </a:r>
          </a:p>
          <a:p>
            <a:pPr>
              <a:defRPr sz="1200">
                <a:solidFill>
                  <a:srgbClr val="1C2A3A"/>
                </a:solidFill>
                <a:latin typeface="Calibri"/>
              </a:defRPr>
            </a:pPr>
            <a:r>
              <a:t>Enterprise search + GPT. Hybrid retrieval, RBAC.</a:t>
            </a:r>
            <a:br/>
            <a:r>
              <a:t>Use when: Azure/Microsoft ecosystem.</a:t>
            </a:r>
          </a:p>
        </p:txBody>
      </p:sp>
      <p:sp>
        <p:nvSpPr>
          <p:cNvPr id="21" name="TextBox 20"/>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21/55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How to Build RAG: Local Setup</a:t>
            </a:r>
          </a:p>
          <a:p>
            <a:pPr>
              <a:defRPr sz="1600">
                <a:solidFill>
                  <a:srgbClr val="ECEFF1"/>
                </a:solidFill>
                <a:latin typeface="Calibri"/>
              </a:defRPr>
            </a:pPr>
            <a:r>
              <a:t>Python + ChromaDB + sentence-transformers + any LLM</a:t>
            </a:r>
          </a:p>
        </p:txBody>
      </p:sp>
      <p:sp>
        <p:nvSpPr>
          <p:cNvPr id="3" name="TextBox 2"/>
          <p:cNvSpPr txBox="1"/>
          <p:nvPr/>
        </p:nvSpPr>
        <p:spPr>
          <a:xfrm>
            <a:off x="457200" y="1371600"/>
            <a:ext cx="5943600" cy="4754880"/>
          </a:xfrm>
          <a:prstGeom prst="rect">
            <a:avLst/>
          </a:prstGeom>
          <a:noFill/>
        </p:spPr>
        <p:txBody>
          <a:bodyPr wrap="square">
            <a:spAutoFit/>
          </a:bodyPr>
          <a:lstStyle/>
          <a:p>
            <a:pPr algn="l">
              <a:defRPr sz="1000" b="0">
                <a:solidFill>
                  <a:srgbClr val="1C2A3A"/>
                </a:solidFill>
                <a:latin typeface="Consolas"/>
              </a:defRPr>
            </a:pPr>
            <a:r>
              <a:t># 1. Install dependencies</a:t>
            </a:r>
            <a:br/>
            <a:r>
              <a:t># pip install chromadb sentence-transformers langchain</a:t>
            </a:r>
            <a:br/>
            <a:br/>
            <a:r>
              <a:t># 2. Load &amp; chunk your documents</a:t>
            </a:r>
            <a:br/>
            <a:r>
              <a:t>from langchain.text_splitter import (</a:t>
            </a:r>
            <a:br/>
            <a:r>
              <a:t>    RecursiveCharacterTextSplitter</a:t>
            </a:r>
            <a:br/>
            <a:r>
              <a:t>)</a:t>
            </a:r>
            <a:br/>
            <a:r>
              <a:t>splitter = RecursiveCharacterTextSplitter(</a:t>
            </a:r>
            <a:br/>
            <a:r>
              <a:t>    chunk_size=500, chunk_overlap=50</a:t>
            </a:r>
            <a:br/>
            <a:r>
              <a:t>)</a:t>
            </a:r>
            <a:br/>
            <a:r>
              <a:t>chunks = splitter.split_documents(docs)</a:t>
            </a:r>
            <a:br/>
            <a:br/>
            <a:r>
              <a:t># 3. Create embeddings &amp; vector store</a:t>
            </a:r>
            <a:br/>
            <a:r>
              <a:t>from langchain.embeddings import (</a:t>
            </a:r>
            <a:br/>
            <a:r>
              <a:t>    HuggingFaceEmbeddings</a:t>
            </a:r>
            <a:br/>
            <a:r>
              <a:t>)</a:t>
            </a:r>
            <a:br/>
            <a:r>
              <a:t>from langchain.vectorstores import Chroma</a:t>
            </a:r>
            <a:br/>
            <a:br/>
            <a:r>
              <a:t>embeddings = HuggingFaceEmbeddings(</a:t>
            </a:r>
            <a:br/>
            <a:r>
              <a:t>    model_name="all-MiniLM-L6-v2"  # 384-dim</a:t>
            </a:r>
            <a:br/>
            <a:r>
              <a:t>)</a:t>
            </a:r>
            <a:br/>
            <a:r>
              <a:t>vectorstore = Chroma.from_documents(</a:t>
            </a:r>
            <a:br/>
            <a:r>
              <a:t>    chunks, embeddings, persist_directory="./db"</a:t>
            </a:r>
            <a:br/>
            <a:r>
              <a:t>)</a:t>
            </a:r>
            <a:br/>
            <a:br/>
            <a:r>
              <a:t># 4. Query: embed question -&gt; retrieve -&gt; generate</a:t>
            </a:r>
            <a:br/>
            <a:r>
              <a:t>results = vectorstore.similarity_search(</a:t>
            </a:r>
            <a:br/>
            <a:r>
              <a:t>    "What was revenue growth?", k=5</a:t>
            </a:r>
            <a:br/>
            <a:r>
              <a:t>)</a:t>
            </a:r>
            <a:br/>
            <a:r>
              <a:t>context = "\n".join(r.page_content for r in results)</a:t>
            </a:r>
            <a:br/>
            <a:r>
              <a:t>answer = llm(f"{context}\n\nQ: {question}")</a:t>
            </a:r>
          </a:p>
        </p:txBody>
      </p:sp>
      <p:sp>
        <p:nvSpPr>
          <p:cNvPr id="4" name="Rectangle 3"/>
          <p:cNvSpPr/>
          <p:nvPr/>
        </p:nvSpPr>
        <p:spPr>
          <a:xfrm>
            <a:off x="6583680" y="1280160"/>
            <a:ext cx="5029200" cy="14630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Architecture</a:t>
            </a:r>
          </a:p>
          <a:p>
            <a:pPr>
              <a:defRPr sz="1200">
                <a:solidFill>
                  <a:srgbClr val="1C2A3A"/>
                </a:solidFill>
                <a:latin typeface="Calibri"/>
              </a:defRPr>
            </a:pPr>
            <a:r>
              <a:t>Documents -&gt; Chunking (500 chars) -&gt; Embedding</a:t>
            </a:r>
            <a:br/>
            <a:r>
              <a:t>  -&gt; ChromaDB (cosine similarity) -&gt; Top-K retrieval</a:t>
            </a:r>
            <a:br/>
            <a:r>
              <a:t>  -&gt; LLM prompt = question + retrieved chunks</a:t>
            </a:r>
            <a:br/>
            <a:r>
              <a:t>  -&gt; Answer with source references</a:t>
            </a:r>
          </a:p>
        </p:txBody>
      </p:sp>
      <p:sp>
        <p:nvSpPr>
          <p:cNvPr id="5" name="Rectangle 4"/>
          <p:cNvSpPr/>
          <p:nvPr/>
        </p:nvSpPr>
        <p:spPr>
          <a:xfrm>
            <a:off x="6583680" y="2926080"/>
            <a:ext cx="5029200" cy="137160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Prerequisites</a:t>
            </a:r>
          </a:p>
          <a:p>
            <a:pPr>
              <a:defRPr sz="1200">
                <a:solidFill>
                  <a:srgbClr val="1C2A3A"/>
                </a:solidFill>
                <a:latin typeface="Calibri"/>
              </a:defRPr>
            </a:pPr>
            <a:r>
              <a:t>- Python 3.10+, no GPU required for retrieval</a:t>
            </a:r>
            <a:br/>
            <a:r>
              <a:t>- GPU optional (for local LLM via Ollama/vLLM)</a:t>
            </a:r>
            <a:br/>
            <a:r>
              <a:t>- Or use API: OpenAI / Anthropic / Groq for generation</a:t>
            </a:r>
            <a:br/>
            <a:r>
              <a:t>- Storage: ~1 GB per 100K document chunks</a:t>
            </a:r>
          </a:p>
        </p:txBody>
      </p:sp>
      <p:sp>
        <p:nvSpPr>
          <p:cNvPr id="6" name="Rectangle 5"/>
          <p:cNvSpPr/>
          <p:nvPr/>
        </p:nvSpPr>
        <p:spPr>
          <a:xfrm>
            <a:off x="6583680" y="4480560"/>
            <a:ext cx="5029200" cy="1645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Tuning Tips</a:t>
            </a:r>
          </a:p>
          <a:p>
            <a:pPr>
              <a:defRPr sz="1200">
                <a:solidFill>
                  <a:srgbClr val="1C2A3A"/>
                </a:solidFill>
                <a:latin typeface="Calibri"/>
              </a:defRPr>
            </a:pPr>
            <a:r>
              <a:t>- Chunk size: 300-1000 chars (test what works best)</a:t>
            </a:r>
            <a:br/>
            <a:r>
              <a:t>- Overlap: 10-20% of chunk size avoids split entities</a:t>
            </a:r>
            <a:br/>
            <a:r>
              <a:t>- Top-K: 3-5 docs balances context vs noise</a:t>
            </a:r>
            <a:br/>
            <a:r>
              <a:t>- Embedding model matters: try domain-specific ones</a:t>
            </a:r>
            <a:br/>
            <a:r>
              <a:t>- Re-ranking (cross-encoder) boosts precision</a:t>
            </a:r>
          </a:p>
        </p:txBody>
      </p:sp>
      <p:sp>
        <p:nvSpPr>
          <p:cNvPr id="7" name="TextBox 6"/>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22/55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How to Build RAG: AWS</a:t>
            </a:r>
          </a:p>
          <a:p>
            <a:pPr>
              <a:defRPr sz="1600">
                <a:solidFill>
                  <a:srgbClr val="ECEFF1"/>
                </a:solidFill>
                <a:latin typeface="Calibri"/>
              </a:defRPr>
            </a:pPr>
            <a:r>
              <a:t>Bedrock Knowledge Bases + OpenSearch Serverless</a:t>
            </a:r>
          </a:p>
        </p:txBody>
      </p:sp>
      <p:sp>
        <p:nvSpPr>
          <p:cNvPr id="3" name="TextBox 2"/>
          <p:cNvSpPr txBox="1"/>
          <p:nvPr/>
        </p:nvSpPr>
        <p:spPr>
          <a:xfrm>
            <a:off x="457200" y="1188720"/>
            <a:ext cx="5486400" cy="365760"/>
          </a:xfrm>
          <a:prstGeom prst="rect">
            <a:avLst/>
          </a:prstGeom>
          <a:noFill/>
        </p:spPr>
        <p:txBody>
          <a:bodyPr wrap="square">
            <a:spAutoFit/>
          </a:bodyPr>
          <a:lstStyle/>
          <a:p>
            <a:pPr algn="l">
              <a:defRPr sz="1600" b="1">
                <a:solidFill>
                  <a:srgbClr val="1C2A3A"/>
                </a:solidFill>
                <a:latin typeface="Calibri"/>
              </a:defRPr>
            </a:pPr>
            <a:r>
              <a:t>Option A: Amazon Bedrock Knowledge Bases (Managed)</a:t>
            </a:r>
          </a:p>
        </p:txBody>
      </p:sp>
      <p:sp>
        <p:nvSpPr>
          <p:cNvPr id="4" name="Rectangle 3"/>
          <p:cNvSpPr/>
          <p:nvPr/>
        </p:nvSpPr>
        <p:spPr>
          <a:xfrm>
            <a:off x="457200" y="1645920"/>
            <a:ext cx="5486400" cy="32004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Fully Managed RAG in 5 Steps</a:t>
            </a:r>
          </a:p>
          <a:p>
            <a:pPr>
              <a:defRPr sz="1200">
                <a:solidFill>
                  <a:srgbClr val="1C2A3A"/>
                </a:solidFill>
                <a:latin typeface="Calibri"/>
              </a:defRPr>
            </a:pPr>
            <a:r>
              <a:t>1. Create S3 bucket with your documents</a:t>
            </a:r>
            <a:br/>
            <a:r>
              <a:t>   (PDF, TXT, CSV, HTML, DOCX supported)</a:t>
            </a:r>
            <a:br/>
            <a:br/>
            <a:r>
              <a:t>2. Console: Bedrock &gt; Knowledge bases &gt; Create</a:t>
            </a:r>
            <a:br/>
            <a:r>
              <a:t>   - Select embedding model (Titan, Cohere)</a:t>
            </a:r>
            <a:br/>
            <a:r>
              <a:t>   - Select vector store (auto-creates OpenSearch)</a:t>
            </a:r>
            <a:br/>
            <a:br/>
            <a:r>
              <a:t>3. Sync data source (automatic chunking &amp; embedding)</a:t>
            </a:r>
            <a:br/>
            <a:br/>
            <a:r>
              <a:t>4. Query via RetrieveAndGenerate API:</a:t>
            </a:r>
            <a:br/>
            <a:r>
              <a:t>   response = bedrock.retrieve_and_generate(</a:t>
            </a:r>
            <a:br/>
            <a:r>
              <a:t>       input={'text': 'What was revenue growth?'},</a:t>
            </a:r>
            <a:br/>
            <a:r>
              <a:t>       knowledgeBaseId='KB_ID',</a:t>
            </a:r>
            <a:br/>
            <a:r>
              <a:t>       modelArn='anthropic.claude-3-sonnet'</a:t>
            </a:r>
            <a:br/>
            <a:r>
              <a:t>   )</a:t>
            </a:r>
            <a:br/>
            <a:br/>
            <a:r>
              <a:t>5. Response includes answer + source citations</a:t>
            </a:r>
          </a:p>
        </p:txBody>
      </p:sp>
      <p:sp>
        <p:nvSpPr>
          <p:cNvPr id="5" name="TextBox 4"/>
          <p:cNvSpPr txBox="1"/>
          <p:nvPr/>
        </p:nvSpPr>
        <p:spPr>
          <a:xfrm>
            <a:off x="6217920" y="1188720"/>
            <a:ext cx="5303520" cy="365760"/>
          </a:xfrm>
          <a:prstGeom prst="rect">
            <a:avLst/>
          </a:prstGeom>
          <a:noFill/>
        </p:spPr>
        <p:txBody>
          <a:bodyPr wrap="square">
            <a:spAutoFit/>
          </a:bodyPr>
          <a:lstStyle/>
          <a:p>
            <a:pPr algn="l">
              <a:defRPr sz="1600" b="1">
                <a:solidFill>
                  <a:srgbClr val="1C2A3A"/>
                </a:solidFill>
                <a:latin typeface="Calibri"/>
              </a:defRPr>
            </a:pPr>
            <a:r>
              <a:t>Option B: Custom RAG on AWS</a:t>
            </a:r>
          </a:p>
        </p:txBody>
      </p:sp>
      <p:sp>
        <p:nvSpPr>
          <p:cNvPr id="6" name="Rectangle 5"/>
          <p:cNvSpPr/>
          <p:nvPr/>
        </p:nvSpPr>
        <p:spPr>
          <a:xfrm>
            <a:off x="6217920" y="1645920"/>
            <a:ext cx="5303520" cy="18288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Build Your Own with AWS Services</a:t>
            </a:r>
          </a:p>
          <a:p>
            <a:pPr>
              <a:defRPr sz="1200">
                <a:solidFill>
                  <a:srgbClr val="1C2A3A"/>
                </a:solidFill>
                <a:latin typeface="Calibri"/>
              </a:defRPr>
            </a:pPr>
            <a:r>
              <a:t>Embedding:   Bedrock Embeddings API or SageMaker</a:t>
            </a:r>
            <a:br/>
            <a:r>
              <a:t>Vector DB:   OpenSearch Serverless (vector engine)</a:t>
            </a:r>
            <a:br/>
            <a:r>
              <a:t>             or Amazon Aurora pgvector</a:t>
            </a:r>
            <a:br/>
            <a:r>
              <a:t>             or self-hosted Qdrant on ECS/EKS</a:t>
            </a:r>
            <a:br/>
            <a:r>
              <a:t>Orchestration: Lambda + Step Functions</a:t>
            </a:r>
            <a:br/>
            <a:r>
              <a:t>             or LangChain on ECS/Fargate</a:t>
            </a:r>
            <a:br/>
            <a:r>
              <a:t>Generation:  Bedrock (Claude, Llama, Titan)</a:t>
            </a:r>
            <a:br/>
            <a:r>
              <a:t>             or SageMaker endpoint</a:t>
            </a:r>
          </a:p>
        </p:txBody>
      </p:sp>
      <p:sp>
        <p:nvSpPr>
          <p:cNvPr id="7" name="Rectangle 6"/>
          <p:cNvSpPr/>
          <p:nvPr/>
        </p:nvSpPr>
        <p:spPr>
          <a:xfrm>
            <a:off x="6217920" y="3657600"/>
            <a:ext cx="5303520" cy="118872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Managed vs Custom</a:t>
            </a:r>
          </a:p>
          <a:p>
            <a:pPr>
              <a:defRPr sz="1200">
                <a:solidFill>
                  <a:srgbClr val="1C2A3A"/>
                </a:solidFill>
                <a:latin typeface="Calibri"/>
              </a:defRPr>
            </a:pPr>
            <a:r>
              <a:t>Bedrock KB: Zero infra, auto-sync, simple API, fast start</a:t>
            </a:r>
            <a:br/>
            <a:r>
              <a:t>Custom: Full control, any vector DB, custom chunking,</a:t>
            </a:r>
            <a:br/>
            <a:r>
              <a:t>  advanced retrieval (hybrid search, re-ranking, filters)</a:t>
            </a:r>
          </a:p>
        </p:txBody>
      </p:sp>
      <p:sp>
        <p:nvSpPr>
          <p:cNvPr id="8" name="Rectangle 7"/>
          <p:cNvSpPr/>
          <p:nvPr/>
        </p:nvSpPr>
        <p:spPr>
          <a:xfrm>
            <a:off x="457200" y="5120640"/>
            <a:ext cx="11064240" cy="100584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Typical AWS Costs</a:t>
            </a:r>
          </a:p>
          <a:p>
            <a:pPr>
              <a:defRPr sz="1200">
                <a:solidFill>
                  <a:srgbClr val="1C2A3A"/>
                </a:solidFill>
                <a:latin typeface="Calibri"/>
              </a:defRPr>
            </a:pPr>
            <a:r>
              <a:t>Bedrock KB: Embedding ~$0.10/1M tokens, generation per-token, OpenSearch from $0.24/hr (serverless OCU)</a:t>
            </a:r>
            <a:br/>
            <a:r>
              <a:t>Custom: OpenSearch serverless from $0.24/hr per OCU. Aurora pgvector from ~$0.10/hr (db.t4g.medium)</a:t>
            </a:r>
            <a:br/>
            <a:r>
              <a:t>Storage: S3 ~$0.023/GB/month. Estimated total for small RAG system: $50-200/month</a:t>
            </a:r>
          </a:p>
        </p:txBody>
      </p:sp>
      <p:sp>
        <p:nvSpPr>
          <p:cNvPr id="9" name="TextBox 8"/>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23/55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Data Preparation &amp; Evaluation Tools</a:t>
            </a:r>
          </a:p>
        </p:txBody>
      </p:sp>
      <p:sp>
        <p:nvSpPr>
          <p:cNvPr id="3" name="TextBox 2"/>
          <p:cNvSpPr txBox="1"/>
          <p:nvPr/>
        </p:nvSpPr>
        <p:spPr>
          <a:xfrm>
            <a:off x="457200" y="1188720"/>
            <a:ext cx="5029200" cy="365760"/>
          </a:xfrm>
          <a:prstGeom prst="rect">
            <a:avLst/>
          </a:prstGeom>
          <a:noFill/>
        </p:spPr>
        <p:txBody>
          <a:bodyPr wrap="square">
            <a:spAutoFit/>
          </a:bodyPr>
          <a:lstStyle/>
          <a:p>
            <a:pPr algn="l">
              <a:defRPr sz="1600" b="1">
                <a:solidFill>
                  <a:srgbClr val="1C2A3A"/>
                </a:solidFill>
                <a:latin typeface="Calibri"/>
              </a:defRPr>
            </a:pPr>
            <a:r>
              <a:t>Data Preparation</a:t>
            </a:r>
          </a:p>
        </p:txBody>
      </p:sp>
      <p:sp>
        <p:nvSpPr>
          <p:cNvPr id="4" name="Rectangle 3"/>
          <p:cNvSpPr/>
          <p:nvPr/>
        </p:nvSpPr>
        <p:spPr>
          <a:xfrm>
            <a:off x="457200" y="1645920"/>
            <a:ext cx="5303520"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Argilla</a:t>
            </a:r>
          </a:p>
          <a:p>
            <a:pPr>
              <a:defRPr sz="1200">
                <a:solidFill>
                  <a:srgbClr val="1C2A3A"/>
                </a:solidFill>
                <a:latin typeface="Calibri"/>
              </a:defRPr>
            </a:pPr>
            <a:r>
              <a:t>Open-source data labeling for LLMs.</a:t>
            </a:r>
          </a:p>
        </p:txBody>
      </p:sp>
      <p:sp>
        <p:nvSpPr>
          <p:cNvPr id="5" name="Rectangle 4"/>
          <p:cNvSpPr/>
          <p:nvPr/>
        </p:nvSpPr>
        <p:spPr>
          <a:xfrm>
            <a:off x="457200" y="2697480"/>
            <a:ext cx="5303520"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Label Studio</a:t>
            </a:r>
          </a:p>
          <a:p>
            <a:pPr>
              <a:defRPr sz="1200">
                <a:solidFill>
                  <a:srgbClr val="1C2A3A"/>
                </a:solidFill>
                <a:latin typeface="Calibri"/>
              </a:defRPr>
            </a:pPr>
            <a:r>
              <a:t>Multi-purpose labeling tool.</a:t>
            </a:r>
          </a:p>
        </p:txBody>
      </p:sp>
      <p:sp>
        <p:nvSpPr>
          <p:cNvPr id="6" name="Rectangle 5"/>
          <p:cNvSpPr/>
          <p:nvPr/>
        </p:nvSpPr>
        <p:spPr>
          <a:xfrm>
            <a:off x="457200" y="3749039"/>
            <a:ext cx="5303520"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HuggingFace Datasets</a:t>
            </a:r>
          </a:p>
          <a:p>
            <a:pPr>
              <a:defRPr sz="1200">
                <a:solidFill>
                  <a:srgbClr val="1C2A3A"/>
                </a:solidFill>
                <a:latin typeface="Calibri"/>
              </a:defRPr>
            </a:pPr>
            <a:r>
              <a:t>Library + hub. 100K+ public datasets.</a:t>
            </a:r>
          </a:p>
        </p:txBody>
      </p:sp>
      <p:sp>
        <p:nvSpPr>
          <p:cNvPr id="7" name="Rectangle 6"/>
          <p:cNvSpPr/>
          <p:nvPr/>
        </p:nvSpPr>
        <p:spPr>
          <a:xfrm>
            <a:off x="457200" y="4800600"/>
            <a:ext cx="5303520"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Synthetic Data Generation</a:t>
            </a:r>
          </a:p>
          <a:p>
            <a:pPr>
              <a:defRPr sz="1200">
                <a:solidFill>
                  <a:srgbClr val="1C2A3A"/>
                </a:solidFill>
                <a:latin typeface="Calibri"/>
              </a:defRPr>
            </a:pPr>
            <a:r>
              <a:t>Use GPT-4/Claude to bootstrap training data.</a:t>
            </a:r>
          </a:p>
        </p:txBody>
      </p:sp>
      <p:sp>
        <p:nvSpPr>
          <p:cNvPr id="8" name="TextBox 7"/>
          <p:cNvSpPr txBox="1"/>
          <p:nvPr/>
        </p:nvSpPr>
        <p:spPr>
          <a:xfrm>
            <a:off x="6217920" y="1188720"/>
            <a:ext cx="5029200" cy="365760"/>
          </a:xfrm>
          <a:prstGeom prst="rect">
            <a:avLst/>
          </a:prstGeom>
          <a:noFill/>
        </p:spPr>
        <p:txBody>
          <a:bodyPr wrap="square">
            <a:spAutoFit/>
          </a:bodyPr>
          <a:lstStyle/>
          <a:p>
            <a:pPr algn="l">
              <a:defRPr sz="1600" b="1">
                <a:solidFill>
                  <a:srgbClr val="1C2A3A"/>
                </a:solidFill>
                <a:latin typeface="Calibri"/>
              </a:defRPr>
            </a:pPr>
            <a:r>
              <a:t>Evaluation &amp; Benchmarking</a:t>
            </a:r>
          </a:p>
        </p:txBody>
      </p:sp>
      <p:sp>
        <p:nvSpPr>
          <p:cNvPr id="9" name="Rectangle 8"/>
          <p:cNvSpPr/>
          <p:nvPr/>
        </p:nvSpPr>
        <p:spPr>
          <a:xfrm>
            <a:off x="6217920" y="1645920"/>
            <a:ext cx="5303520"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LM Evaluation Harness</a:t>
            </a:r>
          </a:p>
          <a:p>
            <a:pPr>
              <a:defRPr sz="1200">
                <a:solidFill>
                  <a:srgbClr val="1C2A3A"/>
                </a:solidFill>
                <a:latin typeface="Calibri"/>
              </a:defRPr>
            </a:pPr>
            <a:r>
              <a:t>Standard LLM benchmark framework.</a:t>
            </a:r>
          </a:p>
        </p:txBody>
      </p:sp>
      <p:sp>
        <p:nvSpPr>
          <p:cNvPr id="10" name="Rectangle 9"/>
          <p:cNvSpPr/>
          <p:nvPr/>
        </p:nvSpPr>
        <p:spPr>
          <a:xfrm>
            <a:off x="6217920" y="2697480"/>
            <a:ext cx="5303520"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RAGAS</a:t>
            </a:r>
          </a:p>
          <a:p>
            <a:pPr>
              <a:defRPr sz="1200">
                <a:solidFill>
                  <a:srgbClr val="1C2A3A"/>
                </a:solidFill>
                <a:latin typeface="Calibri"/>
              </a:defRPr>
            </a:pPr>
            <a:r>
              <a:t>Evaluate RAG: faithfulness, relevancy.</a:t>
            </a:r>
          </a:p>
        </p:txBody>
      </p:sp>
      <p:sp>
        <p:nvSpPr>
          <p:cNvPr id="11" name="Rectangle 10"/>
          <p:cNvSpPr/>
          <p:nvPr/>
        </p:nvSpPr>
        <p:spPr>
          <a:xfrm>
            <a:off x="6217920" y="3749039"/>
            <a:ext cx="5303520"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DeepEval</a:t>
            </a:r>
          </a:p>
          <a:p>
            <a:pPr>
              <a:defRPr sz="1200">
                <a:solidFill>
                  <a:srgbClr val="1C2A3A"/>
                </a:solidFill>
                <a:latin typeface="Calibri"/>
              </a:defRPr>
            </a:pPr>
            <a:r>
              <a:t>Unit testing for LLMs. CI/CD integration.</a:t>
            </a:r>
          </a:p>
        </p:txBody>
      </p:sp>
      <p:sp>
        <p:nvSpPr>
          <p:cNvPr id="12" name="Rectangle 11"/>
          <p:cNvSpPr/>
          <p:nvPr/>
        </p:nvSpPr>
        <p:spPr>
          <a:xfrm>
            <a:off x="6217920" y="4800600"/>
            <a:ext cx="5303520"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Phoenix (Arize AI)</a:t>
            </a:r>
          </a:p>
          <a:p>
            <a:pPr>
              <a:defRPr sz="1200">
                <a:solidFill>
                  <a:srgbClr val="1C2A3A"/>
                </a:solidFill>
                <a:latin typeface="Calibri"/>
              </a:defRPr>
            </a:pPr>
            <a:r>
              <a:t>LLM observability. Trace &amp; debug in prod.</a:t>
            </a:r>
          </a:p>
        </p:txBody>
      </p:sp>
      <p:sp>
        <p:nvSpPr>
          <p:cNvPr id="13" name="TextBox 12"/>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24/55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Real-World Use Cases</a:t>
            </a:r>
          </a:p>
        </p:txBody>
      </p:sp>
      <p:sp>
        <p:nvSpPr>
          <p:cNvPr id="3" name="Rectangle 2"/>
          <p:cNvSpPr/>
          <p:nvPr/>
        </p:nvSpPr>
        <p:spPr>
          <a:xfrm>
            <a:off x="457200" y="1371600"/>
            <a:ext cx="5303520" cy="2011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Financial Services</a:t>
            </a:r>
          </a:p>
          <a:p>
            <a:pPr>
              <a:defRPr sz="1200">
                <a:solidFill>
                  <a:srgbClr val="1C2A3A"/>
                </a:solidFill>
                <a:latin typeface="Calibri"/>
              </a:defRPr>
            </a:pPr>
            <a:r>
              <a:t>- Risk assessment with domain accuracy</a:t>
            </a:r>
            <a:br/>
            <a:r>
              <a:t>- Compliance checking for regulations</a:t>
            </a:r>
            <a:br/>
            <a:r>
              <a:t>- Financial analysis: ratios, tables, metrics</a:t>
            </a:r>
            <a:br/>
            <a:r>
              <a:t>- Sentiment: FinBERT knows 'headwinds' = negative</a:t>
            </a:r>
          </a:p>
        </p:txBody>
      </p:sp>
      <p:sp>
        <p:nvSpPr>
          <p:cNvPr id="4" name="Rectangle 3"/>
          <p:cNvSpPr/>
          <p:nvPr/>
        </p:nvSpPr>
        <p:spPr>
          <a:xfrm>
            <a:off x="6217920" y="1371600"/>
            <a:ext cx="5303520" cy="2011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Healthcare</a:t>
            </a:r>
          </a:p>
          <a:p>
            <a:pPr>
              <a:defRPr sz="1200">
                <a:solidFill>
                  <a:srgbClr val="1C2A3A"/>
                </a:solidFill>
                <a:latin typeface="Calibri"/>
              </a:defRPr>
            </a:pPr>
            <a:r>
              <a:t>- Clinical notes: extract diagnoses, meds</a:t>
            </a:r>
            <a:br/>
            <a:r>
              <a:t>- Medical coding: ICD-10 from clinical text</a:t>
            </a:r>
            <a:br/>
            <a:r>
              <a:t>- Drug interactions from pharma databases</a:t>
            </a:r>
          </a:p>
        </p:txBody>
      </p:sp>
      <p:sp>
        <p:nvSpPr>
          <p:cNvPr id="5" name="Rectangle 4"/>
          <p:cNvSpPr/>
          <p:nvPr/>
        </p:nvSpPr>
        <p:spPr>
          <a:xfrm>
            <a:off x="457200" y="3657600"/>
            <a:ext cx="5303520" cy="2011680"/>
          </a:xfrm>
          <a:prstGeom prst="rect">
            <a:avLst/>
          </a:prstGeom>
          <a:solidFill>
            <a:srgbClr val="D7C8F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Legal</a:t>
            </a:r>
          </a:p>
          <a:p>
            <a:pPr>
              <a:defRPr sz="1200">
                <a:solidFill>
                  <a:srgbClr val="1C2A3A"/>
                </a:solidFill>
                <a:latin typeface="Calibri"/>
              </a:defRPr>
            </a:pPr>
            <a:r>
              <a:t>- Contract review: clauses, obligations, risks</a:t>
            </a:r>
            <a:br/>
            <a:r>
              <a:t>- Case law research: precedent &amp; citations</a:t>
            </a:r>
            <a:br/>
            <a:r>
              <a:t>- Due diligence: extract terms from 1000s of docs</a:t>
            </a:r>
          </a:p>
        </p:txBody>
      </p:sp>
      <p:sp>
        <p:nvSpPr>
          <p:cNvPr id="6" name="Rectangle 5"/>
          <p:cNvSpPr/>
          <p:nvPr/>
        </p:nvSpPr>
        <p:spPr>
          <a:xfrm>
            <a:off x="6217920" y="3657600"/>
            <a:ext cx="5303520" cy="201168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Cybersecurity &amp; Email Filtering</a:t>
            </a:r>
          </a:p>
          <a:p>
            <a:pPr>
              <a:defRPr sz="1200">
                <a:solidFill>
                  <a:srgbClr val="1C2A3A"/>
                </a:solidFill>
                <a:latin typeface="Calibri"/>
              </a:defRPr>
            </a:pPr>
            <a:r>
              <a:t>- Spam/phishing detection (95% with fine-tuned DistilBERT)</a:t>
            </a:r>
            <a:br/>
            <a:r>
              <a:t>- Threat classification: phishing vs scam vs legitimate</a:t>
            </a:r>
            <a:br/>
            <a:r>
              <a:t>- High-throughput email triage with calibrated confidence</a:t>
            </a:r>
          </a:p>
        </p:txBody>
      </p:sp>
      <p:sp>
        <p:nvSpPr>
          <p:cNvPr id="7" name="Rectangle 6"/>
          <p:cNvSpPr/>
          <p:nvPr/>
        </p:nvSpPr>
        <p:spPr>
          <a:xfrm>
            <a:off x="457200" y="5943600"/>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Common pattern:</a:t>
            </a:r>
          </a:p>
          <a:p>
            <a:pPr>
              <a:defRPr sz="1200">
                <a:solidFill>
                  <a:srgbClr val="1C2A3A"/>
                </a:solidFill>
                <a:latin typeface="Calibri"/>
              </a:defRPr>
            </a:pPr>
            <a:r>
              <a:t>Start with RAG for quick wins, then add fine-tuning where accuracy gaps appear.</a:t>
            </a:r>
          </a:p>
        </p:txBody>
      </p:sp>
      <p:sp>
        <p:nvSpPr>
          <p:cNvPr id="8" name="TextBox 7"/>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25/55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The Hybrid Approach: Best of Both Worlds</a:t>
            </a:r>
          </a:p>
        </p:txBody>
      </p:sp>
      <p:pic>
        <p:nvPicPr>
          <p:cNvPr id="3" name="Picture 2" descr="hybrid_architecture.png"/>
          <p:cNvPicPr>
            <a:picLocks noChangeAspect="1"/>
          </p:cNvPicPr>
          <p:nvPr/>
        </p:nvPicPr>
        <p:blipFill>
          <a:blip r:embed="rId2"/>
          <a:stretch>
            <a:fillRect/>
          </a:stretch>
        </p:blipFill>
        <p:spPr>
          <a:xfrm>
            <a:off x="457200" y="1188720"/>
            <a:ext cx="5943600" cy="4114800"/>
          </a:xfrm>
          <a:prstGeom prst="rect">
            <a:avLst/>
          </a:prstGeom>
        </p:spPr>
      </p:pic>
      <p:sp>
        <p:nvSpPr>
          <p:cNvPr id="4" name="Rectangle 3"/>
          <p:cNvSpPr/>
          <p:nvPr/>
        </p:nvSpPr>
        <p:spPr>
          <a:xfrm>
            <a:off x="6858000" y="1371600"/>
            <a:ext cx="4846320" cy="1645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What Fine-Tuning Contributes</a:t>
            </a:r>
          </a:p>
          <a:p>
            <a:pPr>
              <a:defRPr sz="1200">
                <a:solidFill>
                  <a:srgbClr val="1C2A3A"/>
                </a:solidFill>
                <a:latin typeface="Calibri"/>
              </a:defRPr>
            </a:pPr>
            <a:r>
              <a:t>- Numerical reasoning ability</a:t>
            </a:r>
            <a:br/>
            <a:r>
              <a:t>- Domain-specific patterns</a:t>
            </a:r>
            <a:br/>
            <a:r>
              <a:t>- Consistent output format</a:t>
            </a:r>
            <a:br/>
            <a:r>
              <a:t>- Lower error rate</a:t>
            </a:r>
          </a:p>
        </p:txBody>
      </p:sp>
      <p:sp>
        <p:nvSpPr>
          <p:cNvPr id="5" name="Rectangle 4"/>
          <p:cNvSpPr/>
          <p:nvPr/>
        </p:nvSpPr>
        <p:spPr>
          <a:xfrm>
            <a:off x="6858000" y="3291840"/>
            <a:ext cx="4846320" cy="164592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What RAG Contributes</a:t>
            </a:r>
          </a:p>
          <a:p>
            <a:pPr>
              <a:defRPr sz="1200">
                <a:solidFill>
                  <a:srgbClr val="1C2A3A"/>
                </a:solidFill>
                <a:latin typeface="Calibri"/>
              </a:defRPr>
            </a:pPr>
            <a:r>
              <a:t>- Fresh, updatable knowledge</a:t>
            </a:r>
            <a:br/>
            <a:r>
              <a:t>- Source citations for audit</a:t>
            </a:r>
            <a:br/>
            <a:r>
              <a:t>- Broader context coverage</a:t>
            </a:r>
            <a:br/>
            <a:r>
              <a:t>- Reduced hallucination</a:t>
            </a:r>
          </a:p>
        </p:txBody>
      </p:sp>
      <p:sp>
        <p:nvSpPr>
          <p:cNvPr id="6" name="Rectangle 5"/>
          <p:cNvSpPr/>
          <p:nvPr/>
        </p:nvSpPr>
        <p:spPr>
          <a:xfrm>
            <a:off x="457200" y="5303520"/>
            <a:ext cx="1106424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Result:</a:t>
            </a:r>
          </a:p>
          <a:p>
            <a:pPr>
              <a:defRPr sz="1200">
                <a:solidFill>
                  <a:srgbClr val="1C2A3A"/>
                </a:solidFill>
                <a:latin typeface="Calibri"/>
              </a:defRPr>
            </a:pPr>
            <a:r>
              <a:t>Hybrid achieves 65.8% on FinQA vs 61.2% FT-only vs 15.3% RAG-only. 75% on sentiment vs 70% FT-only vs 65% RAG-only.</a:t>
            </a:r>
          </a:p>
        </p:txBody>
      </p:sp>
      <p:sp>
        <p:nvSpPr>
          <p:cNvPr id="7" name="TextBox 6"/>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26/55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Cost &amp; ROI Considerations</a:t>
            </a:r>
          </a:p>
        </p:txBody>
      </p:sp>
      <p:graphicFrame>
        <p:nvGraphicFramePr>
          <p:cNvPr id="3" name="Table 2"/>
          <p:cNvGraphicFramePr>
            <a:graphicFrameLocks noGrp="1"/>
          </p:cNvGraphicFramePr>
          <p:nvPr/>
        </p:nvGraphicFramePr>
        <p:xfrm>
          <a:off x="457200" y="1371600"/>
          <a:ext cx="11247120" cy="27432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57200">
                <a:tc>
                  <a:txBody>
                    <a:bodyPr/>
                    <a:lstStyle/>
                    <a:p>
                      <a:pPr algn="ctr">
                        <a:defRPr sz="1200" b="1">
                          <a:solidFill>
                            <a:srgbClr val="FFFFFF"/>
                          </a:solidFill>
                          <a:latin typeface="Calibri"/>
                        </a:defRPr>
                      </a:pPr>
                    </a:p>
                  </a:txBody>
                  <a:tcPr>
                    <a:solidFill>
                      <a:srgbClr val="2E86C1"/>
                    </a:solidFill>
                  </a:tcPr>
                </a:tc>
                <a:tc>
                  <a:txBody>
                    <a:bodyPr/>
                    <a:lstStyle/>
                    <a:p>
                      <a:pPr algn="ctr">
                        <a:defRPr sz="1200" b="1">
                          <a:solidFill>
                            <a:srgbClr val="FFFFFF"/>
                          </a:solidFill>
                          <a:latin typeface="Calibri"/>
                        </a:defRPr>
                      </a:pPr>
                      <a:r>
                        <a:t>Prompt Eng.</a:t>
                      </a:r>
                    </a:p>
                  </a:txBody>
                  <a:tcPr>
                    <a:solidFill>
                      <a:srgbClr val="2E86C1"/>
                    </a:solidFill>
                  </a:tcPr>
                </a:tc>
                <a:tc>
                  <a:txBody>
                    <a:bodyPr/>
                    <a:lstStyle/>
                    <a:p>
                      <a:pPr algn="ctr">
                        <a:defRPr sz="1200" b="1">
                          <a:solidFill>
                            <a:srgbClr val="FFFFFF"/>
                          </a:solidFill>
                          <a:latin typeface="Calibri"/>
                        </a:defRPr>
                      </a:pPr>
                      <a:r>
                        <a:t>RAG</a:t>
                      </a:r>
                    </a:p>
                  </a:txBody>
                  <a:tcPr>
                    <a:solidFill>
                      <a:srgbClr val="2E86C1"/>
                    </a:solidFill>
                  </a:tcPr>
                </a:tc>
                <a:tc>
                  <a:txBody>
                    <a:bodyPr/>
                    <a:lstStyle/>
                    <a:p>
                      <a:pPr algn="ctr">
                        <a:defRPr sz="1200" b="1">
                          <a:solidFill>
                            <a:srgbClr val="FFFFFF"/>
                          </a:solidFill>
                          <a:latin typeface="Calibri"/>
                        </a:defRPr>
                      </a:pPr>
                      <a:r>
                        <a:t>Fine-Tuning</a:t>
                      </a:r>
                    </a:p>
                  </a:txBody>
                  <a:tcPr>
                    <a:solidFill>
                      <a:srgbClr val="2E86C1"/>
                    </a:solidFill>
                  </a:tcPr>
                </a:tc>
                <a:tc>
                  <a:txBody>
                    <a:bodyPr/>
                    <a:lstStyle/>
                    <a:p>
                      <a:pPr algn="ctr">
                        <a:defRPr sz="1200" b="1">
                          <a:solidFill>
                            <a:srgbClr val="FFFFFF"/>
                          </a:solidFill>
                          <a:latin typeface="Calibri"/>
                        </a:defRPr>
                      </a:pPr>
                      <a:r>
                        <a:t>Hybrid</a:t>
                      </a:r>
                    </a:p>
                  </a:txBody>
                  <a:tcPr>
                    <a:solidFill>
                      <a:srgbClr val="2E86C1"/>
                    </a:solidFill>
                  </a:tcPr>
                </a:tc>
              </a:tr>
              <a:tr h="457200">
                <a:tc>
                  <a:txBody>
                    <a:bodyPr/>
                    <a:lstStyle/>
                    <a:p>
                      <a:pPr>
                        <a:defRPr sz="1100">
                          <a:solidFill>
                            <a:srgbClr val="1C2A3A"/>
                          </a:solidFill>
                          <a:latin typeface="Calibri"/>
                        </a:defRPr>
                      </a:pPr>
                      <a:r>
                        <a:t>Setup Cost</a:t>
                      </a:r>
                    </a:p>
                  </a:txBody>
                  <a:tcPr>
                    <a:solidFill>
                      <a:srgbClr val="E0E3E8"/>
                    </a:solidFill>
                  </a:tcPr>
                </a:tc>
                <a:tc>
                  <a:txBody>
                    <a:bodyPr/>
                    <a:lstStyle/>
                    <a:p>
                      <a:pPr>
                        <a:defRPr sz="1100">
                          <a:solidFill>
                            <a:srgbClr val="1C2A3A"/>
                          </a:solidFill>
                          <a:latin typeface="Calibri"/>
                        </a:defRPr>
                      </a:pPr>
                      <a:r>
                        <a:t>Free</a:t>
                      </a:r>
                    </a:p>
                  </a:txBody>
                  <a:tcPr>
                    <a:solidFill>
                      <a:srgbClr val="E0E3E8"/>
                    </a:solidFill>
                  </a:tcPr>
                </a:tc>
                <a:tc>
                  <a:txBody>
                    <a:bodyPr/>
                    <a:lstStyle/>
                    <a:p>
                      <a:pPr>
                        <a:defRPr sz="1100">
                          <a:solidFill>
                            <a:srgbClr val="1C2A3A"/>
                          </a:solidFill>
                          <a:latin typeface="Calibri"/>
                        </a:defRPr>
                      </a:pPr>
                      <a:r>
                        <a:t>$100-$1K</a:t>
                      </a:r>
                    </a:p>
                  </a:txBody>
                  <a:tcPr>
                    <a:solidFill>
                      <a:srgbClr val="E0E3E8"/>
                    </a:solidFill>
                  </a:tcPr>
                </a:tc>
                <a:tc>
                  <a:txBody>
                    <a:bodyPr/>
                    <a:lstStyle/>
                    <a:p>
                      <a:pPr>
                        <a:defRPr sz="1100">
                          <a:solidFill>
                            <a:srgbClr val="1C2A3A"/>
                          </a:solidFill>
                          <a:latin typeface="Calibri"/>
                        </a:defRPr>
                      </a:pPr>
                      <a:r>
                        <a:t>$500-$50K+</a:t>
                      </a:r>
                    </a:p>
                  </a:txBody>
                  <a:tcPr>
                    <a:solidFill>
                      <a:srgbClr val="E0E3E8"/>
                    </a:solidFill>
                  </a:tcPr>
                </a:tc>
                <a:tc>
                  <a:txBody>
                    <a:bodyPr/>
                    <a:lstStyle/>
                    <a:p>
                      <a:pPr>
                        <a:defRPr sz="1100">
                          <a:solidFill>
                            <a:srgbClr val="1C2A3A"/>
                          </a:solidFill>
                          <a:latin typeface="Calibri"/>
                        </a:defRPr>
                      </a:pPr>
                      <a:r>
                        <a:t>$1K-$100K+</a:t>
                      </a:r>
                    </a:p>
                  </a:txBody>
                  <a:tcPr>
                    <a:solidFill>
                      <a:srgbClr val="E0E3E8"/>
                    </a:solidFill>
                  </a:tcPr>
                </a:tc>
              </a:tr>
              <a:tr h="457200">
                <a:tc>
                  <a:txBody>
                    <a:bodyPr/>
                    <a:lstStyle/>
                    <a:p>
                      <a:pPr>
                        <a:defRPr sz="1100">
                          <a:solidFill>
                            <a:srgbClr val="1C2A3A"/>
                          </a:solidFill>
                          <a:latin typeface="Calibri"/>
                        </a:defRPr>
                      </a:pPr>
                      <a:r>
                        <a:t>Per-Query</a:t>
                      </a:r>
                    </a:p>
                  </a:txBody>
                  <a:tcPr/>
                </a:tc>
                <a:tc>
                  <a:txBody>
                    <a:bodyPr/>
                    <a:lstStyle/>
                    <a:p>
                      <a:pPr>
                        <a:defRPr sz="1100">
                          <a:solidFill>
                            <a:srgbClr val="1C2A3A"/>
                          </a:solidFill>
                          <a:latin typeface="Calibri"/>
                        </a:defRPr>
                      </a:pPr>
                      <a:r>
                        <a:t>API only</a:t>
                      </a:r>
                    </a:p>
                  </a:txBody>
                  <a:tcPr/>
                </a:tc>
                <a:tc>
                  <a:txBody>
                    <a:bodyPr/>
                    <a:lstStyle/>
                    <a:p>
                      <a:pPr>
                        <a:defRPr sz="1100">
                          <a:solidFill>
                            <a:srgbClr val="1C2A3A"/>
                          </a:solidFill>
                          <a:latin typeface="Calibri"/>
                        </a:defRPr>
                      </a:pPr>
                      <a:r>
                        <a:t>API + retrieval</a:t>
                      </a:r>
                    </a:p>
                  </a:txBody>
                  <a:tcPr/>
                </a:tc>
                <a:tc>
                  <a:txBody>
                    <a:bodyPr/>
                    <a:lstStyle/>
                    <a:p>
                      <a:pPr>
                        <a:defRPr sz="1100">
                          <a:solidFill>
                            <a:srgbClr val="1C2A3A"/>
                          </a:solidFill>
                          <a:latin typeface="Calibri"/>
                        </a:defRPr>
                      </a:pPr>
                      <a:r>
                        <a:t>Lower inference</a:t>
                      </a:r>
                    </a:p>
                  </a:txBody>
                  <a:tcPr/>
                </a:tc>
                <a:tc>
                  <a:txBody>
                    <a:bodyPr/>
                    <a:lstStyle/>
                    <a:p>
                      <a:pPr>
                        <a:defRPr sz="1100">
                          <a:solidFill>
                            <a:srgbClr val="1C2A3A"/>
                          </a:solidFill>
                          <a:latin typeface="Calibri"/>
                        </a:defRPr>
                      </a:pPr>
                      <a:r>
                        <a:t>Medium</a:t>
                      </a:r>
                    </a:p>
                  </a:txBody>
                  <a:tcPr/>
                </a:tc>
              </a:tr>
              <a:tr h="457200">
                <a:tc>
                  <a:txBody>
                    <a:bodyPr/>
                    <a:lstStyle/>
                    <a:p>
                      <a:pPr>
                        <a:defRPr sz="1100">
                          <a:solidFill>
                            <a:srgbClr val="1C2A3A"/>
                          </a:solidFill>
                          <a:latin typeface="Calibri"/>
                        </a:defRPr>
                      </a:pPr>
                      <a:r>
                        <a:t>Maintenance</a:t>
                      </a:r>
                    </a:p>
                  </a:txBody>
                  <a:tcPr>
                    <a:solidFill>
                      <a:srgbClr val="E0E3E8"/>
                    </a:solidFill>
                  </a:tcPr>
                </a:tc>
                <a:tc>
                  <a:txBody>
                    <a:bodyPr/>
                    <a:lstStyle/>
                    <a:p>
                      <a:pPr>
                        <a:defRPr sz="1100">
                          <a:solidFill>
                            <a:srgbClr val="1C2A3A"/>
                          </a:solidFill>
                          <a:latin typeface="Calibri"/>
                        </a:defRPr>
                      </a:pPr>
                      <a:r>
                        <a:t>Manual prompts</a:t>
                      </a:r>
                    </a:p>
                  </a:txBody>
                  <a:tcPr>
                    <a:solidFill>
                      <a:srgbClr val="E0E3E8"/>
                    </a:solidFill>
                  </a:tcPr>
                </a:tc>
                <a:tc>
                  <a:txBody>
                    <a:bodyPr/>
                    <a:lstStyle/>
                    <a:p>
                      <a:pPr>
                        <a:defRPr sz="1100">
                          <a:solidFill>
                            <a:srgbClr val="1C2A3A"/>
                          </a:solidFill>
                          <a:latin typeface="Calibri"/>
                        </a:defRPr>
                      </a:pPr>
                      <a:r>
                        <a:t>Doc updates</a:t>
                      </a:r>
                    </a:p>
                  </a:txBody>
                  <a:tcPr>
                    <a:solidFill>
                      <a:srgbClr val="E0E3E8"/>
                    </a:solidFill>
                  </a:tcPr>
                </a:tc>
                <a:tc>
                  <a:txBody>
                    <a:bodyPr/>
                    <a:lstStyle/>
                    <a:p>
                      <a:pPr>
                        <a:defRPr sz="1100">
                          <a:solidFill>
                            <a:srgbClr val="1C2A3A"/>
                          </a:solidFill>
                          <a:latin typeface="Calibri"/>
                        </a:defRPr>
                      </a:pPr>
                      <a:r>
                        <a:t>Periodic retrain</a:t>
                      </a:r>
                    </a:p>
                  </a:txBody>
                  <a:tcPr>
                    <a:solidFill>
                      <a:srgbClr val="E0E3E8"/>
                    </a:solidFill>
                  </a:tcPr>
                </a:tc>
                <a:tc>
                  <a:txBody>
                    <a:bodyPr/>
                    <a:lstStyle/>
                    <a:p>
                      <a:pPr>
                        <a:defRPr sz="1100">
                          <a:solidFill>
                            <a:srgbClr val="1C2A3A"/>
                          </a:solidFill>
                          <a:latin typeface="Calibri"/>
                        </a:defRPr>
                      </a:pPr>
                      <a:r>
                        <a:t>Both</a:t>
                      </a:r>
                    </a:p>
                  </a:txBody>
                  <a:tcPr>
                    <a:solidFill>
                      <a:srgbClr val="E0E3E8"/>
                    </a:solidFill>
                  </a:tcPr>
                </a:tc>
              </a:tr>
              <a:tr h="457200">
                <a:tc>
                  <a:txBody>
                    <a:bodyPr/>
                    <a:lstStyle/>
                    <a:p>
                      <a:pPr>
                        <a:defRPr sz="1100">
                          <a:solidFill>
                            <a:srgbClr val="1C2A3A"/>
                          </a:solidFill>
                          <a:latin typeface="Calibri"/>
                        </a:defRPr>
                      </a:pPr>
                      <a:r>
                        <a:t>Time to Deploy</a:t>
                      </a:r>
                    </a:p>
                  </a:txBody>
                  <a:tcPr/>
                </a:tc>
                <a:tc>
                  <a:txBody>
                    <a:bodyPr/>
                    <a:lstStyle/>
                    <a:p>
                      <a:pPr>
                        <a:defRPr sz="1100">
                          <a:solidFill>
                            <a:srgbClr val="1C2A3A"/>
                          </a:solidFill>
                          <a:latin typeface="Calibri"/>
                        </a:defRPr>
                      </a:pPr>
                      <a:r>
                        <a:t>Hours</a:t>
                      </a:r>
                    </a:p>
                  </a:txBody>
                  <a:tcPr/>
                </a:tc>
                <a:tc>
                  <a:txBody>
                    <a:bodyPr/>
                    <a:lstStyle/>
                    <a:p>
                      <a:pPr>
                        <a:defRPr sz="1100">
                          <a:solidFill>
                            <a:srgbClr val="1C2A3A"/>
                          </a:solidFill>
                          <a:latin typeface="Calibri"/>
                        </a:defRPr>
                      </a:pPr>
                      <a:r>
                        <a:t>Days</a:t>
                      </a:r>
                    </a:p>
                  </a:txBody>
                  <a:tcPr/>
                </a:tc>
                <a:tc>
                  <a:txBody>
                    <a:bodyPr/>
                    <a:lstStyle/>
                    <a:p>
                      <a:pPr>
                        <a:defRPr sz="1100">
                          <a:solidFill>
                            <a:srgbClr val="1C2A3A"/>
                          </a:solidFill>
                          <a:latin typeface="Calibri"/>
                        </a:defRPr>
                      </a:pPr>
                      <a:r>
                        <a:t>Days-Weeks</a:t>
                      </a:r>
                    </a:p>
                  </a:txBody>
                  <a:tcPr/>
                </a:tc>
                <a:tc>
                  <a:txBody>
                    <a:bodyPr/>
                    <a:lstStyle/>
                    <a:p>
                      <a:pPr>
                        <a:defRPr sz="1100">
                          <a:solidFill>
                            <a:srgbClr val="1C2A3A"/>
                          </a:solidFill>
                          <a:latin typeface="Calibri"/>
                        </a:defRPr>
                      </a:pPr>
                      <a:r>
                        <a:t>Weeks</a:t>
                      </a:r>
                    </a:p>
                  </a:txBody>
                  <a:tcPr/>
                </a:tc>
              </a:tr>
              <a:tr h="457200">
                <a:tc>
                  <a:txBody>
                    <a:bodyPr/>
                    <a:lstStyle/>
                    <a:p>
                      <a:pPr>
                        <a:defRPr sz="1100">
                          <a:solidFill>
                            <a:srgbClr val="1C2A3A"/>
                          </a:solidFill>
                          <a:latin typeface="Calibri"/>
                        </a:defRPr>
                      </a:pPr>
                      <a:r>
                        <a:t>Accuracy ROI</a:t>
                      </a:r>
                    </a:p>
                  </a:txBody>
                  <a:tcPr>
                    <a:solidFill>
                      <a:srgbClr val="E0E3E8"/>
                    </a:solidFill>
                  </a:tcPr>
                </a:tc>
                <a:tc>
                  <a:txBody>
                    <a:bodyPr/>
                    <a:lstStyle/>
                    <a:p>
                      <a:pPr>
                        <a:defRPr sz="1100">
                          <a:solidFill>
                            <a:srgbClr val="1C2A3A"/>
                          </a:solidFill>
                          <a:latin typeface="Calibri"/>
                        </a:defRPr>
                      </a:pPr>
                      <a:r>
                        <a:t>Low</a:t>
                      </a:r>
                    </a:p>
                  </a:txBody>
                  <a:tcPr>
                    <a:solidFill>
                      <a:srgbClr val="E0E3E8"/>
                    </a:solidFill>
                  </a:tcPr>
                </a:tc>
                <a:tc>
                  <a:txBody>
                    <a:bodyPr/>
                    <a:lstStyle/>
                    <a:p>
                      <a:pPr>
                        <a:defRPr sz="1100">
                          <a:solidFill>
                            <a:srgbClr val="1C2A3A"/>
                          </a:solidFill>
                          <a:latin typeface="Calibri"/>
                        </a:defRPr>
                      </a:pPr>
                      <a:r>
                        <a:t>Medium</a:t>
                      </a:r>
                    </a:p>
                  </a:txBody>
                  <a:tcPr>
                    <a:solidFill>
                      <a:srgbClr val="E0E3E8"/>
                    </a:solidFill>
                  </a:tcPr>
                </a:tc>
                <a:tc>
                  <a:txBody>
                    <a:bodyPr/>
                    <a:lstStyle/>
                    <a:p>
                      <a:pPr>
                        <a:defRPr sz="1100">
                          <a:solidFill>
                            <a:srgbClr val="1C2A3A"/>
                          </a:solidFill>
                          <a:latin typeface="Calibri"/>
                        </a:defRPr>
                      </a:pPr>
                      <a:r>
                        <a:t>High</a:t>
                      </a:r>
                    </a:p>
                  </a:txBody>
                  <a:tcPr>
                    <a:solidFill>
                      <a:srgbClr val="E0E3E8"/>
                    </a:solidFill>
                  </a:tcPr>
                </a:tc>
                <a:tc>
                  <a:txBody>
                    <a:bodyPr/>
                    <a:lstStyle/>
                    <a:p>
                      <a:pPr>
                        <a:defRPr sz="1100">
                          <a:solidFill>
                            <a:srgbClr val="1C2A3A"/>
                          </a:solidFill>
                          <a:latin typeface="Calibri"/>
                        </a:defRPr>
                      </a:pPr>
                      <a:r>
                        <a:t>Highest</a:t>
                      </a:r>
                    </a:p>
                  </a:txBody>
                  <a:tcPr>
                    <a:solidFill>
                      <a:srgbClr val="E0E3E8"/>
                    </a:solidFill>
                  </a:tcPr>
                </a:tc>
              </a:tr>
            </a:tbl>
          </a:graphicData>
        </a:graphic>
      </p:graphicFrame>
      <p:sp>
        <p:nvSpPr>
          <p:cNvPr id="4" name="Rectangle 3"/>
          <p:cNvSpPr/>
          <p:nvPr/>
        </p:nvSpPr>
        <p:spPr>
          <a:xfrm>
            <a:off x="457200" y="4389120"/>
            <a:ext cx="5303520" cy="18288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ROI Argument for Fine-Tuning</a:t>
            </a:r>
          </a:p>
          <a:p>
            <a:pPr>
              <a:defRPr sz="1200">
                <a:solidFill>
                  <a:srgbClr val="1C2A3A"/>
                </a:solidFill>
                <a:latin typeface="Calibri"/>
              </a:defRPr>
            </a:pPr>
            <a:r>
              <a:t>- One-time training investment</a:t>
            </a:r>
            <a:br/>
            <a:r>
              <a:t>- Lower per-query cost (no retrieval)</a:t>
            </a:r>
            <a:br/>
            <a:r>
              <a:t>- Higher accuracy = fewer errors = less human review</a:t>
            </a:r>
            <a:br/>
            <a:r>
              <a:t>- Break-even: often within weeks for high-volume</a:t>
            </a:r>
          </a:p>
        </p:txBody>
      </p:sp>
      <p:sp>
        <p:nvSpPr>
          <p:cNvPr id="5" name="Rectangle 4"/>
          <p:cNvSpPr/>
          <p:nvPr/>
        </p:nvSpPr>
        <p:spPr>
          <a:xfrm>
            <a:off x="6217920" y="4389120"/>
            <a:ext cx="5303520" cy="18288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When RAG Has Better ROI</a:t>
            </a:r>
          </a:p>
          <a:p>
            <a:pPr>
              <a:defRPr sz="1200">
                <a:solidFill>
                  <a:srgbClr val="1C2A3A"/>
                </a:solidFill>
                <a:latin typeface="Calibri"/>
              </a:defRPr>
            </a:pPr>
            <a:r>
              <a:t>- Low query volume (&lt; 1K/day)</a:t>
            </a:r>
            <a:br/>
            <a:r>
              <a:t>- Rapidly changing knowledge base</a:t>
            </a:r>
            <a:br/>
            <a:r>
              <a:t>- No training data available</a:t>
            </a:r>
            <a:br/>
            <a:r>
              <a:t>- Need to launch in &lt; 1 week</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27/55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Key Takeaways</a:t>
            </a:r>
          </a:p>
        </p:txBody>
      </p:sp>
      <p:sp>
        <p:nvSpPr>
          <p:cNvPr id="3" name="Rectangle 2"/>
          <p:cNvSpPr/>
          <p:nvPr/>
        </p:nvSpPr>
        <p:spPr>
          <a:xfrm>
            <a:off x="914400" y="1371600"/>
            <a:ext cx="10332720" cy="1371600"/>
          </a:xfrm>
          <a:prstGeom prst="rect">
            <a:avLst/>
          </a:prstGeom>
          <a:solidFill>
            <a:srgbClr val="1C2A3A"/>
          </a:solidFill>
          <a:ln>
            <a:noFill/>
          </a:ln>
        </p:spPr>
        <p:style>
          <a:lnRef idx="1">
            <a:schemeClr val="accent1"/>
          </a:lnRef>
          <a:fillRef idx="3">
            <a:schemeClr val="accent1"/>
          </a:fillRef>
          <a:effectRef idx="2">
            <a:schemeClr val="accent1"/>
          </a:effectRef>
          <a:fontRef idx="minor">
            <a:schemeClr val="lt1"/>
          </a:fontRef>
        </p:style>
        <p:txBody>
          <a:bodyPr rtlCol="0" anchor="ctr" wrap="square" lIns="254000"/>
          <a:lstStyle/>
          <a:p>
            <a:pPr algn="ctr">
              <a:defRPr sz="2200" b="1">
                <a:solidFill>
                  <a:srgbClr val="FFFFFF"/>
                </a:solidFill>
                <a:latin typeface="Calibri"/>
              </a:defRPr>
            </a:pPr>
            <a:r>
              <a:t>Fine-tuning teaches a model new SKILLS.  RAG gives a model new INFORMATION.  The hybrid approach provides BOTH.</a:t>
            </a:r>
          </a:p>
        </p:txBody>
      </p:sp>
      <p:sp>
        <p:nvSpPr>
          <p:cNvPr id="4" name="Rectangle 3"/>
          <p:cNvSpPr/>
          <p:nvPr/>
        </p:nvSpPr>
        <p:spPr>
          <a:xfrm>
            <a:off x="731520" y="3017520"/>
            <a:ext cx="1051560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1. Fine-tuning is essential for specialized reasoning, calculations, and consistent behavior</a:t>
            </a:r>
          </a:p>
        </p:txBody>
      </p:sp>
      <p:sp>
        <p:nvSpPr>
          <p:cNvPr id="5" name="Rectangle 4"/>
          <p:cNvSpPr/>
          <p:nvPr/>
        </p:nvSpPr>
        <p:spPr>
          <a:xfrm>
            <a:off x="731520" y="3611879"/>
            <a:ext cx="1051560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2. RAG is valuable for dynamic knowledge, source citations, and quick deployment</a:t>
            </a:r>
          </a:p>
        </p:txBody>
      </p:sp>
      <p:sp>
        <p:nvSpPr>
          <p:cNvPr id="6" name="Rectangle 5"/>
          <p:cNvSpPr/>
          <p:nvPr/>
        </p:nvSpPr>
        <p:spPr>
          <a:xfrm>
            <a:off x="731520" y="4206240"/>
            <a:ext cx="1051560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3. The best production systems often combine both approaches (hybrid)</a:t>
            </a:r>
          </a:p>
        </p:txBody>
      </p:sp>
      <p:sp>
        <p:nvSpPr>
          <p:cNvPr id="7" name="Rectangle 6"/>
          <p:cNvSpPr/>
          <p:nvPr/>
        </p:nvSpPr>
        <p:spPr>
          <a:xfrm>
            <a:off x="731520" y="4800600"/>
            <a:ext cx="1051560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4. Modern tools (Unsloth, LoRA, QLoRA) make fine-tuning accessible</a:t>
            </a:r>
          </a:p>
        </p:txBody>
      </p:sp>
      <p:sp>
        <p:nvSpPr>
          <p:cNvPr id="8" name="Rectangle 7"/>
          <p:cNvSpPr/>
          <p:nvPr/>
        </p:nvSpPr>
        <p:spPr>
          <a:xfrm>
            <a:off x="731520" y="5394960"/>
            <a:ext cx="1051560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5. Start with RAG for quick wins, add fine-tuning where accuracy gaps appear</a:t>
            </a:r>
          </a:p>
        </p:txBody>
      </p:sp>
      <p:sp>
        <p:nvSpPr>
          <p:cNvPr id="9" name="Rectangle 8"/>
          <p:cNvSpPr/>
          <p:nvPr/>
        </p:nvSpPr>
        <p:spPr>
          <a:xfrm>
            <a:off x="731520" y="5989320"/>
            <a:ext cx="1051560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6. The cost of fine-tuning is an investment - higher accuracy means fewer costly errors</a:t>
            </a:r>
          </a:p>
        </p:txBody>
      </p:sp>
      <p:sp>
        <p:nvSpPr>
          <p:cNvPr id="10" name="TextBox 9"/>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28/55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C2A3A"/>
        </a:solidFill>
        <a:effectLst/>
      </p:bgPr>
    </p:bg>
    <p:spTree>
      <p:nvGrpSpPr>
        <p:cNvPr id="1" name=""/>
        <p:cNvGrpSpPr/>
        <p:nvPr/>
      </p:nvGrpSpPr>
      <p:grpSpPr/>
      <p:sp>
        <p:nvSpPr>
          <p:cNvPr id="2" name="TextBox 1"/>
          <p:cNvSpPr txBox="1"/>
          <p:nvPr/>
        </p:nvSpPr>
        <p:spPr>
          <a:xfrm>
            <a:off x="914400" y="1828800"/>
            <a:ext cx="10058400" cy="1371600"/>
          </a:xfrm>
          <a:prstGeom prst="rect">
            <a:avLst/>
          </a:prstGeom>
          <a:noFill/>
        </p:spPr>
        <p:txBody>
          <a:bodyPr wrap="square">
            <a:spAutoFit/>
          </a:bodyPr>
          <a:lstStyle/>
          <a:p>
            <a:pPr algn="ctr">
              <a:defRPr sz="4800" b="1">
                <a:solidFill>
                  <a:srgbClr val="5DAEF2"/>
                </a:solidFill>
                <a:latin typeface="Calibri"/>
              </a:defRPr>
            </a:pPr>
            <a:r>
              <a:t>Benchmark Results</a:t>
            </a:r>
          </a:p>
        </p:txBody>
      </p:sp>
      <p:sp>
        <p:nvSpPr>
          <p:cNvPr id="3" name="TextBox 2"/>
          <p:cNvSpPr txBox="1"/>
          <p:nvPr/>
        </p:nvSpPr>
        <p:spPr>
          <a:xfrm>
            <a:off x="914400" y="3200400"/>
            <a:ext cx="10058400" cy="914400"/>
          </a:xfrm>
          <a:prstGeom prst="rect">
            <a:avLst/>
          </a:prstGeom>
          <a:noFill/>
        </p:spPr>
        <p:txBody>
          <a:bodyPr wrap="square">
            <a:spAutoFit/>
          </a:bodyPr>
          <a:lstStyle/>
          <a:p>
            <a:pPr algn="ctr">
              <a:defRPr sz="2800" b="0">
                <a:solidFill>
                  <a:srgbClr val="ECEFF1"/>
                </a:solidFill>
                <a:latin typeface="Calibri"/>
              </a:defRPr>
            </a:pPr>
            <a:r>
              <a:t>Insights from Our Experiments</a:t>
            </a:r>
          </a:p>
        </p:txBody>
      </p:sp>
      <p:sp>
        <p:nvSpPr>
          <p:cNvPr id="4" name="TextBox 3"/>
          <p:cNvSpPr txBox="1"/>
          <p:nvPr/>
        </p:nvSpPr>
        <p:spPr>
          <a:xfrm>
            <a:off x="914400" y="4572000"/>
            <a:ext cx="10058400" cy="914400"/>
          </a:xfrm>
          <a:prstGeom prst="rect">
            <a:avLst/>
          </a:prstGeom>
          <a:noFill/>
        </p:spPr>
        <p:txBody>
          <a:bodyPr wrap="square">
            <a:spAutoFit/>
          </a:bodyPr>
          <a:lstStyle/>
          <a:p>
            <a:pPr algn="ctr">
              <a:defRPr sz="1600" b="0">
                <a:solidFill>
                  <a:srgbClr val="A8C7E8"/>
                </a:solidFill>
                <a:latin typeface="Calibri"/>
              </a:defRPr>
            </a:pPr>
            <a:r>
              <a:t>Four controlled experiments comparing Base vs Fine-Tuned vs RAG vs Hybrid</a:t>
            </a:r>
            <a:br/>
            <a:r>
              <a:t>Same architecture and parameter count -- the only variable is the approach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Benchmark Experiments Overview</a:t>
            </a:r>
          </a:p>
          <a:p>
            <a:pPr>
              <a:defRPr sz="1600">
                <a:solidFill>
                  <a:srgbClr val="ECEFF1"/>
                </a:solidFill>
                <a:latin typeface="Calibri"/>
              </a:defRPr>
            </a:pPr>
            <a:r>
              <a:t>Every number measured by running our actual models</a:t>
            </a:r>
          </a:p>
        </p:txBody>
      </p:sp>
      <p:graphicFrame>
        <p:nvGraphicFramePr>
          <p:cNvPr id="3" name="Table 2"/>
          <p:cNvGraphicFramePr>
            <a:graphicFrameLocks noGrp="1"/>
          </p:cNvGraphicFramePr>
          <p:nvPr/>
        </p:nvGraphicFramePr>
        <p:xfrm>
          <a:off x="457200" y="1371600"/>
          <a:ext cx="11247120" cy="2286000"/>
        </p:xfrm>
        <a:graphic>
          <a:graphicData uri="http://schemas.openxmlformats.org/drawingml/2006/table">
            <a:tbl>
              <a:tblPr firstRow="1" bandRow="1">
                <a:tableStyleId>{5C22544A-7EE6-4342-B048-85BDC9FD1C3A}</a:tableStyleId>
              </a:tblPr>
              <a:tblGrid>
                <a:gridCol w="2811780"/>
                <a:gridCol w="2811780"/>
                <a:gridCol w="2811780"/>
                <a:gridCol w="2811780"/>
              </a:tblGrid>
              <a:tr h="457200">
                <a:tc>
                  <a:txBody>
                    <a:bodyPr/>
                    <a:lstStyle/>
                    <a:p>
                      <a:pPr algn="ctr">
                        <a:defRPr sz="1200" b="1">
                          <a:solidFill>
                            <a:srgbClr val="FFFFFF"/>
                          </a:solidFill>
                          <a:latin typeface="Calibri"/>
                        </a:defRPr>
                      </a:pPr>
                      <a:r>
                        <a:t>Experiment</a:t>
                      </a:r>
                    </a:p>
                  </a:txBody>
                  <a:tcPr>
                    <a:solidFill>
                      <a:srgbClr val="2E86C1"/>
                    </a:solidFill>
                  </a:tcPr>
                </a:tc>
                <a:tc>
                  <a:txBody>
                    <a:bodyPr/>
                    <a:lstStyle/>
                    <a:p>
                      <a:pPr algn="ctr">
                        <a:defRPr sz="1200" b="1">
                          <a:solidFill>
                            <a:srgbClr val="FFFFFF"/>
                          </a:solidFill>
                          <a:latin typeface="Calibri"/>
                        </a:defRPr>
                      </a:pPr>
                      <a:r>
                        <a:t>Architecture</a:t>
                      </a:r>
                    </a:p>
                  </a:txBody>
                  <a:tcPr>
                    <a:solidFill>
                      <a:srgbClr val="2E86C1"/>
                    </a:solidFill>
                  </a:tcPr>
                </a:tc>
                <a:tc>
                  <a:txBody>
                    <a:bodyPr/>
                    <a:lstStyle/>
                    <a:p>
                      <a:pPr algn="ctr">
                        <a:defRPr sz="1200" b="1">
                          <a:solidFill>
                            <a:srgbClr val="FFFFFF"/>
                          </a:solidFill>
                          <a:latin typeface="Calibri"/>
                        </a:defRPr>
                      </a:pPr>
                      <a:r>
                        <a:t>Approaches</a:t>
                      </a:r>
                    </a:p>
                  </a:txBody>
                  <a:tcPr>
                    <a:solidFill>
                      <a:srgbClr val="2E86C1"/>
                    </a:solidFill>
                  </a:tcPr>
                </a:tc>
                <a:tc>
                  <a:txBody>
                    <a:bodyPr/>
                    <a:lstStyle/>
                    <a:p>
                      <a:pPr algn="ctr">
                        <a:defRPr sz="1200" b="1">
                          <a:solidFill>
                            <a:srgbClr val="FFFFFF"/>
                          </a:solidFill>
                          <a:latin typeface="Calibri"/>
                        </a:defRPr>
                      </a:pPr>
                      <a:r>
                        <a:t>Task</a:t>
                      </a:r>
                    </a:p>
                  </a:txBody>
                  <a:tcPr>
                    <a:solidFill>
                      <a:srgbClr val="2E86C1"/>
                    </a:solidFill>
                  </a:tcPr>
                </a:tc>
              </a:tr>
              <a:tr h="457200">
                <a:tc>
                  <a:txBody>
                    <a:bodyPr/>
                    <a:lstStyle/>
                    <a:p>
                      <a:pPr>
                        <a:defRPr sz="1100">
                          <a:solidFill>
                            <a:srgbClr val="1C2A3A"/>
                          </a:solidFill>
                          <a:latin typeface="Calibri"/>
                        </a:defRPr>
                      </a:pPr>
                      <a:r>
                        <a:t>Section 1</a:t>
                      </a:r>
                    </a:p>
                  </a:txBody>
                  <a:tcPr>
                    <a:solidFill>
                      <a:srgbClr val="E0E3E8"/>
                    </a:solidFill>
                  </a:tcPr>
                </a:tc>
                <a:tc>
                  <a:txBody>
                    <a:bodyPr/>
                    <a:lstStyle/>
                    <a:p>
                      <a:pPr>
                        <a:defRPr sz="1100">
                          <a:solidFill>
                            <a:srgbClr val="1C2A3A"/>
                          </a:solidFill>
                          <a:latin typeface="Calibri"/>
                        </a:defRPr>
                      </a:pPr>
                      <a:r>
                        <a:t>BERT-base (110M)</a:t>
                      </a:r>
                    </a:p>
                  </a:txBody>
                  <a:tcPr>
                    <a:solidFill>
                      <a:srgbClr val="E0E3E8"/>
                    </a:solidFill>
                  </a:tcPr>
                </a:tc>
                <a:tc>
                  <a:txBody>
                    <a:bodyPr/>
                    <a:lstStyle/>
                    <a:p>
                      <a:pPr>
                        <a:defRPr sz="1100">
                          <a:solidFill>
                            <a:srgbClr val="1C2A3A"/>
                          </a:solidFill>
                          <a:latin typeface="Calibri"/>
                        </a:defRPr>
                      </a:pPr>
                      <a:r>
                        <a:t>Base, FinBERT, RAG, Hybrid</a:t>
                      </a:r>
                    </a:p>
                  </a:txBody>
                  <a:tcPr>
                    <a:solidFill>
                      <a:srgbClr val="E0E3E8"/>
                    </a:solidFill>
                  </a:tcPr>
                </a:tc>
                <a:tc>
                  <a:txBody>
                    <a:bodyPr/>
                    <a:lstStyle/>
                    <a:p>
                      <a:pPr>
                        <a:defRPr sz="1100">
                          <a:solidFill>
                            <a:srgbClr val="1C2A3A"/>
                          </a:solidFill>
                          <a:latin typeface="Calibri"/>
                        </a:defRPr>
                      </a:pPr>
                      <a:r>
                        <a:t>Sentiment classification</a:t>
                      </a:r>
                    </a:p>
                  </a:txBody>
                  <a:tcPr>
                    <a:solidFill>
                      <a:srgbClr val="E0E3E8"/>
                    </a:solidFill>
                  </a:tcPr>
                </a:tc>
              </a:tr>
              <a:tr h="457200">
                <a:tc>
                  <a:txBody>
                    <a:bodyPr/>
                    <a:lstStyle/>
                    <a:p>
                      <a:pPr>
                        <a:defRPr sz="1100">
                          <a:solidFill>
                            <a:srgbClr val="1C2A3A"/>
                          </a:solidFill>
                          <a:latin typeface="Calibri"/>
                        </a:defRPr>
                      </a:pPr>
                      <a:r>
                        <a:t>Section 2</a:t>
                      </a:r>
                    </a:p>
                  </a:txBody>
                  <a:tcPr/>
                </a:tc>
                <a:tc>
                  <a:txBody>
                    <a:bodyPr/>
                    <a:lstStyle/>
                    <a:p>
                      <a:pPr>
                        <a:defRPr sz="1100">
                          <a:solidFill>
                            <a:srgbClr val="1C2A3A"/>
                          </a:solidFill>
                          <a:latin typeface="Calibri"/>
                        </a:defRPr>
                      </a:pPr>
                      <a:r>
                        <a:t>Llama2-7B (7B)</a:t>
                      </a:r>
                    </a:p>
                  </a:txBody>
                  <a:tcPr/>
                </a:tc>
                <a:tc>
                  <a:txBody>
                    <a:bodyPr/>
                    <a:lstStyle/>
                    <a:p>
                      <a:pPr>
                        <a:defRPr sz="1100">
                          <a:solidFill>
                            <a:srgbClr val="1C2A3A"/>
                          </a:solidFill>
                          <a:latin typeface="Calibri"/>
                        </a:defRPr>
                      </a:pPr>
                      <a:r>
                        <a:t>Base, FinQA-7B, RAG, Hybrid</a:t>
                      </a:r>
                    </a:p>
                  </a:txBody>
                  <a:tcPr/>
                </a:tc>
                <a:tc>
                  <a:txBody>
                    <a:bodyPr/>
                    <a:lstStyle/>
                    <a:p>
                      <a:pPr>
                        <a:defRPr sz="1100">
                          <a:solidFill>
                            <a:srgbClr val="1C2A3A"/>
                          </a:solidFill>
                          <a:latin typeface="Calibri"/>
                        </a:defRPr>
                      </a:pPr>
                      <a:r>
                        <a:t>Numerical reasoning</a:t>
                      </a:r>
                    </a:p>
                  </a:txBody>
                  <a:tcPr/>
                </a:tc>
              </a:tr>
              <a:tr h="457200">
                <a:tc>
                  <a:txBody>
                    <a:bodyPr/>
                    <a:lstStyle/>
                    <a:p>
                      <a:pPr>
                        <a:defRPr sz="1100">
                          <a:solidFill>
                            <a:srgbClr val="1C2A3A"/>
                          </a:solidFill>
                          <a:latin typeface="Calibri"/>
                        </a:defRPr>
                      </a:pPr>
                      <a:r>
                        <a:t>Section 3</a:t>
                      </a:r>
                    </a:p>
                  </a:txBody>
                  <a:tcPr>
                    <a:solidFill>
                      <a:srgbClr val="E0E3E8"/>
                    </a:solidFill>
                  </a:tcPr>
                </a:tc>
                <a:tc>
                  <a:txBody>
                    <a:bodyPr/>
                    <a:lstStyle/>
                    <a:p>
                      <a:pPr>
                        <a:defRPr sz="1100">
                          <a:solidFill>
                            <a:srgbClr val="1C2A3A"/>
                          </a:solidFill>
                          <a:latin typeface="Calibri"/>
                        </a:defRPr>
                      </a:pPr>
                      <a:r>
                        <a:t>Llama2-7B (7B)</a:t>
                      </a:r>
                    </a:p>
                  </a:txBody>
                  <a:tcPr>
                    <a:solidFill>
                      <a:srgbClr val="E0E3E8"/>
                    </a:solidFill>
                  </a:tcPr>
                </a:tc>
                <a:tc>
                  <a:txBody>
                    <a:bodyPr/>
                    <a:lstStyle/>
                    <a:p>
                      <a:pPr>
                        <a:defRPr sz="1100">
                          <a:solidFill>
                            <a:srgbClr val="1C2A3A"/>
                          </a:solidFill>
                          <a:latin typeface="Calibri"/>
                        </a:defRPr>
                      </a:pPr>
                      <a:r>
                        <a:t>Base, FinQA-7B, RAG, Hybrid</a:t>
                      </a:r>
                    </a:p>
                  </a:txBody>
                  <a:tcPr>
                    <a:solidFill>
                      <a:srgbClr val="E0E3E8"/>
                    </a:solidFill>
                  </a:tcPr>
                </a:tc>
                <a:tc>
                  <a:txBody>
                    <a:bodyPr/>
                    <a:lstStyle/>
                    <a:p>
                      <a:pPr>
                        <a:defRPr sz="1100">
                          <a:solidFill>
                            <a:srgbClr val="1C2A3A"/>
                          </a:solidFill>
                          <a:latin typeface="Calibri"/>
                        </a:defRPr>
                      </a:pPr>
                      <a:r>
                        <a:t>Financial ratio calculation</a:t>
                      </a:r>
                    </a:p>
                  </a:txBody>
                  <a:tcPr>
                    <a:solidFill>
                      <a:srgbClr val="E0E3E8"/>
                    </a:solidFill>
                  </a:tcPr>
                </a:tc>
              </a:tr>
              <a:tr h="457200">
                <a:tc>
                  <a:txBody>
                    <a:bodyPr/>
                    <a:lstStyle/>
                    <a:p>
                      <a:pPr>
                        <a:defRPr sz="1100">
                          <a:solidFill>
                            <a:srgbClr val="1C2A3A"/>
                          </a:solidFill>
                          <a:latin typeface="Calibri"/>
                        </a:defRPr>
                      </a:pPr>
                      <a:r>
                        <a:t>Section 4</a:t>
                      </a:r>
                    </a:p>
                  </a:txBody>
                  <a:tcPr/>
                </a:tc>
                <a:tc>
                  <a:txBody>
                    <a:bodyPr/>
                    <a:lstStyle/>
                    <a:p>
                      <a:pPr>
                        <a:defRPr sz="1100">
                          <a:solidFill>
                            <a:srgbClr val="1C2A3A"/>
                          </a:solidFill>
                          <a:latin typeface="Calibri"/>
                        </a:defRPr>
                      </a:pPr>
                      <a:r>
                        <a:t>DistilBERT (66M)</a:t>
                      </a:r>
                    </a:p>
                  </a:txBody>
                  <a:tcPr/>
                </a:tc>
                <a:tc>
                  <a:txBody>
                    <a:bodyPr/>
                    <a:lstStyle/>
                    <a:p>
                      <a:pPr>
                        <a:defRPr sz="1100">
                          <a:solidFill>
                            <a:srgbClr val="1C2A3A"/>
                          </a:solidFill>
                          <a:latin typeface="Calibri"/>
                        </a:defRPr>
                      </a:pPr>
                      <a:r>
                        <a:t>Base, Fine-tuned, RAG, Hybrid</a:t>
                      </a:r>
                    </a:p>
                  </a:txBody>
                  <a:tcPr/>
                </a:tc>
                <a:tc>
                  <a:txBody>
                    <a:bodyPr/>
                    <a:lstStyle/>
                    <a:p>
                      <a:pPr>
                        <a:defRPr sz="1100">
                          <a:solidFill>
                            <a:srgbClr val="1C2A3A"/>
                          </a:solidFill>
                          <a:latin typeface="Calibri"/>
                        </a:defRPr>
                      </a:pPr>
                      <a:r>
                        <a:t>Spam / phishing detection</a:t>
                      </a:r>
                    </a:p>
                  </a:txBody>
                  <a:tcPr/>
                </a:tc>
              </a:tr>
            </a:tbl>
          </a:graphicData>
        </a:graphic>
      </p:graphicFrame>
      <p:sp>
        <p:nvSpPr>
          <p:cNvPr id="4" name="Rectangle 3"/>
          <p:cNvSpPr/>
          <p:nvPr/>
        </p:nvSpPr>
        <p:spPr>
          <a:xfrm>
            <a:off x="457200" y="4114800"/>
            <a:ext cx="11247120" cy="9144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Methodology:</a:t>
            </a:r>
          </a:p>
          <a:p>
            <a:pPr>
              <a:defRPr sz="1200">
                <a:solidFill>
                  <a:srgbClr val="1C2A3A"/>
                </a:solidFill>
                <a:latin typeface="Calibri"/>
              </a:defRPr>
            </a:pPr>
            <a:r>
              <a:t>Each experiment uses the SAME architecture and parameter count. The only variable is the approach (base, fine-tuned, RAG, or hybrid). All results measured in our environment with our models.</a:t>
            </a:r>
          </a:p>
        </p:txBody>
      </p:sp>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30/55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1: BERT 110M - Sentiment Classification</a:t>
            </a:r>
          </a:p>
          <a:p>
            <a:pPr>
              <a:defRPr sz="1600">
                <a:solidFill>
                  <a:srgbClr val="ECEFF1"/>
                </a:solidFill>
                <a:latin typeface="Calibri"/>
              </a:defRPr>
            </a:pPr>
            <a:r>
              <a:t>Architecture: BERT-base-uncased (110M parameters)</a:t>
            </a:r>
          </a:p>
        </p:txBody>
      </p:sp>
      <p:sp>
        <p:nvSpPr>
          <p:cNvPr id="3" name="Rectangle 2"/>
          <p:cNvSpPr/>
          <p:nvPr/>
        </p:nvSpPr>
        <p:spPr>
          <a:xfrm>
            <a:off x="457200" y="1280160"/>
            <a:ext cx="2651760" cy="10972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Base BERT</a:t>
            </a:r>
          </a:p>
          <a:p>
            <a:pPr>
              <a:defRPr sz="1200">
                <a:solidFill>
                  <a:srgbClr val="1C2A3A"/>
                </a:solidFill>
                <a:latin typeface="Calibri"/>
              </a:defRPr>
            </a:pPr>
            <a:r>
              <a:t>Accuracy: 45.0%  (9/20)</a:t>
            </a:r>
          </a:p>
        </p:txBody>
      </p:sp>
      <p:sp>
        <p:nvSpPr>
          <p:cNvPr id="4" name="Rectangle 3"/>
          <p:cNvSpPr/>
          <p:nvPr/>
        </p:nvSpPr>
        <p:spPr>
          <a:xfrm>
            <a:off x="3291840" y="1280160"/>
            <a:ext cx="2651760" cy="10972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FinBERT (fine-tuned)</a:t>
            </a:r>
          </a:p>
          <a:p>
            <a:pPr>
              <a:defRPr sz="1200">
                <a:solidFill>
                  <a:srgbClr val="1C2A3A"/>
                </a:solidFill>
                <a:latin typeface="Calibri"/>
              </a:defRPr>
            </a:pPr>
            <a:r>
              <a:t>Accuracy: 70.0%  (14/20)</a:t>
            </a:r>
          </a:p>
        </p:txBody>
      </p:sp>
      <p:sp>
        <p:nvSpPr>
          <p:cNvPr id="5" name="Rectangle 4"/>
          <p:cNvSpPr/>
          <p:nvPr/>
        </p:nvSpPr>
        <p:spPr>
          <a:xfrm>
            <a:off x="6126480" y="1280160"/>
            <a:ext cx="2651760" cy="10972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BERT + RAG</a:t>
            </a:r>
          </a:p>
          <a:p>
            <a:pPr>
              <a:defRPr sz="1200">
                <a:solidFill>
                  <a:srgbClr val="1C2A3A"/>
                </a:solidFill>
                <a:latin typeface="Calibri"/>
              </a:defRPr>
            </a:pPr>
            <a:r>
              <a:t>Accuracy: 65.0%  (13/20)</a:t>
            </a:r>
          </a:p>
        </p:txBody>
      </p:sp>
      <p:sp>
        <p:nvSpPr>
          <p:cNvPr id="6" name="Rectangle 5"/>
          <p:cNvSpPr/>
          <p:nvPr/>
        </p:nvSpPr>
        <p:spPr>
          <a:xfrm>
            <a:off x="8961120" y="1280160"/>
            <a:ext cx="2651760" cy="109728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FinBERT + RAG (hybrid)</a:t>
            </a:r>
          </a:p>
          <a:p>
            <a:pPr>
              <a:defRPr sz="1200">
                <a:solidFill>
                  <a:srgbClr val="1C2A3A"/>
                </a:solidFill>
                <a:latin typeface="Calibri"/>
              </a:defRPr>
            </a:pPr>
            <a:r>
              <a:t>Accuracy: 70.0%  (14/20)</a:t>
            </a:r>
          </a:p>
        </p:txBody>
      </p:sp>
      <p:graphicFrame>
        <p:nvGraphicFramePr>
          <p:cNvPr id="7" name="Chart 6"/>
          <p:cNvGraphicFramePr>
            <a:graphicFrameLocks noGrp="1"/>
          </p:cNvGraphicFramePr>
          <p:nvPr/>
        </p:nvGraphicFramePr>
        <p:xfrm>
          <a:off x="457200" y="2560320"/>
          <a:ext cx="5303520" cy="32004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6217920" y="2560320"/>
          <a:ext cx="5303520" cy="3200400"/>
        </p:xfrm>
        <a:graphic>
          <a:graphicData uri="http://schemas.openxmlformats.org/drawingml/2006/chart">
            <c:chart xmlns:c="http://schemas.openxmlformats.org/drawingml/2006/chart" r:id="rId3"/>
          </a:graphicData>
        </a:graphic>
      </p:graphicFrame>
      <p:sp>
        <p:nvSpPr>
          <p:cNvPr id="9" name="TextBox 8"/>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31/55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1: BERT 110M - Sentiment Classification - Token Usage &amp; Cost</a:t>
            </a:r>
          </a:p>
        </p:txBody>
      </p:sp>
      <p:graphicFrame>
        <p:nvGraphicFramePr>
          <p:cNvPr id="3" name="Table 2"/>
          <p:cNvGraphicFramePr>
            <a:graphicFrameLocks noGrp="1"/>
          </p:cNvGraphicFramePr>
          <p:nvPr/>
        </p:nvGraphicFramePr>
        <p:xfrm>
          <a:off x="457200" y="1371600"/>
          <a:ext cx="11247120" cy="32004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0005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BERT</a:t>
                      </a:r>
                    </a:p>
                  </a:txBody>
                  <a:tcPr>
                    <a:solidFill>
                      <a:srgbClr val="2E86C1"/>
                    </a:solidFill>
                  </a:tcPr>
                </a:tc>
                <a:tc>
                  <a:txBody>
                    <a:bodyPr/>
                    <a:lstStyle/>
                    <a:p>
                      <a:pPr algn="ctr">
                        <a:defRPr sz="1200" b="1">
                          <a:solidFill>
                            <a:srgbClr val="FFFFFF"/>
                          </a:solidFill>
                          <a:latin typeface="Calibri"/>
                        </a:defRPr>
                      </a:pPr>
                      <a:r>
                        <a:t>FinBERT</a:t>
                      </a:r>
                    </a:p>
                  </a:txBody>
                  <a:tcPr>
                    <a:solidFill>
                      <a:srgbClr val="2E86C1"/>
                    </a:solidFill>
                  </a:tcPr>
                </a:tc>
                <a:tc>
                  <a:txBody>
                    <a:bodyPr/>
                    <a:lstStyle/>
                    <a:p>
                      <a:pPr algn="ctr">
                        <a:defRPr sz="1200" b="1">
                          <a:solidFill>
                            <a:srgbClr val="FFFFFF"/>
                          </a:solidFill>
                          <a:latin typeface="Calibri"/>
                        </a:defRPr>
                      </a:pPr>
                      <a:r>
                        <a:t>BERT + RAG</a:t>
                      </a:r>
                    </a:p>
                  </a:txBody>
                  <a:tcPr>
                    <a:solidFill>
                      <a:srgbClr val="2E86C1"/>
                    </a:solidFill>
                  </a:tcPr>
                </a:tc>
                <a:tc>
                  <a:txBody>
                    <a:bodyPr/>
                    <a:lstStyle/>
                    <a:p>
                      <a:pPr algn="ctr">
                        <a:defRPr sz="1200" b="1">
                          <a:solidFill>
                            <a:srgbClr val="FFFFFF"/>
                          </a:solidFill>
                          <a:latin typeface="Calibri"/>
                        </a:defRPr>
                      </a:pPr>
                      <a:r>
                        <a:t>FinBERT + RAG</a:t>
                      </a:r>
                    </a:p>
                  </a:txBody>
                  <a:tcPr>
                    <a:solidFill>
                      <a:srgbClr val="2E86C1"/>
                    </a:solidFill>
                  </a:tcPr>
                </a:tc>
              </a:tr>
              <a:tr h="400050">
                <a:tc>
                  <a:txBody>
                    <a:bodyPr/>
                    <a:lstStyle/>
                    <a:p>
                      <a:pPr>
                        <a:defRPr sz="1100">
                          <a:solidFill>
                            <a:srgbClr val="1C2A3A"/>
                          </a:solidFill>
                          <a:latin typeface="Calibri"/>
                        </a:defRPr>
                      </a:pPr>
                      <a:r>
                        <a:t>Avg Tokens / Query</a:t>
                      </a:r>
                    </a:p>
                  </a:txBody>
                  <a:tcPr>
                    <a:solidFill>
                      <a:srgbClr val="E0E3E8"/>
                    </a:solidFill>
                  </a:tcPr>
                </a:tc>
                <a:tc>
                  <a:txBody>
                    <a:bodyPr/>
                    <a:lstStyle/>
                    <a:p>
                      <a:pPr>
                        <a:defRPr sz="1100">
                          <a:solidFill>
                            <a:srgbClr val="1C2A3A"/>
                          </a:solidFill>
                          <a:latin typeface="Calibri"/>
                        </a:defRPr>
                      </a:pPr>
                      <a:r>
                        <a:t>16</a:t>
                      </a:r>
                    </a:p>
                  </a:txBody>
                  <a:tcPr>
                    <a:solidFill>
                      <a:srgbClr val="E0E3E8"/>
                    </a:solidFill>
                  </a:tcPr>
                </a:tc>
                <a:tc>
                  <a:txBody>
                    <a:bodyPr/>
                    <a:lstStyle/>
                    <a:p>
                      <a:pPr>
                        <a:defRPr sz="1100">
                          <a:solidFill>
                            <a:srgbClr val="1C2A3A"/>
                          </a:solidFill>
                          <a:latin typeface="Calibri"/>
                        </a:defRPr>
                      </a:pPr>
                      <a:r>
                        <a:t>16</a:t>
                      </a:r>
                    </a:p>
                  </a:txBody>
                  <a:tcPr>
                    <a:solidFill>
                      <a:srgbClr val="E0E3E8"/>
                    </a:solidFill>
                  </a:tcPr>
                </a:tc>
                <a:tc>
                  <a:txBody>
                    <a:bodyPr/>
                    <a:lstStyle/>
                    <a:p>
                      <a:pPr>
                        <a:defRPr sz="1100">
                          <a:solidFill>
                            <a:srgbClr val="1C2A3A"/>
                          </a:solidFill>
                          <a:latin typeface="Calibri"/>
                        </a:defRPr>
                      </a:pPr>
                      <a:r>
                        <a:t>76</a:t>
                      </a:r>
                    </a:p>
                  </a:txBody>
                  <a:tcPr>
                    <a:solidFill>
                      <a:srgbClr val="E0E3E8"/>
                    </a:solidFill>
                  </a:tcPr>
                </a:tc>
                <a:tc>
                  <a:txBody>
                    <a:bodyPr/>
                    <a:lstStyle/>
                    <a:p>
                      <a:pPr>
                        <a:defRPr sz="1100">
                          <a:solidFill>
                            <a:srgbClr val="1C2A3A"/>
                          </a:solidFill>
                          <a:latin typeface="Calibri"/>
                        </a:defRPr>
                      </a:pPr>
                      <a:r>
                        <a:t>92</a:t>
                      </a:r>
                    </a:p>
                  </a:txBody>
                  <a:tcPr>
                    <a:solidFill>
                      <a:srgbClr val="E0E3E8"/>
                    </a:solidFill>
                  </a:tcPr>
                </a:tc>
              </a:tr>
              <a:tr h="400050">
                <a:tc>
                  <a:txBody>
                    <a:bodyPr/>
                    <a:lstStyle/>
                    <a:p>
                      <a:pPr>
                        <a:defRPr sz="1100">
                          <a:solidFill>
                            <a:srgbClr val="1C2A3A"/>
                          </a:solidFill>
                          <a:latin typeface="Calibri"/>
                        </a:defRPr>
                      </a:pPr>
                      <a:r>
                        <a:t>Total Tokens</a:t>
                      </a:r>
                    </a:p>
                  </a:txBody>
                  <a:tcPr/>
                </a:tc>
                <a:tc>
                  <a:txBody>
                    <a:bodyPr/>
                    <a:lstStyle/>
                    <a:p>
                      <a:pPr>
                        <a:defRPr sz="1100">
                          <a:solidFill>
                            <a:srgbClr val="1C2A3A"/>
                          </a:solidFill>
                          <a:latin typeface="Calibri"/>
                        </a:defRPr>
                      </a:pPr>
                      <a:r>
                        <a:t>327</a:t>
                      </a:r>
                    </a:p>
                  </a:txBody>
                  <a:tcPr/>
                </a:tc>
                <a:tc>
                  <a:txBody>
                    <a:bodyPr/>
                    <a:lstStyle/>
                    <a:p>
                      <a:pPr>
                        <a:defRPr sz="1100">
                          <a:solidFill>
                            <a:srgbClr val="1C2A3A"/>
                          </a:solidFill>
                          <a:latin typeface="Calibri"/>
                        </a:defRPr>
                      </a:pPr>
                      <a:r>
                        <a:t>327</a:t>
                      </a:r>
                    </a:p>
                  </a:txBody>
                  <a:tcPr/>
                </a:tc>
                <a:tc>
                  <a:txBody>
                    <a:bodyPr/>
                    <a:lstStyle/>
                    <a:p>
                      <a:pPr>
                        <a:defRPr sz="1100">
                          <a:solidFill>
                            <a:srgbClr val="1C2A3A"/>
                          </a:solidFill>
                          <a:latin typeface="Calibri"/>
                        </a:defRPr>
                      </a:pPr>
                      <a:r>
                        <a:t>1,516</a:t>
                      </a:r>
                    </a:p>
                  </a:txBody>
                  <a:tcPr/>
                </a:tc>
                <a:tc>
                  <a:txBody>
                    <a:bodyPr/>
                    <a:lstStyle/>
                    <a:p>
                      <a:pPr>
                        <a:defRPr sz="1100">
                          <a:solidFill>
                            <a:srgbClr val="1C2A3A"/>
                          </a:solidFill>
                          <a:latin typeface="Calibri"/>
                        </a:defRPr>
                      </a:pPr>
                      <a:r>
                        <a:t>1,843</a:t>
                      </a:r>
                    </a:p>
                  </a:txBody>
                  <a:tcPr/>
                </a:tc>
              </a:tr>
              <a:tr h="400050">
                <a:tc>
                  <a:txBody>
                    <a:bodyPr/>
                    <a:lstStyle/>
                    <a:p>
                      <a:pPr>
                        <a:defRPr sz="1100">
                          <a:solidFill>
                            <a:srgbClr val="1C2A3A"/>
                          </a:solidFill>
                          <a:latin typeface="Calibri"/>
                        </a:defRPr>
                      </a:pPr>
                      <a:r>
                        <a:t>Prompt Tokens (total)</a:t>
                      </a:r>
                    </a:p>
                  </a:txBody>
                  <a:tcPr>
                    <a:solidFill>
                      <a:srgbClr val="E0E3E8"/>
                    </a:solidFill>
                  </a:tcPr>
                </a:tc>
                <a:tc>
                  <a:txBody>
                    <a:bodyPr/>
                    <a:lstStyle/>
                    <a:p>
                      <a:pPr>
                        <a:defRPr sz="1100">
                          <a:solidFill>
                            <a:srgbClr val="1C2A3A"/>
                          </a:solidFill>
                          <a:latin typeface="Calibri"/>
                        </a:defRPr>
                      </a:pPr>
                      <a:r>
                        <a:t>327</a:t>
                      </a:r>
                    </a:p>
                  </a:txBody>
                  <a:tcPr>
                    <a:solidFill>
                      <a:srgbClr val="E0E3E8"/>
                    </a:solidFill>
                  </a:tcPr>
                </a:tc>
                <a:tc>
                  <a:txBody>
                    <a:bodyPr/>
                    <a:lstStyle/>
                    <a:p>
                      <a:pPr>
                        <a:defRPr sz="1100">
                          <a:solidFill>
                            <a:srgbClr val="1C2A3A"/>
                          </a:solidFill>
                          <a:latin typeface="Calibri"/>
                        </a:defRPr>
                      </a:pPr>
                      <a:r>
                        <a:t>327</a:t>
                      </a:r>
                    </a:p>
                  </a:txBody>
                  <a:tcPr>
                    <a:solidFill>
                      <a:srgbClr val="E0E3E8"/>
                    </a:solidFill>
                  </a:tcPr>
                </a:tc>
                <a:tc>
                  <a:txBody>
                    <a:bodyPr/>
                    <a:lstStyle/>
                    <a:p>
                      <a:pPr>
                        <a:defRPr sz="1100">
                          <a:solidFill>
                            <a:srgbClr val="1C2A3A"/>
                          </a:solidFill>
                          <a:latin typeface="Calibri"/>
                        </a:defRPr>
                      </a:pPr>
                      <a:r>
                        <a:t>1,516</a:t>
                      </a:r>
                    </a:p>
                  </a:txBody>
                  <a:tcPr>
                    <a:solidFill>
                      <a:srgbClr val="E0E3E8"/>
                    </a:solidFill>
                  </a:tcPr>
                </a:tc>
                <a:tc>
                  <a:txBody>
                    <a:bodyPr/>
                    <a:lstStyle/>
                    <a:p>
                      <a:pPr>
                        <a:defRPr sz="1100">
                          <a:solidFill>
                            <a:srgbClr val="1C2A3A"/>
                          </a:solidFill>
                          <a:latin typeface="Calibri"/>
                        </a:defRPr>
                      </a:pPr>
                      <a:r>
                        <a:t>1,843</a:t>
                      </a:r>
                    </a:p>
                  </a:txBody>
                  <a:tcPr>
                    <a:solidFill>
                      <a:srgbClr val="E0E3E8"/>
                    </a:solidFill>
                  </a:tcPr>
                </a:tc>
              </a:tr>
              <a:tr h="400050">
                <a:tc>
                  <a:txBody>
                    <a:bodyPr/>
                    <a:lstStyle/>
                    <a:p>
                      <a:pPr>
                        <a:defRPr sz="1100">
                          <a:solidFill>
                            <a:srgbClr val="1C2A3A"/>
                          </a:solidFill>
                          <a:latin typeface="Calibri"/>
                        </a:defRPr>
                      </a:pPr>
                      <a:r>
                        <a:t>Completion Tokens (total)</a:t>
                      </a:r>
                    </a:p>
                  </a:txBody>
                  <a:tcPr/>
                </a:tc>
                <a:tc>
                  <a:txBody>
                    <a:bodyPr/>
                    <a:lstStyle/>
                    <a:p>
                      <a:pPr>
                        <a:defRPr sz="1100">
                          <a:solidFill>
                            <a:srgbClr val="1C2A3A"/>
                          </a:solidFill>
                          <a:latin typeface="Calibri"/>
                        </a:defRPr>
                      </a:pPr>
                      <a:r>
                        <a:t>0</a:t>
                      </a:r>
                    </a:p>
                  </a:txBody>
                  <a:tcPr/>
                </a:tc>
                <a:tc>
                  <a:txBody>
                    <a:bodyPr/>
                    <a:lstStyle/>
                    <a:p>
                      <a:pPr>
                        <a:defRPr sz="1100">
                          <a:solidFill>
                            <a:srgbClr val="1C2A3A"/>
                          </a:solidFill>
                          <a:latin typeface="Calibri"/>
                        </a:defRPr>
                      </a:pPr>
                      <a:r>
                        <a:t>0</a:t>
                      </a:r>
                    </a:p>
                  </a:txBody>
                  <a:tcPr/>
                </a:tc>
                <a:tc>
                  <a:txBody>
                    <a:bodyPr/>
                    <a:lstStyle/>
                    <a:p>
                      <a:pPr>
                        <a:defRPr sz="1100">
                          <a:solidFill>
                            <a:srgbClr val="1C2A3A"/>
                          </a:solidFill>
                          <a:latin typeface="Calibri"/>
                        </a:defRPr>
                      </a:pPr>
                      <a:r>
                        <a:t>0</a:t>
                      </a:r>
                    </a:p>
                  </a:txBody>
                  <a:tcPr/>
                </a:tc>
                <a:tc>
                  <a:txBody>
                    <a:bodyPr/>
                    <a:lstStyle/>
                    <a:p>
                      <a:pPr>
                        <a:defRPr sz="1100">
                          <a:solidFill>
                            <a:srgbClr val="1C2A3A"/>
                          </a:solidFill>
                          <a:latin typeface="Calibri"/>
                        </a:defRPr>
                      </a:pPr>
                      <a:r>
                        <a:t>0</a:t>
                      </a:r>
                    </a:p>
                  </a:txBody>
                  <a:tcPr/>
                </a:tc>
              </a:tr>
              <a:tr h="400050">
                <a:tc>
                  <a:txBody>
                    <a:bodyPr/>
                    <a:lstStyle/>
                    <a:p>
                      <a:pPr>
                        <a:defRPr sz="1100">
                          <a:solidFill>
                            <a:srgbClr val="1C2A3A"/>
                          </a:solidFill>
                          <a:latin typeface="Calibri"/>
                        </a:defRPr>
                      </a:pPr>
                      <a:r>
                        <a:t>Throughput (tokens/sec)</a:t>
                      </a:r>
                    </a:p>
                  </a:txBody>
                  <a:tcPr>
                    <a:solidFill>
                      <a:srgbClr val="E0E3E8"/>
                    </a:solidFill>
                  </a:tcPr>
                </a:tc>
                <a:tc>
                  <a:txBody>
                    <a:bodyPr/>
                    <a:lstStyle/>
                    <a:p>
                      <a:pPr>
                        <a:defRPr sz="1100">
                          <a:solidFill>
                            <a:srgbClr val="1C2A3A"/>
                          </a:solidFill>
                          <a:latin typeface="Calibri"/>
                        </a:defRPr>
                      </a:pPr>
                      <a:r>
                        <a:t>249</a:t>
                      </a:r>
                    </a:p>
                  </a:txBody>
                  <a:tcPr>
                    <a:solidFill>
                      <a:srgbClr val="E0E3E8"/>
                    </a:solidFill>
                  </a:tcPr>
                </a:tc>
                <a:tc>
                  <a:txBody>
                    <a:bodyPr/>
                    <a:lstStyle/>
                    <a:p>
                      <a:pPr>
                        <a:defRPr sz="1100">
                          <a:solidFill>
                            <a:srgbClr val="1C2A3A"/>
                          </a:solidFill>
                          <a:latin typeface="Calibri"/>
                        </a:defRPr>
                      </a:pPr>
                      <a:r>
                        <a:t>239</a:t>
                      </a:r>
                    </a:p>
                  </a:txBody>
                  <a:tcPr>
                    <a:solidFill>
                      <a:srgbClr val="E0E3E8"/>
                    </a:solidFill>
                  </a:tcPr>
                </a:tc>
                <a:tc>
                  <a:txBody>
                    <a:bodyPr/>
                    <a:lstStyle/>
                    <a:p>
                      <a:pPr>
                        <a:defRPr sz="1100">
                          <a:solidFill>
                            <a:srgbClr val="1C2A3A"/>
                          </a:solidFill>
                          <a:latin typeface="Calibri"/>
                        </a:defRPr>
                      </a:pPr>
                      <a:r>
                        <a:t>1,183</a:t>
                      </a:r>
                    </a:p>
                  </a:txBody>
                  <a:tcPr>
                    <a:solidFill>
                      <a:srgbClr val="E0E3E8"/>
                    </a:solidFill>
                  </a:tcPr>
                </a:tc>
                <a:tc>
                  <a:txBody>
                    <a:bodyPr/>
                    <a:lstStyle/>
                    <a:p>
                      <a:pPr>
                        <a:defRPr sz="1100">
                          <a:solidFill>
                            <a:srgbClr val="1C2A3A"/>
                          </a:solidFill>
                          <a:latin typeface="Calibri"/>
                        </a:defRPr>
                      </a:pPr>
                      <a:r>
                        <a:t>730</a:t>
                      </a:r>
                    </a:p>
                  </a:txBody>
                  <a:tcPr>
                    <a:solidFill>
                      <a:srgbClr val="E0E3E8"/>
                    </a:solidFill>
                  </a:tcPr>
                </a:tc>
              </a:tr>
              <a:tr h="400050">
                <a:tc>
                  <a:txBody>
                    <a:bodyPr/>
                    <a:lstStyle/>
                    <a:p>
                      <a:pPr>
                        <a:defRPr sz="1100">
                          <a:solidFill>
                            <a:srgbClr val="1C2A3A"/>
                          </a:solidFill>
                          <a:latin typeface="Calibri"/>
                        </a:defRPr>
                      </a:pPr>
                      <a:r>
                        <a:t>Cost / 1K Queries</a:t>
                      </a:r>
                    </a:p>
                  </a:txBody>
                  <a:tcPr/>
                </a:tc>
                <a:tc>
                  <a:txBody>
                    <a:bodyPr/>
                    <a:lstStyle/>
                    <a:p>
                      <a:pPr>
                        <a:defRPr sz="1100">
                          <a:solidFill>
                            <a:srgbClr val="1C2A3A"/>
                          </a:solidFill>
                          <a:latin typeface="Calibri"/>
                        </a:defRPr>
                      </a:pPr>
                      <a:r>
                        <a:t>$0.000200</a:t>
                      </a:r>
                    </a:p>
                  </a:txBody>
                  <a:tcPr/>
                </a:tc>
                <a:tc>
                  <a:txBody>
                    <a:bodyPr/>
                    <a:lstStyle/>
                    <a:p>
                      <a:pPr>
                        <a:defRPr sz="1100">
                          <a:solidFill>
                            <a:srgbClr val="1C2A3A"/>
                          </a:solidFill>
                          <a:latin typeface="Calibri"/>
                        </a:defRPr>
                      </a:pPr>
                      <a:r>
                        <a:t>$0.000200</a:t>
                      </a:r>
                    </a:p>
                  </a:txBody>
                  <a:tcPr/>
                </a:tc>
                <a:tc>
                  <a:txBody>
                    <a:bodyPr/>
                    <a:lstStyle/>
                    <a:p>
                      <a:pPr>
                        <a:defRPr sz="1100">
                          <a:solidFill>
                            <a:srgbClr val="1C2A3A"/>
                          </a:solidFill>
                          <a:latin typeface="Calibri"/>
                        </a:defRPr>
                      </a:pPr>
                      <a:r>
                        <a:t>$0.000800</a:t>
                      </a:r>
                    </a:p>
                  </a:txBody>
                  <a:tcPr/>
                </a:tc>
                <a:tc>
                  <a:txBody>
                    <a:bodyPr/>
                    <a:lstStyle/>
                    <a:p>
                      <a:pPr>
                        <a:defRPr sz="1100">
                          <a:solidFill>
                            <a:srgbClr val="1C2A3A"/>
                          </a:solidFill>
                          <a:latin typeface="Calibri"/>
                        </a:defRPr>
                      </a:pPr>
                      <a:r>
                        <a:t>$0.000900</a:t>
                      </a:r>
                    </a:p>
                  </a:txBody>
                  <a:tcPr/>
                </a:tc>
              </a:tr>
              <a:tr h="400050">
                <a:tc>
                  <a:txBody>
                    <a:bodyPr/>
                    <a:lstStyle/>
                    <a:p>
                      <a:pPr>
                        <a:defRPr sz="1100">
                          <a:solidFill>
                            <a:srgbClr val="1C2A3A"/>
                          </a:solidFill>
                          <a:latin typeface="Calibri"/>
                        </a:defRPr>
                      </a:pPr>
                      <a:r>
                        <a:t>Total Benchmark Cost</a:t>
                      </a:r>
                    </a:p>
                  </a:txBody>
                  <a:tcPr>
                    <a:solidFill>
                      <a:srgbClr val="E0E3E8"/>
                    </a:solidFill>
                  </a:tcPr>
                </a:tc>
                <a:tc>
                  <a:txBody>
                    <a:bodyPr/>
                    <a:lstStyle/>
                    <a:p>
                      <a:pPr>
                        <a:defRPr sz="1100">
                          <a:solidFill>
                            <a:srgbClr val="1C2A3A"/>
                          </a:solidFill>
                          <a:latin typeface="Calibri"/>
                        </a:defRPr>
                      </a:pPr>
                      <a:r>
                        <a:t>$0.000003</a:t>
                      </a:r>
                    </a:p>
                  </a:txBody>
                  <a:tcPr>
                    <a:solidFill>
                      <a:srgbClr val="E0E3E8"/>
                    </a:solidFill>
                  </a:tcPr>
                </a:tc>
                <a:tc>
                  <a:txBody>
                    <a:bodyPr/>
                    <a:lstStyle/>
                    <a:p>
                      <a:pPr>
                        <a:defRPr sz="1100">
                          <a:solidFill>
                            <a:srgbClr val="1C2A3A"/>
                          </a:solidFill>
                          <a:latin typeface="Calibri"/>
                        </a:defRPr>
                      </a:pPr>
                      <a:r>
                        <a:t>$0.000003</a:t>
                      </a:r>
                    </a:p>
                  </a:txBody>
                  <a:tcPr>
                    <a:solidFill>
                      <a:srgbClr val="E0E3E8"/>
                    </a:solidFill>
                  </a:tcPr>
                </a:tc>
                <a:tc>
                  <a:txBody>
                    <a:bodyPr/>
                    <a:lstStyle/>
                    <a:p>
                      <a:pPr>
                        <a:defRPr sz="1100">
                          <a:solidFill>
                            <a:srgbClr val="1C2A3A"/>
                          </a:solidFill>
                          <a:latin typeface="Calibri"/>
                        </a:defRPr>
                      </a:pPr>
                      <a:r>
                        <a:t>$0.000015</a:t>
                      </a:r>
                    </a:p>
                  </a:txBody>
                  <a:tcPr>
                    <a:solidFill>
                      <a:srgbClr val="E0E3E8"/>
                    </a:solidFill>
                  </a:tcPr>
                </a:tc>
                <a:tc>
                  <a:txBody>
                    <a:bodyPr/>
                    <a:lstStyle/>
                    <a:p>
                      <a:pPr>
                        <a:defRPr sz="1100">
                          <a:solidFill>
                            <a:srgbClr val="1C2A3A"/>
                          </a:solidFill>
                          <a:latin typeface="Calibri"/>
                        </a:defRPr>
                      </a:pPr>
                      <a:r>
                        <a:t>$0.000018</a:t>
                      </a:r>
                    </a:p>
                  </a:txBody>
                  <a:tcPr>
                    <a:solidFill>
                      <a:srgbClr val="E0E3E8"/>
                    </a:solidFill>
                  </a:tcPr>
                </a:tc>
              </a:tr>
            </a:tbl>
          </a:graphicData>
        </a:graphic>
      </p:graphicFrame>
      <p:graphicFrame>
        <p:nvGraphicFramePr>
          <p:cNvPr id="4" name="Chart 3"/>
          <p:cNvGraphicFramePr>
            <a:graphicFrameLocks noGrp="1"/>
          </p:cNvGraphicFramePr>
          <p:nvPr/>
        </p:nvGraphicFramePr>
        <p:xfrm>
          <a:off x="457200" y="4754880"/>
          <a:ext cx="5303520" cy="1828800"/>
        </p:xfrm>
        <a:graphic>
          <a:graphicData uri="http://schemas.openxmlformats.org/drawingml/2006/chart">
            <c:chart xmlns:c="http://schemas.openxmlformats.org/drawingml/2006/chart" r:id="rId2"/>
          </a:graphicData>
        </a:graphic>
      </p:graphicFrame>
      <p:graphicFrame>
        <p:nvGraphicFramePr>
          <p:cNvPr id="5" name="Chart 4"/>
          <p:cNvGraphicFramePr>
            <a:graphicFrameLocks noGrp="1"/>
          </p:cNvGraphicFramePr>
          <p:nvPr/>
        </p:nvGraphicFramePr>
        <p:xfrm>
          <a:off x="6217920" y="4754880"/>
          <a:ext cx="5303520" cy="1828800"/>
        </p:xfrm>
        <a:graphic>
          <a:graphicData uri="http://schemas.openxmlformats.org/drawingml/2006/chart">
            <c:chart xmlns:c="http://schemas.openxmlformats.org/drawingml/2006/chart" r:id="rId3"/>
          </a:graphicData>
        </a:graphic>
      </p:graphicFrame>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32/55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1: BERT 110M - Sentiment Classification - Quality Metrics</a:t>
            </a:r>
          </a:p>
        </p:txBody>
      </p:sp>
      <p:graphicFrame>
        <p:nvGraphicFramePr>
          <p:cNvPr id="3" name="Table 2"/>
          <p:cNvGraphicFramePr>
            <a:graphicFrameLocks noGrp="1"/>
          </p:cNvGraphicFramePr>
          <p:nvPr/>
        </p:nvGraphicFramePr>
        <p:xfrm>
          <a:off x="457200" y="1371600"/>
          <a:ext cx="11247120" cy="32004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5720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BERT</a:t>
                      </a:r>
                    </a:p>
                  </a:txBody>
                  <a:tcPr>
                    <a:solidFill>
                      <a:srgbClr val="2E86C1"/>
                    </a:solidFill>
                  </a:tcPr>
                </a:tc>
                <a:tc>
                  <a:txBody>
                    <a:bodyPr/>
                    <a:lstStyle/>
                    <a:p>
                      <a:pPr algn="ctr">
                        <a:defRPr sz="1200" b="1">
                          <a:solidFill>
                            <a:srgbClr val="FFFFFF"/>
                          </a:solidFill>
                          <a:latin typeface="Calibri"/>
                        </a:defRPr>
                      </a:pPr>
                      <a:r>
                        <a:t>FinBERT</a:t>
                      </a:r>
                    </a:p>
                  </a:txBody>
                  <a:tcPr>
                    <a:solidFill>
                      <a:srgbClr val="2E86C1"/>
                    </a:solidFill>
                  </a:tcPr>
                </a:tc>
                <a:tc>
                  <a:txBody>
                    <a:bodyPr/>
                    <a:lstStyle/>
                    <a:p>
                      <a:pPr algn="ctr">
                        <a:defRPr sz="1200" b="1">
                          <a:solidFill>
                            <a:srgbClr val="FFFFFF"/>
                          </a:solidFill>
                          <a:latin typeface="Calibri"/>
                        </a:defRPr>
                      </a:pPr>
                      <a:r>
                        <a:t>BERT + RAG</a:t>
                      </a:r>
                    </a:p>
                  </a:txBody>
                  <a:tcPr>
                    <a:solidFill>
                      <a:srgbClr val="2E86C1"/>
                    </a:solidFill>
                  </a:tcPr>
                </a:tc>
                <a:tc>
                  <a:txBody>
                    <a:bodyPr/>
                    <a:lstStyle/>
                    <a:p>
                      <a:pPr algn="ctr">
                        <a:defRPr sz="1200" b="1">
                          <a:solidFill>
                            <a:srgbClr val="FFFFFF"/>
                          </a:solidFill>
                          <a:latin typeface="Calibri"/>
                        </a:defRPr>
                      </a:pPr>
                      <a:r>
                        <a:t>FinBERT + RAG</a:t>
                      </a:r>
                    </a:p>
                  </a:txBody>
                  <a:tcPr>
                    <a:solidFill>
                      <a:srgbClr val="2E86C1"/>
                    </a:solidFill>
                  </a:tcPr>
                </a:tc>
              </a:tr>
              <a:tr h="457200">
                <a:tc>
                  <a:txBody>
                    <a:bodyPr/>
                    <a:lstStyle/>
                    <a:p>
                      <a:pPr>
                        <a:defRPr sz="1100">
                          <a:solidFill>
                            <a:srgbClr val="1C2A3A"/>
                          </a:solidFill>
                          <a:latin typeface="Calibri"/>
                        </a:defRPr>
                      </a:pPr>
                      <a:r>
                        <a:t>F1 Score (macro)</a:t>
                      </a:r>
                    </a:p>
                  </a:txBody>
                  <a:tcPr>
                    <a:solidFill>
                      <a:srgbClr val="E0E3E8"/>
                    </a:solidFill>
                  </a:tcPr>
                </a:tc>
                <a:tc>
                  <a:txBody>
                    <a:bodyPr/>
                    <a:lstStyle/>
                    <a:p>
                      <a:pPr>
                        <a:defRPr sz="1100">
                          <a:solidFill>
                            <a:srgbClr val="1C2A3A"/>
                          </a:solidFill>
                          <a:latin typeface="Calibri"/>
                        </a:defRPr>
                      </a:pPr>
                      <a:r>
                        <a:t>0.347</a:t>
                      </a:r>
                    </a:p>
                  </a:txBody>
                  <a:tcPr>
                    <a:solidFill>
                      <a:srgbClr val="E0E3E8"/>
                    </a:solidFill>
                  </a:tcPr>
                </a:tc>
                <a:tc>
                  <a:txBody>
                    <a:bodyPr/>
                    <a:lstStyle/>
                    <a:p>
                      <a:pPr>
                        <a:defRPr sz="1100">
                          <a:solidFill>
                            <a:srgbClr val="1C2A3A"/>
                          </a:solidFill>
                          <a:latin typeface="Calibri"/>
                        </a:defRPr>
                      </a:pPr>
                      <a:r>
                        <a:t>0.669</a:t>
                      </a:r>
                    </a:p>
                  </a:txBody>
                  <a:tcPr>
                    <a:solidFill>
                      <a:srgbClr val="E0E3E8"/>
                    </a:solidFill>
                  </a:tcPr>
                </a:tc>
                <a:tc>
                  <a:txBody>
                    <a:bodyPr/>
                    <a:lstStyle/>
                    <a:p>
                      <a:pPr>
                        <a:defRPr sz="1100">
                          <a:solidFill>
                            <a:srgbClr val="1C2A3A"/>
                          </a:solidFill>
                          <a:latin typeface="Calibri"/>
                        </a:defRPr>
                      </a:pPr>
                      <a:r>
                        <a:t>0.604</a:t>
                      </a:r>
                    </a:p>
                  </a:txBody>
                  <a:tcPr>
                    <a:solidFill>
                      <a:srgbClr val="E0E3E8"/>
                    </a:solidFill>
                  </a:tcPr>
                </a:tc>
                <a:tc>
                  <a:txBody>
                    <a:bodyPr/>
                    <a:lstStyle/>
                    <a:p>
                      <a:pPr>
                        <a:defRPr sz="1100">
                          <a:solidFill>
                            <a:srgbClr val="1C2A3A"/>
                          </a:solidFill>
                          <a:latin typeface="Calibri"/>
                        </a:defRPr>
                      </a:pPr>
                      <a:r>
                        <a:t>0.669</a:t>
                      </a:r>
                    </a:p>
                  </a:txBody>
                  <a:tcPr>
                    <a:solidFill>
                      <a:srgbClr val="E0E3E8"/>
                    </a:solidFill>
                  </a:tcPr>
                </a:tc>
              </a:tr>
              <a:tr h="457200">
                <a:tc>
                  <a:txBody>
                    <a:bodyPr/>
                    <a:lstStyle/>
                    <a:p>
                      <a:pPr>
                        <a:defRPr sz="1100">
                          <a:solidFill>
                            <a:srgbClr val="1C2A3A"/>
                          </a:solidFill>
                          <a:latin typeface="Calibri"/>
                        </a:defRPr>
                      </a:pPr>
                      <a:r>
                        <a:t>Precision (macro)</a:t>
                      </a:r>
                    </a:p>
                  </a:txBody>
                  <a:tcPr/>
                </a:tc>
                <a:tc>
                  <a:txBody>
                    <a:bodyPr/>
                    <a:lstStyle/>
                    <a:p>
                      <a:pPr>
                        <a:defRPr sz="1100">
                          <a:solidFill>
                            <a:srgbClr val="1C2A3A"/>
                          </a:solidFill>
                          <a:latin typeface="Calibri"/>
                        </a:defRPr>
                      </a:pPr>
                      <a:r>
                        <a:t>0.292</a:t>
                      </a:r>
                    </a:p>
                  </a:txBody>
                  <a:tcPr/>
                </a:tc>
                <a:tc>
                  <a:txBody>
                    <a:bodyPr/>
                    <a:lstStyle/>
                    <a:p>
                      <a:pPr>
                        <a:defRPr sz="1100">
                          <a:solidFill>
                            <a:srgbClr val="1C2A3A"/>
                          </a:solidFill>
                          <a:latin typeface="Calibri"/>
                        </a:defRPr>
                      </a:pPr>
                      <a:r>
                        <a:t>0.801</a:t>
                      </a:r>
                    </a:p>
                  </a:txBody>
                  <a:tcPr/>
                </a:tc>
                <a:tc>
                  <a:txBody>
                    <a:bodyPr/>
                    <a:lstStyle/>
                    <a:p>
                      <a:pPr>
                        <a:defRPr sz="1100">
                          <a:solidFill>
                            <a:srgbClr val="1C2A3A"/>
                          </a:solidFill>
                          <a:latin typeface="Calibri"/>
                        </a:defRPr>
                      </a:pPr>
                      <a:r>
                        <a:t>0.786</a:t>
                      </a:r>
                    </a:p>
                  </a:txBody>
                  <a:tcPr/>
                </a:tc>
                <a:tc>
                  <a:txBody>
                    <a:bodyPr/>
                    <a:lstStyle/>
                    <a:p>
                      <a:pPr>
                        <a:defRPr sz="1100">
                          <a:solidFill>
                            <a:srgbClr val="1C2A3A"/>
                          </a:solidFill>
                          <a:latin typeface="Calibri"/>
                        </a:defRPr>
                      </a:pPr>
                      <a:r>
                        <a:t>0.801</a:t>
                      </a:r>
                    </a:p>
                  </a:txBody>
                  <a:tcPr/>
                </a:tc>
              </a:tr>
              <a:tr h="457200">
                <a:tc>
                  <a:txBody>
                    <a:bodyPr/>
                    <a:lstStyle/>
                    <a:p>
                      <a:pPr>
                        <a:defRPr sz="1100">
                          <a:solidFill>
                            <a:srgbClr val="1C2A3A"/>
                          </a:solidFill>
                          <a:latin typeface="Calibri"/>
                        </a:defRPr>
                      </a:pPr>
                      <a:r>
                        <a:t>Recall (macro)</a:t>
                      </a:r>
                    </a:p>
                  </a:txBody>
                  <a:tcPr>
                    <a:solidFill>
                      <a:srgbClr val="E0E3E8"/>
                    </a:solidFill>
                  </a:tcPr>
                </a:tc>
                <a:tc>
                  <a:txBody>
                    <a:bodyPr/>
                    <a:lstStyle/>
                    <a:p>
                      <a:pPr>
                        <a:defRPr sz="1100">
                          <a:solidFill>
                            <a:srgbClr val="1C2A3A"/>
                          </a:solidFill>
                          <a:latin typeface="Calibri"/>
                        </a:defRPr>
                      </a:pPr>
                      <a:r>
                        <a:t>0.458</a:t>
                      </a:r>
                    </a:p>
                  </a:txBody>
                  <a:tcPr>
                    <a:solidFill>
                      <a:srgbClr val="E0E3E8"/>
                    </a:solidFill>
                  </a:tcPr>
                </a:tc>
                <a:tc>
                  <a:txBody>
                    <a:bodyPr/>
                    <a:lstStyle/>
                    <a:p>
                      <a:pPr>
                        <a:defRPr sz="1100">
                          <a:solidFill>
                            <a:srgbClr val="1C2A3A"/>
                          </a:solidFill>
                          <a:latin typeface="Calibri"/>
                        </a:defRPr>
                      </a:pPr>
                      <a:r>
                        <a:t>0.694</a:t>
                      </a:r>
                    </a:p>
                  </a:txBody>
                  <a:tcPr>
                    <a:solidFill>
                      <a:srgbClr val="E0E3E8"/>
                    </a:solidFill>
                  </a:tcPr>
                </a:tc>
                <a:tc>
                  <a:txBody>
                    <a:bodyPr/>
                    <a:lstStyle/>
                    <a:p>
                      <a:pPr>
                        <a:defRPr sz="1100">
                          <a:solidFill>
                            <a:srgbClr val="1C2A3A"/>
                          </a:solidFill>
                          <a:latin typeface="Calibri"/>
                        </a:defRPr>
                      </a:pPr>
                      <a:r>
                        <a:t>0.708</a:t>
                      </a:r>
                    </a:p>
                  </a:txBody>
                  <a:tcPr>
                    <a:solidFill>
                      <a:srgbClr val="E0E3E8"/>
                    </a:solidFill>
                  </a:tcPr>
                </a:tc>
                <a:tc>
                  <a:txBody>
                    <a:bodyPr/>
                    <a:lstStyle/>
                    <a:p>
                      <a:pPr>
                        <a:defRPr sz="1100">
                          <a:solidFill>
                            <a:srgbClr val="1C2A3A"/>
                          </a:solidFill>
                          <a:latin typeface="Calibri"/>
                        </a:defRPr>
                      </a:pPr>
                      <a:r>
                        <a:t>0.694</a:t>
                      </a:r>
                    </a:p>
                  </a:txBody>
                  <a:tcPr>
                    <a:solidFill>
                      <a:srgbClr val="E0E3E8"/>
                    </a:solidFill>
                  </a:tcPr>
                </a:tc>
              </a:tr>
              <a:tr h="457200">
                <a:tc>
                  <a:txBody>
                    <a:bodyPr/>
                    <a:lstStyle/>
                    <a:p>
                      <a:pPr>
                        <a:defRPr sz="1100">
                          <a:solidFill>
                            <a:srgbClr val="1C2A3A"/>
                          </a:solidFill>
                          <a:latin typeface="Calibri"/>
                        </a:defRPr>
                      </a:pPr>
                      <a:r>
                        <a:t>F1 (negative)</a:t>
                      </a:r>
                    </a:p>
                  </a:txBody>
                  <a:tcPr/>
                </a:tc>
                <a:tc>
                  <a:txBody>
                    <a:bodyPr/>
                    <a:lstStyle/>
                    <a:p>
                      <a:pPr>
                        <a:defRPr sz="1100">
                          <a:solidFill>
                            <a:srgbClr val="1C2A3A"/>
                          </a:solidFill>
                          <a:latin typeface="Calibri"/>
                        </a:defRPr>
                      </a:pPr>
                      <a:r>
                        <a:t>0.375</a:t>
                      </a:r>
                    </a:p>
                  </a:txBody>
                  <a:tcPr/>
                </a:tc>
                <a:tc>
                  <a:txBody>
                    <a:bodyPr/>
                    <a:lstStyle/>
                    <a:p>
                      <a:pPr>
                        <a:defRPr sz="1100">
                          <a:solidFill>
                            <a:srgbClr val="1C2A3A"/>
                          </a:solidFill>
                          <a:latin typeface="Calibri"/>
                        </a:defRPr>
                      </a:pPr>
                      <a:r>
                        <a:t>0.800</a:t>
                      </a:r>
                    </a:p>
                  </a:txBody>
                  <a:tcPr/>
                </a:tc>
                <a:tc>
                  <a:txBody>
                    <a:bodyPr/>
                    <a:lstStyle/>
                    <a:p>
                      <a:pPr>
                        <a:defRPr sz="1100">
                          <a:solidFill>
                            <a:srgbClr val="1C2A3A"/>
                          </a:solidFill>
                          <a:latin typeface="Calibri"/>
                        </a:defRPr>
                      </a:pPr>
                      <a:r>
                        <a:t>0.222</a:t>
                      </a:r>
                    </a:p>
                  </a:txBody>
                  <a:tcPr/>
                </a:tc>
                <a:tc>
                  <a:txBody>
                    <a:bodyPr/>
                    <a:lstStyle/>
                    <a:p>
                      <a:pPr>
                        <a:defRPr sz="1100">
                          <a:solidFill>
                            <a:srgbClr val="1C2A3A"/>
                          </a:solidFill>
                          <a:latin typeface="Calibri"/>
                        </a:defRPr>
                      </a:pPr>
                      <a:r>
                        <a:t>0.800</a:t>
                      </a:r>
                    </a:p>
                  </a:txBody>
                  <a:tcPr/>
                </a:tc>
              </a:tr>
              <a:tr h="457200">
                <a:tc>
                  <a:txBody>
                    <a:bodyPr/>
                    <a:lstStyle/>
                    <a:p>
                      <a:pPr>
                        <a:defRPr sz="1100">
                          <a:solidFill>
                            <a:srgbClr val="1C2A3A"/>
                          </a:solidFill>
                          <a:latin typeface="Calibri"/>
                        </a:defRPr>
                      </a:pPr>
                      <a:r>
                        <a:t>F1 (neutral)</a:t>
                      </a:r>
                    </a:p>
                  </a:txBody>
                  <a:tcPr>
                    <a:solidFill>
                      <a:srgbClr val="E0E3E8"/>
                    </a:solidFill>
                  </a:tcPr>
                </a:tc>
                <a:tc>
                  <a:txBody>
                    <a:bodyPr/>
                    <a:lstStyle/>
                    <a:p>
                      <a:pPr>
                        <a:defRPr sz="1100">
                          <a:solidFill>
                            <a:srgbClr val="1C2A3A"/>
                          </a:solidFill>
                          <a:latin typeface="Calibri"/>
                        </a:defRPr>
                      </a:pPr>
                      <a:r>
                        <a:t>0.000</a:t>
                      </a:r>
                    </a:p>
                  </a:txBody>
                  <a:tcPr>
                    <a:solidFill>
                      <a:srgbClr val="E0E3E8"/>
                    </a:solidFill>
                  </a:tcPr>
                </a:tc>
                <a:tc>
                  <a:txBody>
                    <a:bodyPr/>
                    <a:lstStyle/>
                    <a:p>
                      <a:pPr>
                        <a:defRPr sz="1100">
                          <a:solidFill>
                            <a:srgbClr val="1C2A3A"/>
                          </a:solidFill>
                          <a:latin typeface="Calibri"/>
                        </a:defRPr>
                      </a:pPr>
                      <a:r>
                        <a:t>0.500</a:t>
                      </a:r>
                    </a:p>
                  </a:txBody>
                  <a:tcPr>
                    <a:solidFill>
                      <a:srgbClr val="E0E3E8"/>
                    </a:solidFill>
                  </a:tcPr>
                </a:tc>
                <a:tc>
                  <a:txBody>
                    <a:bodyPr/>
                    <a:lstStyle/>
                    <a:p>
                      <a:pPr>
                        <a:defRPr sz="1100">
                          <a:solidFill>
                            <a:srgbClr val="1C2A3A"/>
                          </a:solidFill>
                          <a:latin typeface="Calibri"/>
                        </a:defRPr>
                      </a:pPr>
                      <a:r>
                        <a:t>0.923</a:t>
                      </a:r>
                    </a:p>
                  </a:txBody>
                  <a:tcPr>
                    <a:solidFill>
                      <a:srgbClr val="E0E3E8"/>
                    </a:solidFill>
                  </a:tcPr>
                </a:tc>
                <a:tc>
                  <a:txBody>
                    <a:bodyPr/>
                    <a:lstStyle/>
                    <a:p>
                      <a:pPr>
                        <a:defRPr sz="1100">
                          <a:solidFill>
                            <a:srgbClr val="1C2A3A"/>
                          </a:solidFill>
                          <a:latin typeface="Calibri"/>
                        </a:defRPr>
                      </a:pPr>
                      <a:r>
                        <a:t>0.500</a:t>
                      </a:r>
                    </a:p>
                  </a:txBody>
                  <a:tcPr>
                    <a:solidFill>
                      <a:srgbClr val="E0E3E8"/>
                    </a:solidFill>
                  </a:tcPr>
                </a:tc>
              </a:tr>
              <a:tr h="457200">
                <a:tc>
                  <a:txBody>
                    <a:bodyPr/>
                    <a:lstStyle/>
                    <a:p>
                      <a:pPr>
                        <a:defRPr sz="1100">
                          <a:solidFill>
                            <a:srgbClr val="1C2A3A"/>
                          </a:solidFill>
                          <a:latin typeface="Calibri"/>
                        </a:defRPr>
                      </a:pPr>
                      <a:r>
                        <a:t>F1 (positive)</a:t>
                      </a:r>
                    </a:p>
                  </a:txBody>
                  <a:tcPr/>
                </a:tc>
                <a:tc>
                  <a:txBody>
                    <a:bodyPr/>
                    <a:lstStyle/>
                    <a:p>
                      <a:pPr>
                        <a:defRPr sz="1100">
                          <a:solidFill>
                            <a:srgbClr val="1C2A3A"/>
                          </a:solidFill>
                          <a:latin typeface="Calibri"/>
                        </a:defRPr>
                      </a:pPr>
                      <a:r>
                        <a:t>0.667</a:t>
                      </a:r>
                    </a:p>
                  </a:txBody>
                  <a:tcPr/>
                </a:tc>
                <a:tc>
                  <a:txBody>
                    <a:bodyPr/>
                    <a:lstStyle/>
                    <a:p>
                      <a:pPr>
                        <a:defRPr sz="1100">
                          <a:solidFill>
                            <a:srgbClr val="1C2A3A"/>
                          </a:solidFill>
                          <a:latin typeface="Calibri"/>
                        </a:defRPr>
                      </a:pPr>
                      <a:r>
                        <a:t>0.706</a:t>
                      </a:r>
                    </a:p>
                  </a:txBody>
                  <a:tcPr/>
                </a:tc>
                <a:tc>
                  <a:txBody>
                    <a:bodyPr/>
                    <a:lstStyle/>
                    <a:p>
                      <a:pPr>
                        <a:defRPr sz="1100">
                          <a:solidFill>
                            <a:srgbClr val="1C2A3A"/>
                          </a:solidFill>
                          <a:latin typeface="Calibri"/>
                        </a:defRPr>
                      </a:pPr>
                      <a:r>
                        <a:t>0.667</a:t>
                      </a:r>
                    </a:p>
                  </a:txBody>
                  <a:tcPr/>
                </a:tc>
                <a:tc>
                  <a:txBody>
                    <a:bodyPr/>
                    <a:lstStyle/>
                    <a:p>
                      <a:pPr>
                        <a:defRPr sz="1100">
                          <a:solidFill>
                            <a:srgbClr val="1C2A3A"/>
                          </a:solidFill>
                          <a:latin typeface="Calibri"/>
                        </a:defRPr>
                      </a:pPr>
                      <a:r>
                        <a:t>0.706</a:t>
                      </a:r>
                    </a:p>
                  </a:txBody>
                  <a:tcPr/>
                </a:tc>
              </a:tr>
            </a:tbl>
          </a:graphicData>
        </a:graphic>
      </p:graphicFrame>
      <p:graphicFrame>
        <p:nvGraphicFramePr>
          <p:cNvPr id="4" name="Chart 3"/>
          <p:cNvGraphicFramePr>
            <a:graphicFrameLocks noGrp="1"/>
          </p:cNvGraphicFramePr>
          <p:nvPr/>
        </p:nvGraphicFramePr>
        <p:xfrm>
          <a:off x="457200" y="4754880"/>
          <a:ext cx="5303520" cy="1828800"/>
        </p:xfrm>
        <a:graphic>
          <a:graphicData uri="http://schemas.openxmlformats.org/drawingml/2006/chart">
            <c:chart xmlns:c="http://schemas.openxmlformats.org/drawingml/2006/chart" r:id="rId2"/>
          </a:graphicData>
        </a:graphic>
      </p:graphicFrame>
      <p:sp>
        <p:nvSpPr>
          <p:cNvPr id="5" name="Rectangle 4"/>
          <p:cNvSpPr/>
          <p:nvPr/>
        </p:nvSpPr>
        <p:spPr>
          <a:xfrm>
            <a:off x="6217920" y="4754880"/>
            <a:ext cx="5303520" cy="18288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Insight</a:t>
            </a:r>
          </a:p>
          <a:p>
            <a:pPr>
              <a:defRPr sz="1200">
                <a:solidFill>
                  <a:srgbClr val="1C2A3A"/>
                </a:solidFill>
                <a:latin typeface="Calibri"/>
              </a:defRPr>
            </a:pPr>
            <a:r>
              <a:t>FinBERT (fine-tuned) achieves F1=0.669, showing balanced performance across all sentiment classes.</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33/55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1: BERT 110M - Sentiment Classification - Confidence Scores</a:t>
            </a:r>
          </a:p>
        </p:txBody>
      </p:sp>
      <p:graphicFrame>
        <p:nvGraphicFramePr>
          <p:cNvPr id="3" name="Chart 2"/>
          <p:cNvGraphicFramePr>
            <a:graphicFrameLocks noGrp="1"/>
          </p:cNvGraphicFramePr>
          <p:nvPr/>
        </p:nvGraphicFramePr>
        <p:xfrm>
          <a:off x="1828800" y="1371600"/>
          <a:ext cx="8229600" cy="3657600"/>
        </p:xfrm>
        <a:graphic>
          <a:graphicData uri="http://schemas.openxmlformats.org/drawingml/2006/chart">
            <c:chart xmlns:c="http://schemas.openxmlformats.org/drawingml/2006/chart" r:id="rId2"/>
          </a:graphicData>
        </a:graphic>
      </p:graphicFrame>
      <p:sp>
        <p:nvSpPr>
          <p:cNvPr id="4" name="Rectangle 3"/>
          <p:cNvSpPr/>
          <p:nvPr/>
        </p:nvSpPr>
        <p:spPr>
          <a:xfrm>
            <a:off x="457200" y="5303520"/>
            <a:ext cx="1106424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Insight:</a:t>
            </a:r>
          </a:p>
          <a:p>
            <a:pPr>
              <a:defRPr sz="1200">
                <a:solidFill>
                  <a:srgbClr val="1C2A3A"/>
                </a:solidFill>
                <a:latin typeface="Calibri"/>
              </a:defRPr>
            </a:pPr>
            <a:r>
              <a:t>FinBERT (fine-tuned): 0.845 confidence vs Base: 0.375. Fine-tuning produces more decisive, confident predictions.</a:t>
            </a:r>
          </a:p>
        </p:txBody>
      </p:sp>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34/55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1: BERT 110M - Sentiment Classification - Category Breakdown</a:t>
            </a:r>
          </a:p>
        </p:txBody>
      </p:sp>
      <p:graphicFrame>
        <p:nvGraphicFramePr>
          <p:cNvPr id="3" name="Table 2"/>
          <p:cNvGraphicFramePr>
            <a:graphicFrameLocks noGrp="1"/>
          </p:cNvGraphicFramePr>
          <p:nvPr/>
        </p:nvGraphicFramePr>
        <p:xfrm>
          <a:off x="457200" y="1371600"/>
          <a:ext cx="11247120" cy="228600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6571">
                <a:tc>
                  <a:txBody>
                    <a:bodyPr/>
                    <a:lstStyle/>
                    <a:p>
                      <a:pPr algn="ctr">
                        <a:defRPr sz="1200" b="1">
                          <a:solidFill>
                            <a:srgbClr val="FFFFFF"/>
                          </a:solidFill>
                          <a:latin typeface="Calibri"/>
                        </a:defRPr>
                      </a:pPr>
                      <a:r>
                        <a:t>Category</a:t>
                      </a:r>
                    </a:p>
                  </a:txBody>
                  <a:tcPr>
                    <a:solidFill>
                      <a:srgbClr val="2E86C1"/>
                    </a:solidFill>
                  </a:tcPr>
                </a:tc>
                <a:tc>
                  <a:txBody>
                    <a:bodyPr/>
                    <a:lstStyle/>
                    <a:p>
                      <a:pPr algn="ctr">
                        <a:defRPr sz="1200" b="1">
                          <a:solidFill>
                            <a:srgbClr val="FFFFFF"/>
                          </a:solidFill>
                          <a:latin typeface="Calibri"/>
                        </a:defRPr>
                      </a:pPr>
                      <a:r>
                        <a:t>Cases</a:t>
                      </a:r>
                    </a:p>
                  </a:txBody>
                  <a:tcPr>
                    <a:solidFill>
                      <a:srgbClr val="2E86C1"/>
                    </a:solidFill>
                  </a:tcPr>
                </a:tc>
                <a:tc>
                  <a:txBody>
                    <a:bodyPr/>
                    <a:lstStyle/>
                    <a:p>
                      <a:pPr algn="ctr">
                        <a:defRPr sz="1200" b="1">
                          <a:solidFill>
                            <a:srgbClr val="FFFFFF"/>
                          </a:solidFill>
                          <a:latin typeface="Calibri"/>
                        </a:defRPr>
                      </a:pPr>
                      <a:r>
                        <a:t>Base BERT</a:t>
                      </a:r>
                    </a:p>
                  </a:txBody>
                  <a:tcPr>
                    <a:solidFill>
                      <a:srgbClr val="2E86C1"/>
                    </a:solidFill>
                  </a:tcPr>
                </a:tc>
                <a:tc>
                  <a:txBody>
                    <a:bodyPr/>
                    <a:lstStyle/>
                    <a:p>
                      <a:pPr algn="ctr">
                        <a:defRPr sz="1200" b="1">
                          <a:solidFill>
                            <a:srgbClr val="FFFFFF"/>
                          </a:solidFill>
                          <a:latin typeface="Calibri"/>
                        </a:defRPr>
                      </a:pPr>
                      <a:r>
                        <a:t>FinBERT</a:t>
                      </a:r>
                    </a:p>
                  </a:txBody>
                  <a:tcPr>
                    <a:solidFill>
                      <a:srgbClr val="2E86C1"/>
                    </a:solidFill>
                  </a:tcPr>
                </a:tc>
                <a:tc>
                  <a:txBody>
                    <a:bodyPr/>
                    <a:lstStyle/>
                    <a:p>
                      <a:pPr algn="ctr">
                        <a:defRPr sz="1200" b="1">
                          <a:solidFill>
                            <a:srgbClr val="FFFFFF"/>
                          </a:solidFill>
                          <a:latin typeface="Calibri"/>
                        </a:defRPr>
                      </a:pPr>
                      <a:r>
                        <a:t>BERT + RAG</a:t>
                      </a:r>
                    </a:p>
                  </a:txBody>
                  <a:tcPr>
                    <a:solidFill>
                      <a:srgbClr val="2E86C1"/>
                    </a:solidFill>
                  </a:tcPr>
                </a:tc>
                <a:tc>
                  <a:txBody>
                    <a:bodyPr/>
                    <a:lstStyle/>
                    <a:p>
                      <a:pPr algn="ctr">
                        <a:defRPr sz="1200" b="1">
                          <a:solidFill>
                            <a:srgbClr val="FFFFFF"/>
                          </a:solidFill>
                          <a:latin typeface="Calibri"/>
                        </a:defRPr>
                      </a:pPr>
                      <a:r>
                        <a:t>FinBERT + RAG</a:t>
                      </a:r>
                    </a:p>
                  </a:txBody>
                  <a:tcPr>
                    <a:solidFill>
                      <a:srgbClr val="2E86C1"/>
                    </a:solidFill>
                  </a:tcPr>
                </a:tc>
              </a:tr>
              <a:tr h="326571">
                <a:tc>
                  <a:txBody>
                    <a:bodyPr/>
                    <a:lstStyle/>
                    <a:p>
                      <a:pPr>
                        <a:defRPr sz="1100">
                          <a:solidFill>
                            <a:srgbClr val="1C2A3A"/>
                          </a:solidFill>
                          <a:latin typeface="Calibri"/>
                        </a:defRPr>
                      </a:pPr>
                      <a:r>
                        <a:t>Domain Jargon</a:t>
                      </a:r>
                    </a:p>
                  </a:txBody>
                  <a:tcPr>
                    <a:solidFill>
                      <a:srgbClr val="E0E3E8"/>
                    </a:solidFill>
                  </a:tcPr>
                </a:tc>
                <a:tc>
                  <a:txBody>
                    <a:bodyPr/>
                    <a:lstStyle/>
                    <a:p>
                      <a:pPr>
                        <a:defRPr sz="1100">
                          <a:solidFill>
                            <a:srgbClr val="1C2A3A"/>
                          </a:solidFill>
                          <a:latin typeface="Calibri"/>
                        </a:defRPr>
                      </a:pPr>
                      <a:r>
                        <a:t>3</a:t>
                      </a:r>
                    </a:p>
                  </a:txBody>
                  <a:tcPr>
                    <a:solidFill>
                      <a:srgbClr val="E0E3E8"/>
                    </a:solidFill>
                  </a:tcPr>
                </a:tc>
                <a:tc>
                  <a:txBody>
                    <a:bodyPr/>
                    <a:lstStyle/>
                    <a:p>
                      <a:pPr>
                        <a:defRPr sz="1100">
                          <a:solidFill>
                            <a:srgbClr val="1C2A3A"/>
                          </a:solidFill>
                          <a:latin typeface="Calibri"/>
                        </a:defRPr>
                      </a:pPr>
                      <a:r>
                        <a:t>33.3%</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r>
              <a:tr h="326571">
                <a:tc>
                  <a:txBody>
                    <a:bodyPr/>
                    <a:lstStyle/>
                    <a:p>
                      <a:pPr>
                        <a:defRPr sz="1100">
                          <a:solidFill>
                            <a:srgbClr val="1C2A3A"/>
                          </a:solidFill>
                          <a:latin typeface="Calibri"/>
                        </a:defRPr>
                      </a:pPr>
                      <a:r>
                        <a:t>Domain Specific</a:t>
                      </a:r>
                    </a:p>
                  </a:txBody>
                  <a:tcPr/>
                </a:tc>
                <a:tc>
                  <a:txBody>
                    <a:bodyPr/>
                    <a:lstStyle/>
                    <a:p>
                      <a:pPr>
                        <a:defRPr sz="1100">
                          <a:solidFill>
                            <a:srgbClr val="1C2A3A"/>
                          </a:solidFill>
                          <a:latin typeface="Calibri"/>
                        </a:defRPr>
                      </a:pPr>
                      <a:r>
                        <a:t>5</a:t>
                      </a:r>
                    </a:p>
                  </a:txBody>
                  <a:tcPr/>
                </a:tc>
                <a:tc>
                  <a:txBody>
                    <a:bodyPr/>
                    <a:lstStyle/>
                    <a:p>
                      <a:pPr>
                        <a:defRPr sz="1100">
                          <a:solidFill>
                            <a:srgbClr val="1C2A3A"/>
                          </a:solidFill>
                          <a:latin typeface="Calibri"/>
                        </a:defRPr>
                      </a:pPr>
                      <a:r>
                        <a:t>60.0%</a:t>
                      </a:r>
                    </a:p>
                  </a:txBody>
                  <a:tcPr/>
                </a:tc>
                <a:tc>
                  <a:txBody>
                    <a:bodyPr/>
                    <a:lstStyle/>
                    <a:p>
                      <a:pPr>
                        <a:defRPr sz="1100">
                          <a:solidFill>
                            <a:srgbClr val="1C2A3A"/>
                          </a:solidFill>
                          <a:latin typeface="Calibri"/>
                        </a:defRPr>
                      </a:pPr>
                      <a:r>
                        <a:t>60.0%</a:t>
                      </a:r>
                    </a:p>
                  </a:txBody>
                  <a:tcPr/>
                </a:tc>
                <a:tc>
                  <a:txBody>
                    <a:bodyPr/>
                    <a:lstStyle/>
                    <a:p>
                      <a:pPr>
                        <a:defRPr sz="1100">
                          <a:solidFill>
                            <a:srgbClr val="1C2A3A"/>
                          </a:solidFill>
                          <a:latin typeface="Calibri"/>
                        </a:defRPr>
                      </a:pPr>
                      <a:r>
                        <a:t>40.0%</a:t>
                      </a:r>
                    </a:p>
                  </a:txBody>
                  <a:tcPr/>
                </a:tc>
                <a:tc>
                  <a:txBody>
                    <a:bodyPr/>
                    <a:lstStyle/>
                    <a:p>
                      <a:pPr>
                        <a:defRPr sz="1100">
                          <a:solidFill>
                            <a:srgbClr val="1C2A3A"/>
                          </a:solidFill>
                          <a:latin typeface="Calibri"/>
                        </a:defRPr>
                      </a:pPr>
                      <a:r>
                        <a:t>60.0%</a:t>
                      </a:r>
                    </a:p>
                  </a:txBody>
                  <a:tcPr/>
                </a:tc>
              </a:tr>
              <a:tr h="326571">
                <a:tc>
                  <a:txBody>
                    <a:bodyPr/>
                    <a:lstStyle/>
                    <a:p>
                      <a:pPr>
                        <a:defRPr sz="1100">
                          <a:solidFill>
                            <a:srgbClr val="1C2A3A"/>
                          </a:solidFill>
                          <a:latin typeface="Calibri"/>
                        </a:defRPr>
                      </a:pPr>
                      <a:r>
                        <a:t>Straightforward</a:t>
                      </a:r>
                    </a:p>
                  </a:txBody>
                  <a:tcPr>
                    <a:solidFill>
                      <a:srgbClr val="E0E3E8"/>
                    </a:solidFill>
                  </a:tcPr>
                </a:tc>
                <a:tc>
                  <a:txBody>
                    <a:bodyPr/>
                    <a:lstStyle/>
                    <a:p>
                      <a:pPr>
                        <a:defRPr sz="1100">
                          <a:solidFill>
                            <a:srgbClr val="1C2A3A"/>
                          </a:solidFill>
                          <a:latin typeface="Calibri"/>
                        </a:defRPr>
                      </a:pPr>
                      <a:r>
                        <a:t>5</a:t>
                      </a:r>
                    </a:p>
                  </a:txBody>
                  <a:tcPr>
                    <a:solidFill>
                      <a:srgbClr val="E0E3E8"/>
                    </a:solidFill>
                  </a:tcPr>
                </a:tc>
                <a:tc>
                  <a:txBody>
                    <a:bodyPr/>
                    <a:lstStyle/>
                    <a:p>
                      <a:pPr>
                        <a:defRPr sz="1100">
                          <a:solidFill>
                            <a:srgbClr val="1C2A3A"/>
                          </a:solidFill>
                          <a:latin typeface="Calibri"/>
                        </a:defRPr>
                      </a:pPr>
                      <a:r>
                        <a:t>80.0%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80.0%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r>
              <a:tr h="326571">
                <a:tc>
                  <a:txBody>
                    <a:bodyPr/>
                    <a:lstStyle/>
                    <a:p>
                      <a:pPr>
                        <a:defRPr sz="1100">
                          <a:solidFill>
                            <a:srgbClr val="1C2A3A"/>
                          </a:solidFill>
                          <a:latin typeface="Calibri"/>
                        </a:defRPr>
                      </a:pPr>
                      <a:r>
                        <a:t>Subtle Neutral</a:t>
                      </a:r>
                    </a:p>
                  </a:txBody>
                  <a:tcPr/>
                </a:tc>
                <a:tc>
                  <a:txBody>
                    <a:bodyPr/>
                    <a:lstStyle/>
                    <a:p>
                      <a:pPr>
                        <a:defRPr sz="1100">
                          <a:solidFill>
                            <a:srgbClr val="1C2A3A"/>
                          </a:solidFill>
                          <a:latin typeface="Calibri"/>
                        </a:defRPr>
                      </a:pPr>
                      <a:r>
                        <a:t>5</a:t>
                      </a:r>
                    </a:p>
                  </a:txBody>
                  <a:tcPr/>
                </a:tc>
                <a:tc>
                  <a:txBody>
                    <a:bodyPr/>
                    <a:lstStyle/>
                    <a:p>
                      <a:pPr>
                        <a:defRPr sz="1100">
                          <a:solidFill>
                            <a:srgbClr val="1C2A3A"/>
                          </a:solidFill>
                          <a:latin typeface="Calibri"/>
                        </a:defRPr>
                      </a:pPr>
                      <a:r>
                        <a:t>0.0%</a:t>
                      </a:r>
                    </a:p>
                  </a:txBody>
                  <a:tcPr/>
                </a:tc>
                <a:tc>
                  <a:txBody>
                    <a:bodyPr/>
                    <a:lstStyle/>
                    <a:p>
                      <a:pPr>
                        <a:defRPr sz="1100">
                          <a:solidFill>
                            <a:srgbClr val="1C2A3A"/>
                          </a:solidFill>
                          <a:latin typeface="Calibri"/>
                        </a:defRPr>
                      </a:pPr>
                      <a:r>
                        <a:t>40.0%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40.0%</a:t>
                      </a:r>
                    </a:p>
                  </a:txBody>
                  <a:tcPr/>
                </a:tc>
              </a:tr>
              <a:tr h="326571">
                <a:tc>
                  <a:txBody>
                    <a:bodyPr/>
                    <a:lstStyle/>
                    <a:p>
                      <a:pPr>
                        <a:defRPr sz="1100">
                          <a:solidFill>
                            <a:srgbClr val="1C2A3A"/>
                          </a:solidFill>
                          <a:latin typeface="Calibri"/>
                        </a:defRPr>
                      </a:pPr>
                      <a:r>
                        <a:t>Tricky Mixed</a:t>
                      </a:r>
                    </a:p>
                  </a:txBody>
                  <a:tcPr>
                    <a:solidFill>
                      <a:srgbClr val="E0E3E8"/>
                    </a:solidFill>
                  </a:tcPr>
                </a:tc>
                <a:tc>
                  <a:txBody>
                    <a:bodyPr/>
                    <a:lstStyle/>
                    <a:p>
                      <a:pPr>
                        <a:defRPr sz="1100">
                          <a:solidFill>
                            <a:srgbClr val="1C2A3A"/>
                          </a:solidFill>
                          <a:latin typeface="Calibri"/>
                        </a:defRPr>
                      </a:pPr>
                      <a:r>
                        <a:t>1</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r>
              <a:tr h="326574">
                <a:tc>
                  <a:txBody>
                    <a:bodyPr/>
                    <a:lstStyle/>
                    <a:p>
                      <a:pPr>
                        <a:defRPr sz="1100">
                          <a:solidFill>
                            <a:srgbClr val="1C2A3A"/>
                          </a:solidFill>
                          <a:latin typeface="Calibri"/>
                        </a:defRPr>
                      </a:pPr>
                      <a:r>
                        <a:t>Tricky Positive</a:t>
                      </a:r>
                    </a:p>
                  </a:txBody>
                  <a:tcPr/>
                </a:tc>
                <a:tc>
                  <a:txBody>
                    <a:bodyPr/>
                    <a:lstStyle/>
                    <a:p>
                      <a:pPr>
                        <a:defRPr sz="1100">
                          <a:solidFill>
                            <a:srgbClr val="1C2A3A"/>
                          </a:solidFill>
                          <a:latin typeface="Calibri"/>
                        </a:defRPr>
                      </a:pPr>
                      <a:r>
                        <a:t>1</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r>
            </a:tbl>
          </a:graphicData>
        </a:graphic>
      </p:graphicFrame>
      <p:graphicFrame>
        <p:nvGraphicFramePr>
          <p:cNvPr id="4" name="Chart 3"/>
          <p:cNvGraphicFramePr>
            <a:graphicFrameLocks noGrp="1"/>
          </p:cNvGraphicFramePr>
          <p:nvPr/>
        </p:nvGraphicFramePr>
        <p:xfrm>
          <a:off x="457200" y="3840480"/>
          <a:ext cx="11247120" cy="2560320"/>
        </p:xfrm>
        <a:graphic>
          <a:graphicData uri="http://schemas.openxmlformats.org/drawingml/2006/chart">
            <c:chart xmlns:c="http://schemas.openxmlformats.org/drawingml/2006/chart" r:id="rId2"/>
          </a:graphicData>
        </a:graphic>
      </p:graphicFrame>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35/55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1: BERT 110M - Sentiment Classification - Per-Example Results</a:t>
            </a:r>
          </a:p>
        </p:txBody>
      </p:sp>
      <p:graphicFrame>
        <p:nvGraphicFramePr>
          <p:cNvPr id="3" name="Table 2"/>
          <p:cNvGraphicFramePr>
            <a:graphicFrameLocks noGrp="1"/>
          </p:cNvGraphicFramePr>
          <p:nvPr/>
        </p:nvGraphicFramePr>
        <p:xfrm>
          <a:off x="274320" y="1280160"/>
          <a:ext cx="11612880" cy="4754880"/>
        </p:xfrm>
        <a:graphic>
          <a:graphicData uri="http://schemas.openxmlformats.org/drawingml/2006/table">
            <a:tbl>
              <a:tblPr firstRow="1" bandRow="1">
                <a:tableStyleId>{5C22544A-7EE6-4342-B048-85BDC9FD1C3A}</a:tableStyleId>
              </a:tblPr>
              <a:tblGrid>
                <a:gridCol w="1658982"/>
                <a:gridCol w="1658982"/>
                <a:gridCol w="1658982"/>
                <a:gridCol w="1658982"/>
                <a:gridCol w="1658982"/>
                <a:gridCol w="1658982"/>
                <a:gridCol w="1658988"/>
              </a:tblGrid>
              <a:tr h="365760">
                <a:tc>
                  <a:txBody>
                    <a:bodyPr/>
                    <a:lstStyle/>
                    <a:p>
                      <a:pPr algn="ctr">
                        <a:defRPr sz="1200" b="1">
                          <a:solidFill>
                            <a:srgbClr val="FFFFFF"/>
                          </a:solidFill>
                          <a:latin typeface="Calibri"/>
                        </a:defRPr>
                      </a:pPr>
                      <a:r>
                        <a:t>#</a:t>
                      </a:r>
                    </a:p>
                  </a:txBody>
                  <a:tcPr>
                    <a:solidFill>
                      <a:srgbClr val="2E86C1"/>
                    </a:solidFill>
                  </a:tcPr>
                </a:tc>
                <a:tc>
                  <a:txBody>
                    <a:bodyPr/>
                    <a:lstStyle/>
                    <a:p>
                      <a:pPr algn="ctr">
                        <a:defRPr sz="1200" b="1">
                          <a:solidFill>
                            <a:srgbClr val="FFFFFF"/>
                          </a:solidFill>
                          <a:latin typeface="Calibri"/>
                        </a:defRPr>
                      </a:pPr>
                      <a:r>
                        <a:t>Text</a:t>
                      </a:r>
                    </a:p>
                  </a:txBody>
                  <a:tcPr>
                    <a:solidFill>
                      <a:srgbClr val="2E86C1"/>
                    </a:solidFill>
                  </a:tcPr>
                </a:tc>
                <a:tc>
                  <a:txBody>
                    <a:bodyPr/>
                    <a:lstStyle/>
                    <a:p>
                      <a:pPr algn="ctr">
                        <a:defRPr sz="1200" b="1">
                          <a:solidFill>
                            <a:srgbClr val="FFFFFF"/>
                          </a:solidFill>
                          <a:latin typeface="Calibri"/>
                        </a:defRPr>
                      </a:pPr>
                      <a:r>
                        <a:t>Expected</a:t>
                      </a:r>
                    </a:p>
                  </a:txBody>
                  <a:tcPr>
                    <a:solidFill>
                      <a:srgbClr val="2E86C1"/>
                    </a:solidFill>
                  </a:tcPr>
                </a:tc>
                <a:tc>
                  <a:txBody>
                    <a:bodyPr/>
                    <a:lstStyle/>
                    <a:p>
                      <a:pPr algn="ctr">
                        <a:defRPr sz="1200" b="1">
                          <a:solidFill>
                            <a:srgbClr val="FFFFFF"/>
                          </a:solidFill>
                          <a:latin typeface="Calibri"/>
                        </a:defRPr>
                      </a:pPr>
                      <a:r>
                        <a:t>Base BERT</a:t>
                      </a:r>
                    </a:p>
                  </a:txBody>
                  <a:tcPr>
                    <a:solidFill>
                      <a:srgbClr val="2E86C1"/>
                    </a:solidFill>
                  </a:tcPr>
                </a:tc>
                <a:tc>
                  <a:txBody>
                    <a:bodyPr/>
                    <a:lstStyle/>
                    <a:p>
                      <a:pPr algn="ctr">
                        <a:defRPr sz="1200" b="1">
                          <a:solidFill>
                            <a:srgbClr val="FFFFFF"/>
                          </a:solidFill>
                          <a:latin typeface="Calibri"/>
                        </a:defRPr>
                      </a:pPr>
                      <a:r>
                        <a:t>FinBERT</a:t>
                      </a:r>
                    </a:p>
                  </a:txBody>
                  <a:tcPr>
                    <a:solidFill>
                      <a:srgbClr val="2E86C1"/>
                    </a:solidFill>
                  </a:tcPr>
                </a:tc>
                <a:tc>
                  <a:txBody>
                    <a:bodyPr/>
                    <a:lstStyle/>
                    <a:p>
                      <a:pPr algn="ctr">
                        <a:defRPr sz="1200" b="1">
                          <a:solidFill>
                            <a:srgbClr val="FFFFFF"/>
                          </a:solidFill>
                          <a:latin typeface="Calibri"/>
                        </a:defRPr>
                      </a:pPr>
                      <a:r>
                        <a:t>BERT + RAG</a:t>
                      </a:r>
                    </a:p>
                  </a:txBody>
                  <a:tcPr>
                    <a:solidFill>
                      <a:srgbClr val="2E86C1"/>
                    </a:solidFill>
                  </a:tcPr>
                </a:tc>
                <a:tc>
                  <a:txBody>
                    <a:bodyPr/>
                    <a:lstStyle/>
                    <a:p>
                      <a:pPr algn="ctr">
                        <a:defRPr sz="1200" b="1">
                          <a:solidFill>
                            <a:srgbClr val="FFFFFF"/>
                          </a:solidFill>
                          <a:latin typeface="Calibri"/>
                        </a:defRPr>
                      </a:pPr>
                      <a:r>
                        <a:t>FinBERT + RAG</a:t>
                      </a:r>
                    </a:p>
                  </a:txBody>
                  <a:tcPr>
                    <a:solidFill>
                      <a:srgbClr val="2E86C1"/>
                    </a:solidFill>
                  </a:tcPr>
                </a:tc>
              </a:tr>
              <a:tr h="365760">
                <a:tc>
                  <a:txBody>
                    <a:bodyPr/>
                    <a:lstStyle/>
                    <a:p>
                      <a:pPr>
                        <a:defRPr sz="1100">
                          <a:solidFill>
                            <a:srgbClr val="1C2A3A"/>
                          </a:solidFill>
                          <a:latin typeface="Calibri"/>
                        </a:defRPr>
                      </a:pPr>
                      <a:r>
                        <a:t>1</a:t>
                      </a:r>
                    </a:p>
                  </a:txBody>
                  <a:tcPr>
                    <a:solidFill>
                      <a:srgbClr val="E0E3E8"/>
                    </a:solidFill>
                  </a:tcPr>
                </a:tc>
                <a:tc>
                  <a:txBody>
                    <a:bodyPr/>
                    <a:lstStyle/>
                    <a:p>
                      <a:pPr>
                        <a:defRPr sz="1100">
                          <a:solidFill>
                            <a:srgbClr val="1C2A3A"/>
                          </a:solidFill>
                          <a:latin typeface="Calibri"/>
                        </a:defRPr>
                      </a:pPr>
                      <a:r>
                        <a:t>Net interest income grew 12% driven by higher...</a:t>
                      </a:r>
                    </a:p>
                  </a:txBody>
                  <a:tcPr>
                    <a:solidFill>
                      <a:srgbClr val="E0E3E8"/>
                    </a:solidFill>
                  </a:tcPr>
                </a:tc>
                <a:tc>
                  <a:txBody>
                    <a:bodyPr/>
                    <a:lstStyle/>
                    <a:p>
                      <a:pPr>
                        <a:defRPr sz="1100">
                          <a:solidFill>
                            <a:srgbClr val="1C2A3A"/>
                          </a:solidFill>
                          <a:latin typeface="Calibri"/>
                        </a:defRPr>
                      </a:pPr>
                      <a:r>
                        <a:t>POSITIVE</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r>
              <a:tr h="365760">
                <a:tc>
                  <a:txBody>
                    <a:bodyPr/>
                    <a:lstStyle/>
                    <a:p>
                      <a:pPr>
                        <a:defRPr sz="1100">
                          <a:solidFill>
                            <a:srgbClr val="1C2A3A"/>
                          </a:solidFill>
                          <a:latin typeface="Calibri"/>
                        </a:defRPr>
                      </a:pPr>
                      <a:r>
                        <a:t>2</a:t>
                      </a:r>
                    </a:p>
                  </a:txBody>
                  <a:tcPr/>
                </a:tc>
                <a:tc>
                  <a:txBody>
                    <a:bodyPr/>
                    <a:lstStyle/>
                    <a:p>
                      <a:pPr>
                        <a:defRPr sz="1100">
                          <a:solidFill>
                            <a:srgbClr val="1C2A3A"/>
                          </a:solidFill>
                          <a:latin typeface="Calibri"/>
                        </a:defRPr>
                      </a:pPr>
                      <a:r>
                        <a:t>Management expects headwinds from deposit com...</a:t>
                      </a:r>
                    </a:p>
                  </a:txBody>
                  <a:tcPr/>
                </a:tc>
                <a:tc>
                  <a:txBody>
                    <a:bodyPr/>
                    <a:lstStyle/>
                    <a:p>
                      <a:pPr>
                        <a:defRPr sz="1100">
                          <a:solidFill>
                            <a:srgbClr val="1C2A3A"/>
                          </a:solidFill>
                          <a:latin typeface="Calibri"/>
                        </a:defRPr>
                      </a:pPr>
                      <a:r>
                        <a:t>NEGATIVE</a:t>
                      </a:r>
                    </a:p>
                  </a:txBody>
                  <a:tcPr/>
                </a:tc>
                <a:tc>
                  <a:txBody>
                    <a:bodyPr/>
                    <a:lstStyle/>
                    <a:p>
                      <a:pPr>
                        <a:defRPr sz="1100">
                          <a:solidFill>
                            <a:srgbClr val="1C2A3A"/>
                          </a:solidFill>
                          <a:latin typeface="Calibri"/>
                        </a:defRPr>
                      </a:pPr>
                      <a:r>
                        <a:t>negative [Y]</a:t>
                      </a:r>
                    </a:p>
                  </a:txBody>
                  <a:tcPr/>
                </a:tc>
                <a:tc>
                  <a:txBody>
                    <a:bodyPr/>
                    <a:lstStyle/>
                    <a:p>
                      <a:pPr>
                        <a:defRPr sz="1100">
                          <a:solidFill>
                            <a:srgbClr val="1C2A3A"/>
                          </a:solidFill>
                          <a:latin typeface="Calibri"/>
                        </a:defRPr>
                      </a:pPr>
                      <a:r>
                        <a:t>negative [Y]</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negative [Y]</a:t>
                      </a:r>
                    </a:p>
                  </a:txBody>
                  <a:tcPr/>
                </a:tc>
              </a:tr>
              <a:tr h="365760">
                <a:tc>
                  <a:txBody>
                    <a:bodyPr/>
                    <a:lstStyle/>
                    <a:p>
                      <a:pPr>
                        <a:defRPr sz="1100">
                          <a:solidFill>
                            <a:srgbClr val="1C2A3A"/>
                          </a:solidFill>
                          <a:latin typeface="Calibri"/>
                        </a:defRPr>
                      </a:pPr>
                      <a:r>
                        <a:t>3</a:t>
                      </a:r>
                    </a:p>
                  </a:txBody>
                  <a:tcPr>
                    <a:solidFill>
                      <a:srgbClr val="E0E3E8"/>
                    </a:solidFill>
                  </a:tcPr>
                </a:tc>
                <a:tc>
                  <a:txBody>
                    <a:bodyPr/>
                    <a:lstStyle/>
                    <a:p>
                      <a:pPr>
                        <a:defRPr sz="1100">
                          <a:solidFill>
                            <a:srgbClr val="1C2A3A"/>
                          </a:solidFill>
                          <a:latin typeface="Calibri"/>
                        </a:defRPr>
                      </a:pPr>
                      <a:r>
                        <a:t>The company maintained its quarterly dividend...</a:t>
                      </a:r>
                    </a:p>
                  </a:txBody>
                  <a:tcPr>
                    <a:solidFill>
                      <a:srgbClr val="E0E3E8"/>
                    </a:solidFill>
                  </a:tcPr>
                </a:tc>
                <a:tc>
                  <a:txBody>
                    <a:bodyPr/>
                    <a:lstStyle/>
                    <a:p>
                      <a:pPr>
                        <a:defRPr sz="1100">
                          <a:solidFill>
                            <a:srgbClr val="1C2A3A"/>
                          </a:solidFill>
                          <a:latin typeface="Calibri"/>
                        </a:defRPr>
                      </a:pPr>
                      <a:r>
                        <a:t>NEUTRAL</a:t>
                      </a:r>
                    </a:p>
                  </a:txBody>
                  <a:tcPr>
                    <a:solidFill>
                      <a:srgbClr val="E0E3E8"/>
                    </a:solidFill>
                  </a:tcPr>
                </a:tc>
                <a:tc>
                  <a:txBody>
                    <a:bodyPr/>
                    <a:lstStyle/>
                    <a:p>
                      <a:pPr>
                        <a:defRPr sz="1100">
                          <a:solidFill>
                            <a:srgbClr val="1C2A3A"/>
                          </a:solidFill>
                          <a:latin typeface="Calibri"/>
                        </a:defRPr>
                      </a:pPr>
                      <a:r>
                        <a:t>negative [N]</a:t>
                      </a:r>
                    </a:p>
                  </a:txBody>
                  <a:tcPr>
                    <a:solidFill>
                      <a:srgbClr val="E0E3E8"/>
                    </a:solidFill>
                  </a:tcPr>
                </a:tc>
                <a:tc>
                  <a:txBody>
                    <a:bodyPr/>
                    <a:lstStyle/>
                    <a:p>
                      <a:pPr>
                        <a:defRPr sz="1100">
                          <a:solidFill>
                            <a:srgbClr val="1C2A3A"/>
                          </a:solidFill>
                          <a:latin typeface="Calibri"/>
                        </a:defRPr>
                      </a:pPr>
                      <a:r>
                        <a:t>neutral [Y]</a:t>
                      </a:r>
                    </a:p>
                  </a:txBody>
                  <a:tcPr>
                    <a:solidFill>
                      <a:srgbClr val="E0E3E8"/>
                    </a:solidFill>
                  </a:tcPr>
                </a:tc>
                <a:tc>
                  <a:txBody>
                    <a:bodyPr/>
                    <a:lstStyle/>
                    <a:p>
                      <a:pPr>
                        <a:defRPr sz="1100">
                          <a:solidFill>
                            <a:srgbClr val="1C2A3A"/>
                          </a:solidFill>
                          <a:latin typeface="Calibri"/>
                        </a:defRPr>
                      </a:pPr>
                      <a:r>
                        <a:t>neutral [Y]</a:t>
                      </a:r>
                    </a:p>
                  </a:txBody>
                  <a:tcPr>
                    <a:solidFill>
                      <a:srgbClr val="E0E3E8"/>
                    </a:solidFill>
                  </a:tcPr>
                </a:tc>
                <a:tc>
                  <a:txBody>
                    <a:bodyPr/>
                    <a:lstStyle/>
                    <a:p>
                      <a:pPr>
                        <a:defRPr sz="1100">
                          <a:solidFill>
                            <a:srgbClr val="1C2A3A"/>
                          </a:solidFill>
                          <a:latin typeface="Calibri"/>
                        </a:defRPr>
                      </a:pPr>
                      <a:r>
                        <a:t>neutral [Y]</a:t>
                      </a:r>
                    </a:p>
                  </a:txBody>
                  <a:tcPr>
                    <a:solidFill>
                      <a:srgbClr val="E0E3E8"/>
                    </a:solidFill>
                  </a:tcPr>
                </a:tc>
              </a:tr>
              <a:tr h="365760">
                <a:tc>
                  <a:txBody>
                    <a:bodyPr/>
                    <a:lstStyle/>
                    <a:p>
                      <a:pPr>
                        <a:defRPr sz="1100">
                          <a:solidFill>
                            <a:srgbClr val="1C2A3A"/>
                          </a:solidFill>
                          <a:latin typeface="Calibri"/>
                        </a:defRPr>
                      </a:pPr>
                      <a:r>
                        <a:t>4</a:t>
                      </a:r>
                    </a:p>
                  </a:txBody>
                  <a:tcPr/>
                </a:tc>
                <a:tc>
                  <a:txBody>
                    <a:bodyPr/>
                    <a:lstStyle/>
                    <a:p>
                      <a:pPr>
                        <a:defRPr sz="1100">
                          <a:solidFill>
                            <a:srgbClr val="1C2A3A"/>
                          </a:solidFill>
                          <a:latin typeface="Calibri"/>
                        </a:defRPr>
                      </a:pPr>
                      <a:r>
                        <a:t>Credit costs increased significantly due to c...</a:t>
                      </a:r>
                    </a:p>
                  </a:txBody>
                  <a:tcPr/>
                </a:tc>
                <a:tc>
                  <a:txBody>
                    <a:bodyPr/>
                    <a:lstStyle/>
                    <a:p>
                      <a:pPr>
                        <a:defRPr sz="1100">
                          <a:solidFill>
                            <a:srgbClr val="1C2A3A"/>
                          </a:solidFill>
                          <a:latin typeface="Calibri"/>
                        </a:defRPr>
                      </a:pPr>
                      <a:r>
                        <a:t>NEGATIVE</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positive [N]</a:t>
                      </a:r>
                    </a:p>
                  </a:txBody>
                  <a:tcPr/>
                </a:tc>
              </a:tr>
              <a:tr h="365760">
                <a:tc>
                  <a:txBody>
                    <a:bodyPr/>
                    <a:lstStyle/>
                    <a:p>
                      <a:pPr>
                        <a:defRPr sz="1100">
                          <a:solidFill>
                            <a:srgbClr val="1C2A3A"/>
                          </a:solidFill>
                          <a:latin typeface="Calibri"/>
                        </a:defRPr>
                      </a:pPr>
                      <a:r>
                        <a:t>5</a:t>
                      </a:r>
                    </a:p>
                  </a:txBody>
                  <a:tcPr>
                    <a:solidFill>
                      <a:srgbClr val="E0E3E8"/>
                    </a:solidFill>
                  </a:tcPr>
                </a:tc>
                <a:tc>
                  <a:txBody>
                    <a:bodyPr/>
                    <a:lstStyle/>
                    <a:p>
                      <a:pPr>
                        <a:defRPr sz="1100">
                          <a:solidFill>
                            <a:srgbClr val="1C2A3A"/>
                          </a:solidFill>
                          <a:latin typeface="Calibri"/>
                        </a:defRPr>
                      </a:pPr>
                      <a:r>
                        <a:t>Strong demand in core markets contributed to ...</a:t>
                      </a:r>
                    </a:p>
                  </a:txBody>
                  <a:tcPr>
                    <a:solidFill>
                      <a:srgbClr val="E0E3E8"/>
                    </a:solidFill>
                  </a:tcPr>
                </a:tc>
                <a:tc>
                  <a:txBody>
                    <a:bodyPr/>
                    <a:lstStyle/>
                    <a:p>
                      <a:pPr>
                        <a:defRPr sz="1100">
                          <a:solidFill>
                            <a:srgbClr val="1C2A3A"/>
                          </a:solidFill>
                          <a:latin typeface="Calibri"/>
                        </a:defRPr>
                      </a:pPr>
                      <a:r>
                        <a:t>POSITIVE</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r>
              <a:tr h="365760">
                <a:tc>
                  <a:txBody>
                    <a:bodyPr/>
                    <a:lstStyle/>
                    <a:p>
                      <a:pPr>
                        <a:defRPr sz="1100">
                          <a:solidFill>
                            <a:srgbClr val="1C2A3A"/>
                          </a:solidFill>
                          <a:latin typeface="Calibri"/>
                        </a:defRPr>
                      </a:pPr>
                      <a:r>
                        <a:t>6</a:t>
                      </a:r>
                    </a:p>
                  </a:txBody>
                  <a:tcPr/>
                </a:tc>
                <a:tc>
                  <a:txBody>
                    <a:bodyPr/>
                    <a:lstStyle/>
                    <a:p>
                      <a:pPr>
                        <a:defRPr sz="1100">
                          <a:solidFill>
                            <a:srgbClr val="1C2A3A"/>
                          </a:solidFill>
                          <a:latin typeface="Calibri"/>
                        </a:defRPr>
                      </a:pPr>
                      <a:r>
                        <a:t>Total assets remained relatively unchanged fr...</a:t>
                      </a:r>
                    </a:p>
                  </a:txBody>
                  <a:tcPr/>
                </a:tc>
                <a:tc>
                  <a:txBody>
                    <a:bodyPr/>
                    <a:lstStyle/>
                    <a:p>
                      <a:pPr>
                        <a:defRPr sz="1100">
                          <a:solidFill>
                            <a:srgbClr val="1C2A3A"/>
                          </a:solidFill>
                          <a:latin typeface="Calibri"/>
                        </a:defRPr>
                      </a:pPr>
                      <a:r>
                        <a:t>NEUTRAL</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neutral [Y]</a:t>
                      </a:r>
                    </a:p>
                  </a:txBody>
                  <a:tcPr/>
                </a:tc>
                <a:tc>
                  <a:txBody>
                    <a:bodyPr/>
                    <a:lstStyle/>
                    <a:p>
                      <a:pPr>
                        <a:defRPr sz="1100">
                          <a:solidFill>
                            <a:srgbClr val="1C2A3A"/>
                          </a:solidFill>
                          <a:latin typeface="Calibri"/>
                        </a:defRPr>
                      </a:pPr>
                      <a:r>
                        <a:t>positive [N]</a:t>
                      </a:r>
                    </a:p>
                  </a:txBody>
                  <a:tcPr/>
                </a:tc>
              </a:tr>
              <a:tr h="365760">
                <a:tc>
                  <a:txBody>
                    <a:bodyPr/>
                    <a:lstStyle/>
                    <a:p>
                      <a:pPr>
                        <a:defRPr sz="1100">
                          <a:solidFill>
                            <a:srgbClr val="1C2A3A"/>
                          </a:solidFill>
                          <a:latin typeface="Calibri"/>
                        </a:defRPr>
                      </a:pPr>
                      <a:r>
                        <a:t>7</a:t>
                      </a:r>
                    </a:p>
                  </a:txBody>
                  <a:tcPr>
                    <a:solidFill>
                      <a:srgbClr val="E0E3E8"/>
                    </a:solidFill>
                  </a:tcPr>
                </a:tc>
                <a:tc>
                  <a:txBody>
                    <a:bodyPr/>
                    <a:lstStyle/>
                    <a:p>
                      <a:pPr>
                        <a:defRPr sz="1100">
                          <a:solidFill>
                            <a:srgbClr val="1C2A3A"/>
                          </a:solidFill>
                          <a:latin typeface="Calibri"/>
                        </a:defRPr>
                      </a:pPr>
                      <a:r>
                        <a:t>The restructuring program resulted in $450M o...</a:t>
                      </a:r>
                    </a:p>
                  </a:txBody>
                  <a:tcPr>
                    <a:solidFill>
                      <a:srgbClr val="E0E3E8"/>
                    </a:solidFill>
                  </a:tcPr>
                </a:tc>
                <a:tc>
                  <a:txBody>
                    <a:bodyPr/>
                    <a:lstStyle/>
                    <a:p>
                      <a:pPr>
                        <a:defRPr sz="1100">
                          <a:solidFill>
                            <a:srgbClr val="1C2A3A"/>
                          </a:solidFill>
                          <a:latin typeface="Calibri"/>
                        </a:defRPr>
                      </a:pPr>
                      <a:r>
                        <a:t>NEGATIVE</a:t>
                      </a:r>
                    </a:p>
                  </a:txBody>
                  <a:tcPr>
                    <a:solidFill>
                      <a:srgbClr val="E0E3E8"/>
                    </a:solidFill>
                  </a:tcPr>
                </a:tc>
                <a:tc>
                  <a:txBody>
                    <a:bodyPr/>
                    <a:lstStyle/>
                    <a:p>
                      <a:pPr>
                        <a:defRPr sz="1100">
                          <a:solidFill>
                            <a:srgbClr val="1C2A3A"/>
                          </a:solidFill>
                          <a:latin typeface="Calibri"/>
                        </a:defRPr>
                      </a:pPr>
                      <a:r>
                        <a:t>negative [Y]</a:t>
                      </a:r>
                    </a:p>
                  </a:txBody>
                  <a:tcPr>
                    <a:solidFill>
                      <a:srgbClr val="E0E3E8"/>
                    </a:solidFill>
                  </a:tcPr>
                </a:tc>
                <a:tc>
                  <a:txBody>
                    <a:bodyPr/>
                    <a:lstStyle/>
                    <a:p>
                      <a:pPr>
                        <a:defRPr sz="1100">
                          <a:solidFill>
                            <a:srgbClr val="1C2A3A"/>
                          </a:solidFill>
                          <a:latin typeface="Calibri"/>
                        </a:defRPr>
                      </a:pPr>
                      <a:r>
                        <a:t>negative [Y]</a:t>
                      </a:r>
                    </a:p>
                  </a:txBody>
                  <a:tcPr>
                    <a:solidFill>
                      <a:srgbClr val="E0E3E8"/>
                    </a:solidFill>
                  </a:tcPr>
                </a:tc>
                <a:tc>
                  <a:txBody>
                    <a:bodyPr/>
                    <a:lstStyle/>
                    <a:p>
                      <a:pPr>
                        <a:defRPr sz="1100">
                          <a:solidFill>
                            <a:srgbClr val="1C2A3A"/>
                          </a:solidFill>
                          <a:latin typeface="Calibri"/>
                        </a:defRPr>
                      </a:pPr>
                      <a:r>
                        <a:t>neutral [N]</a:t>
                      </a:r>
                    </a:p>
                  </a:txBody>
                  <a:tcPr>
                    <a:solidFill>
                      <a:srgbClr val="E0E3E8"/>
                    </a:solidFill>
                  </a:tcPr>
                </a:tc>
                <a:tc>
                  <a:txBody>
                    <a:bodyPr/>
                    <a:lstStyle/>
                    <a:p>
                      <a:pPr>
                        <a:defRPr sz="1100">
                          <a:solidFill>
                            <a:srgbClr val="1C2A3A"/>
                          </a:solidFill>
                          <a:latin typeface="Calibri"/>
                        </a:defRPr>
                      </a:pPr>
                      <a:r>
                        <a:t>negative [Y]</a:t>
                      </a:r>
                    </a:p>
                  </a:txBody>
                  <a:tcPr>
                    <a:solidFill>
                      <a:srgbClr val="E0E3E8"/>
                    </a:solidFill>
                  </a:tcPr>
                </a:tc>
              </a:tr>
              <a:tr h="365760">
                <a:tc>
                  <a:txBody>
                    <a:bodyPr/>
                    <a:lstStyle/>
                    <a:p>
                      <a:pPr>
                        <a:defRPr sz="1100">
                          <a:solidFill>
                            <a:srgbClr val="1C2A3A"/>
                          </a:solidFill>
                          <a:latin typeface="Calibri"/>
                        </a:defRPr>
                      </a:pPr>
                      <a:r>
                        <a:t>8</a:t>
                      </a:r>
                    </a:p>
                  </a:txBody>
                  <a:tcPr/>
                </a:tc>
                <a:tc>
                  <a:txBody>
                    <a:bodyPr/>
                    <a:lstStyle/>
                    <a:p>
                      <a:pPr>
                        <a:defRPr sz="1100">
                          <a:solidFill>
                            <a:srgbClr val="1C2A3A"/>
                          </a:solidFill>
                          <a:latin typeface="Calibri"/>
                        </a:defRPr>
                      </a:pPr>
                      <a:r>
                        <a:t>Operating efficiency improved with the cost-t...</a:t>
                      </a:r>
                    </a:p>
                  </a:txBody>
                  <a:tcPr/>
                </a:tc>
                <a:tc>
                  <a:txBody>
                    <a:bodyPr/>
                    <a:lstStyle/>
                    <a:p>
                      <a:pPr>
                        <a:defRPr sz="1100">
                          <a:solidFill>
                            <a:srgbClr val="1C2A3A"/>
                          </a:solidFill>
                          <a:latin typeface="Calibri"/>
                        </a:defRPr>
                      </a:pPr>
                      <a:r>
                        <a:t>POSITIVE</a:t>
                      </a:r>
                    </a:p>
                  </a:txBody>
                  <a:tcPr/>
                </a:tc>
                <a:tc>
                  <a:txBody>
                    <a:bodyPr/>
                    <a:lstStyle/>
                    <a:p>
                      <a:pPr>
                        <a:defRPr sz="1100">
                          <a:solidFill>
                            <a:srgbClr val="1C2A3A"/>
                          </a:solidFill>
                          <a:latin typeface="Calibri"/>
                        </a:defRPr>
                      </a:pPr>
                      <a:r>
                        <a:t>positive [Y]</a:t>
                      </a:r>
                    </a:p>
                  </a:txBody>
                  <a:tcPr/>
                </a:tc>
                <a:tc>
                  <a:txBody>
                    <a:bodyPr/>
                    <a:lstStyle/>
                    <a:p>
                      <a:pPr>
                        <a:defRPr sz="1100">
                          <a:solidFill>
                            <a:srgbClr val="1C2A3A"/>
                          </a:solidFill>
                          <a:latin typeface="Calibri"/>
                        </a:defRPr>
                      </a:pPr>
                      <a:r>
                        <a:t>positive [Y]</a:t>
                      </a:r>
                    </a:p>
                  </a:txBody>
                  <a:tcPr/>
                </a:tc>
                <a:tc>
                  <a:txBody>
                    <a:bodyPr/>
                    <a:lstStyle/>
                    <a:p>
                      <a:pPr>
                        <a:defRPr sz="1100">
                          <a:solidFill>
                            <a:srgbClr val="1C2A3A"/>
                          </a:solidFill>
                          <a:latin typeface="Calibri"/>
                        </a:defRPr>
                      </a:pPr>
                      <a:r>
                        <a:t>positive [Y]</a:t>
                      </a:r>
                    </a:p>
                  </a:txBody>
                  <a:tcPr/>
                </a:tc>
                <a:tc>
                  <a:txBody>
                    <a:bodyPr/>
                    <a:lstStyle/>
                    <a:p>
                      <a:pPr>
                        <a:defRPr sz="1100">
                          <a:solidFill>
                            <a:srgbClr val="1C2A3A"/>
                          </a:solidFill>
                          <a:latin typeface="Calibri"/>
                        </a:defRPr>
                      </a:pPr>
                      <a:r>
                        <a:t>positive [Y]</a:t>
                      </a:r>
                    </a:p>
                  </a:txBody>
                  <a:tcPr/>
                </a:tc>
              </a:tr>
              <a:tr h="365760">
                <a:tc>
                  <a:txBody>
                    <a:bodyPr/>
                    <a:lstStyle/>
                    <a:p>
                      <a:pPr>
                        <a:defRPr sz="1100">
                          <a:solidFill>
                            <a:srgbClr val="1C2A3A"/>
                          </a:solidFill>
                          <a:latin typeface="Calibri"/>
                        </a:defRPr>
                      </a:pPr>
                      <a:r>
                        <a:t>9</a:t>
                      </a:r>
                    </a:p>
                  </a:txBody>
                  <a:tcPr>
                    <a:solidFill>
                      <a:srgbClr val="E0E3E8"/>
                    </a:solidFill>
                  </a:tcPr>
                </a:tc>
                <a:tc>
                  <a:txBody>
                    <a:bodyPr/>
                    <a:lstStyle/>
                    <a:p>
                      <a:pPr>
                        <a:defRPr sz="1100">
                          <a:solidFill>
                            <a:srgbClr val="1C2A3A"/>
                          </a:solidFill>
                          <a:latin typeface="Calibri"/>
                        </a:defRPr>
                      </a:pPr>
                      <a:r>
                        <a:t>Provisions for loan losses rose sharply amid ...</a:t>
                      </a:r>
                    </a:p>
                  </a:txBody>
                  <a:tcPr>
                    <a:solidFill>
                      <a:srgbClr val="E0E3E8"/>
                    </a:solidFill>
                  </a:tcPr>
                </a:tc>
                <a:tc>
                  <a:txBody>
                    <a:bodyPr/>
                    <a:lstStyle/>
                    <a:p>
                      <a:pPr>
                        <a:defRPr sz="1100">
                          <a:solidFill>
                            <a:srgbClr val="1C2A3A"/>
                          </a:solidFill>
                          <a:latin typeface="Calibri"/>
                        </a:defRPr>
                      </a:pPr>
                      <a:r>
                        <a:t>NEGATIVE</a:t>
                      </a:r>
                    </a:p>
                  </a:txBody>
                  <a:tcPr>
                    <a:solidFill>
                      <a:srgbClr val="E0E3E8"/>
                    </a:solidFill>
                  </a:tcPr>
                </a:tc>
                <a:tc>
                  <a:txBody>
                    <a:bodyPr/>
                    <a:lstStyle/>
                    <a:p>
                      <a:pPr>
                        <a:defRPr sz="1100">
                          <a:solidFill>
                            <a:srgbClr val="1C2A3A"/>
                          </a:solidFill>
                          <a:latin typeface="Calibri"/>
                        </a:defRPr>
                      </a:pPr>
                      <a:r>
                        <a:t>positive [N]</a:t>
                      </a:r>
                    </a:p>
                  </a:txBody>
                  <a:tcPr>
                    <a:solidFill>
                      <a:srgbClr val="E0E3E8"/>
                    </a:solidFill>
                  </a:tcPr>
                </a:tc>
                <a:tc>
                  <a:txBody>
                    <a:bodyPr/>
                    <a:lstStyle/>
                    <a:p>
                      <a:pPr>
                        <a:defRPr sz="1100">
                          <a:solidFill>
                            <a:srgbClr val="1C2A3A"/>
                          </a:solidFill>
                          <a:latin typeface="Calibri"/>
                        </a:defRPr>
                      </a:pPr>
                      <a:r>
                        <a:t>negative [Y]</a:t>
                      </a:r>
                    </a:p>
                  </a:txBody>
                  <a:tcPr>
                    <a:solidFill>
                      <a:srgbClr val="E0E3E8"/>
                    </a:solidFill>
                  </a:tcPr>
                </a:tc>
                <a:tc>
                  <a:txBody>
                    <a:bodyPr/>
                    <a:lstStyle/>
                    <a:p>
                      <a:pPr>
                        <a:defRPr sz="1100">
                          <a:solidFill>
                            <a:srgbClr val="1C2A3A"/>
                          </a:solidFill>
                          <a:latin typeface="Calibri"/>
                        </a:defRPr>
                      </a:pPr>
                      <a:r>
                        <a:t>positive [N]</a:t>
                      </a:r>
                    </a:p>
                  </a:txBody>
                  <a:tcPr>
                    <a:solidFill>
                      <a:srgbClr val="E0E3E8"/>
                    </a:solidFill>
                  </a:tcPr>
                </a:tc>
                <a:tc>
                  <a:txBody>
                    <a:bodyPr/>
                    <a:lstStyle/>
                    <a:p>
                      <a:pPr>
                        <a:defRPr sz="1100">
                          <a:solidFill>
                            <a:srgbClr val="1C2A3A"/>
                          </a:solidFill>
                          <a:latin typeface="Calibri"/>
                        </a:defRPr>
                      </a:pPr>
                      <a:r>
                        <a:t>negative [Y]</a:t>
                      </a:r>
                    </a:p>
                  </a:txBody>
                  <a:tcPr>
                    <a:solidFill>
                      <a:srgbClr val="E0E3E8"/>
                    </a:solidFill>
                  </a:tcPr>
                </a:tc>
              </a:tr>
              <a:tr h="365760">
                <a:tc>
                  <a:txBody>
                    <a:bodyPr/>
                    <a:lstStyle/>
                    <a:p>
                      <a:pPr>
                        <a:defRPr sz="1100">
                          <a:solidFill>
                            <a:srgbClr val="1C2A3A"/>
                          </a:solidFill>
                          <a:latin typeface="Calibri"/>
                        </a:defRPr>
                      </a:pPr>
                      <a:r>
                        <a:t>10</a:t>
                      </a:r>
                    </a:p>
                  </a:txBody>
                  <a:tcPr/>
                </a:tc>
                <a:tc>
                  <a:txBody>
                    <a:bodyPr/>
                    <a:lstStyle/>
                    <a:p>
                      <a:pPr>
                        <a:defRPr sz="1100">
                          <a:solidFill>
                            <a:srgbClr val="1C2A3A"/>
                          </a:solidFill>
                          <a:latin typeface="Calibri"/>
                        </a:defRPr>
                      </a:pPr>
                      <a:r>
                        <a:t>The board approved a routine extension of the...</a:t>
                      </a:r>
                    </a:p>
                  </a:txBody>
                  <a:tcPr/>
                </a:tc>
                <a:tc>
                  <a:txBody>
                    <a:bodyPr/>
                    <a:lstStyle/>
                    <a:p>
                      <a:pPr>
                        <a:defRPr sz="1100">
                          <a:solidFill>
                            <a:srgbClr val="1C2A3A"/>
                          </a:solidFill>
                          <a:latin typeface="Calibri"/>
                        </a:defRPr>
                      </a:pPr>
                      <a:r>
                        <a:t>NEUTRAL</a:t>
                      </a:r>
                    </a:p>
                  </a:txBody>
                  <a:tcPr/>
                </a:tc>
                <a:tc>
                  <a:txBody>
                    <a:bodyPr/>
                    <a:lstStyle/>
                    <a:p>
                      <a:pPr>
                        <a:defRPr sz="1100">
                          <a:solidFill>
                            <a:srgbClr val="1C2A3A"/>
                          </a:solidFill>
                          <a:latin typeface="Calibri"/>
                        </a:defRPr>
                      </a:pPr>
                      <a:r>
                        <a:t>negative [N]</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neutral [Y]</a:t>
                      </a:r>
                    </a:p>
                  </a:txBody>
                  <a:tcPr/>
                </a:tc>
                <a:tc>
                  <a:txBody>
                    <a:bodyPr/>
                    <a:lstStyle/>
                    <a:p>
                      <a:pPr>
                        <a:defRPr sz="1100">
                          <a:solidFill>
                            <a:srgbClr val="1C2A3A"/>
                          </a:solidFill>
                          <a:latin typeface="Calibri"/>
                        </a:defRPr>
                      </a:pPr>
                      <a:r>
                        <a:t>positive [N]</a:t>
                      </a:r>
                    </a:p>
                  </a:txBody>
                  <a:tcPr/>
                </a:tc>
              </a:tr>
              <a:tr h="365760">
                <a:tc>
                  <a:txBody>
                    <a:bodyPr/>
                    <a:lstStyle/>
                    <a:p>
                      <a:pPr>
                        <a:defRPr sz="1100">
                          <a:solidFill>
                            <a:srgbClr val="1C2A3A"/>
                          </a:solidFill>
                          <a:latin typeface="Calibri"/>
                        </a:defRPr>
                      </a:pPr>
                      <a:r>
                        <a:t>11</a:t>
                      </a:r>
                    </a:p>
                  </a:txBody>
                  <a:tcPr>
                    <a:solidFill>
                      <a:srgbClr val="E0E3E8"/>
                    </a:solidFill>
                  </a:tcPr>
                </a:tc>
                <a:tc>
                  <a:txBody>
                    <a:bodyPr/>
                    <a:lstStyle/>
                    <a:p>
                      <a:pPr>
                        <a:defRPr sz="1100">
                          <a:solidFill>
                            <a:srgbClr val="1C2A3A"/>
                          </a:solidFill>
                          <a:latin typeface="Calibri"/>
                        </a:defRPr>
                      </a:pPr>
                      <a:r>
                        <a:t>Revenue exceeded analyst consensus estimates ...</a:t>
                      </a:r>
                    </a:p>
                  </a:txBody>
                  <a:tcPr>
                    <a:solidFill>
                      <a:srgbClr val="E0E3E8"/>
                    </a:solidFill>
                  </a:tcPr>
                </a:tc>
                <a:tc>
                  <a:txBody>
                    <a:bodyPr/>
                    <a:lstStyle/>
                    <a:p>
                      <a:pPr>
                        <a:defRPr sz="1100">
                          <a:solidFill>
                            <a:srgbClr val="1C2A3A"/>
                          </a:solidFill>
                          <a:latin typeface="Calibri"/>
                        </a:defRPr>
                      </a:pPr>
                      <a:r>
                        <a:t>POSITIVE</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r>
              <a:tr h="365760">
                <a:tc>
                  <a:txBody>
                    <a:bodyPr/>
                    <a:lstStyle/>
                    <a:p>
                      <a:pPr>
                        <a:defRPr sz="1100">
                          <a:solidFill>
                            <a:srgbClr val="1C2A3A"/>
                          </a:solidFill>
                          <a:latin typeface="Calibri"/>
                        </a:defRPr>
                      </a:pPr>
                      <a:r>
                        <a:t>12</a:t>
                      </a:r>
                    </a:p>
                  </a:txBody>
                  <a:tcPr/>
                </a:tc>
                <a:tc>
                  <a:txBody>
                    <a:bodyPr/>
                    <a:lstStyle/>
                    <a:p>
                      <a:pPr>
                        <a:defRPr sz="1100">
                          <a:solidFill>
                            <a:srgbClr val="1C2A3A"/>
                          </a:solidFill>
                          <a:latin typeface="Calibri"/>
                        </a:defRPr>
                      </a:pPr>
                      <a:r>
                        <a:t>Non-performing loans increased to 1.2% of tot...</a:t>
                      </a:r>
                    </a:p>
                  </a:txBody>
                  <a:tcPr/>
                </a:tc>
                <a:tc>
                  <a:txBody>
                    <a:bodyPr/>
                    <a:lstStyle/>
                    <a:p>
                      <a:pPr>
                        <a:defRPr sz="1100">
                          <a:solidFill>
                            <a:srgbClr val="1C2A3A"/>
                          </a:solidFill>
                          <a:latin typeface="Calibri"/>
                        </a:defRPr>
                      </a:pPr>
                      <a:r>
                        <a:t>NEGATIVE</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positive [N]</a:t>
                      </a:r>
                    </a:p>
                  </a:txBody>
                  <a:tcPr/>
                </a:tc>
              </a:tr>
            </a:tbl>
          </a:graphicData>
        </a:graphic>
      </p:graphicFrame>
      <p:sp>
        <p:nvSpPr>
          <p:cNvPr id="4" name="TextBox 3"/>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36/55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2: Llama2 7B - Numerical Reasoning</a:t>
            </a:r>
          </a:p>
          <a:p>
            <a:pPr>
              <a:defRPr sz="1600">
                <a:solidFill>
                  <a:srgbClr val="ECEFF1"/>
                </a:solidFill>
                <a:latin typeface="Calibri"/>
              </a:defRPr>
            </a:pPr>
            <a:r>
              <a:t>Architecture: Llama2-7B (7B parameters)</a:t>
            </a:r>
          </a:p>
        </p:txBody>
      </p:sp>
      <p:sp>
        <p:nvSpPr>
          <p:cNvPr id="3" name="Rectangle 2"/>
          <p:cNvSpPr/>
          <p:nvPr/>
        </p:nvSpPr>
        <p:spPr>
          <a:xfrm>
            <a:off x="457200" y="1280160"/>
            <a:ext cx="2651760" cy="10972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Base Llama2-7B</a:t>
            </a:r>
          </a:p>
          <a:p>
            <a:pPr>
              <a:defRPr sz="1200">
                <a:solidFill>
                  <a:srgbClr val="1C2A3A"/>
                </a:solidFill>
                <a:latin typeface="Calibri"/>
              </a:defRPr>
            </a:pPr>
            <a:r>
              <a:t>Accuracy: 20.0%  (1/5)</a:t>
            </a:r>
          </a:p>
        </p:txBody>
      </p:sp>
      <p:sp>
        <p:nvSpPr>
          <p:cNvPr id="4" name="Rectangle 3"/>
          <p:cNvSpPr/>
          <p:nvPr/>
        </p:nvSpPr>
        <p:spPr>
          <a:xfrm>
            <a:off x="3291840" y="1280160"/>
            <a:ext cx="2651760" cy="10972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FinQA-7B (fine-tuned)</a:t>
            </a:r>
          </a:p>
          <a:p>
            <a:pPr>
              <a:defRPr sz="1200">
                <a:solidFill>
                  <a:srgbClr val="1C2A3A"/>
                </a:solidFill>
                <a:latin typeface="Calibri"/>
              </a:defRPr>
            </a:pPr>
            <a:r>
              <a:t>Accuracy: 20.0%  (1/5)</a:t>
            </a:r>
          </a:p>
        </p:txBody>
      </p:sp>
      <p:sp>
        <p:nvSpPr>
          <p:cNvPr id="5" name="Rectangle 4"/>
          <p:cNvSpPr/>
          <p:nvPr/>
        </p:nvSpPr>
        <p:spPr>
          <a:xfrm>
            <a:off x="6126480" y="1280160"/>
            <a:ext cx="2651760" cy="10972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Llama2-7B + RAG</a:t>
            </a:r>
          </a:p>
          <a:p>
            <a:pPr>
              <a:defRPr sz="1200">
                <a:solidFill>
                  <a:srgbClr val="1C2A3A"/>
                </a:solidFill>
                <a:latin typeface="Calibri"/>
              </a:defRPr>
            </a:pPr>
            <a:r>
              <a:t>Accuracy: 20.0%  (1/5)</a:t>
            </a:r>
          </a:p>
        </p:txBody>
      </p:sp>
      <p:sp>
        <p:nvSpPr>
          <p:cNvPr id="6" name="Rectangle 5"/>
          <p:cNvSpPr/>
          <p:nvPr/>
        </p:nvSpPr>
        <p:spPr>
          <a:xfrm>
            <a:off x="8961120" y="1280160"/>
            <a:ext cx="2651760" cy="109728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FinQA-7B + RAG (hybrid)</a:t>
            </a:r>
          </a:p>
          <a:p>
            <a:pPr>
              <a:defRPr sz="1200">
                <a:solidFill>
                  <a:srgbClr val="1C2A3A"/>
                </a:solidFill>
                <a:latin typeface="Calibri"/>
              </a:defRPr>
            </a:pPr>
            <a:r>
              <a:t>Accuracy: 20.0%  (1/5)</a:t>
            </a:r>
          </a:p>
        </p:txBody>
      </p:sp>
      <p:graphicFrame>
        <p:nvGraphicFramePr>
          <p:cNvPr id="7" name="Chart 6"/>
          <p:cNvGraphicFramePr>
            <a:graphicFrameLocks noGrp="1"/>
          </p:cNvGraphicFramePr>
          <p:nvPr/>
        </p:nvGraphicFramePr>
        <p:xfrm>
          <a:off x="457200" y="2560320"/>
          <a:ext cx="5303520" cy="32004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6217920" y="2560320"/>
          <a:ext cx="5303520" cy="3200400"/>
        </p:xfrm>
        <a:graphic>
          <a:graphicData uri="http://schemas.openxmlformats.org/drawingml/2006/chart">
            <c:chart xmlns:c="http://schemas.openxmlformats.org/drawingml/2006/chart" r:id="rId3"/>
          </a:graphicData>
        </a:graphic>
      </p:graphicFrame>
      <p:sp>
        <p:nvSpPr>
          <p:cNvPr id="9" name="TextBox 8"/>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37/55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2: Llama2 7B - Numerical Reasoning - Token Usage &amp; Cost</a:t>
            </a:r>
          </a:p>
        </p:txBody>
      </p:sp>
      <p:graphicFrame>
        <p:nvGraphicFramePr>
          <p:cNvPr id="3" name="Table 2"/>
          <p:cNvGraphicFramePr>
            <a:graphicFrameLocks noGrp="1"/>
          </p:cNvGraphicFramePr>
          <p:nvPr/>
        </p:nvGraphicFramePr>
        <p:xfrm>
          <a:off x="457200" y="1371600"/>
          <a:ext cx="11247120" cy="32004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0005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400050">
                <a:tc>
                  <a:txBody>
                    <a:bodyPr/>
                    <a:lstStyle/>
                    <a:p>
                      <a:pPr>
                        <a:defRPr sz="1100">
                          <a:solidFill>
                            <a:srgbClr val="1C2A3A"/>
                          </a:solidFill>
                          <a:latin typeface="Calibri"/>
                        </a:defRPr>
                      </a:pPr>
                      <a:r>
                        <a:t>Avg Tokens / Query</a:t>
                      </a:r>
                    </a:p>
                  </a:txBody>
                  <a:tcPr>
                    <a:solidFill>
                      <a:srgbClr val="E0E3E8"/>
                    </a:solidFill>
                  </a:tcPr>
                </a:tc>
                <a:tc>
                  <a:txBody>
                    <a:bodyPr/>
                    <a:lstStyle/>
                    <a:p>
                      <a:pPr>
                        <a:defRPr sz="1100">
                          <a:solidFill>
                            <a:srgbClr val="1C2A3A"/>
                          </a:solidFill>
                          <a:latin typeface="Calibri"/>
                        </a:defRPr>
                      </a:pPr>
                      <a:r>
                        <a:t>314</a:t>
                      </a:r>
                    </a:p>
                  </a:txBody>
                  <a:tcPr>
                    <a:solidFill>
                      <a:srgbClr val="E0E3E8"/>
                    </a:solidFill>
                  </a:tcPr>
                </a:tc>
                <a:tc>
                  <a:txBody>
                    <a:bodyPr/>
                    <a:lstStyle/>
                    <a:p>
                      <a:pPr>
                        <a:defRPr sz="1100">
                          <a:solidFill>
                            <a:srgbClr val="1C2A3A"/>
                          </a:solidFill>
                          <a:latin typeface="Calibri"/>
                        </a:defRPr>
                      </a:pPr>
                      <a:r>
                        <a:t>285</a:t>
                      </a:r>
                    </a:p>
                  </a:txBody>
                  <a:tcPr>
                    <a:solidFill>
                      <a:srgbClr val="E0E3E8"/>
                    </a:solidFill>
                  </a:tcPr>
                </a:tc>
                <a:tc>
                  <a:txBody>
                    <a:bodyPr/>
                    <a:lstStyle/>
                    <a:p>
                      <a:pPr>
                        <a:defRPr sz="1100">
                          <a:solidFill>
                            <a:srgbClr val="1C2A3A"/>
                          </a:solidFill>
                          <a:latin typeface="Calibri"/>
                        </a:defRPr>
                      </a:pPr>
                      <a:r>
                        <a:t>1,638</a:t>
                      </a:r>
                    </a:p>
                  </a:txBody>
                  <a:tcPr>
                    <a:solidFill>
                      <a:srgbClr val="E0E3E8"/>
                    </a:solidFill>
                  </a:tcPr>
                </a:tc>
                <a:tc>
                  <a:txBody>
                    <a:bodyPr/>
                    <a:lstStyle/>
                    <a:p>
                      <a:pPr>
                        <a:defRPr sz="1100">
                          <a:solidFill>
                            <a:srgbClr val="1C2A3A"/>
                          </a:solidFill>
                          <a:latin typeface="Calibri"/>
                        </a:defRPr>
                      </a:pPr>
                      <a:r>
                        <a:t>1,661</a:t>
                      </a:r>
                    </a:p>
                  </a:txBody>
                  <a:tcPr>
                    <a:solidFill>
                      <a:srgbClr val="E0E3E8"/>
                    </a:solidFill>
                  </a:tcPr>
                </a:tc>
              </a:tr>
              <a:tr h="400050">
                <a:tc>
                  <a:txBody>
                    <a:bodyPr/>
                    <a:lstStyle/>
                    <a:p>
                      <a:pPr>
                        <a:defRPr sz="1100">
                          <a:solidFill>
                            <a:srgbClr val="1C2A3A"/>
                          </a:solidFill>
                          <a:latin typeface="Calibri"/>
                        </a:defRPr>
                      </a:pPr>
                      <a:r>
                        <a:t>Total Tokens</a:t>
                      </a:r>
                    </a:p>
                  </a:txBody>
                  <a:tcPr/>
                </a:tc>
                <a:tc>
                  <a:txBody>
                    <a:bodyPr/>
                    <a:lstStyle/>
                    <a:p>
                      <a:pPr>
                        <a:defRPr sz="1100">
                          <a:solidFill>
                            <a:srgbClr val="1C2A3A"/>
                          </a:solidFill>
                          <a:latin typeface="Calibri"/>
                        </a:defRPr>
                      </a:pPr>
                      <a:r>
                        <a:t>1,571</a:t>
                      </a:r>
                    </a:p>
                  </a:txBody>
                  <a:tcPr/>
                </a:tc>
                <a:tc>
                  <a:txBody>
                    <a:bodyPr/>
                    <a:lstStyle/>
                    <a:p>
                      <a:pPr>
                        <a:defRPr sz="1100">
                          <a:solidFill>
                            <a:srgbClr val="1C2A3A"/>
                          </a:solidFill>
                          <a:latin typeface="Calibri"/>
                        </a:defRPr>
                      </a:pPr>
                      <a:r>
                        <a:t>1,423</a:t>
                      </a:r>
                    </a:p>
                  </a:txBody>
                  <a:tcPr/>
                </a:tc>
                <a:tc>
                  <a:txBody>
                    <a:bodyPr/>
                    <a:lstStyle/>
                    <a:p>
                      <a:pPr>
                        <a:defRPr sz="1100">
                          <a:solidFill>
                            <a:srgbClr val="1C2A3A"/>
                          </a:solidFill>
                          <a:latin typeface="Calibri"/>
                        </a:defRPr>
                      </a:pPr>
                      <a:r>
                        <a:t>8,192</a:t>
                      </a:r>
                    </a:p>
                  </a:txBody>
                  <a:tcPr/>
                </a:tc>
                <a:tc>
                  <a:txBody>
                    <a:bodyPr/>
                    <a:lstStyle/>
                    <a:p>
                      <a:pPr>
                        <a:defRPr sz="1100">
                          <a:solidFill>
                            <a:srgbClr val="1C2A3A"/>
                          </a:solidFill>
                          <a:latin typeface="Calibri"/>
                        </a:defRPr>
                      </a:pPr>
                      <a:r>
                        <a:t>8,307</a:t>
                      </a:r>
                    </a:p>
                  </a:txBody>
                  <a:tcPr/>
                </a:tc>
              </a:tr>
              <a:tr h="400050">
                <a:tc>
                  <a:txBody>
                    <a:bodyPr/>
                    <a:lstStyle/>
                    <a:p>
                      <a:pPr>
                        <a:defRPr sz="1100">
                          <a:solidFill>
                            <a:srgbClr val="1C2A3A"/>
                          </a:solidFill>
                          <a:latin typeface="Calibri"/>
                        </a:defRPr>
                      </a:pPr>
                      <a:r>
                        <a:t>Prompt Tokens (total)</a:t>
                      </a:r>
                    </a:p>
                  </a:txBody>
                  <a:tcPr>
                    <a:solidFill>
                      <a:srgbClr val="E0E3E8"/>
                    </a:solidFill>
                  </a:tcPr>
                </a:tc>
                <a:tc>
                  <a:txBody>
                    <a:bodyPr/>
                    <a:lstStyle/>
                    <a:p>
                      <a:pPr>
                        <a:defRPr sz="1100">
                          <a:solidFill>
                            <a:srgbClr val="1C2A3A"/>
                          </a:solidFill>
                          <a:latin typeface="Calibri"/>
                        </a:defRPr>
                      </a:pPr>
                      <a:r>
                        <a:t>713</a:t>
                      </a:r>
                    </a:p>
                  </a:txBody>
                  <a:tcPr>
                    <a:solidFill>
                      <a:srgbClr val="E0E3E8"/>
                    </a:solidFill>
                  </a:tcPr>
                </a:tc>
                <a:tc>
                  <a:txBody>
                    <a:bodyPr/>
                    <a:lstStyle/>
                    <a:p>
                      <a:pPr>
                        <a:defRPr sz="1100">
                          <a:solidFill>
                            <a:srgbClr val="1C2A3A"/>
                          </a:solidFill>
                          <a:latin typeface="Calibri"/>
                        </a:defRPr>
                      </a:pPr>
                      <a:r>
                        <a:t>688</a:t>
                      </a:r>
                    </a:p>
                  </a:txBody>
                  <a:tcPr>
                    <a:solidFill>
                      <a:srgbClr val="E0E3E8"/>
                    </a:solidFill>
                  </a:tcPr>
                </a:tc>
                <a:tc>
                  <a:txBody>
                    <a:bodyPr/>
                    <a:lstStyle/>
                    <a:p>
                      <a:pPr>
                        <a:defRPr sz="1100">
                          <a:solidFill>
                            <a:srgbClr val="1C2A3A"/>
                          </a:solidFill>
                          <a:latin typeface="Calibri"/>
                        </a:defRPr>
                      </a:pPr>
                      <a:r>
                        <a:t>6,827</a:t>
                      </a:r>
                    </a:p>
                  </a:txBody>
                  <a:tcPr>
                    <a:solidFill>
                      <a:srgbClr val="E0E3E8"/>
                    </a:solidFill>
                  </a:tcPr>
                </a:tc>
                <a:tc>
                  <a:txBody>
                    <a:bodyPr/>
                    <a:lstStyle/>
                    <a:p>
                      <a:pPr>
                        <a:defRPr sz="1100">
                          <a:solidFill>
                            <a:srgbClr val="1C2A3A"/>
                          </a:solidFill>
                          <a:latin typeface="Calibri"/>
                        </a:defRPr>
                      </a:pPr>
                      <a:r>
                        <a:t>6,837</a:t>
                      </a:r>
                    </a:p>
                  </a:txBody>
                  <a:tcPr>
                    <a:solidFill>
                      <a:srgbClr val="E0E3E8"/>
                    </a:solidFill>
                  </a:tcPr>
                </a:tc>
              </a:tr>
              <a:tr h="400050">
                <a:tc>
                  <a:txBody>
                    <a:bodyPr/>
                    <a:lstStyle/>
                    <a:p>
                      <a:pPr>
                        <a:defRPr sz="1100">
                          <a:solidFill>
                            <a:srgbClr val="1C2A3A"/>
                          </a:solidFill>
                          <a:latin typeface="Calibri"/>
                        </a:defRPr>
                      </a:pPr>
                      <a:r>
                        <a:t>Completion Tokens (total)</a:t>
                      </a:r>
                    </a:p>
                  </a:txBody>
                  <a:tcPr/>
                </a:tc>
                <a:tc>
                  <a:txBody>
                    <a:bodyPr/>
                    <a:lstStyle/>
                    <a:p>
                      <a:pPr>
                        <a:defRPr sz="1100">
                          <a:solidFill>
                            <a:srgbClr val="1C2A3A"/>
                          </a:solidFill>
                          <a:latin typeface="Calibri"/>
                        </a:defRPr>
                      </a:pPr>
                      <a:r>
                        <a:t>858</a:t>
                      </a:r>
                    </a:p>
                  </a:txBody>
                  <a:tcPr/>
                </a:tc>
                <a:tc>
                  <a:txBody>
                    <a:bodyPr/>
                    <a:lstStyle/>
                    <a:p>
                      <a:pPr>
                        <a:defRPr sz="1100">
                          <a:solidFill>
                            <a:srgbClr val="1C2A3A"/>
                          </a:solidFill>
                          <a:latin typeface="Calibri"/>
                        </a:defRPr>
                      </a:pPr>
                      <a:r>
                        <a:t>735</a:t>
                      </a:r>
                    </a:p>
                  </a:txBody>
                  <a:tcPr/>
                </a:tc>
                <a:tc>
                  <a:txBody>
                    <a:bodyPr/>
                    <a:lstStyle/>
                    <a:p>
                      <a:pPr>
                        <a:defRPr sz="1100">
                          <a:solidFill>
                            <a:srgbClr val="1C2A3A"/>
                          </a:solidFill>
                          <a:latin typeface="Calibri"/>
                        </a:defRPr>
                      </a:pPr>
                      <a:r>
                        <a:t>1,365</a:t>
                      </a:r>
                    </a:p>
                  </a:txBody>
                  <a:tcPr/>
                </a:tc>
                <a:tc>
                  <a:txBody>
                    <a:bodyPr/>
                    <a:lstStyle/>
                    <a:p>
                      <a:pPr>
                        <a:defRPr sz="1100">
                          <a:solidFill>
                            <a:srgbClr val="1C2A3A"/>
                          </a:solidFill>
                          <a:latin typeface="Calibri"/>
                        </a:defRPr>
                      </a:pPr>
                      <a:r>
                        <a:t>1,470</a:t>
                      </a:r>
                    </a:p>
                  </a:txBody>
                  <a:tcPr/>
                </a:tc>
              </a:tr>
              <a:tr h="400050">
                <a:tc>
                  <a:txBody>
                    <a:bodyPr/>
                    <a:lstStyle/>
                    <a:p>
                      <a:pPr>
                        <a:defRPr sz="1100">
                          <a:solidFill>
                            <a:srgbClr val="1C2A3A"/>
                          </a:solidFill>
                          <a:latin typeface="Calibri"/>
                        </a:defRPr>
                      </a:pPr>
                      <a:r>
                        <a:t>Throughput (tokens/sec)</a:t>
                      </a:r>
                    </a:p>
                  </a:txBody>
                  <a:tcPr>
                    <a:solidFill>
                      <a:srgbClr val="E0E3E8"/>
                    </a:solidFill>
                  </a:tcPr>
                </a:tc>
                <a:tc>
                  <a:txBody>
                    <a:bodyPr/>
                    <a:lstStyle/>
                    <a:p>
                      <a:pPr>
                        <a:defRPr sz="1100">
                          <a:solidFill>
                            <a:srgbClr val="1C2A3A"/>
                          </a:solidFill>
                          <a:latin typeface="Calibri"/>
                        </a:defRPr>
                      </a:pPr>
                      <a:r>
                        <a:t>3</a:t>
                      </a:r>
                    </a:p>
                  </a:txBody>
                  <a:tcPr>
                    <a:solidFill>
                      <a:srgbClr val="E0E3E8"/>
                    </a:solidFill>
                  </a:tcPr>
                </a:tc>
                <a:tc>
                  <a:txBody>
                    <a:bodyPr/>
                    <a:lstStyle/>
                    <a:p>
                      <a:pPr>
                        <a:defRPr sz="1100">
                          <a:solidFill>
                            <a:srgbClr val="1C2A3A"/>
                          </a:solidFill>
                          <a:latin typeface="Calibri"/>
                        </a:defRPr>
                      </a:pPr>
                      <a:r>
                        <a:t>5</a:t>
                      </a:r>
                    </a:p>
                  </a:txBody>
                  <a:tcPr>
                    <a:solidFill>
                      <a:srgbClr val="E0E3E8"/>
                    </a:solidFill>
                  </a:tcPr>
                </a:tc>
                <a:tc>
                  <a:txBody>
                    <a:bodyPr/>
                    <a:lstStyle/>
                    <a:p>
                      <a:pPr>
                        <a:defRPr sz="1100">
                          <a:solidFill>
                            <a:srgbClr val="1C2A3A"/>
                          </a:solidFill>
                          <a:latin typeface="Calibri"/>
                        </a:defRPr>
                      </a:pPr>
                      <a:r>
                        <a:t>12</a:t>
                      </a:r>
                    </a:p>
                  </a:txBody>
                  <a:tcPr>
                    <a:solidFill>
                      <a:srgbClr val="E0E3E8"/>
                    </a:solidFill>
                  </a:tcPr>
                </a:tc>
                <a:tc>
                  <a:txBody>
                    <a:bodyPr/>
                    <a:lstStyle/>
                    <a:p>
                      <a:pPr>
                        <a:defRPr sz="1100">
                          <a:solidFill>
                            <a:srgbClr val="1C2A3A"/>
                          </a:solidFill>
                          <a:latin typeface="Calibri"/>
                        </a:defRPr>
                      </a:pPr>
                      <a:r>
                        <a:t>8</a:t>
                      </a:r>
                    </a:p>
                  </a:txBody>
                  <a:tcPr>
                    <a:solidFill>
                      <a:srgbClr val="E0E3E8"/>
                    </a:solidFill>
                  </a:tcPr>
                </a:tc>
              </a:tr>
              <a:tr h="400050">
                <a:tc>
                  <a:txBody>
                    <a:bodyPr/>
                    <a:lstStyle/>
                    <a:p>
                      <a:pPr>
                        <a:defRPr sz="1100">
                          <a:solidFill>
                            <a:srgbClr val="1C2A3A"/>
                          </a:solidFill>
                          <a:latin typeface="Calibri"/>
                        </a:defRPr>
                      </a:pPr>
                      <a:r>
                        <a:t>Cost / 1K Queries</a:t>
                      </a:r>
                    </a:p>
                  </a:txBody>
                  <a:tcPr/>
                </a:tc>
                <a:tc>
                  <a:txBody>
                    <a:bodyPr/>
                    <a:lstStyle/>
                    <a:p>
                      <a:pPr>
                        <a:defRPr sz="1100">
                          <a:solidFill>
                            <a:srgbClr val="1C2A3A"/>
                          </a:solidFill>
                          <a:latin typeface="Calibri"/>
                        </a:defRPr>
                      </a:pPr>
                      <a:r>
                        <a:t>$0.0628</a:t>
                      </a:r>
                    </a:p>
                  </a:txBody>
                  <a:tcPr/>
                </a:tc>
                <a:tc>
                  <a:txBody>
                    <a:bodyPr/>
                    <a:lstStyle/>
                    <a:p>
                      <a:pPr>
                        <a:defRPr sz="1100">
                          <a:solidFill>
                            <a:srgbClr val="1C2A3A"/>
                          </a:solidFill>
                          <a:latin typeface="Calibri"/>
                        </a:defRPr>
                      </a:pPr>
                      <a:r>
                        <a:t>$0.0569</a:t>
                      </a:r>
                    </a:p>
                  </a:txBody>
                  <a:tcPr/>
                </a:tc>
                <a:tc>
                  <a:txBody>
                    <a:bodyPr/>
                    <a:lstStyle/>
                    <a:p>
                      <a:pPr>
                        <a:defRPr sz="1100">
                          <a:solidFill>
                            <a:srgbClr val="1C2A3A"/>
                          </a:solidFill>
                          <a:latin typeface="Calibri"/>
                        </a:defRPr>
                      </a:pPr>
                      <a:r>
                        <a:t>$0.3277</a:t>
                      </a:r>
                    </a:p>
                  </a:txBody>
                  <a:tcPr/>
                </a:tc>
                <a:tc>
                  <a:txBody>
                    <a:bodyPr/>
                    <a:lstStyle/>
                    <a:p>
                      <a:pPr>
                        <a:defRPr sz="1100">
                          <a:solidFill>
                            <a:srgbClr val="1C2A3A"/>
                          </a:solidFill>
                          <a:latin typeface="Calibri"/>
                        </a:defRPr>
                      </a:pPr>
                      <a:r>
                        <a:t>$0.3323</a:t>
                      </a:r>
                    </a:p>
                  </a:txBody>
                  <a:tcPr/>
                </a:tc>
              </a:tr>
              <a:tr h="400050">
                <a:tc>
                  <a:txBody>
                    <a:bodyPr/>
                    <a:lstStyle/>
                    <a:p>
                      <a:pPr>
                        <a:defRPr sz="1100">
                          <a:solidFill>
                            <a:srgbClr val="1C2A3A"/>
                          </a:solidFill>
                          <a:latin typeface="Calibri"/>
                        </a:defRPr>
                      </a:pPr>
                      <a:r>
                        <a:t>Total Benchmark Cost</a:t>
                      </a:r>
                    </a:p>
                  </a:txBody>
                  <a:tcPr>
                    <a:solidFill>
                      <a:srgbClr val="E0E3E8"/>
                    </a:solidFill>
                  </a:tcPr>
                </a:tc>
                <a:tc>
                  <a:txBody>
                    <a:bodyPr/>
                    <a:lstStyle/>
                    <a:p>
                      <a:pPr>
                        <a:defRPr sz="1100">
                          <a:solidFill>
                            <a:srgbClr val="1C2A3A"/>
                          </a:solidFill>
                          <a:latin typeface="Calibri"/>
                        </a:defRPr>
                      </a:pPr>
                      <a:r>
                        <a:t>$0.000314</a:t>
                      </a:r>
                    </a:p>
                  </a:txBody>
                  <a:tcPr>
                    <a:solidFill>
                      <a:srgbClr val="E0E3E8"/>
                    </a:solidFill>
                  </a:tcPr>
                </a:tc>
                <a:tc>
                  <a:txBody>
                    <a:bodyPr/>
                    <a:lstStyle/>
                    <a:p>
                      <a:pPr>
                        <a:defRPr sz="1100">
                          <a:solidFill>
                            <a:srgbClr val="1C2A3A"/>
                          </a:solidFill>
                          <a:latin typeface="Calibri"/>
                        </a:defRPr>
                      </a:pPr>
                      <a:r>
                        <a:t>$0.000285</a:t>
                      </a:r>
                    </a:p>
                  </a:txBody>
                  <a:tcPr>
                    <a:solidFill>
                      <a:srgbClr val="E0E3E8"/>
                    </a:solidFill>
                  </a:tcPr>
                </a:tc>
                <a:tc>
                  <a:txBody>
                    <a:bodyPr/>
                    <a:lstStyle/>
                    <a:p>
                      <a:pPr>
                        <a:defRPr sz="1100">
                          <a:solidFill>
                            <a:srgbClr val="1C2A3A"/>
                          </a:solidFill>
                          <a:latin typeface="Calibri"/>
                        </a:defRPr>
                      </a:pPr>
                      <a:r>
                        <a:t>$0.0016</a:t>
                      </a:r>
                    </a:p>
                  </a:txBody>
                  <a:tcPr>
                    <a:solidFill>
                      <a:srgbClr val="E0E3E8"/>
                    </a:solidFill>
                  </a:tcPr>
                </a:tc>
                <a:tc>
                  <a:txBody>
                    <a:bodyPr/>
                    <a:lstStyle/>
                    <a:p>
                      <a:pPr>
                        <a:defRPr sz="1100">
                          <a:solidFill>
                            <a:srgbClr val="1C2A3A"/>
                          </a:solidFill>
                          <a:latin typeface="Calibri"/>
                        </a:defRPr>
                      </a:pPr>
                      <a:r>
                        <a:t>$0.0017</a:t>
                      </a:r>
                    </a:p>
                  </a:txBody>
                  <a:tcPr>
                    <a:solidFill>
                      <a:srgbClr val="E0E3E8"/>
                    </a:solidFill>
                  </a:tcPr>
                </a:tc>
              </a:tr>
            </a:tbl>
          </a:graphicData>
        </a:graphic>
      </p:graphicFrame>
      <p:graphicFrame>
        <p:nvGraphicFramePr>
          <p:cNvPr id="4" name="Chart 3"/>
          <p:cNvGraphicFramePr>
            <a:graphicFrameLocks noGrp="1"/>
          </p:cNvGraphicFramePr>
          <p:nvPr/>
        </p:nvGraphicFramePr>
        <p:xfrm>
          <a:off x="457200" y="4754880"/>
          <a:ext cx="5303520" cy="1828800"/>
        </p:xfrm>
        <a:graphic>
          <a:graphicData uri="http://schemas.openxmlformats.org/drawingml/2006/chart">
            <c:chart xmlns:c="http://schemas.openxmlformats.org/drawingml/2006/chart" r:id="rId2"/>
          </a:graphicData>
        </a:graphic>
      </p:graphicFrame>
      <p:graphicFrame>
        <p:nvGraphicFramePr>
          <p:cNvPr id="5" name="Chart 4"/>
          <p:cNvGraphicFramePr>
            <a:graphicFrameLocks noGrp="1"/>
          </p:cNvGraphicFramePr>
          <p:nvPr/>
        </p:nvGraphicFramePr>
        <p:xfrm>
          <a:off x="6217920" y="4754880"/>
          <a:ext cx="5303520" cy="1828800"/>
        </p:xfrm>
        <a:graphic>
          <a:graphicData uri="http://schemas.openxmlformats.org/drawingml/2006/chart">
            <c:chart xmlns:c="http://schemas.openxmlformats.org/drawingml/2006/chart" r:id="rId3"/>
          </a:graphicData>
        </a:graphic>
      </p:graphicFrame>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38/55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2: Llama2 7B - Numerical Reasoning - Quality Metrics</a:t>
            </a:r>
          </a:p>
        </p:txBody>
      </p:sp>
      <p:graphicFrame>
        <p:nvGraphicFramePr>
          <p:cNvPr id="3" name="Table 2"/>
          <p:cNvGraphicFramePr>
            <a:graphicFrameLocks noGrp="1"/>
          </p:cNvGraphicFramePr>
          <p:nvPr/>
        </p:nvGraphicFramePr>
        <p:xfrm>
          <a:off x="457200" y="1371600"/>
          <a:ext cx="11247120" cy="13716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5720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457200">
                <a:tc>
                  <a:txBody>
                    <a:bodyPr/>
                    <a:lstStyle/>
                    <a:p>
                      <a:pPr>
                        <a:defRPr sz="1100">
                          <a:solidFill>
                            <a:srgbClr val="1C2A3A"/>
                          </a:solidFill>
                          <a:latin typeface="Calibri"/>
                        </a:defRPr>
                      </a:pPr>
                      <a:r>
                        <a:t>MAPE (Mean Abs % Error)</a:t>
                      </a:r>
                    </a:p>
                  </a:txBody>
                  <a:tcPr>
                    <a:solidFill>
                      <a:srgbClr val="E0E3E8"/>
                    </a:solidFill>
                  </a:tcPr>
                </a:tc>
                <a:tc>
                  <a:txBody>
                    <a:bodyPr/>
                    <a:lstStyle/>
                    <a:p>
                      <a:pPr>
                        <a:defRPr sz="1100">
                          <a:solidFill>
                            <a:srgbClr val="1C2A3A"/>
                          </a:solidFill>
                          <a:latin typeface="Calibri"/>
                        </a:defRPr>
                      </a:pPr>
                      <a:r>
                        <a:t>838.5%</a:t>
                      </a:r>
                    </a:p>
                  </a:txBody>
                  <a:tcPr>
                    <a:solidFill>
                      <a:srgbClr val="E0E3E8"/>
                    </a:solidFill>
                  </a:tcPr>
                </a:tc>
                <a:tc>
                  <a:txBody>
                    <a:bodyPr/>
                    <a:lstStyle/>
                    <a:p>
                      <a:pPr>
                        <a:defRPr sz="1100">
                          <a:solidFill>
                            <a:srgbClr val="1C2A3A"/>
                          </a:solidFill>
                          <a:latin typeface="Calibri"/>
                        </a:defRPr>
                      </a:pPr>
                      <a:r>
                        <a:t>109.7%</a:t>
                      </a:r>
                    </a:p>
                  </a:txBody>
                  <a:tcPr>
                    <a:solidFill>
                      <a:srgbClr val="E0E3E8"/>
                    </a:solidFill>
                  </a:tcPr>
                </a:tc>
                <a:tc>
                  <a:txBody>
                    <a:bodyPr/>
                    <a:lstStyle/>
                    <a:p>
                      <a:pPr>
                        <a:defRPr sz="1100">
                          <a:solidFill>
                            <a:srgbClr val="1C2A3A"/>
                          </a:solidFill>
                          <a:latin typeface="Calibri"/>
                        </a:defRPr>
                      </a:pPr>
                      <a:r>
                        <a:t>190.6%</a:t>
                      </a:r>
                    </a:p>
                  </a:txBody>
                  <a:tcPr>
                    <a:solidFill>
                      <a:srgbClr val="E0E3E8"/>
                    </a:solidFill>
                  </a:tcPr>
                </a:tc>
                <a:tc>
                  <a:txBody>
                    <a:bodyPr/>
                    <a:lstStyle/>
                    <a:p>
                      <a:pPr>
                        <a:defRPr sz="1100">
                          <a:solidFill>
                            <a:srgbClr val="1C2A3A"/>
                          </a:solidFill>
                          <a:latin typeface="Calibri"/>
                        </a:defRPr>
                      </a:pPr>
                      <a:r>
                        <a:t>232.4%</a:t>
                      </a:r>
                    </a:p>
                  </a:txBody>
                  <a:tcPr>
                    <a:solidFill>
                      <a:srgbClr val="E0E3E8"/>
                    </a:solidFill>
                  </a:tcPr>
                </a:tc>
              </a:tr>
              <a:tr h="457200">
                <a:tc>
                  <a:txBody>
                    <a:bodyPr/>
                    <a:lstStyle/>
                    <a:p>
                      <a:pPr>
                        <a:defRPr sz="1100">
                          <a:solidFill>
                            <a:srgbClr val="1C2A3A"/>
                          </a:solidFill>
                          <a:latin typeface="Calibri"/>
                        </a:defRPr>
                      </a:pPr>
                      <a:r>
                        <a:t>Accuracy</a:t>
                      </a:r>
                    </a:p>
                  </a:txBody>
                  <a:tcPr/>
                </a:tc>
                <a:tc>
                  <a:txBody>
                    <a:bodyPr/>
                    <a:lstStyle/>
                    <a:p>
                      <a:pPr>
                        <a:defRPr sz="1100">
                          <a:solidFill>
                            <a:srgbClr val="1C2A3A"/>
                          </a:solidFill>
                          <a:latin typeface="Calibri"/>
                        </a:defRPr>
                      </a:pPr>
                      <a:r>
                        <a:t>20.0%</a:t>
                      </a:r>
                    </a:p>
                  </a:txBody>
                  <a:tcPr/>
                </a:tc>
                <a:tc>
                  <a:txBody>
                    <a:bodyPr/>
                    <a:lstStyle/>
                    <a:p>
                      <a:pPr>
                        <a:defRPr sz="1100">
                          <a:solidFill>
                            <a:srgbClr val="1C2A3A"/>
                          </a:solidFill>
                          <a:latin typeface="Calibri"/>
                        </a:defRPr>
                      </a:pPr>
                      <a:r>
                        <a:t>20.0%</a:t>
                      </a:r>
                    </a:p>
                  </a:txBody>
                  <a:tcPr/>
                </a:tc>
                <a:tc>
                  <a:txBody>
                    <a:bodyPr/>
                    <a:lstStyle/>
                    <a:p>
                      <a:pPr>
                        <a:defRPr sz="1100">
                          <a:solidFill>
                            <a:srgbClr val="1C2A3A"/>
                          </a:solidFill>
                          <a:latin typeface="Calibri"/>
                        </a:defRPr>
                      </a:pPr>
                      <a:r>
                        <a:t>20.0%</a:t>
                      </a:r>
                    </a:p>
                  </a:txBody>
                  <a:tcPr/>
                </a:tc>
                <a:tc>
                  <a:txBody>
                    <a:bodyPr/>
                    <a:lstStyle/>
                    <a:p>
                      <a:pPr>
                        <a:defRPr sz="1100">
                          <a:solidFill>
                            <a:srgbClr val="1C2A3A"/>
                          </a:solidFill>
                          <a:latin typeface="Calibri"/>
                        </a:defRPr>
                      </a:pPr>
                      <a:r>
                        <a:t>20.0%</a:t>
                      </a:r>
                    </a:p>
                  </a:txBody>
                  <a:tcPr/>
                </a:tc>
              </a:tr>
            </a:tbl>
          </a:graphicData>
        </a:graphic>
      </p:graphicFrame>
      <p:graphicFrame>
        <p:nvGraphicFramePr>
          <p:cNvPr id="4" name="Chart 3"/>
          <p:cNvGraphicFramePr>
            <a:graphicFrameLocks noGrp="1"/>
          </p:cNvGraphicFramePr>
          <p:nvPr/>
        </p:nvGraphicFramePr>
        <p:xfrm>
          <a:off x="457200" y="2926080"/>
          <a:ext cx="5303520" cy="3200400"/>
        </p:xfrm>
        <a:graphic>
          <a:graphicData uri="http://schemas.openxmlformats.org/drawingml/2006/chart">
            <c:chart xmlns:c="http://schemas.openxmlformats.org/drawingml/2006/chart" r:id="rId2"/>
          </a:graphicData>
        </a:graphic>
      </p:graphicFrame>
      <p:sp>
        <p:nvSpPr>
          <p:cNvPr id="5" name="Rectangle 4"/>
          <p:cNvSpPr/>
          <p:nvPr/>
        </p:nvSpPr>
        <p:spPr>
          <a:xfrm>
            <a:off x="6217920" y="2926080"/>
            <a:ext cx="5303520" cy="3200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Insight</a:t>
            </a:r>
          </a:p>
          <a:p>
            <a:pPr>
              <a:defRPr sz="1200">
                <a:solidFill>
                  <a:srgbClr val="1C2A3A"/>
                </a:solidFill>
                <a:latin typeface="Calibri"/>
              </a:defRPr>
            </a:pPr>
            <a:r>
              <a:t>FinQA-7B (fine-tuned) has lowest MAPE (109.7%), meaning its numerical answers are closest to expected values.</a:t>
            </a:r>
            <a:br/>
            <a:br/>
            <a:r>
              <a:t>Lower MAPE = more precise calculations.</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39/55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2: Llama2 7B - Numerical Reasoning - Category Breakdown</a:t>
            </a:r>
          </a:p>
        </p:txBody>
      </p:sp>
      <p:graphicFrame>
        <p:nvGraphicFramePr>
          <p:cNvPr id="3" name="Table 2"/>
          <p:cNvGraphicFramePr>
            <a:graphicFrameLocks noGrp="1"/>
          </p:cNvGraphicFramePr>
          <p:nvPr/>
        </p:nvGraphicFramePr>
        <p:xfrm>
          <a:off x="457200" y="1371600"/>
          <a:ext cx="11247120" cy="228600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762000">
                <a:tc>
                  <a:txBody>
                    <a:bodyPr/>
                    <a:lstStyle/>
                    <a:p>
                      <a:pPr algn="ctr">
                        <a:defRPr sz="1200" b="1">
                          <a:solidFill>
                            <a:srgbClr val="FFFFFF"/>
                          </a:solidFill>
                          <a:latin typeface="Calibri"/>
                        </a:defRPr>
                      </a:pPr>
                      <a:r>
                        <a:t>Category</a:t>
                      </a:r>
                    </a:p>
                  </a:txBody>
                  <a:tcPr>
                    <a:solidFill>
                      <a:srgbClr val="2E86C1"/>
                    </a:solidFill>
                  </a:tcPr>
                </a:tc>
                <a:tc>
                  <a:txBody>
                    <a:bodyPr/>
                    <a:lstStyle/>
                    <a:p>
                      <a:pPr algn="ctr">
                        <a:defRPr sz="1200" b="1">
                          <a:solidFill>
                            <a:srgbClr val="FFFFFF"/>
                          </a:solidFill>
                          <a:latin typeface="Calibri"/>
                        </a:defRPr>
                      </a:pPr>
                      <a:r>
                        <a:t>Cases</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762000">
                <a:tc>
                  <a:txBody>
                    <a:bodyPr/>
                    <a:lstStyle/>
                    <a:p>
                      <a:pPr>
                        <a:defRPr sz="1100">
                          <a:solidFill>
                            <a:srgbClr val="1C2A3A"/>
                          </a:solidFill>
                          <a:latin typeface="Calibri"/>
                        </a:defRPr>
                      </a:pPr>
                      <a:r>
                        <a:t>Multi Step</a:t>
                      </a:r>
                    </a:p>
                  </a:txBody>
                  <a:tcPr>
                    <a:solidFill>
                      <a:srgbClr val="E0E3E8"/>
                    </a:solidFill>
                  </a:tcPr>
                </a:tc>
                <a:tc>
                  <a:txBody>
                    <a:bodyPr/>
                    <a:lstStyle/>
                    <a:p>
                      <a:pPr>
                        <a:defRPr sz="1100">
                          <a:solidFill>
                            <a:srgbClr val="1C2A3A"/>
                          </a:solidFill>
                          <a:latin typeface="Calibri"/>
                        </a:defRPr>
                      </a:pPr>
                      <a:r>
                        <a:t>2</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50.0%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r>
              <a:tr h="762000">
                <a:tc>
                  <a:txBody>
                    <a:bodyPr/>
                    <a:lstStyle/>
                    <a:p>
                      <a:pPr>
                        <a:defRPr sz="1100">
                          <a:solidFill>
                            <a:srgbClr val="1C2A3A"/>
                          </a:solidFill>
                          <a:latin typeface="Calibri"/>
                        </a:defRPr>
                      </a:pPr>
                      <a:r>
                        <a:t>Single Step</a:t>
                      </a:r>
                    </a:p>
                  </a:txBody>
                  <a:tcPr/>
                </a:tc>
                <a:tc>
                  <a:txBody>
                    <a:bodyPr/>
                    <a:lstStyle/>
                    <a:p>
                      <a:pPr>
                        <a:defRPr sz="1100">
                          <a:solidFill>
                            <a:srgbClr val="1C2A3A"/>
                          </a:solidFill>
                          <a:latin typeface="Calibri"/>
                        </a:defRPr>
                      </a:pPr>
                      <a:r>
                        <a:t>3</a:t>
                      </a:r>
                    </a:p>
                  </a:txBody>
                  <a:tcPr/>
                </a:tc>
                <a:tc>
                  <a:txBody>
                    <a:bodyPr/>
                    <a:lstStyle/>
                    <a:p>
                      <a:pPr>
                        <a:defRPr sz="1100">
                          <a:solidFill>
                            <a:srgbClr val="1C2A3A"/>
                          </a:solidFill>
                          <a:latin typeface="Calibri"/>
                        </a:defRPr>
                      </a:pPr>
                      <a:r>
                        <a:t>33.3%</a:t>
                      </a:r>
                    </a:p>
                  </a:txBody>
                  <a:tcPr/>
                </a:tc>
                <a:tc>
                  <a:txBody>
                    <a:bodyPr/>
                    <a:lstStyle/>
                    <a:p>
                      <a:pPr>
                        <a:defRPr sz="1100">
                          <a:solidFill>
                            <a:srgbClr val="1C2A3A"/>
                          </a:solidFill>
                          <a:latin typeface="Calibri"/>
                        </a:defRPr>
                      </a:pPr>
                      <a:r>
                        <a:t>33.3%</a:t>
                      </a:r>
                    </a:p>
                  </a:txBody>
                  <a:tcPr/>
                </a:tc>
                <a:tc>
                  <a:txBody>
                    <a:bodyPr/>
                    <a:lstStyle/>
                    <a:p>
                      <a:pPr>
                        <a:defRPr sz="1100">
                          <a:solidFill>
                            <a:srgbClr val="1C2A3A"/>
                          </a:solidFill>
                          <a:latin typeface="Calibri"/>
                        </a:defRPr>
                      </a:pPr>
                      <a:r>
                        <a:t>0.0%</a:t>
                      </a:r>
                    </a:p>
                  </a:txBody>
                  <a:tcPr/>
                </a:tc>
                <a:tc>
                  <a:txBody>
                    <a:bodyPr/>
                    <a:lstStyle/>
                    <a:p>
                      <a:pPr>
                        <a:defRPr sz="1100">
                          <a:solidFill>
                            <a:srgbClr val="1C2A3A"/>
                          </a:solidFill>
                          <a:latin typeface="Calibri"/>
                        </a:defRPr>
                      </a:pPr>
                      <a:r>
                        <a:t>33.3%</a:t>
                      </a:r>
                    </a:p>
                  </a:txBody>
                  <a:tcPr/>
                </a:tc>
              </a:tr>
            </a:tbl>
          </a:graphicData>
        </a:graphic>
      </p:graphicFrame>
      <p:graphicFrame>
        <p:nvGraphicFramePr>
          <p:cNvPr id="4" name="Chart 3"/>
          <p:cNvGraphicFramePr>
            <a:graphicFrameLocks noGrp="1"/>
          </p:cNvGraphicFramePr>
          <p:nvPr/>
        </p:nvGraphicFramePr>
        <p:xfrm>
          <a:off x="457200" y="3840480"/>
          <a:ext cx="11247120" cy="2560320"/>
        </p:xfrm>
        <a:graphic>
          <a:graphicData uri="http://schemas.openxmlformats.org/drawingml/2006/chart">
            <c:chart xmlns:c="http://schemas.openxmlformats.org/drawingml/2006/chart" r:id="rId2"/>
          </a:graphicData>
        </a:graphic>
      </p:graphicFrame>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40/55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2: Llama2 7B - Numerical Reasoning - Per-Example Results</a:t>
            </a:r>
          </a:p>
        </p:txBody>
      </p:sp>
      <p:graphicFrame>
        <p:nvGraphicFramePr>
          <p:cNvPr id="3" name="Table 2"/>
          <p:cNvGraphicFramePr>
            <a:graphicFrameLocks noGrp="1"/>
          </p:cNvGraphicFramePr>
          <p:nvPr/>
        </p:nvGraphicFramePr>
        <p:xfrm>
          <a:off x="274320" y="1280160"/>
          <a:ext cx="11612880" cy="4754880"/>
        </p:xfrm>
        <a:graphic>
          <a:graphicData uri="http://schemas.openxmlformats.org/drawingml/2006/table">
            <a:tbl>
              <a:tblPr firstRow="1" bandRow="1">
                <a:tableStyleId>{5C22544A-7EE6-4342-B048-85BDC9FD1C3A}</a:tableStyleId>
              </a:tblPr>
              <a:tblGrid>
                <a:gridCol w="1658982"/>
                <a:gridCol w="1658982"/>
                <a:gridCol w="1658982"/>
                <a:gridCol w="1658982"/>
                <a:gridCol w="1658982"/>
                <a:gridCol w="1658982"/>
                <a:gridCol w="1658988"/>
              </a:tblGrid>
              <a:tr h="792480">
                <a:tc>
                  <a:txBody>
                    <a:bodyPr/>
                    <a:lstStyle/>
                    <a:p>
                      <a:pPr algn="ctr">
                        <a:defRPr sz="1200" b="1">
                          <a:solidFill>
                            <a:srgbClr val="FFFFFF"/>
                          </a:solidFill>
                          <a:latin typeface="Calibri"/>
                        </a:defRPr>
                      </a:pPr>
                      <a:r>
                        <a:t>#</a:t>
                      </a:r>
                    </a:p>
                  </a:txBody>
                  <a:tcPr>
                    <a:solidFill>
                      <a:srgbClr val="2E86C1"/>
                    </a:solidFill>
                  </a:tcPr>
                </a:tc>
                <a:tc>
                  <a:txBody>
                    <a:bodyPr/>
                    <a:lstStyle/>
                    <a:p>
                      <a:pPr algn="ctr">
                        <a:defRPr sz="1200" b="1">
                          <a:solidFill>
                            <a:srgbClr val="FFFFFF"/>
                          </a:solidFill>
                          <a:latin typeface="Calibri"/>
                        </a:defRPr>
                      </a:pPr>
                      <a:r>
                        <a:t>Question</a:t>
                      </a:r>
                    </a:p>
                  </a:txBody>
                  <a:tcPr>
                    <a:solidFill>
                      <a:srgbClr val="2E86C1"/>
                    </a:solidFill>
                  </a:tcPr>
                </a:tc>
                <a:tc>
                  <a:txBody>
                    <a:bodyPr/>
                    <a:lstStyle/>
                    <a:p>
                      <a:pPr algn="ctr">
                        <a:defRPr sz="1200" b="1">
                          <a:solidFill>
                            <a:srgbClr val="FFFFFF"/>
                          </a:solidFill>
                          <a:latin typeface="Calibri"/>
                        </a:defRPr>
                      </a:pPr>
                      <a:r>
                        <a:t>Expected</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792480">
                <a:tc>
                  <a:txBody>
                    <a:bodyPr/>
                    <a:lstStyle/>
                    <a:p>
                      <a:pPr>
                        <a:defRPr sz="1100">
                          <a:solidFill>
                            <a:srgbClr val="1C2A3A"/>
                          </a:solidFill>
                          <a:latin typeface="Calibri"/>
                        </a:defRPr>
                      </a:pPr>
                      <a:r>
                        <a:t>1</a:t>
                      </a:r>
                    </a:p>
                  </a:txBody>
                  <a:tcPr>
                    <a:solidFill>
                      <a:srgbClr val="E0E3E8"/>
                    </a:solidFill>
                  </a:tcPr>
                </a:tc>
                <a:tc>
                  <a:txBody>
                    <a:bodyPr/>
                    <a:lstStyle/>
                    <a:p>
                      <a:pPr>
                        <a:defRPr sz="1100">
                          <a:solidFill>
                            <a:srgbClr val="1C2A3A"/>
                          </a:solidFill>
                          <a:latin typeface="Calibri"/>
                        </a:defRPr>
                      </a:pPr>
                      <a:r>
                        <a:t>What was the percentage change in total reven...</a:t>
                      </a:r>
                    </a:p>
                  </a:txBody>
                  <a:tcPr>
                    <a:solidFill>
                      <a:srgbClr val="E0E3E8"/>
                    </a:solidFill>
                  </a:tcPr>
                </a:tc>
                <a:tc>
                  <a:txBody>
                    <a:bodyPr/>
                    <a:lstStyle/>
                    <a:p>
                      <a:pPr>
                        <a:defRPr sz="1100">
                          <a:solidFill>
                            <a:srgbClr val="1C2A3A"/>
                          </a:solidFill>
                          <a:latin typeface="Calibri"/>
                        </a:defRPr>
                      </a:pPr>
                      <a:r>
                        <a:t>2.45</a:t>
                      </a:r>
                    </a:p>
                  </a:txBody>
                  <a:tcPr>
                    <a:solidFill>
                      <a:srgbClr val="E0E3E8"/>
                    </a:solidFill>
                  </a:tcPr>
                </a:tc>
                <a:tc>
                  <a:txBody>
                    <a:bodyPr/>
                    <a:lstStyle/>
                    <a:p>
                      <a:pPr>
                        <a:defRPr sz="1100">
                          <a:solidFill>
                            <a:srgbClr val="1C2A3A"/>
                          </a:solidFill>
                          <a:latin typeface="Calibri"/>
                        </a:defRPr>
                      </a:pPr>
                      <a:r>
                        <a:t>100 [N]</a:t>
                      </a:r>
                    </a:p>
                  </a:txBody>
                  <a:tcPr>
                    <a:solidFill>
                      <a:srgbClr val="E0E3E8"/>
                    </a:solidFill>
                  </a:tcPr>
                </a:tc>
                <a:tc>
                  <a:txBody>
                    <a:bodyPr/>
                    <a:lstStyle/>
                    <a:p>
                      <a:pPr>
                        <a:defRPr sz="1100">
                          <a:solidFill>
                            <a:srgbClr val="1C2A3A"/>
                          </a:solidFill>
                          <a:latin typeface="Calibri"/>
                        </a:defRPr>
                      </a:pPr>
                      <a:r>
                        <a:t>10.4 [N]</a:t>
                      </a:r>
                    </a:p>
                  </a:txBody>
                  <a:tcPr>
                    <a:solidFill>
                      <a:srgbClr val="E0E3E8"/>
                    </a:solidFill>
                  </a:tcPr>
                </a:tc>
                <a:tc>
                  <a:txBody>
                    <a:bodyPr/>
                    <a:lstStyle/>
                    <a:p>
                      <a:pPr>
                        <a:defRPr sz="1100">
                          <a:solidFill>
                            <a:srgbClr val="1C2A3A"/>
                          </a:solidFill>
                          <a:latin typeface="Calibri"/>
                        </a:defRPr>
                      </a:pPr>
                      <a:r>
                        <a:t>3.0 [N]</a:t>
                      </a:r>
                    </a:p>
                  </a:txBody>
                  <a:tcPr>
                    <a:solidFill>
                      <a:srgbClr val="E0E3E8"/>
                    </a:solidFill>
                  </a:tcPr>
                </a:tc>
                <a:tc>
                  <a:txBody>
                    <a:bodyPr/>
                    <a:lstStyle/>
                    <a:p>
                      <a:pPr>
                        <a:defRPr sz="1100">
                          <a:solidFill>
                            <a:srgbClr val="1C2A3A"/>
                          </a:solidFill>
                          <a:latin typeface="Calibri"/>
                        </a:defRPr>
                      </a:pPr>
                      <a:r>
                        <a:t>8.7 [N]</a:t>
                      </a:r>
                    </a:p>
                  </a:txBody>
                  <a:tcPr>
                    <a:solidFill>
                      <a:srgbClr val="E0E3E8"/>
                    </a:solidFill>
                  </a:tcPr>
                </a:tc>
              </a:tr>
              <a:tr h="792480">
                <a:tc>
                  <a:txBody>
                    <a:bodyPr/>
                    <a:lstStyle/>
                    <a:p>
                      <a:pPr>
                        <a:defRPr sz="1100">
                          <a:solidFill>
                            <a:srgbClr val="1C2A3A"/>
                          </a:solidFill>
                          <a:latin typeface="Calibri"/>
                        </a:defRPr>
                      </a:pPr>
                      <a:r>
                        <a:t>2</a:t>
                      </a:r>
                    </a:p>
                  </a:txBody>
                  <a:tcPr/>
                </a:tc>
                <a:tc>
                  <a:txBody>
                    <a:bodyPr/>
                    <a:lstStyle/>
                    <a:p>
                      <a:pPr>
                        <a:defRPr sz="1100">
                          <a:solidFill>
                            <a:srgbClr val="1C2A3A"/>
                          </a:solidFill>
                          <a:latin typeface="Calibri"/>
                        </a:defRPr>
                      </a:pPr>
                      <a:r>
                        <a:t>Calculate the debt-to-equity ratio for 2023....</a:t>
                      </a:r>
                    </a:p>
                  </a:txBody>
                  <a:tcPr/>
                </a:tc>
                <a:tc>
                  <a:txBody>
                    <a:bodyPr/>
                    <a:lstStyle/>
                    <a:p>
                      <a:pPr>
                        <a:defRPr sz="1100">
                          <a:solidFill>
                            <a:srgbClr val="1C2A3A"/>
                          </a:solidFill>
                          <a:latin typeface="Calibri"/>
                        </a:defRPr>
                      </a:pPr>
                      <a:r>
                        <a:t>1.10</a:t>
                      </a:r>
                    </a:p>
                  </a:txBody>
                  <a:tcPr/>
                </a:tc>
                <a:tc>
                  <a:txBody>
                    <a:bodyPr/>
                    <a:lstStyle/>
                    <a:p>
                      <a:pPr>
                        <a:defRPr sz="1100">
                          <a:solidFill>
                            <a:srgbClr val="1C2A3A"/>
                          </a:solidFill>
                          <a:latin typeface="Calibri"/>
                        </a:defRPr>
                      </a:pPr>
                      <a:r>
                        <a:t>1.11 [Y]</a:t>
                      </a:r>
                    </a:p>
                  </a:txBody>
                  <a:tcPr/>
                </a:tc>
                <a:tc>
                  <a:txBody>
                    <a:bodyPr/>
                    <a:lstStyle/>
                    <a:p>
                      <a:pPr>
                        <a:defRPr sz="1100">
                          <a:solidFill>
                            <a:srgbClr val="1C2A3A"/>
                          </a:solidFill>
                          <a:latin typeface="Calibri"/>
                        </a:defRPr>
                      </a:pPr>
                      <a:r>
                        <a:t>1.11 [Y]</a:t>
                      </a:r>
                    </a:p>
                  </a:txBody>
                  <a:tcPr/>
                </a:tc>
                <a:tc>
                  <a:txBody>
                    <a:bodyPr/>
                    <a:lstStyle/>
                    <a:p>
                      <a:pPr>
                        <a:defRPr sz="1100">
                          <a:solidFill>
                            <a:srgbClr val="1C2A3A"/>
                          </a:solidFill>
                          <a:latin typeface="Calibri"/>
                        </a:defRPr>
                      </a:pPr>
                      <a:r>
                        <a:t>10 [N]</a:t>
                      </a:r>
                    </a:p>
                  </a:txBody>
                  <a:tcPr/>
                </a:tc>
                <a:tc>
                  <a:txBody>
                    <a:bodyPr/>
                    <a:lstStyle/>
                    <a:p>
                      <a:pPr>
                        <a:defRPr sz="1100">
                          <a:solidFill>
                            <a:srgbClr val="1C2A3A"/>
                          </a:solidFill>
                          <a:latin typeface="Calibri"/>
                        </a:defRPr>
                      </a:pPr>
                      <a:r>
                        <a:t>10 [N]</a:t>
                      </a:r>
                    </a:p>
                  </a:txBody>
                  <a:tcPr/>
                </a:tc>
              </a:tr>
              <a:tr h="792480">
                <a:tc>
                  <a:txBody>
                    <a:bodyPr/>
                    <a:lstStyle/>
                    <a:p>
                      <a:pPr>
                        <a:defRPr sz="1100">
                          <a:solidFill>
                            <a:srgbClr val="1C2A3A"/>
                          </a:solidFill>
                          <a:latin typeface="Calibri"/>
                        </a:defRPr>
                      </a:pPr>
                      <a:r>
                        <a:t>3</a:t>
                      </a:r>
                    </a:p>
                  </a:txBody>
                  <a:tcPr>
                    <a:solidFill>
                      <a:srgbClr val="E0E3E8"/>
                    </a:solidFill>
                  </a:tcPr>
                </a:tc>
                <a:tc>
                  <a:txBody>
                    <a:bodyPr/>
                    <a:lstStyle/>
                    <a:p>
                      <a:pPr>
                        <a:defRPr sz="1100">
                          <a:solidFill>
                            <a:srgbClr val="1C2A3A"/>
                          </a:solidFill>
                          <a:latin typeface="Calibri"/>
                        </a:defRPr>
                      </a:pPr>
                      <a:r>
                        <a:t>What is the efficiency ratio (OpEx/Revenue) f...</a:t>
                      </a:r>
                    </a:p>
                  </a:txBody>
                  <a:tcPr>
                    <a:solidFill>
                      <a:srgbClr val="E0E3E8"/>
                    </a:solidFill>
                  </a:tcPr>
                </a:tc>
                <a:tc>
                  <a:txBody>
                    <a:bodyPr/>
                    <a:lstStyle/>
                    <a:p>
                      <a:pPr>
                        <a:defRPr sz="1100">
                          <a:solidFill>
                            <a:srgbClr val="1C2A3A"/>
                          </a:solidFill>
                          <a:latin typeface="Calibri"/>
                        </a:defRPr>
                      </a:pPr>
                      <a:r>
                        <a:t>56.57</a:t>
                      </a:r>
                    </a:p>
                  </a:txBody>
                  <a:tcPr>
                    <a:solidFill>
                      <a:srgbClr val="E0E3E8"/>
                    </a:solidFill>
                  </a:tcPr>
                </a:tc>
                <a:tc>
                  <a:txBody>
                    <a:bodyPr/>
                    <a:lstStyle/>
                    <a:p>
                      <a:pPr>
                        <a:defRPr sz="1100">
                          <a:solidFill>
                            <a:srgbClr val="1C2A3A"/>
                          </a:solidFill>
                          <a:latin typeface="Calibri"/>
                        </a:defRPr>
                      </a:pPr>
                      <a:r>
                        <a:t>0.57 [N]</a:t>
                      </a:r>
                    </a:p>
                  </a:txBody>
                  <a:tcPr>
                    <a:solidFill>
                      <a:srgbClr val="E0E3E8"/>
                    </a:solidFill>
                  </a:tcPr>
                </a:tc>
                <a:tc>
                  <a:txBody>
                    <a:bodyPr/>
                    <a:lstStyle/>
                    <a:p>
                      <a:pPr>
                        <a:defRPr sz="1100">
                          <a:solidFill>
                            <a:srgbClr val="1C2A3A"/>
                          </a:solidFill>
                          <a:latin typeface="Calibri"/>
                        </a:defRPr>
                      </a:pPr>
                      <a:r>
                        <a:t>0.57 [N]</a:t>
                      </a:r>
                    </a:p>
                  </a:txBody>
                  <a:tcPr>
                    <a:solidFill>
                      <a:srgbClr val="E0E3E8"/>
                    </a:solidFill>
                  </a:tcPr>
                </a:tc>
                <a:tc>
                  <a:txBody>
                    <a:bodyPr/>
                    <a:lstStyle/>
                    <a:p>
                      <a:pPr>
                        <a:defRPr sz="1100">
                          <a:solidFill>
                            <a:srgbClr val="1C2A3A"/>
                          </a:solidFill>
                          <a:latin typeface="Calibri"/>
                        </a:defRPr>
                      </a:pPr>
                      <a:r>
                        <a:t>2.8 [N]</a:t>
                      </a:r>
                    </a:p>
                  </a:txBody>
                  <a:tcPr>
                    <a:solidFill>
                      <a:srgbClr val="E0E3E8"/>
                    </a:solidFill>
                  </a:tcPr>
                </a:tc>
                <a:tc>
                  <a:txBody>
                    <a:bodyPr/>
                    <a:lstStyle/>
                    <a:p>
                      <a:pPr>
                        <a:defRPr sz="1100">
                          <a:solidFill>
                            <a:srgbClr val="1C2A3A"/>
                          </a:solidFill>
                          <a:latin typeface="Calibri"/>
                        </a:defRPr>
                      </a:pPr>
                      <a:r>
                        <a:t>57.3 [Y]</a:t>
                      </a:r>
                    </a:p>
                  </a:txBody>
                  <a:tcPr>
                    <a:solidFill>
                      <a:srgbClr val="E0E3E8"/>
                    </a:solidFill>
                  </a:tcPr>
                </a:tc>
              </a:tr>
              <a:tr h="792480">
                <a:tc>
                  <a:txBody>
                    <a:bodyPr/>
                    <a:lstStyle/>
                    <a:p>
                      <a:pPr>
                        <a:defRPr sz="1100">
                          <a:solidFill>
                            <a:srgbClr val="1C2A3A"/>
                          </a:solidFill>
                          <a:latin typeface="Calibri"/>
                        </a:defRPr>
                      </a:pPr>
                      <a:r>
                        <a:t>4</a:t>
                      </a:r>
                    </a:p>
                  </a:txBody>
                  <a:tcPr/>
                </a:tc>
                <a:tc>
                  <a:txBody>
                    <a:bodyPr/>
                    <a:lstStyle/>
                    <a:p>
                      <a:pPr>
                        <a:defRPr sz="1100">
                          <a:solidFill>
                            <a:srgbClr val="1C2A3A"/>
                          </a:solidFill>
                          <a:latin typeface="Calibri"/>
                        </a:defRPr>
                      </a:pPr>
                      <a:r>
                        <a:t>Calculate the Return on Equity (ROE = Net Inc...</a:t>
                      </a:r>
                    </a:p>
                  </a:txBody>
                  <a:tcPr/>
                </a:tc>
                <a:tc>
                  <a:txBody>
                    <a:bodyPr/>
                    <a:lstStyle/>
                    <a:p>
                      <a:pPr>
                        <a:defRPr sz="1100">
                          <a:solidFill>
                            <a:srgbClr val="1C2A3A"/>
                          </a:solidFill>
                          <a:latin typeface="Calibri"/>
                        </a:defRPr>
                      </a:pPr>
                      <a:r>
                        <a:t>17.98</a:t>
                      </a:r>
                    </a:p>
                  </a:txBody>
                  <a:tcPr/>
                </a:tc>
                <a:tc>
                  <a:txBody>
                    <a:bodyPr/>
                    <a:lstStyle/>
                    <a:p>
                      <a:pPr>
                        <a:defRPr sz="1100">
                          <a:solidFill>
                            <a:srgbClr val="1C2A3A"/>
                          </a:solidFill>
                          <a:latin typeface="Calibri"/>
                        </a:defRPr>
                      </a:pPr>
                      <a:r>
                        <a:t>0.18 [N]</a:t>
                      </a:r>
                    </a:p>
                  </a:txBody>
                  <a:tcPr/>
                </a:tc>
                <a:tc>
                  <a:txBody>
                    <a:bodyPr/>
                    <a:lstStyle/>
                    <a:p>
                      <a:pPr>
                        <a:defRPr sz="1100">
                          <a:solidFill>
                            <a:srgbClr val="1C2A3A"/>
                          </a:solidFill>
                          <a:latin typeface="Calibri"/>
                        </a:defRPr>
                      </a:pPr>
                      <a:r>
                        <a:t>0.18 [N]</a:t>
                      </a:r>
                    </a:p>
                  </a:txBody>
                  <a:tcPr/>
                </a:tc>
                <a:tc>
                  <a:txBody>
                    <a:bodyPr/>
                    <a:lstStyle/>
                    <a:p>
                      <a:pPr>
                        <a:defRPr sz="1100">
                          <a:solidFill>
                            <a:srgbClr val="1C2A3A"/>
                          </a:solidFill>
                          <a:latin typeface="Calibri"/>
                        </a:defRPr>
                      </a:pPr>
                      <a:r>
                        <a:t>18.1 [Y]</a:t>
                      </a:r>
                    </a:p>
                  </a:txBody>
                  <a:tcPr/>
                </a:tc>
                <a:tc>
                  <a:txBody>
                    <a:bodyPr/>
                    <a:lstStyle/>
                    <a:p>
                      <a:pPr>
                        <a:defRPr sz="1100">
                          <a:solidFill>
                            <a:srgbClr val="1C2A3A"/>
                          </a:solidFill>
                          <a:latin typeface="Calibri"/>
                        </a:defRPr>
                      </a:pPr>
                      <a:r>
                        <a:t>3.6 [N]</a:t>
                      </a:r>
                    </a:p>
                  </a:txBody>
                  <a:tcPr/>
                </a:tc>
              </a:tr>
              <a:tr h="792480">
                <a:tc>
                  <a:txBody>
                    <a:bodyPr/>
                    <a:lstStyle/>
                    <a:p>
                      <a:pPr>
                        <a:defRPr sz="1100">
                          <a:solidFill>
                            <a:srgbClr val="1C2A3A"/>
                          </a:solidFill>
                          <a:latin typeface="Calibri"/>
                        </a:defRPr>
                      </a:pPr>
                      <a:r>
                        <a:t>5</a:t>
                      </a:r>
                    </a:p>
                  </a:txBody>
                  <a:tcPr>
                    <a:solidFill>
                      <a:srgbClr val="E0E3E8"/>
                    </a:solidFill>
                  </a:tcPr>
                </a:tc>
                <a:tc>
                  <a:txBody>
                    <a:bodyPr/>
                    <a:lstStyle/>
                    <a:p>
                      <a:pPr>
                        <a:defRPr sz="1100">
                          <a:solidFill>
                            <a:srgbClr val="1C2A3A"/>
                          </a:solidFill>
                          <a:latin typeface="Calibri"/>
                        </a:defRPr>
                      </a:pPr>
                      <a:r>
                        <a:t>What was the year-over-year growth rate for A...</a:t>
                      </a:r>
                    </a:p>
                  </a:txBody>
                  <a:tcPr>
                    <a:solidFill>
                      <a:srgbClr val="E0E3E8"/>
                    </a:solidFill>
                  </a:tcPr>
                </a:tc>
                <a:tc>
                  <a:txBody>
                    <a:bodyPr/>
                    <a:lstStyle/>
                    <a:p>
                      <a:pPr>
                        <a:defRPr sz="1100">
                          <a:solidFill>
                            <a:srgbClr val="1C2A3A"/>
                          </a:solidFill>
                          <a:latin typeface="Calibri"/>
                        </a:defRPr>
                      </a:pPr>
                      <a:r>
                        <a:t>15.19</a:t>
                      </a:r>
                    </a:p>
                  </a:txBody>
                  <a:tcPr>
                    <a:solidFill>
                      <a:srgbClr val="E0E3E8"/>
                    </a:solidFill>
                  </a:tcPr>
                </a:tc>
                <a:tc>
                  <a:txBody>
                    <a:bodyPr/>
                    <a:lstStyle/>
                    <a:p>
                      <a:pPr>
                        <a:defRPr sz="1100">
                          <a:solidFill>
                            <a:srgbClr val="1C2A3A"/>
                          </a:solidFill>
                          <a:latin typeface="Calibri"/>
                        </a:defRPr>
                      </a:pPr>
                      <a:r>
                        <a:t>17 [N]</a:t>
                      </a:r>
                    </a:p>
                  </a:txBody>
                  <a:tcPr>
                    <a:solidFill>
                      <a:srgbClr val="E0E3E8"/>
                    </a:solidFill>
                  </a:tcPr>
                </a:tc>
                <a:tc>
                  <a:txBody>
                    <a:bodyPr/>
                    <a:lstStyle/>
                    <a:p>
                      <a:pPr>
                        <a:defRPr sz="1100">
                          <a:solidFill>
                            <a:srgbClr val="1C2A3A"/>
                          </a:solidFill>
                          <a:latin typeface="Calibri"/>
                        </a:defRPr>
                      </a:pPr>
                      <a:r>
                        <a:t>11.4 [N]</a:t>
                      </a:r>
                    </a:p>
                  </a:txBody>
                  <a:tcPr>
                    <a:solidFill>
                      <a:srgbClr val="E0E3E8"/>
                    </a:solidFill>
                  </a:tcPr>
                </a:tc>
                <a:tc>
                  <a:txBody>
                    <a:bodyPr/>
                    <a:lstStyle/>
                    <a:p>
                      <a:pPr>
                        <a:defRPr sz="1100">
                          <a:solidFill>
                            <a:srgbClr val="1C2A3A"/>
                          </a:solidFill>
                          <a:latin typeface="Calibri"/>
                        </a:defRPr>
                      </a:pPr>
                      <a:r>
                        <a:t>11.3 [N]</a:t>
                      </a:r>
                    </a:p>
                  </a:txBody>
                  <a:tcPr>
                    <a:solidFill>
                      <a:srgbClr val="E0E3E8"/>
                    </a:solidFill>
                  </a:tcPr>
                </a:tc>
                <a:tc>
                  <a:txBody>
                    <a:bodyPr/>
                    <a:lstStyle/>
                    <a:p>
                      <a:pPr>
                        <a:defRPr sz="1100">
                          <a:solidFill>
                            <a:srgbClr val="1C2A3A"/>
                          </a:solidFill>
                          <a:latin typeface="Calibri"/>
                        </a:defRPr>
                      </a:pPr>
                      <a:r>
                        <a:t>12.7 [N]</a:t>
                      </a:r>
                    </a:p>
                  </a:txBody>
                  <a:tcPr>
                    <a:solidFill>
                      <a:srgbClr val="E0E3E8"/>
                    </a:solidFill>
                  </a:tcPr>
                </a:tc>
              </a:tr>
            </a:tbl>
          </a:graphicData>
        </a:graphic>
      </p:graphicFrame>
      <p:sp>
        <p:nvSpPr>
          <p:cNvPr id="4" name="TextBox 3"/>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41/55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3: Llama2 7B - Financial Ratios</a:t>
            </a:r>
          </a:p>
          <a:p>
            <a:pPr>
              <a:defRPr sz="1600">
                <a:solidFill>
                  <a:srgbClr val="ECEFF1"/>
                </a:solidFill>
                <a:latin typeface="Calibri"/>
              </a:defRPr>
            </a:pPr>
            <a:r>
              <a:t>Architecture: Llama2-7B (7B parameters)</a:t>
            </a:r>
          </a:p>
        </p:txBody>
      </p:sp>
      <p:sp>
        <p:nvSpPr>
          <p:cNvPr id="3" name="Rectangle 2"/>
          <p:cNvSpPr/>
          <p:nvPr/>
        </p:nvSpPr>
        <p:spPr>
          <a:xfrm>
            <a:off x="457200" y="1280160"/>
            <a:ext cx="2651760" cy="10972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Base Llama2-7B</a:t>
            </a:r>
          </a:p>
          <a:p>
            <a:pPr>
              <a:defRPr sz="1200">
                <a:solidFill>
                  <a:srgbClr val="1C2A3A"/>
                </a:solidFill>
                <a:latin typeface="Calibri"/>
              </a:defRPr>
            </a:pPr>
            <a:r>
              <a:t>Accuracy: 25.0%  (2/8)</a:t>
            </a:r>
          </a:p>
        </p:txBody>
      </p:sp>
      <p:sp>
        <p:nvSpPr>
          <p:cNvPr id="4" name="Rectangle 3"/>
          <p:cNvSpPr/>
          <p:nvPr/>
        </p:nvSpPr>
        <p:spPr>
          <a:xfrm>
            <a:off x="3291840" y="1280160"/>
            <a:ext cx="2651760" cy="10972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FinQA-7B (fine-tuned)</a:t>
            </a:r>
          </a:p>
          <a:p>
            <a:pPr>
              <a:defRPr sz="1200">
                <a:solidFill>
                  <a:srgbClr val="1C2A3A"/>
                </a:solidFill>
                <a:latin typeface="Calibri"/>
              </a:defRPr>
            </a:pPr>
            <a:r>
              <a:t>Accuracy: 37.5%  (3/8)</a:t>
            </a:r>
          </a:p>
        </p:txBody>
      </p:sp>
      <p:sp>
        <p:nvSpPr>
          <p:cNvPr id="5" name="Rectangle 4"/>
          <p:cNvSpPr/>
          <p:nvPr/>
        </p:nvSpPr>
        <p:spPr>
          <a:xfrm>
            <a:off x="6126480" y="1280160"/>
            <a:ext cx="2651760" cy="10972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Llama2-7B + RAG</a:t>
            </a:r>
          </a:p>
          <a:p>
            <a:pPr>
              <a:defRPr sz="1200">
                <a:solidFill>
                  <a:srgbClr val="1C2A3A"/>
                </a:solidFill>
                <a:latin typeface="Calibri"/>
              </a:defRPr>
            </a:pPr>
            <a:r>
              <a:t>Accuracy: 12.5%  (1/8)</a:t>
            </a:r>
          </a:p>
        </p:txBody>
      </p:sp>
      <p:sp>
        <p:nvSpPr>
          <p:cNvPr id="6" name="Rectangle 5"/>
          <p:cNvSpPr/>
          <p:nvPr/>
        </p:nvSpPr>
        <p:spPr>
          <a:xfrm>
            <a:off x="8961120" y="1280160"/>
            <a:ext cx="2651760" cy="109728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FinQA-7B + RAG (hybrid)</a:t>
            </a:r>
          </a:p>
          <a:p>
            <a:pPr>
              <a:defRPr sz="1200">
                <a:solidFill>
                  <a:srgbClr val="1C2A3A"/>
                </a:solidFill>
                <a:latin typeface="Calibri"/>
              </a:defRPr>
            </a:pPr>
            <a:r>
              <a:t>Accuracy: 25.0%  (2/8)</a:t>
            </a:r>
          </a:p>
        </p:txBody>
      </p:sp>
      <p:graphicFrame>
        <p:nvGraphicFramePr>
          <p:cNvPr id="7" name="Chart 6"/>
          <p:cNvGraphicFramePr>
            <a:graphicFrameLocks noGrp="1"/>
          </p:cNvGraphicFramePr>
          <p:nvPr/>
        </p:nvGraphicFramePr>
        <p:xfrm>
          <a:off x="457200" y="2560320"/>
          <a:ext cx="5303520" cy="32004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6217920" y="2560320"/>
          <a:ext cx="5303520" cy="3200400"/>
        </p:xfrm>
        <a:graphic>
          <a:graphicData uri="http://schemas.openxmlformats.org/drawingml/2006/chart">
            <c:chart xmlns:c="http://schemas.openxmlformats.org/drawingml/2006/chart" r:id="rId3"/>
          </a:graphicData>
        </a:graphic>
      </p:graphicFrame>
      <p:sp>
        <p:nvSpPr>
          <p:cNvPr id="9" name="TextBox 8"/>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42/55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3: Llama2 7B - Financial Ratios - Token Usage &amp; Cost</a:t>
            </a:r>
          </a:p>
        </p:txBody>
      </p:sp>
      <p:graphicFrame>
        <p:nvGraphicFramePr>
          <p:cNvPr id="3" name="Table 2"/>
          <p:cNvGraphicFramePr>
            <a:graphicFrameLocks noGrp="1"/>
          </p:cNvGraphicFramePr>
          <p:nvPr/>
        </p:nvGraphicFramePr>
        <p:xfrm>
          <a:off x="457200" y="1371600"/>
          <a:ext cx="11247120" cy="32004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0005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400050">
                <a:tc>
                  <a:txBody>
                    <a:bodyPr/>
                    <a:lstStyle/>
                    <a:p>
                      <a:pPr>
                        <a:defRPr sz="1100">
                          <a:solidFill>
                            <a:srgbClr val="1C2A3A"/>
                          </a:solidFill>
                          <a:latin typeface="Calibri"/>
                        </a:defRPr>
                      </a:pPr>
                      <a:r>
                        <a:t>Avg Tokens / Query</a:t>
                      </a:r>
                    </a:p>
                  </a:txBody>
                  <a:tcPr>
                    <a:solidFill>
                      <a:srgbClr val="E0E3E8"/>
                    </a:solidFill>
                  </a:tcPr>
                </a:tc>
                <a:tc>
                  <a:txBody>
                    <a:bodyPr/>
                    <a:lstStyle/>
                    <a:p>
                      <a:pPr>
                        <a:defRPr sz="1100">
                          <a:solidFill>
                            <a:srgbClr val="1C2A3A"/>
                          </a:solidFill>
                          <a:latin typeface="Calibri"/>
                        </a:defRPr>
                      </a:pPr>
                      <a:r>
                        <a:t>477</a:t>
                      </a:r>
                    </a:p>
                  </a:txBody>
                  <a:tcPr>
                    <a:solidFill>
                      <a:srgbClr val="E0E3E8"/>
                    </a:solidFill>
                  </a:tcPr>
                </a:tc>
                <a:tc>
                  <a:txBody>
                    <a:bodyPr/>
                    <a:lstStyle/>
                    <a:p>
                      <a:pPr>
                        <a:defRPr sz="1100">
                          <a:solidFill>
                            <a:srgbClr val="1C2A3A"/>
                          </a:solidFill>
                          <a:latin typeface="Calibri"/>
                        </a:defRPr>
                      </a:pPr>
                      <a:r>
                        <a:t>503</a:t>
                      </a:r>
                    </a:p>
                  </a:txBody>
                  <a:tcPr>
                    <a:solidFill>
                      <a:srgbClr val="E0E3E8"/>
                    </a:solidFill>
                  </a:tcPr>
                </a:tc>
                <a:tc>
                  <a:txBody>
                    <a:bodyPr/>
                    <a:lstStyle/>
                    <a:p>
                      <a:pPr>
                        <a:defRPr sz="1100">
                          <a:solidFill>
                            <a:srgbClr val="1C2A3A"/>
                          </a:solidFill>
                          <a:latin typeface="Calibri"/>
                        </a:defRPr>
                      </a:pPr>
                      <a:r>
                        <a:t>1,731</a:t>
                      </a:r>
                    </a:p>
                  </a:txBody>
                  <a:tcPr>
                    <a:solidFill>
                      <a:srgbClr val="E0E3E8"/>
                    </a:solidFill>
                  </a:tcPr>
                </a:tc>
                <a:tc>
                  <a:txBody>
                    <a:bodyPr/>
                    <a:lstStyle/>
                    <a:p>
                      <a:pPr>
                        <a:defRPr sz="1100">
                          <a:solidFill>
                            <a:srgbClr val="1C2A3A"/>
                          </a:solidFill>
                          <a:latin typeface="Calibri"/>
                        </a:defRPr>
                      </a:pPr>
                      <a:r>
                        <a:t>1,801</a:t>
                      </a:r>
                    </a:p>
                  </a:txBody>
                  <a:tcPr>
                    <a:solidFill>
                      <a:srgbClr val="E0E3E8"/>
                    </a:solidFill>
                  </a:tcPr>
                </a:tc>
              </a:tr>
              <a:tr h="400050">
                <a:tc>
                  <a:txBody>
                    <a:bodyPr/>
                    <a:lstStyle/>
                    <a:p>
                      <a:pPr>
                        <a:defRPr sz="1100">
                          <a:solidFill>
                            <a:srgbClr val="1C2A3A"/>
                          </a:solidFill>
                          <a:latin typeface="Calibri"/>
                        </a:defRPr>
                      </a:pPr>
                      <a:r>
                        <a:t>Total Tokens</a:t>
                      </a:r>
                    </a:p>
                  </a:txBody>
                  <a:tcPr/>
                </a:tc>
                <a:tc>
                  <a:txBody>
                    <a:bodyPr/>
                    <a:lstStyle/>
                    <a:p>
                      <a:pPr>
                        <a:defRPr sz="1100">
                          <a:solidFill>
                            <a:srgbClr val="1C2A3A"/>
                          </a:solidFill>
                          <a:latin typeface="Calibri"/>
                        </a:defRPr>
                      </a:pPr>
                      <a:r>
                        <a:t>3,815</a:t>
                      </a:r>
                    </a:p>
                  </a:txBody>
                  <a:tcPr/>
                </a:tc>
                <a:tc>
                  <a:txBody>
                    <a:bodyPr/>
                    <a:lstStyle/>
                    <a:p>
                      <a:pPr>
                        <a:defRPr sz="1100">
                          <a:solidFill>
                            <a:srgbClr val="1C2A3A"/>
                          </a:solidFill>
                          <a:latin typeface="Calibri"/>
                        </a:defRPr>
                      </a:pPr>
                      <a:r>
                        <a:t>4,022</a:t>
                      </a:r>
                    </a:p>
                  </a:txBody>
                  <a:tcPr/>
                </a:tc>
                <a:tc>
                  <a:txBody>
                    <a:bodyPr/>
                    <a:lstStyle/>
                    <a:p>
                      <a:pPr>
                        <a:defRPr sz="1100">
                          <a:solidFill>
                            <a:srgbClr val="1C2A3A"/>
                          </a:solidFill>
                          <a:latin typeface="Calibri"/>
                        </a:defRPr>
                      </a:pPr>
                      <a:r>
                        <a:t>13,847</a:t>
                      </a:r>
                    </a:p>
                  </a:txBody>
                  <a:tcPr/>
                </a:tc>
                <a:tc>
                  <a:txBody>
                    <a:bodyPr/>
                    <a:lstStyle/>
                    <a:p>
                      <a:pPr>
                        <a:defRPr sz="1100">
                          <a:solidFill>
                            <a:srgbClr val="1C2A3A"/>
                          </a:solidFill>
                          <a:latin typeface="Calibri"/>
                        </a:defRPr>
                      </a:pPr>
                      <a:r>
                        <a:t>14,406</a:t>
                      </a:r>
                    </a:p>
                  </a:txBody>
                  <a:tcPr/>
                </a:tc>
              </a:tr>
              <a:tr h="400050">
                <a:tc>
                  <a:txBody>
                    <a:bodyPr/>
                    <a:lstStyle/>
                    <a:p>
                      <a:pPr>
                        <a:defRPr sz="1100">
                          <a:solidFill>
                            <a:srgbClr val="1C2A3A"/>
                          </a:solidFill>
                          <a:latin typeface="Calibri"/>
                        </a:defRPr>
                      </a:pPr>
                      <a:r>
                        <a:t>Prompt Tokens (total)</a:t>
                      </a:r>
                    </a:p>
                  </a:txBody>
                  <a:tcPr>
                    <a:solidFill>
                      <a:srgbClr val="E0E3E8"/>
                    </a:solidFill>
                  </a:tcPr>
                </a:tc>
                <a:tc>
                  <a:txBody>
                    <a:bodyPr/>
                    <a:lstStyle/>
                    <a:p>
                      <a:pPr>
                        <a:defRPr sz="1100">
                          <a:solidFill>
                            <a:srgbClr val="1C2A3A"/>
                          </a:solidFill>
                          <a:latin typeface="Calibri"/>
                        </a:defRPr>
                      </a:pPr>
                      <a:r>
                        <a:t>1,520</a:t>
                      </a:r>
                    </a:p>
                  </a:txBody>
                  <a:tcPr>
                    <a:solidFill>
                      <a:srgbClr val="E0E3E8"/>
                    </a:solidFill>
                  </a:tcPr>
                </a:tc>
                <a:tc>
                  <a:txBody>
                    <a:bodyPr/>
                    <a:lstStyle/>
                    <a:p>
                      <a:pPr>
                        <a:defRPr sz="1100">
                          <a:solidFill>
                            <a:srgbClr val="1C2A3A"/>
                          </a:solidFill>
                          <a:latin typeface="Calibri"/>
                        </a:defRPr>
                      </a:pPr>
                      <a:r>
                        <a:t>1,480</a:t>
                      </a:r>
                    </a:p>
                  </a:txBody>
                  <a:tcPr>
                    <a:solidFill>
                      <a:srgbClr val="E0E3E8"/>
                    </a:solidFill>
                  </a:tcPr>
                </a:tc>
                <a:tc>
                  <a:txBody>
                    <a:bodyPr/>
                    <a:lstStyle/>
                    <a:p>
                      <a:pPr>
                        <a:defRPr sz="1100">
                          <a:solidFill>
                            <a:srgbClr val="1C2A3A"/>
                          </a:solidFill>
                          <a:latin typeface="Calibri"/>
                        </a:defRPr>
                      </a:pPr>
                      <a:r>
                        <a:t>10,702</a:t>
                      </a:r>
                    </a:p>
                  </a:txBody>
                  <a:tcPr>
                    <a:solidFill>
                      <a:srgbClr val="E0E3E8"/>
                    </a:solidFill>
                  </a:tcPr>
                </a:tc>
                <a:tc>
                  <a:txBody>
                    <a:bodyPr/>
                    <a:lstStyle/>
                    <a:p>
                      <a:pPr>
                        <a:defRPr sz="1100">
                          <a:solidFill>
                            <a:srgbClr val="1C2A3A"/>
                          </a:solidFill>
                          <a:latin typeface="Calibri"/>
                        </a:defRPr>
                      </a:pPr>
                      <a:r>
                        <a:t>10,718</a:t>
                      </a:r>
                    </a:p>
                  </a:txBody>
                  <a:tcPr>
                    <a:solidFill>
                      <a:srgbClr val="E0E3E8"/>
                    </a:solidFill>
                  </a:tcPr>
                </a:tc>
              </a:tr>
              <a:tr h="400050">
                <a:tc>
                  <a:txBody>
                    <a:bodyPr/>
                    <a:lstStyle/>
                    <a:p>
                      <a:pPr>
                        <a:defRPr sz="1100">
                          <a:solidFill>
                            <a:srgbClr val="1C2A3A"/>
                          </a:solidFill>
                          <a:latin typeface="Calibri"/>
                        </a:defRPr>
                      </a:pPr>
                      <a:r>
                        <a:t>Completion Tokens (total)</a:t>
                      </a:r>
                    </a:p>
                  </a:txBody>
                  <a:tcPr/>
                </a:tc>
                <a:tc>
                  <a:txBody>
                    <a:bodyPr/>
                    <a:lstStyle/>
                    <a:p>
                      <a:pPr>
                        <a:defRPr sz="1100">
                          <a:solidFill>
                            <a:srgbClr val="1C2A3A"/>
                          </a:solidFill>
                          <a:latin typeface="Calibri"/>
                        </a:defRPr>
                      </a:pPr>
                      <a:r>
                        <a:t>2,295</a:t>
                      </a:r>
                    </a:p>
                  </a:txBody>
                  <a:tcPr/>
                </a:tc>
                <a:tc>
                  <a:txBody>
                    <a:bodyPr/>
                    <a:lstStyle/>
                    <a:p>
                      <a:pPr>
                        <a:defRPr sz="1100">
                          <a:solidFill>
                            <a:srgbClr val="1C2A3A"/>
                          </a:solidFill>
                          <a:latin typeface="Calibri"/>
                        </a:defRPr>
                      </a:pPr>
                      <a:r>
                        <a:t>2,542</a:t>
                      </a:r>
                    </a:p>
                  </a:txBody>
                  <a:tcPr/>
                </a:tc>
                <a:tc>
                  <a:txBody>
                    <a:bodyPr/>
                    <a:lstStyle/>
                    <a:p>
                      <a:pPr>
                        <a:defRPr sz="1100">
                          <a:solidFill>
                            <a:srgbClr val="1C2A3A"/>
                          </a:solidFill>
                          <a:latin typeface="Calibri"/>
                        </a:defRPr>
                      </a:pPr>
                      <a:r>
                        <a:t>3,145</a:t>
                      </a:r>
                    </a:p>
                  </a:txBody>
                  <a:tcPr/>
                </a:tc>
                <a:tc>
                  <a:txBody>
                    <a:bodyPr/>
                    <a:lstStyle/>
                    <a:p>
                      <a:pPr>
                        <a:defRPr sz="1100">
                          <a:solidFill>
                            <a:srgbClr val="1C2A3A"/>
                          </a:solidFill>
                          <a:latin typeface="Calibri"/>
                        </a:defRPr>
                      </a:pPr>
                      <a:r>
                        <a:t>3,688</a:t>
                      </a:r>
                    </a:p>
                  </a:txBody>
                  <a:tcPr/>
                </a:tc>
              </a:tr>
              <a:tr h="400050">
                <a:tc>
                  <a:txBody>
                    <a:bodyPr/>
                    <a:lstStyle/>
                    <a:p>
                      <a:pPr>
                        <a:defRPr sz="1100">
                          <a:solidFill>
                            <a:srgbClr val="1C2A3A"/>
                          </a:solidFill>
                          <a:latin typeface="Calibri"/>
                        </a:defRPr>
                      </a:pPr>
                      <a:r>
                        <a:t>Throughput (tokens/sec)</a:t>
                      </a:r>
                    </a:p>
                  </a:txBody>
                  <a:tcPr>
                    <a:solidFill>
                      <a:srgbClr val="E0E3E8"/>
                    </a:solidFill>
                  </a:tcPr>
                </a:tc>
                <a:tc>
                  <a:txBody>
                    <a:bodyPr/>
                    <a:lstStyle/>
                    <a:p>
                      <a:pPr>
                        <a:defRPr sz="1100">
                          <a:solidFill>
                            <a:srgbClr val="1C2A3A"/>
                          </a:solidFill>
                          <a:latin typeface="Calibri"/>
                        </a:defRPr>
                      </a:pPr>
                      <a:r>
                        <a:t>8</a:t>
                      </a:r>
                    </a:p>
                  </a:txBody>
                  <a:tcPr>
                    <a:solidFill>
                      <a:srgbClr val="E0E3E8"/>
                    </a:solidFill>
                  </a:tcPr>
                </a:tc>
                <a:tc>
                  <a:txBody>
                    <a:bodyPr/>
                    <a:lstStyle/>
                    <a:p>
                      <a:pPr>
                        <a:defRPr sz="1100">
                          <a:solidFill>
                            <a:srgbClr val="1C2A3A"/>
                          </a:solidFill>
                          <a:latin typeface="Calibri"/>
                        </a:defRPr>
                      </a:pPr>
                      <a:r>
                        <a:t>10</a:t>
                      </a:r>
                    </a:p>
                  </a:txBody>
                  <a:tcPr>
                    <a:solidFill>
                      <a:srgbClr val="E0E3E8"/>
                    </a:solidFill>
                  </a:tcPr>
                </a:tc>
                <a:tc>
                  <a:txBody>
                    <a:bodyPr/>
                    <a:lstStyle/>
                    <a:p>
                      <a:pPr>
                        <a:defRPr sz="1100">
                          <a:solidFill>
                            <a:srgbClr val="1C2A3A"/>
                          </a:solidFill>
                          <a:latin typeface="Calibri"/>
                        </a:defRPr>
                      </a:pPr>
                      <a:r>
                        <a:t>14</a:t>
                      </a:r>
                    </a:p>
                  </a:txBody>
                  <a:tcPr>
                    <a:solidFill>
                      <a:srgbClr val="E0E3E8"/>
                    </a:solidFill>
                  </a:tcPr>
                </a:tc>
                <a:tc>
                  <a:txBody>
                    <a:bodyPr/>
                    <a:lstStyle/>
                    <a:p>
                      <a:pPr>
                        <a:defRPr sz="1100">
                          <a:solidFill>
                            <a:srgbClr val="1C2A3A"/>
                          </a:solidFill>
                          <a:latin typeface="Calibri"/>
                        </a:defRPr>
                      </a:pPr>
                      <a:r>
                        <a:t>13</a:t>
                      </a:r>
                    </a:p>
                  </a:txBody>
                  <a:tcPr>
                    <a:solidFill>
                      <a:srgbClr val="E0E3E8"/>
                    </a:solidFill>
                  </a:tcPr>
                </a:tc>
              </a:tr>
              <a:tr h="400050">
                <a:tc>
                  <a:txBody>
                    <a:bodyPr/>
                    <a:lstStyle/>
                    <a:p>
                      <a:pPr>
                        <a:defRPr sz="1100">
                          <a:solidFill>
                            <a:srgbClr val="1C2A3A"/>
                          </a:solidFill>
                          <a:latin typeface="Calibri"/>
                        </a:defRPr>
                      </a:pPr>
                      <a:r>
                        <a:t>Cost / 1K Queries</a:t>
                      </a:r>
                    </a:p>
                  </a:txBody>
                  <a:tcPr/>
                </a:tc>
                <a:tc>
                  <a:txBody>
                    <a:bodyPr/>
                    <a:lstStyle/>
                    <a:p>
                      <a:pPr>
                        <a:defRPr sz="1100">
                          <a:solidFill>
                            <a:srgbClr val="1C2A3A"/>
                          </a:solidFill>
                          <a:latin typeface="Calibri"/>
                        </a:defRPr>
                      </a:pPr>
                      <a:r>
                        <a:t>$0.0954</a:t>
                      </a:r>
                    </a:p>
                  </a:txBody>
                  <a:tcPr/>
                </a:tc>
                <a:tc>
                  <a:txBody>
                    <a:bodyPr/>
                    <a:lstStyle/>
                    <a:p>
                      <a:pPr>
                        <a:defRPr sz="1100">
                          <a:solidFill>
                            <a:srgbClr val="1C2A3A"/>
                          </a:solidFill>
                          <a:latin typeface="Calibri"/>
                        </a:defRPr>
                      </a:pPr>
                      <a:r>
                        <a:t>$0.1005</a:t>
                      </a:r>
                    </a:p>
                  </a:txBody>
                  <a:tcPr/>
                </a:tc>
                <a:tc>
                  <a:txBody>
                    <a:bodyPr/>
                    <a:lstStyle/>
                    <a:p>
                      <a:pPr>
                        <a:defRPr sz="1100">
                          <a:solidFill>
                            <a:srgbClr val="1C2A3A"/>
                          </a:solidFill>
                          <a:latin typeface="Calibri"/>
                        </a:defRPr>
                      </a:pPr>
                      <a:r>
                        <a:t>$0.3462</a:t>
                      </a:r>
                    </a:p>
                  </a:txBody>
                  <a:tcPr/>
                </a:tc>
                <a:tc>
                  <a:txBody>
                    <a:bodyPr/>
                    <a:lstStyle/>
                    <a:p>
                      <a:pPr>
                        <a:defRPr sz="1100">
                          <a:solidFill>
                            <a:srgbClr val="1C2A3A"/>
                          </a:solidFill>
                          <a:latin typeface="Calibri"/>
                        </a:defRPr>
                      </a:pPr>
                      <a:r>
                        <a:t>$0.3602</a:t>
                      </a:r>
                    </a:p>
                  </a:txBody>
                  <a:tcPr/>
                </a:tc>
              </a:tr>
              <a:tr h="400050">
                <a:tc>
                  <a:txBody>
                    <a:bodyPr/>
                    <a:lstStyle/>
                    <a:p>
                      <a:pPr>
                        <a:defRPr sz="1100">
                          <a:solidFill>
                            <a:srgbClr val="1C2A3A"/>
                          </a:solidFill>
                          <a:latin typeface="Calibri"/>
                        </a:defRPr>
                      </a:pPr>
                      <a:r>
                        <a:t>Total Benchmark Cost</a:t>
                      </a:r>
                    </a:p>
                  </a:txBody>
                  <a:tcPr>
                    <a:solidFill>
                      <a:srgbClr val="E0E3E8"/>
                    </a:solidFill>
                  </a:tcPr>
                </a:tc>
                <a:tc>
                  <a:txBody>
                    <a:bodyPr/>
                    <a:lstStyle/>
                    <a:p>
                      <a:pPr>
                        <a:defRPr sz="1100">
                          <a:solidFill>
                            <a:srgbClr val="1C2A3A"/>
                          </a:solidFill>
                          <a:latin typeface="Calibri"/>
                        </a:defRPr>
                      </a:pPr>
                      <a:r>
                        <a:t>$0.000763</a:t>
                      </a:r>
                    </a:p>
                  </a:txBody>
                  <a:tcPr>
                    <a:solidFill>
                      <a:srgbClr val="E0E3E8"/>
                    </a:solidFill>
                  </a:tcPr>
                </a:tc>
                <a:tc>
                  <a:txBody>
                    <a:bodyPr/>
                    <a:lstStyle/>
                    <a:p>
                      <a:pPr>
                        <a:defRPr sz="1100">
                          <a:solidFill>
                            <a:srgbClr val="1C2A3A"/>
                          </a:solidFill>
                          <a:latin typeface="Calibri"/>
                        </a:defRPr>
                      </a:pPr>
                      <a:r>
                        <a:t>$0.000804</a:t>
                      </a:r>
                    </a:p>
                  </a:txBody>
                  <a:tcPr>
                    <a:solidFill>
                      <a:srgbClr val="E0E3E8"/>
                    </a:solidFill>
                  </a:tcPr>
                </a:tc>
                <a:tc>
                  <a:txBody>
                    <a:bodyPr/>
                    <a:lstStyle/>
                    <a:p>
                      <a:pPr>
                        <a:defRPr sz="1100">
                          <a:solidFill>
                            <a:srgbClr val="1C2A3A"/>
                          </a:solidFill>
                          <a:latin typeface="Calibri"/>
                        </a:defRPr>
                      </a:pPr>
                      <a:r>
                        <a:t>$0.0028</a:t>
                      </a:r>
                    </a:p>
                  </a:txBody>
                  <a:tcPr>
                    <a:solidFill>
                      <a:srgbClr val="E0E3E8"/>
                    </a:solidFill>
                  </a:tcPr>
                </a:tc>
                <a:tc>
                  <a:txBody>
                    <a:bodyPr/>
                    <a:lstStyle/>
                    <a:p>
                      <a:pPr>
                        <a:defRPr sz="1100">
                          <a:solidFill>
                            <a:srgbClr val="1C2A3A"/>
                          </a:solidFill>
                          <a:latin typeface="Calibri"/>
                        </a:defRPr>
                      </a:pPr>
                      <a:r>
                        <a:t>$0.0029</a:t>
                      </a:r>
                    </a:p>
                  </a:txBody>
                  <a:tcPr>
                    <a:solidFill>
                      <a:srgbClr val="E0E3E8"/>
                    </a:solidFill>
                  </a:tcPr>
                </a:tc>
              </a:tr>
            </a:tbl>
          </a:graphicData>
        </a:graphic>
      </p:graphicFrame>
      <p:graphicFrame>
        <p:nvGraphicFramePr>
          <p:cNvPr id="4" name="Chart 3"/>
          <p:cNvGraphicFramePr>
            <a:graphicFrameLocks noGrp="1"/>
          </p:cNvGraphicFramePr>
          <p:nvPr/>
        </p:nvGraphicFramePr>
        <p:xfrm>
          <a:off x="457200" y="4754880"/>
          <a:ext cx="5303520" cy="1828800"/>
        </p:xfrm>
        <a:graphic>
          <a:graphicData uri="http://schemas.openxmlformats.org/drawingml/2006/chart">
            <c:chart xmlns:c="http://schemas.openxmlformats.org/drawingml/2006/chart" r:id="rId2"/>
          </a:graphicData>
        </a:graphic>
      </p:graphicFrame>
      <p:graphicFrame>
        <p:nvGraphicFramePr>
          <p:cNvPr id="5" name="Chart 4"/>
          <p:cNvGraphicFramePr>
            <a:graphicFrameLocks noGrp="1"/>
          </p:cNvGraphicFramePr>
          <p:nvPr/>
        </p:nvGraphicFramePr>
        <p:xfrm>
          <a:off x="6217920" y="4754880"/>
          <a:ext cx="5303520" cy="1828800"/>
        </p:xfrm>
        <a:graphic>
          <a:graphicData uri="http://schemas.openxmlformats.org/drawingml/2006/chart">
            <c:chart xmlns:c="http://schemas.openxmlformats.org/drawingml/2006/chart" r:id="rId3"/>
          </a:graphicData>
        </a:graphic>
      </p:graphicFrame>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43/55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3: Llama2 7B - Financial Ratios - Quality Metrics</a:t>
            </a:r>
          </a:p>
        </p:txBody>
      </p:sp>
      <p:graphicFrame>
        <p:nvGraphicFramePr>
          <p:cNvPr id="3" name="Table 2"/>
          <p:cNvGraphicFramePr>
            <a:graphicFrameLocks noGrp="1"/>
          </p:cNvGraphicFramePr>
          <p:nvPr/>
        </p:nvGraphicFramePr>
        <p:xfrm>
          <a:off x="457200" y="1371600"/>
          <a:ext cx="11247120" cy="13716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5720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457200">
                <a:tc>
                  <a:txBody>
                    <a:bodyPr/>
                    <a:lstStyle/>
                    <a:p>
                      <a:pPr>
                        <a:defRPr sz="1100">
                          <a:solidFill>
                            <a:srgbClr val="1C2A3A"/>
                          </a:solidFill>
                          <a:latin typeface="Calibri"/>
                        </a:defRPr>
                      </a:pPr>
                      <a:r>
                        <a:t>MAPE (Mean Abs % Error)</a:t>
                      </a:r>
                    </a:p>
                  </a:txBody>
                  <a:tcPr>
                    <a:solidFill>
                      <a:srgbClr val="E0E3E8"/>
                    </a:solidFill>
                  </a:tcPr>
                </a:tc>
                <a:tc>
                  <a:txBody>
                    <a:bodyPr/>
                    <a:lstStyle/>
                    <a:p>
                      <a:pPr>
                        <a:defRPr sz="1100">
                          <a:solidFill>
                            <a:srgbClr val="1C2A3A"/>
                          </a:solidFill>
                          <a:latin typeface="Calibri"/>
                        </a:defRPr>
                      </a:pPr>
                      <a:r>
                        <a:t>21.4%</a:t>
                      </a:r>
                    </a:p>
                  </a:txBody>
                  <a:tcPr>
                    <a:solidFill>
                      <a:srgbClr val="E0E3E8"/>
                    </a:solidFill>
                  </a:tcPr>
                </a:tc>
                <a:tc>
                  <a:txBody>
                    <a:bodyPr/>
                    <a:lstStyle/>
                    <a:p>
                      <a:pPr>
                        <a:defRPr sz="1100">
                          <a:solidFill>
                            <a:srgbClr val="1C2A3A"/>
                          </a:solidFill>
                          <a:latin typeface="Calibri"/>
                        </a:defRPr>
                      </a:pPr>
                      <a:r>
                        <a:t>103.4%</a:t>
                      </a:r>
                    </a:p>
                  </a:txBody>
                  <a:tcPr>
                    <a:solidFill>
                      <a:srgbClr val="E0E3E8"/>
                    </a:solidFill>
                  </a:tcPr>
                </a:tc>
                <a:tc>
                  <a:txBody>
                    <a:bodyPr/>
                    <a:lstStyle/>
                    <a:p>
                      <a:pPr>
                        <a:defRPr sz="1100">
                          <a:solidFill>
                            <a:srgbClr val="1C2A3A"/>
                          </a:solidFill>
                          <a:latin typeface="Calibri"/>
                        </a:defRPr>
                      </a:pPr>
                      <a:r>
                        <a:t>34.4%</a:t>
                      </a:r>
                    </a:p>
                  </a:txBody>
                  <a:tcPr>
                    <a:solidFill>
                      <a:srgbClr val="E0E3E8"/>
                    </a:solidFill>
                  </a:tcPr>
                </a:tc>
                <a:tc>
                  <a:txBody>
                    <a:bodyPr/>
                    <a:lstStyle/>
                    <a:p>
                      <a:pPr>
                        <a:defRPr sz="1100">
                          <a:solidFill>
                            <a:srgbClr val="1C2A3A"/>
                          </a:solidFill>
                          <a:latin typeface="Calibri"/>
                        </a:defRPr>
                      </a:pPr>
                      <a:r>
                        <a:t>45.9%</a:t>
                      </a:r>
                    </a:p>
                  </a:txBody>
                  <a:tcPr>
                    <a:solidFill>
                      <a:srgbClr val="E0E3E8"/>
                    </a:solidFill>
                  </a:tcPr>
                </a:tc>
              </a:tr>
              <a:tr h="457200">
                <a:tc>
                  <a:txBody>
                    <a:bodyPr/>
                    <a:lstStyle/>
                    <a:p>
                      <a:pPr>
                        <a:defRPr sz="1100">
                          <a:solidFill>
                            <a:srgbClr val="1C2A3A"/>
                          </a:solidFill>
                          <a:latin typeface="Calibri"/>
                        </a:defRPr>
                      </a:pPr>
                      <a:r>
                        <a:t>Accuracy</a:t>
                      </a:r>
                    </a:p>
                  </a:txBody>
                  <a:tcPr/>
                </a:tc>
                <a:tc>
                  <a:txBody>
                    <a:bodyPr/>
                    <a:lstStyle/>
                    <a:p>
                      <a:pPr>
                        <a:defRPr sz="1100">
                          <a:solidFill>
                            <a:srgbClr val="1C2A3A"/>
                          </a:solidFill>
                          <a:latin typeface="Calibri"/>
                        </a:defRPr>
                      </a:pPr>
                      <a:r>
                        <a:t>25.0%</a:t>
                      </a:r>
                    </a:p>
                  </a:txBody>
                  <a:tcPr/>
                </a:tc>
                <a:tc>
                  <a:txBody>
                    <a:bodyPr/>
                    <a:lstStyle/>
                    <a:p>
                      <a:pPr>
                        <a:defRPr sz="1100">
                          <a:solidFill>
                            <a:srgbClr val="1C2A3A"/>
                          </a:solidFill>
                          <a:latin typeface="Calibri"/>
                        </a:defRPr>
                      </a:pPr>
                      <a:r>
                        <a:t>37.5%</a:t>
                      </a:r>
                    </a:p>
                  </a:txBody>
                  <a:tcPr/>
                </a:tc>
                <a:tc>
                  <a:txBody>
                    <a:bodyPr/>
                    <a:lstStyle/>
                    <a:p>
                      <a:pPr>
                        <a:defRPr sz="1100">
                          <a:solidFill>
                            <a:srgbClr val="1C2A3A"/>
                          </a:solidFill>
                          <a:latin typeface="Calibri"/>
                        </a:defRPr>
                      </a:pPr>
                      <a:r>
                        <a:t>12.5%</a:t>
                      </a:r>
                    </a:p>
                  </a:txBody>
                  <a:tcPr/>
                </a:tc>
                <a:tc>
                  <a:txBody>
                    <a:bodyPr/>
                    <a:lstStyle/>
                    <a:p>
                      <a:pPr>
                        <a:defRPr sz="1100">
                          <a:solidFill>
                            <a:srgbClr val="1C2A3A"/>
                          </a:solidFill>
                          <a:latin typeface="Calibri"/>
                        </a:defRPr>
                      </a:pPr>
                      <a:r>
                        <a:t>25.0%</a:t>
                      </a:r>
                    </a:p>
                  </a:txBody>
                  <a:tcPr/>
                </a:tc>
              </a:tr>
            </a:tbl>
          </a:graphicData>
        </a:graphic>
      </p:graphicFrame>
      <p:graphicFrame>
        <p:nvGraphicFramePr>
          <p:cNvPr id="4" name="Chart 3"/>
          <p:cNvGraphicFramePr>
            <a:graphicFrameLocks noGrp="1"/>
          </p:cNvGraphicFramePr>
          <p:nvPr/>
        </p:nvGraphicFramePr>
        <p:xfrm>
          <a:off x="457200" y="2926080"/>
          <a:ext cx="5303520" cy="3200400"/>
        </p:xfrm>
        <a:graphic>
          <a:graphicData uri="http://schemas.openxmlformats.org/drawingml/2006/chart">
            <c:chart xmlns:c="http://schemas.openxmlformats.org/drawingml/2006/chart" r:id="rId2"/>
          </a:graphicData>
        </a:graphic>
      </p:graphicFrame>
      <p:sp>
        <p:nvSpPr>
          <p:cNvPr id="5" name="Rectangle 4"/>
          <p:cNvSpPr/>
          <p:nvPr/>
        </p:nvSpPr>
        <p:spPr>
          <a:xfrm>
            <a:off x="6217920" y="2926080"/>
            <a:ext cx="5303520" cy="3200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Insight</a:t>
            </a:r>
          </a:p>
          <a:p>
            <a:pPr>
              <a:defRPr sz="1200">
                <a:solidFill>
                  <a:srgbClr val="1C2A3A"/>
                </a:solidFill>
                <a:latin typeface="Calibri"/>
              </a:defRPr>
            </a:pPr>
            <a:r>
              <a:t>Base Llama2-7B has lowest MAPE (21.4%), meaning its numerical answers are closest to expected values.</a:t>
            </a:r>
            <a:br/>
            <a:br/>
            <a:r>
              <a:t>Lower MAPE = more precise calculations.</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44/55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3: Llama2 7B - Financial Ratios - Category Breakdown</a:t>
            </a:r>
          </a:p>
        </p:txBody>
      </p:sp>
      <p:graphicFrame>
        <p:nvGraphicFramePr>
          <p:cNvPr id="3" name="Table 2"/>
          <p:cNvGraphicFramePr>
            <a:graphicFrameLocks noGrp="1"/>
          </p:cNvGraphicFramePr>
          <p:nvPr/>
        </p:nvGraphicFramePr>
        <p:xfrm>
          <a:off x="457200" y="1371600"/>
          <a:ext cx="11247120" cy="228600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81000">
                <a:tc>
                  <a:txBody>
                    <a:bodyPr/>
                    <a:lstStyle/>
                    <a:p>
                      <a:pPr algn="ctr">
                        <a:defRPr sz="1200" b="1">
                          <a:solidFill>
                            <a:srgbClr val="FFFFFF"/>
                          </a:solidFill>
                          <a:latin typeface="Calibri"/>
                        </a:defRPr>
                      </a:pPr>
                      <a:r>
                        <a:t>Category</a:t>
                      </a:r>
                    </a:p>
                  </a:txBody>
                  <a:tcPr>
                    <a:solidFill>
                      <a:srgbClr val="2E86C1"/>
                    </a:solidFill>
                  </a:tcPr>
                </a:tc>
                <a:tc>
                  <a:txBody>
                    <a:bodyPr/>
                    <a:lstStyle/>
                    <a:p>
                      <a:pPr algn="ctr">
                        <a:defRPr sz="1200" b="1">
                          <a:solidFill>
                            <a:srgbClr val="FFFFFF"/>
                          </a:solidFill>
                          <a:latin typeface="Calibri"/>
                        </a:defRPr>
                      </a:pPr>
                      <a:r>
                        <a:t>Cases</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381000">
                <a:tc>
                  <a:txBody>
                    <a:bodyPr/>
                    <a:lstStyle/>
                    <a:p>
                      <a:pPr>
                        <a:defRPr sz="1100">
                          <a:solidFill>
                            <a:srgbClr val="1C2A3A"/>
                          </a:solidFill>
                          <a:latin typeface="Calibri"/>
                        </a:defRPr>
                      </a:pPr>
                      <a:r>
                        <a:t>Efficiency</a:t>
                      </a:r>
                    </a:p>
                  </a:txBody>
                  <a:tcPr>
                    <a:solidFill>
                      <a:srgbClr val="E0E3E8"/>
                    </a:solidFill>
                  </a:tcPr>
                </a:tc>
                <a:tc>
                  <a:txBody>
                    <a:bodyPr/>
                    <a:lstStyle/>
                    <a:p>
                      <a:pPr>
                        <a:defRPr sz="1100">
                          <a:solidFill>
                            <a:srgbClr val="1C2A3A"/>
                          </a:solidFill>
                          <a:latin typeface="Calibri"/>
                        </a:defRPr>
                      </a:pPr>
                      <a:r>
                        <a:t>1</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r>
              <a:tr h="381000">
                <a:tc>
                  <a:txBody>
                    <a:bodyPr/>
                    <a:lstStyle/>
                    <a:p>
                      <a:pPr>
                        <a:defRPr sz="1100">
                          <a:solidFill>
                            <a:srgbClr val="1C2A3A"/>
                          </a:solidFill>
                          <a:latin typeface="Calibri"/>
                        </a:defRPr>
                      </a:pPr>
                      <a:r>
                        <a:t>Leverage</a:t>
                      </a:r>
                    </a:p>
                  </a:txBody>
                  <a:tcPr/>
                </a:tc>
                <a:tc>
                  <a:txBody>
                    <a:bodyPr/>
                    <a:lstStyle/>
                    <a:p>
                      <a:pPr>
                        <a:defRPr sz="1100">
                          <a:solidFill>
                            <a:srgbClr val="1C2A3A"/>
                          </a:solidFill>
                          <a:latin typeface="Calibri"/>
                        </a:defRPr>
                      </a:pPr>
                      <a:r>
                        <a:t>2</a:t>
                      </a:r>
                    </a:p>
                  </a:txBody>
                  <a:tcPr/>
                </a:tc>
                <a:tc>
                  <a:txBody>
                    <a:bodyPr/>
                    <a:lstStyle/>
                    <a:p>
                      <a:pPr>
                        <a:defRPr sz="1100">
                          <a:solidFill>
                            <a:srgbClr val="1C2A3A"/>
                          </a:solidFill>
                          <a:latin typeface="Calibri"/>
                        </a:defRPr>
                      </a:pPr>
                      <a:r>
                        <a:t>0.0%</a:t>
                      </a:r>
                    </a:p>
                  </a:txBody>
                  <a:tcPr/>
                </a:tc>
                <a:tc>
                  <a:txBody>
                    <a:bodyPr/>
                    <a:lstStyle/>
                    <a:p>
                      <a:pPr>
                        <a:defRPr sz="1100">
                          <a:solidFill>
                            <a:srgbClr val="1C2A3A"/>
                          </a:solidFill>
                          <a:latin typeface="Calibri"/>
                        </a:defRPr>
                      </a:pPr>
                      <a:r>
                        <a:t>50.0%</a:t>
                      </a:r>
                    </a:p>
                  </a:txBody>
                  <a:tcPr/>
                </a:tc>
                <a:tc>
                  <a:txBody>
                    <a:bodyPr/>
                    <a:lstStyle/>
                    <a:p>
                      <a:pPr>
                        <a:defRPr sz="1100">
                          <a:solidFill>
                            <a:srgbClr val="1C2A3A"/>
                          </a:solidFill>
                          <a:latin typeface="Calibri"/>
                        </a:defRPr>
                      </a:pPr>
                      <a:r>
                        <a:t>50.0%</a:t>
                      </a:r>
                    </a:p>
                  </a:txBody>
                  <a:tcPr/>
                </a:tc>
                <a:tc>
                  <a:txBody>
                    <a:bodyPr/>
                    <a:lstStyle/>
                    <a:p>
                      <a:pPr>
                        <a:defRPr sz="1100">
                          <a:solidFill>
                            <a:srgbClr val="1C2A3A"/>
                          </a:solidFill>
                          <a:latin typeface="Calibri"/>
                        </a:defRPr>
                      </a:pPr>
                      <a:r>
                        <a:t>50.0%</a:t>
                      </a:r>
                    </a:p>
                  </a:txBody>
                  <a:tcPr/>
                </a:tc>
              </a:tr>
              <a:tr h="381000">
                <a:tc>
                  <a:txBody>
                    <a:bodyPr/>
                    <a:lstStyle/>
                    <a:p>
                      <a:pPr>
                        <a:defRPr sz="1100">
                          <a:solidFill>
                            <a:srgbClr val="1C2A3A"/>
                          </a:solidFill>
                          <a:latin typeface="Calibri"/>
                        </a:defRPr>
                      </a:pPr>
                      <a:r>
                        <a:t>Liquidity</a:t>
                      </a:r>
                    </a:p>
                  </a:txBody>
                  <a:tcPr>
                    <a:solidFill>
                      <a:srgbClr val="E0E3E8"/>
                    </a:solidFill>
                  </a:tcPr>
                </a:tc>
                <a:tc>
                  <a:txBody>
                    <a:bodyPr/>
                    <a:lstStyle/>
                    <a:p>
                      <a:pPr>
                        <a:defRPr sz="1100">
                          <a:solidFill>
                            <a:srgbClr val="1C2A3A"/>
                          </a:solidFill>
                          <a:latin typeface="Calibri"/>
                        </a:defRPr>
                      </a:pPr>
                      <a:r>
                        <a:t>2</a:t>
                      </a:r>
                    </a:p>
                  </a:txBody>
                  <a:tcPr>
                    <a:solidFill>
                      <a:srgbClr val="E0E3E8"/>
                    </a:solidFill>
                  </a:tcPr>
                </a:tc>
                <a:tc>
                  <a:txBody>
                    <a:bodyPr/>
                    <a:lstStyle/>
                    <a:p>
                      <a:pPr>
                        <a:defRPr sz="1100">
                          <a:solidFill>
                            <a:srgbClr val="1C2A3A"/>
                          </a:solidFill>
                          <a:latin typeface="Calibri"/>
                        </a:defRPr>
                      </a:pPr>
                      <a:r>
                        <a:t>50.0%</a:t>
                      </a:r>
                    </a:p>
                  </a:txBody>
                  <a:tcPr>
                    <a:solidFill>
                      <a:srgbClr val="E0E3E8"/>
                    </a:solidFill>
                  </a:tcPr>
                </a:tc>
                <a:tc>
                  <a:txBody>
                    <a:bodyPr/>
                    <a:lstStyle/>
                    <a:p>
                      <a:pPr>
                        <a:defRPr sz="1100">
                          <a:solidFill>
                            <a:srgbClr val="1C2A3A"/>
                          </a:solidFill>
                          <a:latin typeface="Calibri"/>
                        </a:defRPr>
                      </a:pPr>
                      <a:r>
                        <a:t>50.0%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50.0%</a:t>
                      </a:r>
                    </a:p>
                  </a:txBody>
                  <a:tcPr>
                    <a:solidFill>
                      <a:srgbClr val="E0E3E8"/>
                    </a:solidFill>
                  </a:tcPr>
                </a:tc>
              </a:tr>
              <a:tr h="381000">
                <a:tc>
                  <a:txBody>
                    <a:bodyPr/>
                    <a:lstStyle/>
                    <a:p>
                      <a:pPr>
                        <a:defRPr sz="1100">
                          <a:solidFill>
                            <a:srgbClr val="1C2A3A"/>
                          </a:solidFill>
                          <a:latin typeface="Calibri"/>
                        </a:defRPr>
                      </a:pPr>
                      <a:r>
                        <a:t>Profitability</a:t>
                      </a:r>
                    </a:p>
                  </a:txBody>
                  <a:tcPr/>
                </a:tc>
                <a:tc>
                  <a:txBody>
                    <a:bodyPr/>
                    <a:lstStyle/>
                    <a:p>
                      <a:pPr>
                        <a:defRPr sz="1100">
                          <a:solidFill>
                            <a:srgbClr val="1C2A3A"/>
                          </a:solidFill>
                          <a:latin typeface="Calibri"/>
                        </a:defRPr>
                      </a:pPr>
                      <a:r>
                        <a:t>2</a:t>
                      </a:r>
                    </a:p>
                  </a:txBody>
                  <a:tcPr/>
                </a:tc>
                <a:tc>
                  <a:txBody>
                    <a:bodyPr/>
                    <a:lstStyle/>
                    <a:p>
                      <a:pPr>
                        <a:defRPr sz="1100">
                          <a:solidFill>
                            <a:srgbClr val="1C2A3A"/>
                          </a:solidFill>
                          <a:latin typeface="Calibri"/>
                        </a:defRPr>
                      </a:pPr>
                      <a:r>
                        <a:t>0.0%</a:t>
                      </a:r>
                    </a:p>
                  </a:txBody>
                  <a:tcPr/>
                </a:tc>
                <a:tc>
                  <a:txBody>
                    <a:bodyPr/>
                    <a:lstStyle/>
                    <a:p>
                      <a:pPr>
                        <a:defRPr sz="1100">
                          <a:solidFill>
                            <a:srgbClr val="1C2A3A"/>
                          </a:solidFill>
                          <a:latin typeface="Calibri"/>
                        </a:defRPr>
                      </a:pPr>
                      <a:r>
                        <a:t>0.0%</a:t>
                      </a:r>
                    </a:p>
                  </a:txBody>
                  <a:tcPr/>
                </a:tc>
                <a:tc>
                  <a:txBody>
                    <a:bodyPr/>
                    <a:lstStyle/>
                    <a:p>
                      <a:pPr>
                        <a:defRPr sz="1100">
                          <a:solidFill>
                            <a:srgbClr val="1C2A3A"/>
                          </a:solidFill>
                          <a:latin typeface="Calibri"/>
                        </a:defRPr>
                      </a:pPr>
                      <a:r>
                        <a:t>0.0%</a:t>
                      </a:r>
                    </a:p>
                  </a:txBody>
                  <a:tcPr/>
                </a:tc>
                <a:tc>
                  <a:txBody>
                    <a:bodyPr/>
                    <a:lstStyle/>
                    <a:p>
                      <a:pPr>
                        <a:defRPr sz="1100">
                          <a:solidFill>
                            <a:srgbClr val="1C2A3A"/>
                          </a:solidFill>
                          <a:latin typeface="Calibri"/>
                        </a:defRPr>
                      </a:pPr>
                      <a:r>
                        <a:t>0.0%</a:t>
                      </a:r>
                    </a:p>
                  </a:txBody>
                  <a:tcPr/>
                </a:tc>
              </a:tr>
              <a:tr h="381000">
                <a:tc>
                  <a:txBody>
                    <a:bodyPr/>
                    <a:lstStyle/>
                    <a:p>
                      <a:pPr>
                        <a:defRPr sz="1100">
                          <a:solidFill>
                            <a:srgbClr val="1C2A3A"/>
                          </a:solidFill>
                          <a:latin typeface="Calibri"/>
                        </a:defRPr>
                      </a:pPr>
                      <a:r>
                        <a:t>Shareholder</a:t>
                      </a:r>
                    </a:p>
                  </a:txBody>
                  <a:tcPr>
                    <a:solidFill>
                      <a:srgbClr val="E0E3E8"/>
                    </a:solidFill>
                  </a:tcPr>
                </a:tc>
                <a:tc>
                  <a:txBody>
                    <a:bodyPr/>
                    <a:lstStyle/>
                    <a:p>
                      <a:pPr>
                        <a:defRPr sz="1100">
                          <a:solidFill>
                            <a:srgbClr val="1C2A3A"/>
                          </a:solidFill>
                          <a:latin typeface="Calibri"/>
                        </a:defRPr>
                      </a:pPr>
                      <a:r>
                        <a:t>1</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r>
            </a:tbl>
          </a:graphicData>
        </a:graphic>
      </p:graphicFrame>
      <p:graphicFrame>
        <p:nvGraphicFramePr>
          <p:cNvPr id="4" name="Chart 3"/>
          <p:cNvGraphicFramePr>
            <a:graphicFrameLocks noGrp="1"/>
          </p:cNvGraphicFramePr>
          <p:nvPr/>
        </p:nvGraphicFramePr>
        <p:xfrm>
          <a:off x="457200" y="3840480"/>
          <a:ext cx="11247120" cy="2560320"/>
        </p:xfrm>
        <a:graphic>
          <a:graphicData uri="http://schemas.openxmlformats.org/drawingml/2006/chart">
            <c:chart xmlns:c="http://schemas.openxmlformats.org/drawingml/2006/chart" r:id="rId2"/>
          </a:graphicData>
        </a:graphic>
      </p:graphicFrame>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45/55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3: Llama2 7B - Financial Ratios - Per-Example Results</a:t>
            </a:r>
          </a:p>
        </p:txBody>
      </p:sp>
      <p:graphicFrame>
        <p:nvGraphicFramePr>
          <p:cNvPr id="3" name="Table 2"/>
          <p:cNvGraphicFramePr>
            <a:graphicFrameLocks noGrp="1"/>
          </p:cNvGraphicFramePr>
          <p:nvPr/>
        </p:nvGraphicFramePr>
        <p:xfrm>
          <a:off x="274320" y="1280160"/>
          <a:ext cx="11612880" cy="4754880"/>
        </p:xfrm>
        <a:graphic>
          <a:graphicData uri="http://schemas.openxmlformats.org/drawingml/2006/table">
            <a:tbl>
              <a:tblPr firstRow="1" bandRow="1">
                <a:tableStyleId>{5C22544A-7EE6-4342-B048-85BDC9FD1C3A}</a:tableStyleId>
              </a:tblPr>
              <a:tblGrid>
                <a:gridCol w="1658982"/>
                <a:gridCol w="1658982"/>
                <a:gridCol w="1658982"/>
                <a:gridCol w="1658982"/>
                <a:gridCol w="1658982"/>
                <a:gridCol w="1658982"/>
                <a:gridCol w="1658988"/>
              </a:tblGrid>
              <a:tr h="528320">
                <a:tc>
                  <a:txBody>
                    <a:bodyPr/>
                    <a:lstStyle/>
                    <a:p>
                      <a:pPr algn="ctr">
                        <a:defRPr sz="1200" b="1">
                          <a:solidFill>
                            <a:srgbClr val="FFFFFF"/>
                          </a:solidFill>
                          <a:latin typeface="Calibri"/>
                        </a:defRPr>
                      </a:pPr>
                      <a:r>
                        <a:t>#</a:t>
                      </a:r>
                    </a:p>
                  </a:txBody>
                  <a:tcPr>
                    <a:solidFill>
                      <a:srgbClr val="2E86C1"/>
                    </a:solidFill>
                  </a:tcPr>
                </a:tc>
                <a:tc>
                  <a:txBody>
                    <a:bodyPr/>
                    <a:lstStyle/>
                    <a:p>
                      <a:pPr algn="ctr">
                        <a:defRPr sz="1200" b="1">
                          <a:solidFill>
                            <a:srgbClr val="FFFFFF"/>
                          </a:solidFill>
                          <a:latin typeface="Calibri"/>
                        </a:defRPr>
                      </a:pPr>
                      <a:r>
                        <a:t>Question</a:t>
                      </a:r>
                    </a:p>
                  </a:txBody>
                  <a:tcPr>
                    <a:solidFill>
                      <a:srgbClr val="2E86C1"/>
                    </a:solidFill>
                  </a:tcPr>
                </a:tc>
                <a:tc>
                  <a:txBody>
                    <a:bodyPr/>
                    <a:lstStyle/>
                    <a:p>
                      <a:pPr algn="ctr">
                        <a:defRPr sz="1200" b="1">
                          <a:solidFill>
                            <a:srgbClr val="FFFFFF"/>
                          </a:solidFill>
                          <a:latin typeface="Calibri"/>
                        </a:defRPr>
                      </a:pPr>
                      <a:r>
                        <a:t>Expected</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528320">
                <a:tc>
                  <a:txBody>
                    <a:bodyPr/>
                    <a:lstStyle/>
                    <a:p>
                      <a:pPr>
                        <a:defRPr sz="1100">
                          <a:solidFill>
                            <a:srgbClr val="1C2A3A"/>
                          </a:solidFill>
                          <a:latin typeface="Calibri"/>
                        </a:defRPr>
                      </a:pPr>
                      <a:r>
                        <a:t>1</a:t>
                      </a:r>
                    </a:p>
                  </a:txBody>
                  <a:tcPr>
                    <a:solidFill>
                      <a:srgbClr val="E0E3E8"/>
                    </a:solidFill>
                  </a:tcPr>
                </a:tc>
                <a:tc>
                  <a:txBody>
                    <a:bodyPr/>
                    <a:lstStyle/>
                    <a:p>
                      <a:pPr>
                        <a:defRPr sz="1100">
                          <a:solidFill>
                            <a:srgbClr val="1C2A3A"/>
                          </a:solidFill>
                          <a:latin typeface="Calibri"/>
                        </a:defRPr>
                      </a:pPr>
                      <a:r>
                        <a:t>Decompose the Return on Equity using the 3-co...</a:t>
                      </a:r>
                    </a:p>
                  </a:txBody>
                  <a:tcPr>
                    <a:solidFill>
                      <a:srgbClr val="E0E3E8"/>
                    </a:solidFill>
                  </a:tcPr>
                </a:tc>
                <a:tc>
                  <a:txBody>
                    <a:bodyPr/>
                    <a:lstStyle/>
                    <a:p>
                      <a:pPr>
                        <a:defRPr sz="1100">
                          <a:solidFill>
                            <a:srgbClr val="1C2A3A"/>
                          </a:solidFill>
                          <a:latin typeface="Calibri"/>
                        </a:defRPr>
                      </a:pPr>
                      <a:r>
                        <a:t>17.98</a:t>
                      </a:r>
                    </a:p>
                  </a:txBody>
                  <a:tcPr>
                    <a:solidFill>
                      <a:srgbClr val="E0E3E8"/>
                    </a:solidFill>
                  </a:tcPr>
                </a:tc>
                <a:tc>
                  <a:txBody>
                    <a:bodyPr/>
                    <a:lstStyle/>
                    <a:p>
                      <a:pPr>
                        <a:defRPr sz="1100">
                          <a:solidFill>
                            <a:srgbClr val="1C2A3A"/>
                          </a:solidFill>
                          <a:latin typeface="Calibri"/>
                        </a:defRPr>
                      </a:pPr>
                      <a:r>
                        <a:t>14.7 [N]</a:t>
                      </a:r>
                    </a:p>
                  </a:txBody>
                  <a:tcPr>
                    <a:solidFill>
                      <a:srgbClr val="E0E3E8"/>
                    </a:solidFill>
                  </a:tcPr>
                </a:tc>
                <a:tc>
                  <a:txBody>
                    <a:bodyPr/>
                    <a:lstStyle/>
                    <a:p>
                      <a:pPr>
                        <a:defRPr sz="1100">
                          <a:solidFill>
                            <a:srgbClr val="1C2A3A"/>
                          </a:solidFill>
                          <a:latin typeface="Calibri"/>
                        </a:defRPr>
                      </a:pPr>
                      <a:r>
                        <a:t>100 [N]</a:t>
                      </a:r>
                    </a:p>
                  </a:txBody>
                  <a:tcPr>
                    <a:solidFill>
                      <a:srgbClr val="E0E3E8"/>
                    </a:solidFill>
                  </a:tcPr>
                </a:tc>
                <a:tc>
                  <a:txBody>
                    <a:bodyPr/>
                    <a:lstStyle/>
                    <a:p>
                      <a:pPr>
                        <a:defRPr sz="1100">
                          <a:solidFill>
                            <a:srgbClr val="1C2A3A"/>
                          </a:solidFill>
                          <a:latin typeface="Calibri"/>
                        </a:defRPr>
                      </a:pPr>
                      <a:r>
                        <a:t>14.7 [N]</a:t>
                      </a:r>
                    </a:p>
                  </a:txBody>
                  <a:tcPr>
                    <a:solidFill>
                      <a:srgbClr val="E0E3E8"/>
                    </a:solidFill>
                  </a:tcPr>
                </a:tc>
                <a:tc>
                  <a:txBody>
                    <a:bodyPr/>
                    <a:lstStyle/>
                    <a:p>
                      <a:pPr>
                        <a:defRPr sz="1100">
                          <a:solidFill>
                            <a:srgbClr val="1C2A3A"/>
                          </a:solidFill>
                          <a:latin typeface="Calibri"/>
                        </a:defRPr>
                      </a:pPr>
                      <a:r>
                        <a:t>14.7 [N]</a:t>
                      </a:r>
                    </a:p>
                  </a:txBody>
                  <a:tcPr>
                    <a:solidFill>
                      <a:srgbClr val="E0E3E8"/>
                    </a:solidFill>
                  </a:tcPr>
                </a:tc>
              </a:tr>
              <a:tr h="528320">
                <a:tc>
                  <a:txBody>
                    <a:bodyPr/>
                    <a:lstStyle/>
                    <a:p>
                      <a:pPr>
                        <a:defRPr sz="1100">
                          <a:solidFill>
                            <a:srgbClr val="1C2A3A"/>
                          </a:solidFill>
                          <a:latin typeface="Calibri"/>
                        </a:defRPr>
                      </a:pPr>
                      <a:r>
                        <a:t>2</a:t>
                      </a:r>
                    </a:p>
                  </a:txBody>
                  <a:tcPr/>
                </a:tc>
                <a:tc>
                  <a:txBody>
                    <a:bodyPr/>
                    <a:lstStyle/>
                    <a:p>
                      <a:pPr>
                        <a:defRPr sz="1100">
                          <a:solidFill>
                            <a:srgbClr val="1C2A3A"/>
                          </a:solidFill>
                          <a:latin typeface="Calibri"/>
                        </a:defRPr>
                      </a:pPr>
                      <a:r>
                        <a:t>Calculate the 3-year Compound Annual Growth R...</a:t>
                      </a:r>
                    </a:p>
                  </a:txBody>
                  <a:tcPr/>
                </a:tc>
                <a:tc>
                  <a:txBody>
                    <a:bodyPr/>
                    <a:lstStyle/>
                    <a:p>
                      <a:pPr>
                        <a:defRPr sz="1100">
                          <a:solidFill>
                            <a:srgbClr val="1C2A3A"/>
                          </a:solidFill>
                          <a:latin typeface="Calibri"/>
                        </a:defRPr>
                      </a:pPr>
                      <a:r>
                        <a:t>10.17</a:t>
                      </a:r>
                    </a:p>
                  </a:txBody>
                  <a:tcPr/>
                </a:tc>
                <a:tc>
                  <a:txBody>
                    <a:bodyPr/>
                    <a:lstStyle/>
                    <a:p>
                      <a:pPr>
                        <a:defRPr sz="1100">
                          <a:solidFill>
                            <a:srgbClr val="1C2A3A"/>
                          </a:solidFill>
                          <a:latin typeface="Calibri"/>
                        </a:defRPr>
                      </a:pPr>
                      <a:r>
                        <a:t>12.7 [N]</a:t>
                      </a:r>
                    </a:p>
                  </a:txBody>
                  <a:tcPr/>
                </a:tc>
                <a:tc>
                  <a:txBody>
                    <a:bodyPr/>
                    <a:lstStyle/>
                    <a:p>
                      <a:pPr>
                        <a:defRPr sz="1100">
                          <a:solidFill>
                            <a:srgbClr val="1C2A3A"/>
                          </a:solidFill>
                          <a:latin typeface="Calibri"/>
                        </a:defRPr>
                      </a:pPr>
                      <a:r>
                        <a:t>37.85 [N]</a:t>
                      </a:r>
                    </a:p>
                  </a:txBody>
                  <a:tcPr/>
                </a:tc>
                <a:tc>
                  <a:txBody>
                    <a:bodyPr/>
                    <a:lstStyle/>
                    <a:p>
                      <a:pPr>
                        <a:defRPr sz="1100">
                          <a:solidFill>
                            <a:srgbClr val="1C2A3A"/>
                          </a:solidFill>
                          <a:latin typeface="Calibri"/>
                        </a:defRPr>
                      </a:pPr>
                      <a:r>
                        <a:t>4.3 [N]</a:t>
                      </a:r>
                    </a:p>
                  </a:txBody>
                  <a:tcPr/>
                </a:tc>
                <a:tc>
                  <a:txBody>
                    <a:bodyPr/>
                    <a:lstStyle/>
                    <a:p>
                      <a:pPr>
                        <a:defRPr sz="1100">
                          <a:solidFill>
                            <a:srgbClr val="1C2A3A"/>
                          </a:solidFill>
                          <a:latin typeface="Calibri"/>
                        </a:defRPr>
                      </a:pPr>
                      <a:r>
                        <a:t>33 [N]</a:t>
                      </a:r>
                    </a:p>
                  </a:txBody>
                  <a:tcPr/>
                </a:tc>
              </a:tr>
              <a:tr h="528320">
                <a:tc>
                  <a:txBody>
                    <a:bodyPr/>
                    <a:lstStyle/>
                    <a:p>
                      <a:pPr>
                        <a:defRPr sz="1100">
                          <a:solidFill>
                            <a:srgbClr val="1C2A3A"/>
                          </a:solidFill>
                          <a:latin typeface="Calibri"/>
                        </a:defRPr>
                      </a:pPr>
                      <a:r>
                        <a:t>3</a:t>
                      </a:r>
                    </a:p>
                  </a:txBody>
                  <a:tcPr>
                    <a:solidFill>
                      <a:srgbClr val="E0E3E8"/>
                    </a:solidFill>
                  </a:tcPr>
                </a:tc>
                <a:tc>
                  <a:txBody>
                    <a:bodyPr/>
                    <a:lstStyle/>
                    <a:p>
                      <a:pPr>
                        <a:defRPr sz="1100">
                          <a:solidFill>
                            <a:srgbClr val="1C2A3A"/>
                          </a:solidFill>
                          <a:latin typeface="Calibri"/>
                        </a:defRPr>
                      </a:pPr>
                      <a:r>
                        <a:t>Calculate the working capital for both quarte...</a:t>
                      </a:r>
                    </a:p>
                  </a:txBody>
                  <a:tcPr>
                    <a:solidFill>
                      <a:srgbClr val="E0E3E8"/>
                    </a:solidFill>
                  </a:tcPr>
                </a:tc>
                <a:tc>
                  <a:txBody>
                    <a:bodyPr/>
                    <a:lstStyle/>
                    <a:p>
                      <a:pPr>
                        <a:defRPr sz="1100">
                          <a:solidFill>
                            <a:srgbClr val="1C2A3A"/>
                          </a:solidFill>
                          <a:latin typeface="Calibri"/>
                        </a:defRPr>
                      </a:pPr>
                      <a:r>
                        <a:t>37.55</a:t>
                      </a:r>
                    </a:p>
                  </a:txBody>
                  <a:tcPr>
                    <a:solidFill>
                      <a:srgbClr val="E0E3E8"/>
                    </a:solidFill>
                  </a:tcPr>
                </a:tc>
                <a:tc>
                  <a:txBody>
                    <a:bodyPr/>
                    <a:lstStyle/>
                    <a:p>
                      <a:pPr>
                        <a:defRPr sz="1100">
                          <a:solidFill>
                            <a:srgbClr val="1C2A3A"/>
                          </a:solidFill>
                          <a:latin typeface="Calibri"/>
                        </a:defRPr>
                      </a:pPr>
                      <a:r>
                        <a:t>37.8 [Y]</a:t>
                      </a:r>
                    </a:p>
                  </a:txBody>
                  <a:tcPr>
                    <a:solidFill>
                      <a:srgbClr val="E0E3E8"/>
                    </a:solidFill>
                  </a:tcPr>
                </a:tc>
                <a:tc>
                  <a:txBody>
                    <a:bodyPr/>
                    <a:lstStyle/>
                    <a:p>
                      <a:pPr>
                        <a:defRPr sz="1100">
                          <a:solidFill>
                            <a:srgbClr val="1C2A3A"/>
                          </a:solidFill>
                          <a:latin typeface="Calibri"/>
                        </a:defRPr>
                      </a:pPr>
                      <a:r>
                        <a:t>37.8 [Y]</a:t>
                      </a:r>
                    </a:p>
                  </a:txBody>
                  <a:tcPr>
                    <a:solidFill>
                      <a:srgbClr val="E0E3E8"/>
                    </a:solidFill>
                  </a:tcPr>
                </a:tc>
                <a:tc>
                  <a:txBody>
                    <a:bodyPr/>
                    <a:lstStyle/>
                    <a:p>
                      <a:pPr>
                        <a:defRPr sz="1100">
                          <a:solidFill>
                            <a:srgbClr val="1C2A3A"/>
                          </a:solidFill>
                          <a:latin typeface="Calibri"/>
                        </a:defRPr>
                      </a:pPr>
                      <a:r>
                        <a:t>41.7 [N]</a:t>
                      </a:r>
                    </a:p>
                  </a:txBody>
                  <a:tcPr>
                    <a:solidFill>
                      <a:srgbClr val="E0E3E8"/>
                    </a:solidFill>
                  </a:tcPr>
                </a:tc>
                <a:tc>
                  <a:txBody>
                    <a:bodyPr/>
                    <a:lstStyle/>
                    <a:p>
                      <a:pPr>
                        <a:defRPr sz="1100">
                          <a:solidFill>
                            <a:srgbClr val="1C2A3A"/>
                          </a:solidFill>
                          <a:latin typeface="Calibri"/>
                        </a:defRPr>
                      </a:pPr>
                      <a:r>
                        <a:t>37.5 [Y]</a:t>
                      </a:r>
                    </a:p>
                  </a:txBody>
                  <a:tcPr>
                    <a:solidFill>
                      <a:srgbClr val="E0E3E8"/>
                    </a:solidFill>
                  </a:tcPr>
                </a:tc>
              </a:tr>
              <a:tr h="528320">
                <a:tc>
                  <a:txBody>
                    <a:bodyPr/>
                    <a:lstStyle/>
                    <a:p>
                      <a:pPr>
                        <a:defRPr sz="1100">
                          <a:solidFill>
                            <a:srgbClr val="1C2A3A"/>
                          </a:solidFill>
                          <a:latin typeface="Calibri"/>
                        </a:defRPr>
                      </a:pPr>
                      <a:r>
                        <a:t>4</a:t>
                      </a:r>
                    </a:p>
                  </a:txBody>
                  <a:tcPr/>
                </a:tc>
                <a:tc>
                  <a:txBody>
                    <a:bodyPr/>
                    <a:lstStyle/>
                    <a:p>
                      <a:pPr>
                        <a:defRPr sz="1100">
                          <a:solidFill>
                            <a:srgbClr val="1C2A3A"/>
                          </a:solidFill>
                          <a:latin typeface="Calibri"/>
                        </a:defRPr>
                      </a:pPr>
                      <a:r>
                        <a:t>Calculate the debt-to-equity ratio by first s...</a:t>
                      </a:r>
                    </a:p>
                  </a:txBody>
                  <a:tcPr/>
                </a:tc>
                <a:tc>
                  <a:txBody>
                    <a:bodyPr/>
                    <a:lstStyle/>
                    <a:p>
                      <a:pPr>
                        <a:defRPr sz="1100">
                          <a:solidFill>
                            <a:srgbClr val="1C2A3A"/>
                          </a:solidFill>
                          <a:latin typeface="Calibri"/>
                        </a:defRPr>
                      </a:pPr>
                      <a:r>
                        <a:t>1.43</a:t>
                      </a:r>
                    </a:p>
                  </a:txBody>
                  <a:tcPr/>
                </a:tc>
                <a:tc>
                  <a:txBody>
                    <a:bodyPr/>
                    <a:lstStyle/>
                    <a:p>
                      <a:pPr>
                        <a:defRPr sz="1100">
                          <a:solidFill>
                            <a:srgbClr val="1C2A3A"/>
                          </a:solidFill>
                          <a:latin typeface="Calibri"/>
                        </a:defRPr>
                      </a:pPr>
                      <a:r>
                        <a:t>1.20 [N]</a:t>
                      </a:r>
                    </a:p>
                  </a:txBody>
                  <a:tcPr/>
                </a:tc>
                <a:tc>
                  <a:txBody>
                    <a:bodyPr/>
                    <a:lstStyle/>
                    <a:p>
                      <a:pPr>
                        <a:defRPr sz="1100">
                          <a:solidFill>
                            <a:srgbClr val="1C2A3A"/>
                          </a:solidFill>
                          <a:latin typeface="Calibri"/>
                        </a:defRPr>
                      </a:pPr>
                      <a:r>
                        <a:t>1.45 [Y]</a:t>
                      </a:r>
                    </a:p>
                  </a:txBody>
                  <a:tcPr/>
                </a:tc>
                <a:tc>
                  <a:txBody>
                    <a:bodyPr/>
                    <a:lstStyle/>
                    <a:p>
                      <a:pPr>
                        <a:defRPr sz="1100">
                          <a:solidFill>
                            <a:srgbClr val="1C2A3A"/>
                          </a:solidFill>
                          <a:latin typeface="Calibri"/>
                        </a:defRPr>
                      </a:pPr>
                      <a:r>
                        <a:t>1.43 [Y]</a:t>
                      </a:r>
                    </a:p>
                  </a:txBody>
                  <a:tcPr/>
                </a:tc>
                <a:tc>
                  <a:txBody>
                    <a:bodyPr/>
                    <a:lstStyle/>
                    <a:p>
                      <a:pPr>
                        <a:defRPr sz="1100">
                          <a:solidFill>
                            <a:srgbClr val="1C2A3A"/>
                          </a:solidFill>
                          <a:latin typeface="Calibri"/>
                        </a:defRPr>
                      </a:pPr>
                      <a:r>
                        <a:t>1.43 [Y]</a:t>
                      </a:r>
                    </a:p>
                  </a:txBody>
                  <a:tcPr/>
                </a:tc>
              </a:tr>
              <a:tr h="528320">
                <a:tc>
                  <a:txBody>
                    <a:bodyPr/>
                    <a:lstStyle/>
                    <a:p>
                      <a:pPr>
                        <a:defRPr sz="1100">
                          <a:solidFill>
                            <a:srgbClr val="1C2A3A"/>
                          </a:solidFill>
                          <a:latin typeface="Calibri"/>
                        </a:defRPr>
                      </a:pPr>
                      <a:r>
                        <a:t>5</a:t>
                      </a:r>
                    </a:p>
                  </a:txBody>
                  <a:tcPr>
                    <a:solidFill>
                      <a:srgbClr val="E0E3E8"/>
                    </a:solidFill>
                  </a:tcPr>
                </a:tc>
                <a:tc>
                  <a:txBody>
                    <a:bodyPr/>
                    <a:lstStyle/>
                    <a:p>
                      <a:pPr>
                        <a:defRPr sz="1100">
                          <a:solidFill>
                            <a:srgbClr val="1C2A3A"/>
                          </a:solidFill>
                          <a:latin typeface="Calibri"/>
                        </a:defRPr>
                      </a:pPr>
                      <a:r>
                        <a:t>Calculate the operating cash flow ratio. Firs...</a:t>
                      </a:r>
                    </a:p>
                  </a:txBody>
                  <a:tcPr>
                    <a:solidFill>
                      <a:srgbClr val="E0E3E8"/>
                    </a:solidFill>
                  </a:tcPr>
                </a:tc>
                <a:tc>
                  <a:txBody>
                    <a:bodyPr/>
                    <a:lstStyle/>
                    <a:p>
                      <a:pPr>
                        <a:defRPr sz="1100">
                          <a:solidFill>
                            <a:srgbClr val="1C2A3A"/>
                          </a:solidFill>
                          <a:latin typeface="Calibri"/>
                        </a:defRPr>
                      </a:pPr>
                      <a:r>
                        <a:t>12.51</a:t>
                      </a:r>
                    </a:p>
                  </a:txBody>
                  <a:tcPr>
                    <a:solidFill>
                      <a:srgbClr val="E0E3E8"/>
                    </a:solidFill>
                  </a:tcPr>
                </a:tc>
                <a:tc>
                  <a:txBody>
                    <a:bodyPr/>
                    <a:lstStyle/>
                    <a:p>
                      <a:pPr>
                        <a:defRPr sz="1100">
                          <a:solidFill>
                            <a:srgbClr val="1C2A3A"/>
                          </a:solidFill>
                          <a:latin typeface="Calibri"/>
                        </a:defRPr>
                      </a:pPr>
                      <a:r>
                        <a:t>10.7 [N]</a:t>
                      </a:r>
                    </a:p>
                  </a:txBody>
                  <a:tcPr>
                    <a:solidFill>
                      <a:srgbClr val="E0E3E8"/>
                    </a:solidFill>
                  </a:tcPr>
                </a:tc>
                <a:tc>
                  <a:txBody>
                    <a:bodyPr/>
                    <a:lstStyle/>
                    <a:p>
                      <a:pPr>
                        <a:defRPr sz="1100">
                          <a:solidFill>
                            <a:srgbClr val="1C2A3A"/>
                          </a:solidFill>
                          <a:latin typeface="Calibri"/>
                        </a:defRPr>
                      </a:pPr>
                      <a:r>
                        <a:t>10.7 [N]</a:t>
                      </a:r>
                    </a:p>
                  </a:txBody>
                  <a:tcPr>
                    <a:solidFill>
                      <a:srgbClr val="E0E3E8"/>
                    </a:solidFill>
                  </a:tcPr>
                </a:tc>
                <a:tc>
                  <a:txBody>
                    <a:bodyPr/>
                    <a:lstStyle/>
                    <a:p>
                      <a:pPr>
                        <a:defRPr sz="1100">
                          <a:solidFill>
                            <a:srgbClr val="1C2A3A"/>
                          </a:solidFill>
                          <a:latin typeface="Calibri"/>
                        </a:defRPr>
                      </a:pPr>
                      <a:r>
                        <a:t>0.73 [N]</a:t>
                      </a:r>
                    </a:p>
                  </a:txBody>
                  <a:tcPr>
                    <a:solidFill>
                      <a:srgbClr val="E0E3E8"/>
                    </a:solidFill>
                  </a:tcPr>
                </a:tc>
                <a:tc>
                  <a:txBody>
                    <a:bodyPr/>
                    <a:lstStyle/>
                    <a:p>
                      <a:pPr>
                        <a:defRPr sz="1100">
                          <a:solidFill>
                            <a:srgbClr val="1C2A3A"/>
                          </a:solidFill>
                          <a:latin typeface="Calibri"/>
                        </a:defRPr>
                      </a:pPr>
                      <a:r>
                        <a:t>10.7 [N]</a:t>
                      </a:r>
                    </a:p>
                  </a:txBody>
                  <a:tcPr>
                    <a:solidFill>
                      <a:srgbClr val="E0E3E8"/>
                    </a:solidFill>
                  </a:tcPr>
                </a:tc>
              </a:tr>
              <a:tr h="528320">
                <a:tc>
                  <a:txBody>
                    <a:bodyPr/>
                    <a:lstStyle/>
                    <a:p>
                      <a:pPr>
                        <a:defRPr sz="1100">
                          <a:solidFill>
                            <a:srgbClr val="1C2A3A"/>
                          </a:solidFill>
                          <a:latin typeface="Calibri"/>
                        </a:defRPr>
                      </a:pPr>
                      <a:r>
                        <a:t>6</a:t>
                      </a:r>
                    </a:p>
                  </a:txBody>
                  <a:tcPr/>
                </a:tc>
                <a:tc>
                  <a:txBody>
                    <a:bodyPr/>
                    <a:lstStyle/>
                    <a:p>
                      <a:pPr>
                        <a:defRPr sz="1100">
                          <a:solidFill>
                            <a:srgbClr val="1C2A3A"/>
                          </a:solidFill>
                          <a:latin typeface="Calibri"/>
                        </a:defRPr>
                      </a:pPr>
                      <a:r>
                        <a:t>Calculate the gross margin, operating margin,...</a:t>
                      </a:r>
                    </a:p>
                  </a:txBody>
                  <a:tcPr/>
                </a:tc>
                <a:tc>
                  <a:txBody>
                    <a:bodyPr/>
                    <a:lstStyle/>
                    <a:p>
                      <a:pPr>
                        <a:defRPr sz="1100">
                          <a:solidFill>
                            <a:srgbClr val="1C2A3A"/>
                          </a:solidFill>
                          <a:latin typeface="Calibri"/>
                        </a:defRPr>
                      </a:pPr>
                      <a:r>
                        <a:t>26.32</a:t>
                      </a:r>
                    </a:p>
                  </a:txBody>
                  <a:tcPr/>
                </a:tc>
                <a:tc>
                  <a:txBody>
                    <a:bodyPr/>
                    <a:lstStyle/>
                    <a:p>
                      <a:pPr>
                        <a:defRPr sz="1100">
                          <a:solidFill>
                            <a:srgbClr val="1C2A3A"/>
                          </a:solidFill>
                          <a:latin typeface="Calibri"/>
                        </a:defRPr>
                      </a:pPr>
                      <a:r>
                        <a:t>42.9 [N]</a:t>
                      </a:r>
                    </a:p>
                  </a:txBody>
                  <a:tcPr/>
                </a:tc>
                <a:tc>
                  <a:txBody>
                    <a:bodyPr/>
                    <a:lstStyle/>
                    <a:p>
                      <a:pPr>
                        <a:defRPr sz="1100">
                          <a:solidFill>
                            <a:srgbClr val="1C2A3A"/>
                          </a:solidFill>
                          <a:latin typeface="Calibri"/>
                        </a:defRPr>
                      </a:pPr>
                      <a:r>
                        <a:t>42.9 [N]</a:t>
                      </a:r>
                    </a:p>
                  </a:txBody>
                  <a:tcPr/>
                </a:tc>
                <a:tc>
                  <a:txBody>
                    <a:bodyPr/>
                    <a:lstStyle/>
                    <a:p>
                      <a:pPr>
                        <a:defRPr sz="1100">
                          <a:solidFill>
                            <a:srgbClr val="1C2A3A"/>
                          </a:solidFill>
                          <a:latin typeface="Calibri"/>
                        </a:defRPr>
                      </a:pPr>
                      <a:r>
                        <a:t>24.9 [N]</a:t>
                      </a:r>
                    </a:p>
                  </a:txBody>
                  <a:tcPr/>
                </a:tc>
                <a:tc>
                  <a:txBody>
                    <a:bodyPr/>
                    <a:lstStyle/>
                    <a:p>
                      <a:pPr>
                        <a:defRPr sz="1100">
                          <a:solidFill>
                            <a:srgbClr val="1C2A3A"/>
                          </a:solidFill>
                          <a:latin typeface="Calibri"/>
                        </a:defRPr>
                      </a:pPr>
                      <a:r>
                        <a:t>15.0 [N]</a:t>
                      </a:r>
                    </a:p>
                  </a:txBody>
                  <a:tcPr/>
                </a:tc>
              </a:tr>
              <a:tr h="528320">
                <a:tc>
                  <a:txBody>
                    <a:bodyPr/>
                    <a:lstStyle/>
                    <a:p>
                      <a:pPr>
                        <a:defRPr sz="1100">
                          <a:solidFill>
                            <a:srgbClr val="1C2A3A"/>
                          </a:solidFill>
                          <a:latin typeface="Calibri"/>
                        </a:defRPr>
                      </a:pPr>
                      <a:r>
                        <a:t>7</a:t>
                      </a:r>
                    </a:p>
                  </a:txBody>
                  <a:tcPr>
                    <a:solidFill>
                      <a:srgbClr val="E0E3E8"/>
                    </a:solidFill>
                  </a:tcPr>
                </a:tc>
                <a:tc>
                  <a:txBody>
                    <a:bodyPr/>
                    <a:lstStyle/>
                    <a:p>
                      <a:pPr>
                        <a:defRPr sz="1100">
                          <a:solidFill>
                            <a:srgbClr val="1C2A3A"/>
                          </a:solidFill>
                          <a:latin typeface="Calibri"/>
                        </a:defRPr>
                      </a:pPr>
                      <a:r>
                        <a:t>Calculate the sustainable growth rate: SGR = ...</a:t>
                      </a:r>
                    </a:p>
                  </a:txBody>
                  <a:tcPr>
                    <a:solidFill>
                      <a:srgbClr val="E0E3E8"/>
                    </a:solidFill>
                  </a:tcPr>
                </a:tc>
                <a:tc>
                  <a:txBody>
                    <a:bodyPr/>
                    <a:lstStyle/>
                    <a:p>
                      <a:pPr>
                        <a:defRPr sz="1100">
                          <a:solidFill>
                            <a:srgbClr val="1C2A3A"/>
                          </a:solidFill>
                          <a:latin typeface="Calibri"/>
                        </a:defRPr>
                      </a:pPr>
                      <a:r>
                        <a:t>12.59</a:t>
                      </a:r>
                    </a:p>
                  </a:txBody>
                  <a:tcPr>
                    <a:solidFill>
                      <a:srgbClr val="E0E3E8"/>
                    </a:solidFill>
                  </a:tcPr>
                </a:tc>
                <a:tc>
                  <a:txBody>
                    <a:bodyPr/>
                    <a:lstStyle/>
                    <a:p>
                      <a:pPr>
                        <a:defRPr sz="1100">
                          <a:solidFill>
                            <a:srgbClr val="1C2A3A"/>
                          </a:solidFill>
                          <a:latin typeface="Calibri"/>
                        </a:defRPr>
                      </a:pPr>
                      <a:r>
                        <a:t>12 [Y]</a:t>
                      </a:r>
                    </a:p>
                  </a:txBody>
                  <a:tcPr>
                    <a:solidFill>
                      <a:srgbClr val="E0E3E8"/>
                    </a:solidFill>
                  </a:tcPr>
                </a:tc>
                <a:tc>
                  <a:txBody>
                    <a:bodyPr/>
                    <a:lstStyle/>
                    <a:p>
                      <a:pPr>
                        <a:defRPr sz="1100">
                          <a:solidFill>
                            <a:srgbClr val="1C2A3A"/>
                          </a:solidFill>
                          <a:latin typeface="Calibri"/>
                        </a:defRPr>
                      </a:pPr>
                      <a:r>
                        <a:t>12 [Y]</a:t>
                      </a:r>
                    </a:p>
                  </a:txBody>
                  <a:tcPr>
                    <a:solidFill>
                      <a:srgbClr val="E0E3E8"/>
                    </a:solidFill>
                  </a:tcPr>
                </a:tc>
                <a:tc>
                  <a:txBody>
                    <a:bodyPr/>
                    <a:lstStyle/>
                    <a:p>
                      <a:pPr>
                        <a:defRPr sz="1100">
                          <a:solidFill>
                            <a:srgbClr val="1C2A3A"/>
                          </a:solidFill>
                          <a:latin typeface="Calibri"/>
                        </a:defRPr>
                      </a:pPr>
                      <a:r>
                        <a:t>18 [N]</a:t>
                      </a:r>
                    </a:p>
                  </a:txBody>
                  <a:tcPr>
                    <a:solidFill>
                      <a:srgbClr val="E0E3E8"/>
                    </a:solidFill>
                  </a:tcPr>
                </a:tc>
                <a:tc>
                  <a:txBody>
                    <a:bodyPr/>
                    <a:lstStyle/>
                    <a:p>
                      <a:pPr>
                        <a:defRPr sz="1100">
                          <a:solidFill>
                            <a:srgbClr val="1C2A3A"/>
                          </a:solidFill>
                          <a:latin typeface="Calibri"/>
                        </a:defRPr>
                      </a:pPr>
                      <a:r>
                        <a:t>18 [N]</a:t>
                      </a:r>
                    </a:p>
                  </a:txBody>
                  <a:tcPr>
                    <a:solidFill>
                      <a:srgbClr val="E0E3E8"/>
                    </a:solidFill>
                  </a:tcPr>
                </a:tc>
              </a:tr>
              <a:tr h="528320">
                <a:tc>
                  <a:txBody>
                    <a:bodyPr/>
                    <a:lstStyle/>
                    <a:p>
                      <a:pPr>
                        <a:defRPr sz="1100">
                          <a:solidFill>
                            <a:srgbClr val="1C2A3A"/>
                          </a:solidFill>
                          <a:latin typeface="Calibri"/>
                        </a:defRPr>
                      </a:pPr>
                      <a:r>
                        <a:t>8</a:t>
                      </a:r>
                    </a:p>
                  </a:txBody>
                  <a:tcPr/>
                </a:tc>
                <a:tc>
                  <a:txBody>
                    <a:bodyPr/>
                    <a:lstStyle/>
                    <a:p>
                      <a:pPr>
                        <a:defRPr sz="1100">
                          <a:solidFill>
                            <a:srgbClr val="1C2A3A"/>
                          </a:solidFill>
                          <a:latin typeface="Calibri"/>
                        </a:defRPr>
                      </a:pPr>
                      <a:r>
                        <a:t>Calculate the interest coverage ratio (EBIT/I...</a:t>
                      </a:r>
                    </a:p>
                  </a:txBody>
                  <a:tcPr/>
                </a:tc>
                <a:tc>
                  <a:txBody>
                    <a:bodyPr/>
                    <a:lstStyle/>
                    <a:p>
                      <a:pPr>
                        <a:defRPr sz="1100">
                          <a:solidFill>
                            <a:srgbClr val="1C2A3A"/>
                          </a:solidFill>
                          <a:latin typeface="Calibri"/>
                        </a:defRPr>
                      </a:pPr>
                      <a:r>
                        <a:t>21.74</a:t>
                      </a:r>
                    </a:p>
                  </a:txBody>
                  <a:tcPr/>
                </a:tc>
                <a:tc>
                  <a:txBody>
                    <a:bodyPr/>
                    <a:lstStyle/>
                    <a:p>
                      <a:pPr>
                        <a:defRPr sz="1100">
                          <a:solidFill>
                            <a:srgbClr val="1C2A3A"/>
                          </a:solidFill>
                          <a:latin typeface="Calibri"/>
                        </a:defRPr>
                      </a:pPr>
                      <a:r>
                        <a:t>28 [N]</a:t>
                      </a:r>
                    </a:p>
                  </a:txBody>
                  <a:tcPr/>
                </a:tc>
                <a:tc>
                  <a:txBody>
                    <a:bodyPr/>
                    <a:lstStyle/>
                    <a:p>
                      <a:pPr>
                        <a:defRPr sz="1100">
                          <a:solidFill>
                            <a:srgbClr val="1C2A3A"/>
                          </a:solidFill>
                          <a:latin typeface="Calibri"/>
                        </a:defRPr>
                      </a:pPr>
                      <a:r>
                        <a:t>25 [N]</a:t>
                      </a:r>
                    </a:p>
                  </a:txBody>
                  <a:tcPr/>
                </a:tc>
                <a:tc>
                  <a:txBody>
                    <a:bodyPr/>
                    <a:lstStyle/>
                    <a:p>
                      <a:pPr>
                        <a:defRPr sz="1100">
                          <a:solidFill>
                            <a:srgbClr val="1C2A3A"/>
                          </a:solidFill>
                          <a:latin typeface="Calibri"/>
                        </a:defRPr>
                      </a:pPr>
                      <a:r>
                        <a:t>31.7 [N]</a:t>
                      </a:r>
                    </a:p>
                  </a:txBody>
                  <a:tcPr/>
                </a:tc>
                <a:tc>
                  <a:txBody>
                    <a:bodyPr/>
                    <a:lstStyle/>
                    <a:p>
                      <a:pPr>
                        <a:defRPr sz="1100">
                          <a:solidFill>
                            <a:srgbClr val="1C2A3A"/>
                          </a:solidFill>
                          <a:latin typeface="Calibri"/>
                        </a:defRPr>
                      </a:pPr>
                      <a:r>
                        <a:t>27 [N]</a:t>
                      </a:r>
                    </a:p>
                  </a:txBody>
                  <a:tcPr/>
                </a:tc>
              </a:tr>
            </a:tbl>
          </a:graphicData>
        </a:graphic>
      </p:graphicFrame>
      <p:sp>
        <p:nvSpPr>
          <p:cNvPr id="4" name="TextBox 3"/>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46/55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4: DistilBERT 66M - Spam Detection</a:t>
            </a:r>
          </a:p>
          <a:p>
            <a:pPr>
              <a:defRPr sz="1600">
                <a:solidFill>
                  <a:srgbClr val="ECEFF1"/>
                </a:solidFill>
                <a:latin typeface="Calibri"/>
              </a:defRPr>
            </a:pPr>
            <a:r>
              <a:t>Architecture: DistilBERT-base-uncased (66M parameters)</a:t>
            </a:r>
          </a:p>
        </p:txBody>
      </p:sp>
      <p:sp>
        <p:nvSpPr>
          <p:cNvPr id="3" name="Rectangle 2"/>
          <p:cNvSpPr/>
          <p:nvPr/>
        </p:nvSpPr>
        <p:spPr>
          <a:xfrm>
            <a:off x="457200" y="1280160"/>
            <a:ext cx="2651760" cy="10972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Base DistilBERT</a:t>
            </a:r>
          </a:p>
          <a:p>
            <a:pPr>
              <a:defRPr sz="1200">
                <a:solidFill>
                  <a:srgbClr val="1C2A3A"/>
                </a:solidFill>
                <a:latin typeface="Calibri"/>
              </a:defRPr>
            </a:pPr>
            <a:r>
              <a:t>Accuracy: 85.0%  (17/20)</a:t>
            </a:r>
          </a:p>
        </p:txBody>
      </p:sp>
      <p:sp>
        <p:nvSpPr>
          <p:cNvPr id="4" name="Rectangle 3"/>
          <p:cNvSpPr/>
          <p:nvPr/>
        </p:nvSpPr>
        <p:spPr>
          <a:xfrm>
            <a:off x="3291840" y="1280160"/>
            <a:ext cx="2651760" cy="10972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Fine-tuned (spam-trained)</a:t>
            </a:r>
          </a:p>
          <a:p>
            <a:pPr>
              <a:defRPr sz="1200">
                <a:solidFill>
                  <a:srgbClr val="1C2A3A"/>
                </a:solidFill>
                <a:latin typeface="Calibri"/>
              </a:defRPr>
            </a:pPr>
            <a:r>
              <a:t>Accuracy: 95.0%  (19/20)</a:t>
            </a:r>
          </a:p>
        </p:txBody>
      </p:sp>
      <p:sp>
        <p:nvSpPr>
          <p:cNvPr id="5" name="Rectangle 4"/>
          <p:cNvSpPr/>
          <p:nvPr/>
        </p:nvSpPr>
        <p:spPr>
          <a:xfrm>
            <a:off x="6126480" y="1280160"/>
            <a:ext cx="2651760" cy="10972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DistilBERT + RAG</a:t>
            </a:r>
          </a:p>
          <a:p>
            <a:pPr>
              <a:defRPr sz="1200">
                <a:solidFill>
                  <a:srgbClr val="1C2A3A"/>
                </a:solidFill>
                <a:latin typeface="Calibri"/>
              </a:defRPr>
            </a:pPr>
            <a:r>
              <a:t>Accuracy: 90.0%  (18/20)</a:t>
            </a:r>
          </a:p>
        </p:txBody>
      </p:sp>
      <p:sp>
        <p:nvSpPr>
          <p:cNvPr id="6" name="Rectangle 5"/>
          <p:cNvSpPr/>
          <p:nvPr/>
        </p:nvSpPr>
        <p:spPr>
          <a:xfrm>
            <a:off x="8961120" y="1280160"/>
            <a:ext cx="2651760" cy="109728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Fine-tuned + RAG (hybrid)</a:t>
            </a:r>
          </a:p>
          <a:p>
            <a:pPr>
              <a:defRPr sz="1200">
                <a:solidFill>
                  <a:srgbClr val="1C2A3A"/>
                </a:solidFill>
                <a:latin typeface="Calibri"/>
              </a:defRPr>
            </a:pPr>
            <a:r>
              <a:t>Accuracy: 95.0%  (19/20)</a:t>
            </a:r>
          </a:p>
        </p:txBody>
      </p:sp>
      <p:graphicFrame>
        <p:nvGraphicFramePr>
          <p:cNvPr id="7" name="Chart 6"/>
          <p:cNvGraphicFramePr>
            <a:graphicFrameLocks noGrp="1"/>
          </p:cNvGraphicFramePr>
          <p:nvPr/>
        </p:nvGraphicFramePr>
        <p:xfrm>
          <a:off x="457200" y="2560320"/>
          <a:ext cx="5303520" cy="32004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6217920" y="2560320"/>
          <a:ext cx="5303520" cy="3200400"/>
        </p:xfrm>
        <a:graphic>
          <a:graphicData uri="http://schemas.openxmlformats.org/drawingml/2006/chart">
            <c:chart xmlns:c="http://schemas.openxmlformats.org/drawingml/2006/chart" r:id="rId3"/>
          </a:graphicData>
        </a:graphic>
      </p:graphicFrame>
      <p:sp>
        <p:nvSpPr>
          <p:cNvPr id="9" name="TextBox 8"/>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47/55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4: DistilBERT 66M - Spam Detection - Token Usage &amp; Cost</a:t>
            </a:r>
          </a:p>
        </p:txBody>
      </p:sp>
      <p:graphicFrame>
        <p:nvGraphicFramePr>
          <p:cNvPr id="3" name="Table 2"/>
          <p:cNvGraphicFramePr>
            <a:graphicFrameLocks noGrp="1"/>
          </p:cNvGraphicFramePr>
          <p:nvPr/>
        </p:nvGraphicFramePr>
        <p:xfrm>
          <a:off x="457200" y="1371600"/>
          <a:ext cx="11247120" cy="32004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0005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DistilBERT</a:t>
                      </a:r>
                    </a:p>
                  </a:txBody>
                  <a:tcPr>
                    <a:solidFill>
                      <a:srgbClr val="2E86C1"/>
                    </a:solidFill>
                  </a:tcPr>
                </a:tc>
                <a:tc>
                  <a:txBody>
                    <a:bodyPr/>
                    <a:lstStyle/>
                    <a:p>
                      <a:pPr algn="ctr">
                        <a:defRPr sz="1200" b="1">
                          <a:solidFill>
                            <a:srgbClr val="FFFFFF"/>
                          </a:solidFill>
                          <a:latin typeface="Calibri"/>
                        </a:defRPr>
                      </a:pPr>
                      <a:r>
                        <a:t>Fine-tuned</a:t>
                      </a:r>
                    </a:p>
                  </a:txBody>
                  <a:tcPr>
                    <a:solidFill>
                      <a:srgbClr val="2E86C1"/>
                    </a:solidFill>
                  </a:tcPr>
                </a:tc>
                <a:tc>
                  <a:txBody>
                    <a:bodyPr/>
                    <a:lstStyle/>
                    <a:p>
                      <a:pPr algn="ctr">
                        <a:defRPr sz="1200" b="1">
                          <a:solidFill>
                            <a:srgbClr val="FFFFFF"/>
                          </a:solidFill>
                          <a:latin typeface="Calibri"/>
                        </a:defRPr>
                      </a:pPr>
                      <a:r>
                        <a:t>DistilBERT + RAG</a:t>
                      </a:r>
                    </a:p>
                  </a:txBody>
                  <a:tcPr>
                    <a:solidFill>
                      <a:srgbClr val="2E86C1"/>
                    </a:solidFill>
                  </a:tcPr>
                </a:tc>
                <a:tc>
                  <a:txBody>
                    <a:bodyPr/>
                    <a:lstStyle/>
                    <a:p>
                      <a:pPr algn="ctr">
                        <a:defRPr sz="1200" b="1">
                          <a:solidFill>
                            <a:srgbClr val="FFFFFF"/>
                          </a:solidFill>
                          <a:latin typeface="Calibri"/>
                        </a:defRPr>
                      </a:pPr>
                      <a:r>
                        <a:t>Fine-tuned + RAG</a:t>
                      </a:r>
                    </a:p>
                  </a:txBody>
                  <a:tcPr>
                    <a:solidFill>
                      <a:srgbClr val="2E86C1"/>
                    </a:solidFill>
                  </a:tcPr>
                </a:tc>
              </a:tr>
              <a:tr h="400050">
                <a:tc>
                  <a:txBody>
                    <a:bodyPr/>
                    <a:lstStyle/>
                    <a:p>
                      <a:pPr>
                        <a:defRPr sz="1100">
                          <a:solidFill>
                            <a:srgbClr val="1C2A3A"/>
                          </a:solidFill>
                          <a:latin typeface="Calibri"/>
                        </a:defRPr>
                      </a:pPr>
                      <a:r>
                        <a:t>Avg Tokens / Query</a:t>
                      </a:r>
                    </a:p>
                  </a:txBody>
                  <a:tcPr>
                    <a:solidFill>
                      <a:srgbClr val="E0E3E8"/>
                    </a:solidFill>
                  </a:tcPr>
                </a:tc>
                <a:tc>
                  <a:txBody>
                    <a:bodyPr/>
                    <a:lstStyle/>
                    <a:p>
                      <a:pPr>
                        <a:defRPr sz="1100">
                          <a:solidFill>
                            <a:srgbClr val="1C2A3A"/>
                          </a:solidFill>
                          <a:latin typeface="Calibri"/>
                        </a:defRPr>
                      </a:pPr>
                      <a:r>
                        <a:t>39</a:t>
                      </a:r>
                    </a:p>
                  </a:txBody>
                  <a:tcPr>
                    <a:solidFill>
                      <a:srgbClr val="E0E3E8"/>
                    </a:solidFill>
                  </a:tcPr>
                </a:tc>
                <a:tc>
                  <a:txBody>
                    <a:bodyPr/>
                    <a:lstStyle/>
                    <a:p>
                      <a:pPr>
                        <a:defRPr sz="1100">
                          <a:solidFill>
                            <a:srgbClr val="1C2A3A"/>
                          </a:solidFill>
                          <a:latin typeface="Calibri"/>
                        </a:defRPr>
                      </a:pPr>
                      <a:r>
                        <a:t>512</a:t>
                      </a:r>
                    </a:p>
                  </a:txBody>
                  <a:tcPr>
                    <a:solidFill>
                      <a:srgbClr val="E0E3E8"/>
                    </a:solidFill>
                  </a:tcPr>
                </a:tc>
                <a:tc>
                  <a:txBody>
                    <a:bodyPr/>
                    <a:lstStyle/>
                    <a:p>
                      <a:pPr>
                        <a:defRPr sz="1100">
                          <a:solidFill>
                            <a:srgbClr val="1C2A3A"/>
                          </a:solidFill>
                          <a:latin typeface="Calibri"/>
                        </a:defRPr>
                      </a:pPr>
                      <a:r>
                        <a:t>114</a:t>
                      </a:r>
                    </a:p>
                  </a:txBody>
                  <a:tcPr>
                    <a:solidFill>
                      <a:srgbClr val="E0E3E8"/>
                    </a:solidFill>
                  </a:tcPr>
                </a:tc>
                <a:tc>
                  <a:txBody>
                    <a:bodyPr/>
                    <a:lstStyle/>
                    <a:p>
                      <a:pPr>
                        <a:defRPr sz="1100">
                          <a:solidFill>
                            <a:srgbClr val="1C2A3A"/>
                          </a:solidFill>
                          <a:latin typeface="Calibri"/>
                        </a:defRPr>
                      </a:pPr>
                      <a:r>
                        <a:t>626</a:t>
                      </a:r>
                    </a:p>
                  </a:txBody>
                  <a:tcPr>
                    <a:solidFill>
                      <a:srgbClr val="E0E3E8"/>
                    </a:solidFill>
                  </a:tcPr>
                </a:tc>
              </a:tr>
              <a:tr h="400050">
                <a:tc>
                  <a:txBody>
                    <a:bodyPr/>
                    <a:lstStyle/>
                    <a:p>
                      <a:pPr>
                        <a:defRPr sz="1100">
                          <a:solidFill>
                            <a:srgbClr val="1C2A3A"/>
                          </a:solidFill>
                          <a:latin typeface="Calibri"/>
                        </a:defRPr>
                      </a:pPr>
                      <a:r>
                        <a:t>Total Tokens</a:t>
                      </a:r>
                    </a:p>
                  </a:txBody>
                  <a:tcPr/>
                </a:tc>
                <a:tc>
                  <a:txBody>
                    <a:bodyPr/>
                    <a:lstStyle/>
                    <a:p>
                      <a:pPr>
                        <a:defRPr sz="1100">
                          <a:solidFill>
                            <a:srgbClr val="1C2A3A"/>
                          </a:solidFill>
                          <a:latin typeface="Calibri"/>
                        </a:defRPr>
                      </a:pPr>
                      <a:r>
                        <a:t>778</a:t>
                      </a:r>
                    </a:p>
                  </a:txBody>
                  <a:tcPr/>
                </a:tc>
                <a:tc>
                  <a:txBody>
                    <a:bodyPr/>
                    <a:lstStyle/>
                    <a:p>
                      <a:pPr>
                        <a:defRPr sz="1100">
                          <a:solidFill>
                            <a:srgbClr val="1C2A3A"/>
                          </a:solidFill>
                          <a:latin typeface="Calibri"/>
                        </a:defRPr>
                      </a:pPr>
                      <a:r>
                        <a:t>10,240</a:t>
                      </a:r>
                    </a:p>
                  </a:txBody>
                  <a:tcPr/>
                </a:tc>
                <a:tc>
                  <a:txBody>
                    <a:bodyPr/>
                    <a:lstStyle/>
                    <a:p>
                      <a:pPr>
                        <a:defRPr sz="1100">
                          <a:solidFill>
                            <a:srgbClr val="1C2A3A"/>
                          </a:solidFill>
                          <a:latin typeface="Calibri"/>
                        </a:defRPr>
                      </a:pPr>
                      <a:r>
                        <a:t>2,282</a:t>
                      </a:r>
                    </a:p>
                  </a:txBody>
                  <a:tcPr/>
                </a:tc>
                <a:tc>
                  <a:txBody>
                    <a:bodyPr/>
                    <a:lstStyle/>
                    <a:p>
                      <a:pPr>
                        <a:defRPr sz="1100">
                          <a:solidFill>
                            <a:srgbClr val="1C2A3A"/>
                          </a:solidFill>
                          <a:latin typeface="Calibri"/>
                        </a:defRPr>
                      </a:pPr>
                      <a:r>
                        <a:t>12,522</a:t>
                      </a:r>
                    </a:p>
                  </a:txBody>
                  <a:tcPr/>
                </a:tc>
              </a:tr>
              <a:tr h="400050">
                <a:tc>
                  <a:txBody>
                    <a:bodyPr/>
                    <a:lstStyle/>
                    <a:p>
                      <a:pPr>
                        <a:defRPr sz="1100">
                          <a:solidFill>
                            <a:srgbClr val="1C2A3A"/>
                          </a:solidFill>
                          <a:latin typeface="Calibri"/>
                        </a:defRPr>
                      </a:pPr>
                      <a:r>
                        <a:t>Prompt Tokens (total)</a:t>
                      </a:r>
                    </a:p>
                  </a:txBody>
                  <a:tcPr>
                    <a:solidFill>
                      <a:srgbClr val="E0E3E8"/>
                    </a:solidFill>
                  </a:tcPr>
                </a:tc>
                <a:tc>
                  <a:txBody>
                    <a:bodyPr/>
                    <a:lstStyle/>
                    <a:p>
                      <a:pPr>
                        <a:defRPr sz="1100">
                          <a:solidFill>
                            <a:srgbClr val="1C2A3A"/>
                          </a:solidFill>
                          <a:latin typeface="Calibri"/>
                        </a:defRPr>
                      </a:pPr>
                      <a:r>
                        <a:t>778</a:t>
                      </a:r>
                    </a:p>
                  </a:txBody>
                  <a:tcPr>
                    <a:solidFill>
                      <a:srgbClr val="E0E3E8"/>
                    </a:solidFill>
                  </a:tcPr>
                </a:tc>
                <a:tc>
                  <a:txBody>
                    <a:bodyPr/>
                    <a:lstStyle/>
                    <a:p>
                      <a:pPr>
                        <a:defRPr sz="1100">
                          <a:solidFill>
                            <a:srgbClr val="1C2A3A"/>
                          </a:solidFill>
                          <a:latin typeface="Calibri"/>
                        </a:defRPr>
                      </a:pPr>
                      <a:r>
                        <a:t>10,240</a:t>
                      </a:r>
                    </a:p>
                  </a:txBody>
                  <a:tcPr>
                    <a:solidFill>
                      <a:srgbClr val="E0E3E8"/>
                    </a:solidFill>
                  </a:tcPr>
                </a:tc>
                <a:tc>
                  <a:txBody>
                    <a:bodyPr/>
                    <a:lstStyle/>
                    <a:p>
                      <a:pPr>
                        <a:defRPr sz="1100">
                          <a:solidFill>
                            <a:srgbClr val="1C2A3A"/>
                          </a:solidFill>
                          <a:latin typeface="Calibri"/>
                        </a:defRPr>
                      </a:pPr>
                      <a:r>
                        <a:t>2,282</a:t>
                      </a:r>
                    </a:p>
                  </a:txBody>
                  <a:tcPr>
                    <a:solidFill>
                      <a:srgbClr val="E0E3E8"/>
                    </a:solidFill>
                  </a:tcPr>
                </a:tc>
                <a:tc>
                  <a:txBody>
                    <a:bodyPr/>
                    <a:lstStyle/>
                    <a:p>
                      <a:pPr>
                        <a:defRPr sz="1100">
                          <a:solidFill>
                            <a:srgbClr val="1C2A3A"/>
                          </a:solidFill>
                          <a:latin typeface="Calibri"/>
                        </a:defRPr>
                      </a:pPr>
                      <a:r>
                        <a:t>12,522</a:t>
                      </a:r>
                    </a:p>
                  </a:txBody>
                  <a:tcPr>
                    <a:solidFill>
                      <a:srgbClr val="E0E3E8"/>
                    </a:solidFill>
                  </a:tcPr>
                </a:tc>
              </a:tr>
              <a:tr h="400050">
                <a:tc>
                  <a:txBody>
                    <a:bodyPr/>
                    <a:lstStyle/>
                    <a:p>
                      <a:pPr>
                        <a:defRPr sz="1100">
                          <a:solidFill>
                            <a:srgbClr val="1C2A3A"/>
                          </a:solidFill>
                          <a:latin typeface="Calibri"/>
                        </a:defRPr>
                      </a:pPr>
                      <a:r>
                        <a:t>Completion Tokens (total)</a:t>
                      </a:r>
                    </a:p>
                  </a:txBody>
                  <a:tcPr/>
                </a:tc>
                <a:tc>
                  <a:txBody>
                    <a:bodyPr/>
                    <a:lstStyle/>
                    <a:p>
                      <a:pPr>
                        <a:defRPr sz="1100">
                          <a:solidFill>
                            <a:srgbClr val="1C2A3A"/>
                          </a:solidFill>
                          <a:latin typeface="Calibri"/>
                        </a:defRPr>
                      </a:pPr>
                      <a:r>
                        <a:t>0</a:t>
                      </a:r>
                    </a:p>
                  </a:txBody>
                  <a:tcPr/>
                </a:tc>
                <a:tc>
                  <a:txBody>
                    <a:bodyPr/>
                    <a:lstStyle/>
                    <a:p>
                      <a:pPr>
                        <a:defRPr sz="1100">
                          <a:solidFill>
                            <a:srgbClr val="1C2A3A"/>
                          </a:solidFill>
                          <a:latin typeface="Calibri"/>
                        </a:defRPr>
                      </a:pPr>
                      <a:r>
                        <a:t>0</a:t>
                      </a:r>
                    </a:p>
                  </a:txBody>
                  <a:tcPr/>
                </a:tc>
                <a:tc>
                  <a:txBody>
                    <a:bodyPr/>
                    <a:lstStyle/>
                    <a:p>
                      <a:pPr>
                        <a:defRPr sz="1100">
                          <a:solidFill>
                            <a:srgbClr val="1C2A3A"/>
                          </a:solidFill>
                          <a:latin typeface="Calibri"/>
                        </a:defRPr>
                      </a:pPr>
                      <a:r>
                        <a:t>0</a:t>
                      </a:r>
                    </a:p>
                  </a:txBody>
                  <a:tcPr/>
                </a:tc>
                <a:tc>
                  <a:txBody>
                    <a:bodyPr/>
                    <a:lstStyle/>
                    <a:p>
                      <a:pPr>
                        <a:defRPr sz="1100">
                          <a:solidFill>
                            <a:srgbClr val="1C2A3A"/>
                          </a:solidFill>
                          <a:latin typeface="Calibri"/>
                        </a:defRPr>
                      </a:pPr>
                      <a:r>
                        <a:t>0</a:t>
                      </a:r>
                    </a:p>
                  </a:txBody>
                  <a:tcPr/>
                </a:tc>
              </a:tr>
              <a:tr h="400050">
                <a:tc>
                  <a:txBody>
                    <a:bodyPr/>
                    <a:lstStyle/>
                    <a:p>
                      <a:pPr>
                        <a:defRPr sz="1100">
                          <a:solidFill>
                            <a:srgbClr val="1C2A3A"/>
                          </a:solidFill>
                          <a:latin typeface="Calibri"/>
                        </a:defRPr>
                      </a:pPr>
                      <a:r>
                        <a:t>Throughput (tokens/sec)</a:t>
                      </a:r>
                    </a:p>
                  </a:txBody>
                  <a:tcPr>
                    <a:solidFill>
                      <a:srgbClr val="E0E3E8"/>
                    </a:solidFill>
                  </a:tcPr>
                </a:tc>
                <a:tc>
                  <a:txBody>
                    <a:bodyPr/>
                    <a:lstStyle/>
                    <a:p>
                      <a:pPr>
                        <a:defRPr sz="1100">
                          <a:solidFill>
                            <a:srgbClr val="1C2A3A"/>
                          </a:solidFill>
                          <a:latin typeface="Calibri"/>
                        </a:defRPr>
                      </a:pPr>
                      <a:r>
                        <a:t>1,232</a:t>
                      </a:r>
                    </a:p>
                  </a:txBody>
                  <a:tcPr>
                    <a:solidFill>
                      <a:srgbClr val="E0E3E8"/>
                    </a:solidFill>
                  </a:tcPr>
                </a:tc>
                <a:tc>
                  <a:txBody>
                    <a:bodyPr/>
                    <a:lstStyle/>
                    <a:p>
                      <a:pPr>
                        <a:defRPr sz="1100">
                          <a:solidFill>
                            <a:srgbClr val="1C2A3A"/>
                          </a:solidFill>
                          <a:latin typeface="Calibri"/>
                        </a:defRPr>
                      </a:pPr>
                      <a:r>
                        <a:t>2,718</a:t>
                      </a:r>
                    </a:p>
                  </a:txBody>
                  <a:tcPr>
                    <a:solidFill>
                      <a:srgbClr val="E0E3E8"/>
                    </a:solidFill>
                  </a:tcPr>
                </a:tc>
                <a:tc>
                  <a:txBody>
                    <a:bodyPr/>
                    <a:lstStyle/>
                    <a:p>
                      <a:pPr>
                        <a:defRPr sz="1100">
                          <a:solidFill>
                            <a:srgbClr val="1C2A3A"/>
                          </a:solidFill>
                          <a:latin typeface="Calibri"/>
                        </a:defRPr>
                      </a:pPr>
                      <a:r>
                        <a:t>3,537</a:t>
                      </a:r>
                    </a:p>
                  </a:txBody>
                  <a:tcPr>
                    <a:solidFill>
                      <a:srgbClr val="E0E3E8"/>
                    </a:solidFill>
                  </a:tcPr>
                </a:tc>
                <a:tc>
                  <a:txBody>
                    <a:bodyPr/>
                    <a:lstStyle/>
                    <a:p>
                      <a:pPr>
                        <a:defRPr sz="1100">
                          <a:solidFill>
                            <a:srgbClr val="1C2A3A"/>
                          </a:solidFill>
                          <a:latin typeface="Calibri"/>
                        </a:defRPr>
                      </a:pPr>
                      <a:r>
                        <a:t>2,819</a:t>
                      </a:r>
                    </a:p>
                  </a:txBody>
                  <a:tcPr>
                    <a:solidFill>
                      <a:srgbClr val="E0E3E8"/>
                    </a:solidFill>
                  </a:tcPr>
                </a:tc>
              </a:tr>
              <a:tr h="400050">
                <a:tc>
                  <a:txBody>
                    <a:bodyPr/>
                    <a:lstStyle/>
                    <a:p>
                      <a:pPr>
                        <a:defRPr sz="1100">
                          <a:solidFill>
                            <a:srgbClr val="1C2A3A"/>
                          </a:solidFill>
                          <a:latin typeface="Calibri"/>
                        </a:defRPr>
                      </a:pPr>
                      <a:r>
                        <a:t>Cost / 1K Queries</a:t>
                      </a:r>
                    </a:p>
                  </a:txBody>
                  <a:tcPr/>
                </a:tc>
                <a:tc>
                  <a:txBody>
                    <a:bodyPr/>
                    <a:lstStyle/>
                    <a:p>
                      <a:pPr>
                        <a:defRPr sz="1100">
                          <a:solidFill>
                            <a:srgbClr val="1C2A3A"/>
                          </a:solidFill>
                          <a:latin typeface="Calibri"/>
                        </a:defRPr>
                      </a:pPr>
                      <a:r>
                        <a:t>$0.000400</a:t>
                      </a:r>
                    </a:p>
                  </a:txBody>
                  <a:tcPr/>
                </a:tc>
                <a:tc>
                  <a:txBody>
                    <a:bodyPr/>
                    <a:lstStyle/>
                    <a:p>
                      <a:pPr>
                        <a:defRPr sz="1100">
                          <a:solidFill>
                            <a:srgbClr val="1C2A3A"/>
                          </a:solidFill>
                          <a:latin typeface="Calibri"/>
                        </a:defRPr>
                      </a:pPr>
                      <a:r>
                        <a:t>$0.0051</a:t>
                      </a:r>
                    </a:p>
                  </a:txBody>
                  <a:tcPr/>
                </a:tc>
                <a:tc>
                  <a:txBody>
                    <a:bodyPr/>
                    <a:lstStyle/>
                    <a:p>
                      <a:pPr>
                        <a:defRPr sz="1100">
                          <a:solidFill>
                            <a:srgbClr val="1C2A3A"/>
                          </a:solidFill>
                          <a:latin typeface="Calibri"/>
                        </a:defRPr>
                      </a:pPr>
                      <a:r>
                        <a:t>$0.0011</a:t>
                      </a:r>
                    </a:p>
                  </a:txBody>
                  <a:tcPr/>
                </a:tc>
                <a:tc>
                  <a:txBody>
                    <a:bodyPr/>
                    <a:lstStyle/>
                    <a:p>
                      <a:pPr>
                        <a:defRPr sz="1100">
                          <a:solidFill>
                            <a:srgbClr val="1C2A3A"/>
                          </a:solidFill>
                          <a:latin typeface="Calibri"/>
                        </a:defRPr>
                      </a:pPr>
                      <a:r>
                        <a:t>$0.0063</a:t>
                      </a:r>
                    </a:p>
                  </a:txBody>
                  <a:tcPr/>
                </a:tc>
              </a:tr>
              <a:tr h="400050">
                <a:tc>
                  <a:txBody>
                    <a:bodyPr/>
                    <a:lstStyle/>
                    <a:p>
                      <a:pPr>
                        <a:defRPr sz="1100">
                          <a:solidFill>
                            <a:srgbClr val="1C2A3A"/>
                          </a:solidFill>
                          <a:latin typeface="Calibri"/>
                        </a:defRPr>
                      </a:pPr>
                      <a:r>
                        <a:t>Total Benchmark Cost</a:t>
                      </a:r>
                    </a:p>
                  </a:txBody>
                  <a:tcPr>
                    <a:solidFill>
                      <a:srgbClr val="E0E3E8"/>
                    </a:solidFill>
                  </a:tcPr>
                </a:tc>
                <a:tc>
                  <a:txBody>
                    <a:bodyPr/>
                    <a:lstStyle/>
                    <a:p>
                      <a:pPr>
                        <a:defRPr sz="1100">
                          <a:solidFill>
                            <a:srgbClr val="1C2A3A"/>
                          </a:solidFill>
                          <a:latin typeface="Calibri"/>
                        </a:defRPr>
                      </a:pPr>
                      <a:r>
                        <a:t>$0.000008</a:t>
                      </a:r>
                    </a:p>
                  </a:txBody>
                  <a:tcPr>
                    <a:solidFill>
                      <a:srgbClr val="E0E3E8"/>
                    </a:solidFill>
                  </a:tcPr>
                </a:tc>
                <a:tc>
                  <a:txBody>
                    <a:bodyPr/>
                    <a:lstStyle/>
                    <a:p>
                      <a:pPr>
                        <a:defRPr sz="1100">
                          <a:solidFill>
                            <a:srgbClr val="1C2A3A"/>
                          </a:solidFill>
                          <a:latin typeface="Calibri"/>
                        </a:defRPr>
                      </a:pPr>
                      <a:r>
                        <a:t>$0.000102</a:t>
                      </a:r>
                    </a:p>
                  </a:txBody>
                  <a:tcPr>
                    <a:solidFill>
                      <a:srgbClr val="E0E3E8"/>
                    </a:solidFill>
                  </a:tcPr>
                </a:tc>
                <a:tc>
                  <a:txBody>
                    <a:bodyPr/>
                    <a:lstStyle/>
                    <a:p>
                      <a:pPr>
                        <a:defRPr sz="1100">
                          <a:solidFill>
                            <a:srgbClr val="1C2A3A"/>
                          </a:solidFill>
                          <a:latin typeface="Calibri"/>
                        </a:defRPr>
                      </a:pPr>
                      <a:r>
                        <a:t>$0.000023</a:t>
                      </a:r>
                    </a:p>
                  </a:txBody>
                  <a:tcPr>
                    <a:solidFill>
                      <a:srgbClr val="E0E3E8"/>
                    </a:solidFill>
                  </a:tcPr>
                </a:tc>
                <a:tc>
                  <a:txBody>
                    <a:bodyPr/>
                    <a:lstStyle/>
                    <a:p>
                      <a:pPr>
                        <a:defRPr sz="1100">
                          <a:solidFill>
                            <a:srgbClr val="1C2A3A"/>
                          </a:solidFill>
                          <a:latin typeface="Calibri"/>
                        </a:defRPr>
                      </a:pPr>
                      <a:r>
                        <a:t>$0.000125</a:t>
                      </a:r>
                    </a:p>
                  </a:txBody>
                  <a:tcPr>
                    <a:solidFill>
                      <a:srgbClr val="E0E3E8"/>
                    </a:solidFill>
                  </a:tcPr>
                </a:tc>
              </a:tr>
            </a:tbl>
          </a:graphicData>
        </a:graphic>
      </p:graphicFrame>
      <p:graphicFrame>
        <p:nvGraphicFramePr>
          <p:cNvPr id="4" name="Chart 3"/>
          <p:cNvGraphicFramePr>
            <a:graphicFrameLocks noGrp="1"/>
          </p:cNvGraphicFramePr>
          <p:nvPr/>
        </p:nvGraphicFramePr>
        <p:xfrm>
          <a:off x="457200" y="4754880"/>
          <a:ext cx="5303520" cy="1828800"/>
        </p:xfrm>
        <a:graphic>
          <a:graphicData uri="http://schemas.openxmlformats.org/drawingml/2006/chart">
            <c:chart xmlns:c="http://schemas.openxmlformats.org/drawingml/2006/chart" r:id="rId2"/>
          </a:graphicData>
        </a:graphic>
      </p:graphicFrame>
      <p:graphicFrame>
        <p:nvGraphicFramePr>
          <p:cNvPr id="5" name="Chart 4"/>
          <p:cNvGraphicFramePr>
            <a:graphicFrameLocks noGrp="1"/>
          </p:cNvGraphicFramePr>
          <p:nvPr/>
        </p:nvGraphicFramePr>
        <p:xfrm>
          <a:off x="6217920" y="4754880"/>
          <a:ext cx="5303520" cy="1828800"/>
        </p:xfrm>
        <a:graphic>
          <a:graphicData uri="http://schemas.openxmlformats.org/drawingml/2006/chart">
            <c:chart xmlns:c="http://schemas.openxmlformats.org/drawingml/2006/chart" r:id="rId3"/>
          </a:graphicData>
        </a:graphic>
      </p:graphicFrame>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48/55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4: DistilBERT 66M - Spam Detection - Quality Metrics</a:t>
            </a:r>
          </a:p>
        </p:txBody>
      </p:sp>
      <p:graphicFrame>
        <p:nvGraphicFramePr>
          <p:cNvPr id="3" name="Table 2"/>
          <p:cNvGraphicFramePr>
            <a:graphicFrameLocks noGrp="1"/>
          </p:cNvGraphicFramePr>
          <p:nvPr/>
        </p:nvGraphicFramePr>
        <p:xfrm>
          <a:off x="457200" y="1371600"/>
          <a:ext cx="11247120" cy="32004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53340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DistilBERT</a:t>
                      </a:r>
                    </a:p>
                  </a:txBody>
                  <a:tcPr>
                    <a:solidFill>
                      <a:srgbClr val="2E86C1"/>
                    </a:solidFill>
                  </a:tcPr>
                </a:tc>
                <a:tc>
                  <a:txBody>
                    <a:bodyPr/>
                    <a:lstStyle/>
                    <a:p>
                      <a:pPr algn="ctr">
                        <a:defRPr sz="1200" b="1">
                          <a:solidFill>
                            <a:srgbClr val="FFFFFF"/>
                          </a:solidFill>
                          <a:latin typeface="Calibri"/>
                        </a:defRPr>
                      </a:pPr>
                      <a:r>
                        <a:t>Fine-tuned</a:t>
                      </a:r>
                    </a:p>
                  </a:txBody>
                  <a:tcPr>
                    <a:solidFill>
                      <a:srgbClr val="2E86C1"/>
                    </a:solidFill>
                  </a:tcPr>
                </a:tc>
                <a:tc>
                  <a:txBody>
                    <a:bodyPr/>
                    <a:lstStyle/>
                    <a:p>
                      <a:pPr algn="ctr">
                        <a:defRPr sz="1200" b="1">
                          <a:solidFill>
                            <a:srgbClr val="FFFFFF"/>
                          </a:solidFill>
                          <a:latin typeface="Calibri"/>
                        </a:defRPr>
                      </a:pPr>
                      <a:r>
                        <a:t>DistilBERT + RAG</a:t>
                      </a:r>
                    </a:p>
                  </a:txBody>
                  <a:tcPr>
                    <a:solidFill>
                      <a:srgbClr val="2E86C1"/>
                    </a:solidFill>
                  </a:tcPr>
                </a:tc>
                <a:tc>
                  <a:txBody>
                    <a:bodyPr/>
                    <a:lstStyle/>
                    <a:p>
                      <a:pPr algn="ctr">
                        <a:defRPr sz="1200" b="1">
                          <a:solidFill>
                            <a:srgbClr val="FFFFFF"/>
                          </a:solidFill>
                          <a:latin typeface="Calibri"/>
                        </a:defRPr>
                      </a:pPr>
                      <a:r>
                        <a:t>Fine-tuned + RAG</a:t>
                      </a:r>
                    </a:p>
                  </a:txBody>
                  <a:tcPr>
                    <a:solidFill>
                      <a:srgbClr val="2E86C1"/>
                    </a:solidFill>
                  </a:tcPr>
                </a:tc>
              </a:tr>
              <a:tr h="533400">
                <a:tc>
                  <a:txBody>
                    <a:bodyPr/>
                    <a:lstStyle/>
                    <a:p>
                      <a:pPr>
                        <a:defRPr sz="1100">
                          <a:solidFill>
                            <a:srgbClr val="1C2A3A"/>
                          </a:solidFill>
                          <a:latin typeface="Calibri"/>
                        </a:defRPr>
                      </a:pPr>
                      <a:r>
                        <a:t>F1 Score (macro)</a:t>
                      </a:r>
                    </a:p>
                  </a:txBody>
                  <a:tcPr>
                    <a:solidFill>
                      <a:srgbClr val="E0E3E8"/>
                    </a:solidFill>
                  </a:tcPr>
                </a:tc>
                <a:tc>
                  <a:txBody>
                    <a:bodyPr/>
                    <a:lstStyle/>
                    <a:p>
                      <a:pPr>
                        <a:defRPr sz="1100">
                          <a:solidFill>
                            <a:srgbClr val="1C2A3A"/>
                          </a:solidFill>
                          <a:latin typeface="Calibri"/>
                        </a:defRPr>
                      </a:pPr>
                      <a:r>
                        <a:t>0.849</a:t>
                      </a:r>
                    </a:p>
                  </a:txBody>
                  <a:tcPr>
                    <a:solidFill>
                      <a:srgbClr val="E0E3E8"/>
                    </a:solidFill>
                  </a:tcPr>
                </a:tc>
                <a:tc>
                  <a:txBody>
                    <a:bodyPr/>
                    <a:lstStyle/>
                    <a:p>
                      <a:pPr>
                        <a:defRPr sz="1100">
                          <a:solidFill>
                            <a:srgbClr val="1C2A3A"/>
                          </a:solidFill>
                          <a:latin typeface="Calibri"/>
                        </a:defRPr>
                      </a:pPr>
                      <a:r>
                        <a:t>0.950</a:t>
                      </a:r>
                    </a:p>
                  </a:txBody>
                  <a:tcPr>
                    <a:solidFill>
                      <a:srgbClr val="E0E3E8"/>
                    </a:solidFill>
                  </a:tcPr>
                </a:tc>
                <a:tc>
                  <a:txBody>
                    <a:bodyPr/>
                    <a:lstStyle/>
                    <a:p>
                      <a:pPr>
                        <a:defRPr sz="1100">
                          <a:solidFill>
                            <a:srgbClr val="1C2A3A"/>
                          </a:solidFill>
                          <a:latin typeface="Calibri"/>
                        </a:defRPr>
                      </a:pPr>
                      <a:r>
                        <a:t>0.899</a:t>
                      </a:r>
                    </a:p>
                  </a:txBody>
                  <a:tcPr>
                    <a:solidFill>
                      <a:srgbClr val="E0E3E8"/>
                    </a:solidFill>
                  </a:tcPr>
                </a:tc>
                <a:tc>
                  <a:txBody>
                    <a:bodyPr/>
                    <a:lstStyle/>
                    <a:p>
                      <a:pPr>
                        <a:defRPr sz="1100">
                          <a:solidFill>
                            <a:srgbClr val="1C2A3A"/>
                          </a:solidFill>
                          <a:latin typeface="Calibri"/>
                        </a:defRPr>
                      </a:pPr>
                      <a:r>
                        <a:t>0.950</a:t>
                      </a:r>
                    </a:p>
                  </a:txBody>
                  <a:tcPr>
                    <a:solidFill>
                      <a:srgbClr val="E0E3E8"/>
                    </a:solidFill>
                  </a:tcPr>
                </a:tc>
              </a:tr>
              <a:tr h="533400">
                <a:tc>
                  <a:txBody>
                    <a:bodyPr/>
                    <a:lstStyle/>
                    <a:p>
                      <a:pPr>
                        <a:defRPr sz="1100">
                          <a:solidFill>
                            <a:srgbClr val="1C2A3A"/>
                          </a:solidFill>
                          <a:latin typeface="Calibri"/>
                        </a:defRPr>
                      </a:pPr>
                      <a:r>
                        <a:t>Precision (macro)</a:t>
                      </a:r>
                    </a:p>
                  </a:txBody>
                  <a:tcPr/>
                </a:tc>
                <a:tc>
                  <a:txBody>
                    <a:bodyPr/>
                    <a:lstStyle/>
                    <a:p>
                      <a:pPr>
                        <a:defRPr sz="1100">
                          <a:solidFill>
                            <a:srgbClr val="1C2A3A"/>
                          </a:solidFill>
                          <a:latin typeface="Calibri"/>
                        </a:defRPr>
                      </a:pPr>
                      <a:r>
                        <a:t>0.853</a:t>
                      </a:r>
                    </a:p>
                  </a:txBody>
                  <a:tcPr/>
                </a:tc>
                <a:tc>
                  <a:txBody>
                    <a:bodyPr/>
                    <a:lstStyle/>
                    <a:p>
                      <a:pPr>
                        <a:defRPr sz="1100">
                          <a:solidFill>
                            <a:srgbClr val="1C2A3A"/>
                          </a:solidFill>
                          <a:latin typeface="Calibri"/>
                        </a:defRPr>
                      </a:pPr>
                      <a:r>
                        <a:t>0.955</a:t>
                      </a:r>
                    </a:p>
                  </a:txBody>
                  <a:tcPr/>
                </a:tc>
                <a:tc>
                  <a:txBody>
                    <a:bodyPr/>
                    <a:lstStyle/>
                    <a:p>
                      <a:pPr>
                        <a:defRPr sz="1100">
                          <a:solidFill>
                            <a:srgbClr val="1C2A3A"/>
                          </a:solidFill>
                          <a:latin typeface="Calibri"/>
                        </a:defRPr>
                      </a:pPr>
                      <a:r>
                        <a:t>0.916</a:t>
                      </a:r>
                    </a:p>
                  </a:txBody>
                  <a:tcPr/>
                </a:tc>
                <a:tc>
                  <a:txBody>
                    <a:bodyPr/>
                    <a:lstStyle/>
                    <a:p>
                      <a:pPr>
                        <a:defRPr sz="1100">
                          <a:solidFill>
                            <a:srgbClr val="1C2A3A"/>
                          </a:solidFill>
                          <a:latin typeface="Calibri"/>
                        </a:defRPr>
                      </a:pPr>
                      <a:r>
                        <a:t>0.955</a:t>
                      </a:r>
                    </a:p>
                  </a:txBody>
                  <a:tcPr/>
                </a:tc>
              </a:tr>
              <a:tr h="533400">
                <a:tc>
                  <a:txBody>
                    <a:bodyPr/>
                    <a:lstStyle/>
                    <a:p>
                      <a:pPr>
                        <a:defRPr sz="1100">
                          <a:solidFill>
                            <a:srgbClr val="1C2A3A"/>
                          </a:solidFill>
                          <a:latin typeface="Calibri"/>
                        </a:defRPr>
                      </a:pPr>
                      <a:r>
                        <a:t>Recall (macro)</a:t>
                      </a:r>
                    </a:p>
                  </a:txBody>
                  <a:tcPr>
                    <a:solidFill>
                      <a:srgbClr val="E0E3E8"/>
                    </a:solidFill>
                  </a:tcPr>
                </a:tc>
                <a:tc>
                  <a:txBody>
                    <a:bodyPr/>
                    <a:lstStyle/>
                    <a:p>
                      <a:pPr>
                        <a:defRPr sz="1100">
                          <a:solidFill>
                            <a:srgbClr val="1C2A3A"/>
                          </a:solidFill>
                          <a:latin typeface="Calibri"/>
                        </a:defRPr>
                      </a:pPr>
                      <a:r>
                        <a:t>0.850</a:t>
                      </a:r>
                    </a:p>
                  </a:txBody>
                  <a:tcPr>
                    <a:solidFill>
                      <a:srgbClr val="E0E3E8"/>
                    </a:solidFill>
                  </a:tcPr>
                </a:tc>
                <a:tc>
                  <a:txBody>
                    <a:bodyPr/>
                    <a:lstStyle/>
                    <a:p>
                      <a:pPr>
                        <a:defRPr sz="1100">
                          <a:solidFill>
                            <a:srgbClr val="1C2A3A"/>
                          </a:solidFill>
                          <a:latin typeface="Calibri"/>
                        </a:defRPr>
                      </a:pPr>
                      <a:r>
                        <a:t>0.950</a:t>
                      </a:r>
                    </a:p>
                  </a:txBody>
                  <a:tcPr>
                    <a:solidFill>
                      <a:srgbClr val="E0E3E8"/>
                    </a:solidFill>
                  </a:tcPr>
                </a:tc>
                <a:tc>
                  <a:txBody>
                    <a:bodyPr/>
                    <a:lstStyle/>
                    <a:p>
                      <a:pPr>
                        <a:defRPr sz="1100">
                          <a:solidFill>
                            <a:srgbClr val="1C2A3A"/>
                          </a:solidFill>
                          <a:latin typeface="Calibri"/>
                        </a:defRPr>
                      </a:pPr>
                      <a:r>
                        <a:t>0.900</a:t>
                      </a:r>
                    </a:p>
                  </a:txBody>
                  <a:tcPr>
                    <a:solidFill>
                      <a:srgbClr val="E0E3E8"/>
                    </a:solidFill>
                  </a:tcPr>
                </a:tc>
                <a:tc>
                  <a:txBody>
                    <a:bodyPr/>
                    <a:lstStyle/>
                    <a:p>
                      <a:pPr>
                        <a:defRPr sz="1100">
                          <a:solidFill>
                            <a:srgbClr val="1C2A3A"/>
                          </a:solidFill>
                          <a:latin typeface="Calibri"/>
                        </a:defRPr>
                      </a:pPr>
                      <a:r>
                        <a:t>0.950</a:t>
                      </a:r>
                    </a:p>
                  </a:txBody>
                  <a:tcPr>
                    <a:solidFill>
                      <a:srgbClr val="E0E3E8"/>
                    </a:solidFill>
                  </a:tcPr>
                </a:tc>
              </a:tr>
              <a:tr h="533400">
                <a:tc>
                  <a:txBody>
                    <a:bodyPr/>
                    <a:lstStyle/>
                    <a:p>
                      <a:pPr>
                        <a:defRPr sz="1100">
                          <a:solidFill>
                            <a:srgbClr val="1C2A3A"/>
                          </a:solidFill>
                          <a:latin typeface="Calibri"/>
                        </a:defRPr>
                      </a:pPr>
                      <a:r>
                        <a:t>F1 (ham)</a:t>
                      </a:r>
                    </a:p>
                  </a:txBody>
                  <a:tcPr/>
                </a:tc>
                <a:tc>
                  <a:txBody>
                    <a:bodyPr/>
                    <a:lstStyle/>
                    <a:p>
                      <a:pPr>
                        <a:defRPr sz="1100">
                          <a:solidFill>
                            <a:srgbClr val="1C2A3A"/>
                          </a:solidFill>
                          <a:latin typeface="Calibri"/>
                        </a:defRPr>
                      </a:pPr>
                      <a:r>
                        <a:t>0.842</a:t>
                      </a:r>
                    </a:p>
                  </a:txBody>
                  <a:tcPr/>
                </a:tc>
                <a:tc>
                  <a:txBody>
                    <a:bodyPr/>
                    <a:lstStyle/>
                    <a:p>
                      <a:pPr>
                        <a:defRPr sz="1100">
                          <a:solidFill>
                            <a:srgbClr val="1C2A3A"/>
                          </a:solidFill>
                          <a:latin typeface="Calibri"/>
                        </a:defRPr>
                      </a:pPr>
                      <a:r>
                        <a:t>0.947</a:t>
                      </a:r>
                    </a:p>
                  </a:txBody>
                  <a:tcPr/>
                </a:tc>
                <a:tc>
                  <a:txBody>
                    <a:bodyPr/>
                    <a:lstStyle/>
                    <a:p>
                      <a:pPr>
                        <a:defRPr sz="1100">
                          <a:solidFill>
                            <a:srgbClr val="1C2A3A"/>
                          </a:solidFill>
                          <a:latin typeface="Calibri"/>
                        </a:defRPr>
                      </a:pPr>
                      <a:r>
                        <a:t>0.889</a:t>
                      </a:r>
                    </a:p>
                  </a:txBody>
                  <a:tcPr/>
                </a:tc>
                <a:tc>
                  <a:txBody>
                    <a:bodyPr/>
                    <a:lstStyle/>
                    <a:p>
                      <a:pPr>
                        <a:defRPr sz="1100">
                          <a:solidFill>
                            <a:srgbClr val="1C2A3A"/>
                          </a:solidFill>
                          <a:latin typeface="Calibri"/>
                        </a:defRPr>
                      </a:pPr>
                      <a:r>
                        <a:t>0.947</a:t>
                      </a:r>
                    </a:p>
                  </a:txBody>
                  <a:tcPr/>
                </a:tc>
              </a:tr>
              <a:tr h="533400">
                <a:tc>
                  <a:txBody>
                    <a:bodyPr/>
                    <a:lstStyle/>
                    <a:p>
                      <a:pPr>
                        <a:defRPr sz="1100">
                          <a:solidFill>
                            <a:srgbClr val="1C2A3A"/>
                          </a:solidFill>
                          <a:latin typeface="Calibri"/>
                        </a:defRPr>
                      </a:pPr>
                      <a:r>
                        <a:t>F1 (spam)</a:t>
                      </a:r>
                    </a:p>
                  </a:txBody>
                  <a:tcPr>
                    <a:solidFill>
                      <a:srgbClr val="E0E3E8"/>
                    </a:solidFill>
                  </a:tcPr>
                </a:tc>
                <a:tc>
                  <a:txBody>
                    <a:bodyPr/>
                    <a:lstStyle/>
                    <a:p>
                      <a:pPr>
                        <a:defRPr sz="1100">
                          <a:solidFill>
                            <a:srgbClr val="1C2A3A"/>
                          </a:solidFill>
                          <a:latin typeface="Calibri"/>
                        </a:defRPr>
                      </a:pPr>
                      <a:r>
                        <a:t>0.857</a:t>
                      </a:r>
                    </a:p>
                  </a:txBody>
                  <a:tcPr>
                    <a:solidFill>
                      <a:srgbClr val="E0E3E8"/>
                    </a:solidFill>
                  </a:tcPr>
                </a:tc>
                <a:tc>
                  <a:txBody>
                    <a:bodyPr/>
                    <a:lstStyle/>
                    <a:p>
                      <a:pPr>
                        <a:defRPr sz="1100">
                          <a:solidFill>
                            <a:srgbClr val="1C2A3A"/>
                          </a:solidFill>
                          <a:latin typeface="Calibri"/>
                        </a:defRPr>
                      </a:pPr>
                      <a:r>
                        <a:t>0.952</a:t>
                      </a:r>
                    </a:p>
                  </a:txBody>
                  <a:tcPr>
                    <a:solidFill>
                      <a:srgbClr val="E0E3E8"/>
                    </a:solidFill>
                  </a:tcPr>
                </a:tc>
                <a:tc>
                  <a:txBody>
                    <a:bodyPr/>
                    <a:lstStyle/>
                    <a:p>
                      <a:pPr>
                        <a:defRPr sz="1100">
                          <a:solidFill>
                            <a:srgbClr val="1C2A3A"/>
                          </a:solidFill>
                          <a:latin typeface="Calibri"/>
                        </a:defRPr>
                      </a:pPr>
                      <a:r>
                        <a:t>0.909</a:t>
                      </a:r>
                    </a:p>
                  </a:txBody>
                  <a:tcPr>
                    <a:solidFill>
                      <a:srgbClr val="E0E3E8"/>
                    </a:solidFill>
                  </a:tcPr>
                </a:tc>
                <a:tc>
                  <a:txBody>
                    <a:bodyPr/>
                    <a:lstStyle/>
                    <a:p>
                      <a:pPr>
                        <a:defRPr sz="1100">
                          <a:solidFill>
                            <a:srgbClr val="1C2A3A"/>
                          </a:solidFill>
                          <a:latin typeface="Calibri"/>
                        </a:defRPr>
                      </a:pPr>
                      <a:r>
                        <a:t>0.952</a:t>
                      </a:r>
                    </a:p>
                  </a:txBody>
                  <a:tcPr>
                    <a:solidFill>
                      <a:srgbClr val="E0E3E8"/>
                    </a:solidFill>
                  </a:tcPr>
                </a:tc>
              </a:tr>
            </a:tbl>
          </a:graphicData>
        </a:graphic>
      </p:graphicFrame>
      <p:graphicFrame>
        <p:nvGraphicFramePr>
          <p:cNvPr id="4" name="Chart 3"/>
          <p:cNvGraphicFramePr>
            <a:graphicFrameLocks noGrp="1"/>
          </p:cNvGraphicFramePr>
          <p:nvPr/>
        </p:nvGraphicFramePr>
        <p:xfrm>
          <a:off x="457200" y="4754880"/>
          <a:ext cx="5303520" cy="1828800"/>
        </p:xfrm>
        <a:graphic>
          <a:graphicData uri="http://schemas.openxmlformats.org/drawingml/2006/chart">
            <c:chart xmlns:c="http://schemas.openxmlformats.org/drawingml/2006/chart" r:id="rId2"/>
          </a:graphicData>
        </a:graphic>
      </p:graphicFrame>
      <p:sp>
        <p:nvSpPr>
          <p:cNvPr id="5" name="Rectangle 4"/>
          <p:cNvSpPr/>
          <p:nvPr/>
        </p:nvSpPr>
        <p:spPr>
          <a:xfrm>
            <a:off x="6217920" y="4754880"/>
            <a:ext cx="5303520" cy="18288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Insight</a:t>
            </a:r>
          </a:p>
          <a:p>
            <a:pPr>
              <a:defRPr sz="1200">
                <a:solidFill>
                  <a:srgbClr val="1C2A3A"/>
                </a:solidFill>
                <a:latin typeface="Calibri"/>
              </a:defRPr>
            </a:pPr>
            <a:r>
              <a:t>Fine-tuned (spam-trained) achieves F1=0.950, showing balanced performance across all sentiment classes.</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49/55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4: DistilBERT 66M - Spam Detection - Confidence Scores</a:t>
            </a:r>
          </a:p>
        </p:txBody>
      </p:sp>
      <p:graphicFrame>
        <p:nvGraphicFramePr>
          <p:cNvPr id="3" name="Chart 2"/>
          <p:cNvGraphicFramePr>
            <a:graphicFrameLocks noGrp="1"/>
          </p:cNvGraphicFramePr>
          <p:nvPr/>
        </p:nvGraphicFramePr>
        <p:xfrm>
          <a:off x="1828800" y="1371600"/>
          <a:ext cx="8229600" cy="3657600"/>
        </p:xfrm>
        <a:graphic>
          <a:graphicData uri="http://schemas.openxmlformats.org/drawingml/2006/chart">
            <c:chart xmlns:c="http://schemas.openxmlformats.org/drawingml/2006/chart" r:id="rId2"/>
          </a:graphicData>
        </a:graphic>
      </p:graphicFrame>
      <p:sp>
        <p:nvSpPr>
          <p:cNvPr id="4" name="Rectangle 3"/>
          <p:cNvSpPr/>
          <p:nvPr/>
        </p:nvSpPr>
        <p:spPr>
          <a:xfrm>
            <a:off x="457200" y="5303520"/>
            <a:ext cx="1106424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Insight:</a:t>
            </a:r>
          </a:p>
          <a:p>
            <a:pPr>
              <a:defRPr sz="1200">
                <a:solidFill>
                  <a:srgbClr val="1C2A3A"/>
                </a:solidFill>
                <a:latin typeface="Calibri"/>
              </a:defRPr>
            </a:pPr>
            <a:r>
              <a:t>Fine-tuned (spam-trained): 0.963 confidence vs Base: 0.539. Fine-tuning produces more decisive, confident predictions.</a:t>
            </a:r>
          </a:p>
        </p:txBody>
      </p:sp>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50/55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4: DistilBERT 66M - Spam Detection - Category Breakdown</a:t>
            </a:r>
          </a:p>
        </p:txBody>
      </p:sp>
      <p:graphicFrame>
        <p:nvGraphicFramePr>
          <p:cNvPr id="3" name="Table 2"/>
          <p:cNvGraphicFramePr>
            <a:graphicFrameLocks noGrp="1"/>
          </p:cNvGraphicFramePr>
          <p:nvPr/>
        </p:nvGraphicFramePr>
        <p:xfrm>
          <a:off x="457200" y="1371600"/>
          <a:ext cx="11247120" cy="228600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6571">
                <a:tc>
                  <a:txBody>
                    <a:bodyPr/>
                    <a:lstStyle/>
                    <a:p>
                      <a:pPr algn="ctr">
                        <a:defRPr sz="1200" b="1">
                          <a:solidFill>
                            <a:srgbClr val="FFFFFF"/>
                          </a:solidFill>
                          <a:latin typeface="Calibri"/>
                        </a:defRPr>
                      </a:pPr>
                      <a:r>
                        <a:t>Category</a:t>
                      </a:r>
                    </a:p>
                  </a:txBody>
                  <a:tcPr>
                    <a:solidFill>
                      <a:srgbClr val="2E86C1"/>
                    </a:solidFill>
                  </a:tcPr>
                </a:tc>
                <a:tc>
                  <a:txBody>
                    <a:bodyPr/>
                    <a:lstStyle/>
                    <a:p>
                      <a:pPr algn="ctr">
                        <a:defRPr sz="1200" b="1">
                          <a:solidFill>
                            <a:srgbClr val="FFFFFF"/>
                          </a:solidFill>
                          <a:latin typeface="Calibri"/>
                        </a:defRPr>
                      </a:pPr>
                      <a:r>
                        <a:t>Cases</a:t>
                      </a:r>
                    </a:p>
                  </a:txBody>
                  <a:tcPr>
                    <a:solidFill>
                      <a:srgbClr val="2E86C1"/>
                    </a:solidFill>
                  </a:tcPr>
                </a:tc>
                <a:tc>
                  <a:txBody>
                    <a:bodyPr/>
                    <a:lstStyle/>
                    <a:p>
                      <a:pPr algn="ctr">
                        <a:defRPr sz="1200" b="1">
                          <a:solidFill>
                            <a:srgbClr val="FFFFFF"/>
                          </a:solidFill>
                          <a:latin typeface="Calibri"/>
                        </a:defRPr>
                      </a:pPr>
                      <a:r>
                        <a:t>Base DistilBERT</a:t>
                      </a:r>
                    </a:p>
                  </a:txBody>
                  <a:tcPr>
                    <a:solidFill>
                      <a:srgbClr val="2E86C1"/>
                    </a:solidFill>
                  </a:tcPr>
                </a:tc>
                <a:tc>
                  <a:txBody>
                    <a:bodyPr/>
                    <a:lstStyle/>
                    <a:p>
                      <a:pPr algn="ctr">
                        <a:defRPr sz="1200" b="1">
                          <a:solidFill>
                            <a:srgbClr val="FFFFFF"/>
                          </a:solidFill>
                          <a:latin typeface="Calibri"/>
                        </a:defRPr>
                      </a:pPr>
                      <a:r>
                        <a:t>Fine-tuned</a:t>
                      </a:r>
                    </a:p>
                  </a:txBody>
                  <a:tcPr>
                    <a:solidFill>
                      <a:srgbClr val="2E86C1"/>
                    </a:solidFill>
                  </a:tcPr>
                </a:tc>
                <a:tc>
                  <a:txBody>
                    <a:bodyPr/>
                    <a:lstStyle/>
                    <a:p>
                      <a:pPr algn="ctr">
                        <a:defRPr sz="1200" b="1">
                          <a:solidFill>
                            <a:srgbClr val="FFFFFF"/>
                          </a:solidFill>
                          <a:latin typeface="Calibri"/>
                        </a:defRPr>
                      </a:pPr>
                      <a:r>
                        <a:t>DistilBERT + RAG</a:t>
                      </a:r>
                    </a:p>
                  </a:txBody>
                  <a:tcPr>
                    <a:solidFill>
                      <a:srgbClr val="2E86C1"/>
                    </a:solidFill>
                  </a:tcPr>
                </a:tc>
                <a:tc>
                  <a:txBody>
                    <a:bodyPr/>
                    <a:lstStyle/>
                    <a:p>
                      <a:pPr algn="ctr">
                        <a:defRPr sz="1200" b="1">
                          <a:solidFill>
                            <a:srgbClr val="FFFFFF"/>
                          </a:solidFill>
                          <a:latin typeface="Calibri"/>
                        </a:defRPr>
                      </a:pPr>
                      <a:r>
                        <a:t>Fine-tuned + RAG</a:t>
                      </a:r>
                    </a:p>
                  </a:txBody>
                  <a:tcPr>
                    <a:solidFill>
                      <a:srgbClr val="2E86C1"/>
                    </a:solidFill>
                  </a:tcPr>
                </a:tc>
              </a:tr>
              <a:tr h="326571">
                <a:tc>
                  <a:txBody>
                    <a:bodyPr/>
                    <a:lstStyle/>
                    <a:p>
                      <a:pPr>
                        <a:defRPr sz="1100">
                          <a:solidFill>
                            <a:srgbClr val="1C2A3A"/>
                          </a:solidFill>
                          <a:latin typeface="Calibri"/>
                        </a:defRPr>
                      </a:pPr>
                      <a:r>
                        <a:t>Business</a:t>
                      </a:r>
                    </a:p>
                  </a:txBody>
                  <a:tcPr>
                    <a:solidFill>
                      <a:srgbClr val="E0E3E8"/>
                    </a:solidFill>
                  </a:tcPr>
                </a:tc>
                <a:tc>
                  <a:txBody>
                    <a:bodyPr/>
                    <a:lstStyle/>
                    <a:p>
                      <a:pPr>
                        <a:defRPr sz="1100">
                          <a:solidFill>
                            <a:srgbClr val="1C2A3A"/>
                          </a:solidFill>
                          <a:latin typeface="Calibri"/>
                        </a:defRPr>
                      </a:pPr>
                      <a:r>
                        <a:t>6</a:t>
                      </a:r>
                    </a:p>
                  </a:txBody>
                  <a:tcPr>
                    <a:solidFill>
                      <a:srgbClr val="E0E3E8"/>
                    </a:solidFill>
                  </a:tcPr>
                </a:tc>
                <a:tc>
                  <a:txBody>
                    <a:bodyPr/>
                    <a:lstStyle/>
                    <a:p>
                      <a:pPr>
                        <a:defRPr sz="1100">
                          <a:solidFill>
                            <a:srgbClr val="1C2A3A"/>
                          </a:solidFill>
                          <a:latin typeface="Calibri"/>
                        </a:defRPr>
                      </a:pPr>
                      <a:r>
                        <a:t>83.3%</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r>
              <a:tr h="326571">
                <a:tc>
                  <a:txBody>
                    <a:bodyPr/>
                    <a:lstStyle/>
                    <a:p>
                      <a:pPr>
                        <a:defRPr sz="1100">
                          <a:solidFill>
                            <a:srgbClr val="1C2A3A"/>
                          </a:solidFill>
                          <a:latin typeface="Calibri"/>
                        </a:defRPr>
                      </a:pPr>
                      <a:r>
                        <a:t>Newsletter</a:t>
                      </a:r>
                    </a:p>
                  </a:txBody>
                  <a:tcPr/>
                </a:tc>
                <a:tc>
                  <a:txBody>
                    <a:bodyPr/>
                    <a:lstStyle/>
                    <a:p>
                      <a:pPr>
                        <a:defRPr sz="1100">
                          <a:solidFill>
                            <a:srgbClr val="1C2A3A"/>
                          </a:solidFill>
                          <a:latin typeface="Calibri"/>
                        </a:defRPr>
                      </a:pPr>
                      <a:r>
                        <a:t>1</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r>
              <a:tr h="326571">
                <a:tc>
                  <a:txBody>
                    <a:bodyPr/>
                    <a:lstStyle/>
                    <a:p>
                      <a:pPr>
                        <a:defRPr sz="1100">
                          <a:solidFill>
                            <a:srgbClr val="1C2A3A"/>
                          </a:solidFill>
                          <a:latin typeface="Calibri"/>
                        </a:defRPr>
                      </a:pPr>
                      <a:r>
                        <a:t>Notification</a:t>
                      </a:r>
                    </a:p>
                  </a:txBody>
                  <a:tcPr>
                    <a:solidFill>
                      <a:srgbClr val="E0E3E8"/>
                    </a:solidFill>
                  </a:tcPr>
                </a:tc>
                <a:tc>
                  <a:txBody>
                    <a:bodyPr/>
                    <a:lstStyle/>
                    <a:p>
                      <a:pPr>
                        <a:defRPr sz="1100">
                          <a:solidFill>
                            <a:srgbClr val="1C2A3A"/>
                          </a:solidFill>
                          <a:latin typeface="Calibri"/>
                        </a:defRPr>
                      </a:pPr>
                      <a:r>
                        <a:t>3</a:t>
                      </a:r>
                    </a:p>
                  </a:txBody>
                  <a:tcPr>
                    <a:solidFill>
                      <a:srgbClr val="E0E3E8"/>
                    </a:solidFill>
                  </a:tcPr>
                </a:tc>
                <a:tc>
                  <a:txBody>
                    <a:bodyPr/>
                    <a:lstStyle/>
                    <a:p>
                      <a:pPr>
                        <a:defRPr sz="1100">
                          <a:solidFill>
                            <a:srgbClr val="1C2A3A"/>
                          </a:solidFill>
                          <a:latin typeface="Calibri"/>
                        </a:defRPr>
                      </a:pPr>
                      <a:r>
                        <a:t>66.7%</a:t>
                      </a:r>
                    </a:p>
                  </a:txBody>
                  <a:tcPr>
                    <a:solidFill>
                      <a:srgbClr val="E0E3E8"/>
                    </a:solidFill>
                  </a:tcPr>
                </a:tc>
                <a:tc>
                  <a:txBody>
                    <a:bodyPr/>
                    <a:lstStyle/>
                    <a:p>
                      <a:pPr>
                        <a:defRPr sz="1100">
                          <a:solidFill>
                            <a:srgbClr val="1C2A3A"/>
                          </a:solidFill>
                          <a:latin typeface="Calibri"/>
                        </a:defRPr>
                      </a:pPr>
                      <a:r>
                        <a:t>66.7%</a:t>
                      </a:r>
                    </a:p>
                  </a:txBody>
                  <a:tcPr>
                    <a:solidFill>
                      <a:srgbClr val="E0E3E8"/>
                    </a:solidFill>
                  </a:tcPr>
                </a:tc>
                <a:tc>
                  <a:txBody>
                    <a:bodyPr/>
                    <a:lstStyle/>
                    <a:p>
                      <a:pPr>
                        <a:defRPr sz="1100">
                          <a:solidFill>
                            <a:srgbClr val="1C2A3A"/>
                          </a:solidFill>
                          <a:latin typeface="Calibri"/>
                        </a:defRPr>
                      </a:pPr>
                      <a:r>
                        <a:t>33.3%</a:t>
                      </a:r>
                    </a:p>
                  </a:txBody>
                  <a:tcPr>
                    <a:solidFill>
                      <a:srgbClr val="E0E3E8"/>
                    </a:solidFill>
                  </a:tcPr>
                </a:tc>
                <a:tc>
                  <a:txBody>
                    <a:bodyPr/>
                    <a:lstStyle/>
                    <a:p>
                      <a:pPr>
                        <a:defRPr sz="1100">
                          <a:solidFill>
                            <a:srgbClr val="1C2A3A"/>
                          </a:solidFill>
                          <a:latin typeface="Calibri"/>
                        </a:defRPr>
                      </a:pPr>
                      <a:r>
                        <a:t>66.7%</a:t>
                      </a:r>
                    </a:p>
                  </a:txBody>
                  <a:tcPr>
                    <a:solidFill>
                      <a:srgbClr val="E0E3E8"/>
                    </a:solidFill>
                  </a:tcPr>
                </a:tc>
              </a:tr>
              <a:tr h="326571">
                <a:tc>
                  <a:txBody>
                    <a:bodyPr/>
                    <a:lstStyle/>
                    <a:p>
                      <a:pPr>
                        <a:defRPr sz="1100">
                          <a:solidFill>
                            <a:srgbClr val="1C2A3A"/>
                          </a:solidFill>
                          <a:latin typeface="Calibri"/>
                        </a:defRPr>
                      </a:pPr>
                      <a:r>
                        <a:t>Obvious Spam</a:t>
                      </a:r>
                    </a:p>
                  </a:txBody>
                  <a:tcPr/>
                </a:tc>
                <a:tc>
                  <a:txBody>
                    <a:bodyPr/>
                    <a:lstStyle/>
                    <a:p>
                      <a:pPr>
                        <a:defRPr sz="1100">
                          <a:solidFill>
                            <a:srgbClr val="1C2A3A"/>
                          </a:solidFill>
                          <a:latin typeface="Calibri"/>
                        </a:defRPr>
                      </a:pPr>
                      <a:r>
                        <a:t>5</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r>
              <a:tr h="326571">
                <a:tc>
                  <a:txBody>
                    <a:bodyPr/>
                    <a:lstStyle/>
                    <a:p>
                      <a:pPr>
                        <a:defRPr sz="1100">
                          <a:solidFill>
                            <a:srgbClr val="1C2A3A"/>
                          </a:solidFill>
                          <a:latin typeface="Calibri"/>
                        </a:defRPr>
                      </a:pPr>
                      <a:r>
                        <a:t>Phishing</a:t>
                      </a:r>
                    </a:p>
                  </a:txBody>
                  <a:tcPr>
                    <a:solidFill>
                      <a:srgbClr val="E0E3E8"/>
                    </a:solidFill>
                  </a:tcPr>
                </a:tc>
                <a:tc>
                  <a:txBody>
                    <a:bodyPr/>
                    <a:lstStyle/>
                    <a:p>
                      <a:pPr>
                        <a:defRPr sz="1100">
                          <a:solidFill>
                            <a:srgbClr val="1C2A3A"/>
                          </a:solidFill>
                          <a:latin typeface="Calibri"/>
                        </a:defRPr>
                      </a:pPr>
                      <a:r>
                        <a:t>4</a:t>
                      </a:r>
                    </a:p>
                  </a:txBody>
                  <a:tcPr>
                    <a:solidFill>
                      <a:srgbClr val="E0E3E8"/>
                    </a:solidFill>
                  </a:tcPr>
                </a:tc>
                <a:tc>
                  <a:txBody>
                    <a:bodyPr/>
                    <a:lstStyle/>
                    <a:p>
                      <a:pPr>
                        <a:defRPr sz="1100">
                          <a:solidFill>
                            <a:srgbClr val="1C2A3A"/>
                          </a:solidFill>
                          <a:latin typeface="Calibri"/>
                        </a:defRPr>
                      </a:pPr>
                      <a:r>
                        <a:t>75.0%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r>
              <a:tr h="326574">
                <a:tc>
                  <a:txBody>
                    <a:bodyPr/>
                    <a:lstStyle/>
                    <a:p>
                      <a:pPr>
                        <a:defRPr sz="1100">
                          <a:solidFill>
                            <a:srgbClr val="1C2A3A"/>
                          </a:solidFill>
                          <a:latin typeface="Calibri"/>
                        </a:defRPr>
                      </a:pPr>
                      <a:r>
                        <a:t>Scam</a:t>
                      </a:r>
                    </a:p>
                  </a:txBody>
                  <a:tcPr/>
                </a:tc>
                <a:tc>
                  <a:txBody>
                    <a:bodyPr/>
                    <a:lstStyle/>
                    <a:p>
                      <a:pPr>
                        <a:defRPr sz="1100">
                          <a:solidFill>
                            <a:srgbClr val="1C2A3A"/>
                          </a:solidFill>
                          <a:latin typeface="Calibri"/>
                        </a:defRPr>
                      </a:pPr>
                      <a:r>
                        <a:t>1</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r>
            </a:tbl>
          </a:graphicData>
        </a:graphic>
      </p:graphicFrame>
      <p:graphicFrame>
        <p:nvGraphicFramePr>
          <p:cNvPr id="4" name="Chart 3"/>
          <p:cNvGraphicFramePr>
            <a:graphicFrameLocks noGrp="1"/>
          </p:cNvGraphicFramePr>
          <p:nvPr/>
        </p:nvGraphicFramePr>
        <p:xfrm>
          <a:off x="457200" y="3840480"/>
          <a:ext cx="11247120" cy="2560320"/>
        </p:xfrm>
        <a:graphic>
          <a:graphicData uri="http://schemas.openxmlformats.org/drawingml/2006/chart">
            <c:chart xmlns:c="http://schemas.openxmlformats.org/drawingml/2006/chart" r:id="rId2"/>
          </a:graphicData>
        </a:graphic>
      </p:graphicFrame>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51/55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4: DistilBERT 66M - Spam Detection - Per-Example Results</a:t>
            </a:r>
          </a:p>
        </p:txBody>
      </p:sp>
      <p:graphicFrame>
        <p:nvGraphicFramePr>
          <p:cNvPr id="3" name="Table 2"/>
          <p:cNvGraphicFramePr>
            <a:graphicFrameLocks noGrp="1"/>
          </p:cNvGraphicFramePr>
          <p:nvPr/>
        </p:nvGraphicFramePr>
        <p:xfrm>
          <a:off x="274320" y="1280160"/>
          <a:ext cx="11612880" cy="4754880"/>
        </p:xfrm>
        <a:graphic>
          <a:graphicData uri="http://schemas.openxmlformats.org/drawingml/2006/table">
            <a:tbl>
              <a:tblPr firstRow="1" bandRow="1">
                <a:tableStyleId>{5C22544A-7EE6-4342-B048-85BDC9FD1C3A}</a:tableStyleId>
              </a:tblPr>
              <a:tblGrid>
                <a:gridCol w="1658982"/>
                <a:gridCol w="1658982"/>
                <a:gridCol w="1658982"/>
                <a:gridCol w="1658982"/>
                <a:gridCol w="1658982"/>
                <a:gridCol w="1658982"/>
                <a:gridCol w="1658988"/>
              </a:tblGrid>
              <a:tr h="365760">
                <a:tc>
                  <a:txBody>
                    <a:bodyPr/>
                    <a:lstStyle/>
                    <a:p>
                      <a:pPr algn="ctr">
                        <a:defRPr sz="1200" b="1">
                          <a:solidFill>
                            <a:srgbClr val="FFFFFF"/>
                          </a:solidFill>
                          <a:latin typeface="Calibri"/>
                        </a:defRPr>
                      </a:pPr>
                      <a:r>
                        <a:t>#</a:t>
                      </a:r>
                    </a:p>
                  </a:txBody>
                  <a:tcPr>
                    <a:solidFill>
                      <a:srgbClr val="2E86C1"/>
                    </a:solidFill>
                  </a:tcPr>
                </a:tc>
                <a:tc>
                  <a:txBody>
                    <a:bodyPr/>
                    <a:lstStyle/>
                    <a:p>
                      <a:pPr algn="ctr">
                        <a:defRPr sz="1200" b="1">
                          <a:solidFill>
                            <a:srgbClr val="FFFFFF"/>
                          </a:solidFill>
                          <a:latin typeface="Calibri"/>
                        </a:defRPr>
                      </a:pPr>
                      <a:r>
                        <a:t>Text</a:t>
                      </a:r>
                    </a:p>
                  </a:txBody>
                  <a:tcPr>
                    <a:solidFill>
                      <a:srgbClr val="2E86C1"/>
                    </a:solidFill>
                  </a:tcPr>
                </a:tc>
                <a:tc>
                  <a:txBody>
                    <a:bodyPr/>
                    <a:lstStyle/>
                    <a:p>
                      <a:pPr algn="ctr">
                        <a:defRPr sz="1200" b="1">
                          <a:solidFill>
                            <a:srgbClr val="FFFFFF"/>
                          </a:solidFill>
                          <a:latin typeface="Calibri"/>
                        </a:defRPr>
                      </a:pPr>
                      <a:r>
                        <a:t>Expected</a:t>
                      </a:r>
                    </a:p>
                  </a:txBody>
                  <a:tcPr>
                    <a:solidFill>
                      <a:srgbClr val="2E86C1"/>
                    </a:solidFill>
                  </a:tcPr>
                </a:tc>
                <a:tc>
                  <a:txBody>
                    <a:bodyPr/>
                    <a:lstStyle/>
                    <a:p>
                      <a:pPr algn="ctr">
                        <a:defRPr sz="1200" b="1">
                          <a:solidFill>
                            <a:srgbClr val="FFFFFF"/>
                          </a:solidFill>
                          <a:latin typeface="Calibri"/>
                        </a:defRPr>
                      </a:pPr>
                      <a:r>
                        <a:t>Base DistilBERT</a:t>
                      </a:r>
                    </a:p>
                  </a:txBody>
                  <a:tcPr>
                    <a:solidFill>
                      <a:srgbClr val="2E86C1"/>
                    </a:solidFill>
                  </a:tcPr>
                </a:tc>
                <a:tc>
                  <a:txBody>
                    <a:bodyPr/>
                    <a:lstStyle/>
                    <a:p>
                      <a:pPr algn="ctr">
                        <a:defRPr sz="1200" b="1">
                          <a:solidFill>
                            <a:srgbClr val="FFFFFF"/>
                          </a:solidFill>
                          <a:latin typeface="Calibri"/>
                        </a:defRPr>
                      </a:pPr>
                      <a:r>
                        <a:t>Fine-tuned</a:t>
                      </a:r>
                    </a:p>
                  </a:txBody>
                  <a:tcPr>
                    <a:solidFill>
                      <a:srgbClr val="2E86C1"/>
                    </a:solidFill>
                  </a:tcPr>
                </a:tc>
                <a:tc>
                  <a:txBody>
                    <a:bodyPr/>
                    <a:lstStyle/>
                    <a:p>
                      <a:pPr algn="ctr">
                        <a:defRPr sz="1200" b="1">
                          <a:solidFill>
                            <a:srgbClr val="FFFFFF"/>
                          </a:solidFill>
                          <a:latin typeface="Calibri"/>
                        </a:defRPr>
                      </a:pPr>
                      <a:r>
                        <a:t>DistilBERT + RAG</a:t>
                      </a:r>
                    </a:p>
                  </a:txBody>
                  <a:tcPr>
                    <a:solidFill>
                      <a:srgbClr val="2E86C1"/>
                    </a:solidFill>
                  </a:tcPr>
                </a:tc>
                <a:tc>
                  <a:txBody>
                    <a:bodyPr/>
                    <a:lstStyle/>
                    <a:p>
                      <a:pPr algn="ctr">
                        <a:defRPr sz="1200" b="1">
                          <a:solidFill>
                            <a:srgbClr val="FFFFFF"/>
                          </a:solidFill>
                          <a:latin typeface="Calibri"/>
                        </a:defRPr>
                      </a:pPr>
                      <a:r>
                        <a:t>Fine-tuned + RAG</a:t>
                      </a:r>
                    </a:p>
                  </a:txBody>
                  <a:tcPr>
                    <a:solidFill>
                      <a:srgbClr val="2E86C1"/>
                    </a:solidFill>
                  </a:tcPr>
                </a:tc>
              </a:tr>
              <a:tr h="365760">
                <a:tc>
                  <a:txBody>
                    <a:bodyPr/>
                    <a:lstStyle/>
                    <a:p>
                      <a:pPr>
                        <a:defRPr sz="1100">
                          <a:solidFill>
                            <a:srgbClr val="1C2A3A"/>
                          </a:solidFill>
                          <a:latin typeface="Calibri"/>
                        </a:defRPr>
                      </a:pPr>
                      <a:r>
                        <a:t>1</a:t>
                      </a:r>
                    </a:p>
                  </a:txBody>
                  <a:tcPr>
                    <a:solidFill>
                      <a:srgbClr val="E0E3E8"/>
                    </a:solidFill>
                  </a:tcPr>
                </a:tc>
                <a:tc>
                  <a:txBody>
                    <a:bodyPr/>
                    <a:lstStyle/>
                    <a:p>
                      <a:pPr>
                        <a:defRPr sz="1100">
                          <a:solidFill>
                            <a:srgbClr val="1C2A3A"/>
                          </a:solidFill>
                          <a:latin typeface="Calibri"/>
                        </a:defRPr>
                      </a:pPr>
                      <a:r>
                        <a:t>Subject: Congratulations! You've won a $1,000...</a:t>
                      </a:r>
                    </a:p>
                  </a:txBody>
                  <a:tcPr>
                    <a:solidFill>
                      <a:srgbClr val="E0E3E8"/>
                    </a:solidFill>
                  </a:tcPr>
                </a:tc>
                <a:tc>
                  <a:txBody>
                    <a:bodyPr/>
                    <a:lstStyle/>
                    <a:p>
                      <a:pPr>
                        <a:defRPr sz="1100">
                          <a:solidFill>
                            <a:srgbClr val="1C2A3A"/>
                          </a:solidFill>
                          <a:latin typeface="Calibri"/>
                        </a:defRPr>
                      </a:pPr>
                      <a:r>
                        <a:t>SPAM</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r>
              <a:tr h="365760">
                <a:tc>
                  <a:txBody>
                    <a:bodyPr/>
                    <a:lstStyle/>
                    <a:p>
                      <a:pPr>
                        <a:defRPr sz="1100">
                          <a:solidFill>
                            <a:srgbClr val="1C2A3A"/>
                          </a:solidFill>
                          <a:latin typeface="Calibri"/>
                        </a:defRPr>
                      </a:pPr>
                      <a:r>
                        <a:t>2</a:t>
                      </a:r>
                    </a:p>
                  </a:txBody>
                  <a:tcPr/>
                </a:tc>
                <a:tc>
                  <a:txBody>
                    <a:bodyPr/>
                    <a:lstStyle/>
                    <a:p>
                      <a:pPr>
                        <a:defRPr sz="1100">
                          <a:solidFill>
                            <a:srgbClr val="1C2A3A"/>
                          </a:solidFill>
                          <a:latin typeface="Calibri"/>
                        </a:defRPr>
                      </a:pPr>
                      <a:r>
                        <a:t>Subject: Q4 Board Meeting Agenda</a:t>
                      </a:r>
                    </a:p>
                    <a:p>
                      <a:pPr>
                        <a:defRPr sz="1100">
                          <a:solidFill>
                            <a:srgbClr val="1C2A3A"/>
                          </a:solidFill>
                          <a:latin typeface="Calibri"/>
                        </a:defRPr>
                      </a:pPr>
                    </a:p>
                    <a:p>
                      <a:pPr>
                        <a:defRPr sz="1100">
                          <a:solidFill>
                            <a:srgbClr val="1C2A3A"/>
                          </a:solidFill>
                          <a:latin typeface="Calibri"/>
                        </a:defRPr>
                      </a:pPr>
                      <a:r>
                        <a:t>Hi team, at...</a:t>
                      </a:r>
                    </a:p>
                  </a:txBody>
                  <a:tcPr/>
                </a:tc>
                <a:tc>
                  <a:txBody>
                    <a:bodyPr/>
                    <a:lstStyle/>
                    <a:p>
                      <a:pPr>
                        <a:defRPr sz="1100">
                          <a:solidFill>
                            <a:srgbClr val="1C2A3A"/>
                          </a:solidFill>
                          <a:latin typeface="Calibri"/>
                        </a:defRPr>
                      </a:pPr>
                      <a:r>
                        <a:t>HAM</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r>
              <a:tr h="365760">
                <a:tc>
                  <a:txBody>
                    <a:bodyPr/>
                    <a:lstStyle/>
                    <a:p>
                      <a:pPr>
                        <a:defRPr sz="1100">
                          <a:solidFill>
                            <a:srgbClr val="1C2A3A"/>
                          </a:solidFill>
                          <a:latin typeface="Calibri"/>
                        </a:defRPr>
                      </a:pPr>
                      <a:r>
                        <a:t>3</a:t>
                      </a:r>
                    </a:p>
                  </a:txBody>
                  <a:tcPr>
                    <a:solidFill>
                      <a:srgbClr val="E0E3E8"/>
                    </a:solidFill>
                  </a:tcPr>
                </a:tc>
                <a:tc>
                  <a:txBody>
                    <a:bodyPr/>
                    <a:lstStyle/>
                    <a:p>
                      <a:pPr>
                        <a:defRPr sz="1100">
                          <a:solidFill>
                            <a:srgbClr val="1C2A3A"/>
                          </a:solidFill>
                          <a:latin typeface="Calibri"/>
                        </a:defRPr>
                      </a:pPr>
                      <a:r>
                        <a:t>Subject: URGENT: Your account has been compro...</a:t>
                      </a:r>
                    </a:p>
                  </a:txBody>
                  <a:tcPr>
                    <a:solidFill>
                      <a:srgbClr val="E0E3E8"/>
                    </a:solidFill>
                  </a:tcPr>
                </a:tc>
                <a:tc>
                  <a:txBody>
                    <a:bodyPr/>
                    <a:lstStyle/>
                    <a:p>
                      <a:pPr>
                        <a:defRPr sz="1100">
                          <a:solidFill>
                            <a:srgbClr val="1C2A3A"/>
                          </a:solidFill>
                          <a:latin typeface="Calibri"/>
                        </a:defRPr>
                      </a:pPr>
                      <a:r>
                        <a:t>SPAM</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r>
              <a:tr h="365760">
                <a:tc>
                  <a:txBody>
                    <a:bodyPr/>
                    <a:lstStyle/>
                    <a:p>
                      <a:pPr>
                        <a:defRPr sz="1100">
                          <a:solidFill>
                            <a:srgbClr val="1C2A3A"/>
                          </a:solidFill>
                          <a:latin typeface="Calibri"/>
                        </a:defRPr>
                      </a:pPr>
                      <a:r>
                        <a:t>4</a:t>
                      </a:r>
                    </a:p>
                  </a:txBody>
                  <a:tcPr/>
                </a:tc>
                <a:tc>
                  <a:txBody>
                    <a:bodyPr/>
                    <a:lstStyle/>
                    <a:p>
                      <a:pPr>
                        <a:defRPr sz="1100">
                          <a:solidFill>
                            <a:srgbClr val="1C2A3A"/>
                          </a:solidFill>
                          <a:latin typeface="Calibri"/>
                        </a:defRPr>
                      </a:pPr>
                      <a:r>
                        <a:t>Subject: Invoice #INV-2024-0847</a:t>
                      </a:r>
                    </a:p>
                    <a:p>
                      <a:pPr>
                        <a:defRPr sz="1100">
                          <a:solidFill>
                            <a:srgbClr val="1C2A3A"/>
                          </a:solidFill>
                          <a:latin typeface="Calibri"/>
                        </a:defRPr>
                      </a:pPr>
                    </a:p>
                    <a:p>
                      <a:pPr>
                        <a:defRPr sz="1100">
                          <a:solidFill>
                            <a:srgbClr val="1C2A3A"/>
                          </a:solidFill>
                          <a:latin typeface="Calibri"/>
                        </a:defRPr>
                      </a:pPr>
                      <a:r>
                        <a:t>Please find ...</a:t>
                      </a:r>
                    </a:p>
                  </a:txBody>
                  <a:tcPr/>
                </a:tc>
                <a:tc>
                  <a:txBody>
                    <a:bodyPr/>
                    <a:lstStyle/>
                    <a:p>
                      <a:pPr>
                        <a:defRPr sz="1100">
                          <a:solidFill>
                            <a:srgbClr val="1C2A3A"/>
                          </a:solidFill>
                          <a:latin typeface="Calibri"/>
                        </a:defRPr>
                      </a:pPr>
                      <a:r>
                        <a:t>HAM</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r>
              <a:tr h="365760">
                <a:tc>
                  <a:txBody>
                    <a:bodyPr/>
                    <a:lstStyle/>
                    <a:p>
                      <a:pPr>
                        <a:defRPr sz="1100">
                          <a:solidFill>
                            <a:srgbClr val="1C2A3A"/>
                          </a:solidFill>
                          <a:latin typeface="Calibri"/>
                        </a:defRPr>
                      </a:pPr>
                      <a:r>
                        <a:t>5</a:t>
                      </a:r>
                    </a:p>
                  </a:txBody>
                  <a:tcPr>
                    <a:solidFill>
                      <a:srgbClr val="E0E3E8"/>
                    </a:solidFill>
                  </a:tcPr>
                </a:tc>
                <a:tc>
                  <a:txBody>
                    <a:bodyPr/>
                    <a:lstStyle/>
                    <a:p>
                      <a:pPr>
                        <a:defRPr sz="1100">
                          <a:solidFill>
                            <a:srgbClr val="1C2A3A"/>
                          </a:solidFill>
                          <a:latin typeface="Calibri"/>
                        </a:defRPr>
                      </a:pPr>
                      <a:r>
                        <a:t>Subject: Make $5000 per day from home!</a:t>
                      </a:r>
                    </a:p>
                    <a:p>
                      <a:pPr>
                        <a:defRPr sz="1100">
                          <a:solidFill>
                            <a:srgbClr val="1C2A3A"/>
                          </a:solidFill>
                          <a:latin typeface="Calibri"/>
                        </a:defRPr>
                      </a:pPr>
                    </a:p>
                    <a:p>
                      <a:pPr>
                        <a:defRPr sz="1100">
                          <a:solidFill>
                            <a:srgbClr val="1C2A3A"/>
                          </a:solidFill>
                          <a:latin typeface="Calibri"/>
                        </a:defRPr>
                      </a:pPr>
                      <a:r>
                        <a:t>Disco...</a:t>
                      </a:r>
                    </a:p>
                  </a:txBody>
                  <a:tcPr>
                    <a:solidFill>
                      <a:srgbClr val="E0E3E8"/>
                    </a:solidFill>
                  </a:tcPr>
                </a:tc>
                <a:tc>
                  <a:txBody>
                    <a:bodyPr/>
                    <a:lstStyle/>
                    <a:p>
                      <a:pPr>
                        <a:defRPr sz="1100">
                          <a:solidFill>
                            <a:srgbClr val="1C2A3A"/>
                          </a:solidFill>
                          <a:latin typeface="Calibri"/>
                        </a:defRPr>
                      </a:pPr>
                      <a:r>
                        <a:t>SPAM</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r>
              <a:tr h="365760">
                <a:tc>
                  <a:txBody>
                    <a:bodyPr/>
                    <a:lstStyle/>
                    <a:p>
                      <a:pPr>
                        <a:defRPr sz="1100">
                          <a:solidFill>
                            <a:srgbClr val="1C2A3A"/>
                          </a:solidFill>
                          <a:latin typeface="Calibri"/>
                        </a:defRPr>
                      </a:pPr>
                      <a:r>
                        <a:t>6</a:t>
                      </a:r>
                    </a:p>
                  </a:txBody>
                  <a:tcPr/>
                </a:tc>
                <a:tc>
                  <a:txBody>
                    <a:bodyPr/>
                    <a:lstStyle/>
                    <a:p>
                      <a:pPr>
                        <a:defRPr sz="1100">
                          <a:solidFill>
                            <a:srgbClr val="1C2A3A"/>
                          </a:solidFill>
                          <a:latin typeface="Calibri"/>
                        </a:defRPr>
                      </a:pPr>
                      <a:r>
                        <a:t>Subject: Your prescription is ready for picku...</a:t>
                      </a:r>
                    </a:p>
                  </a:txBody>
                  <a:tcPr/>
                </a:tc>
                <a:tc>
                  <a:txBody>
                    <a:bodyPr/>
                    <a:lstStyle/>
                    <a:p>
                      <a:pPr>
                        <a:defRPr sz="1100">
                          <a:solidFill>
                            <a:srgbClr val="1C2A3A"/>
                          </a:solidFill>
                          <a:latin typeface="Calibri"/>
                        </a:defRPr>
                      </a:pPr>
                      <a:r>
                        <a:t>HAM</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spam [N]</a:t>
                      </a:r>
                    </a:p>
                  </a:txBody>
                  <a:tcPr/>
                </a:tc>
                <a:tc>
                  <a:txBody>
                    <a:bodyPr/>
                    <a:lstStyle/>
                    <a:p>
                      <a:pPr>
                        <a:defRPr sz="1100">
                          <a:solidFill>
                            <a:srgbClr val="1C2A3A"/>
                          </a:solidFill>
                          <a:latin typeface="Calibri"/>
                        </a:defRPr>
                      </a:pPr>
                      <a:r>
                        <a:t>spam [N]</a:t>
                      </a:r>
                    </a:p>
                  </a:txBody>
                  <a:tcPr/>
                </a:tc>
                <a:tc>
                  <a:txBody>
                    <a:bodyPr/>
                    <a:lstStyle/>
                    <a:p>
                      <a:pPr>
                        <a:defRPr sz="1100">
                          <a:solidFill>
                            <a:srgbClr val="1C2A3A"/>
                          </a:solidFill>
                          <a:latin typeface="Calibri"/>
                        </a:defRPr>
                      </a:pPr>
                      <a:r>
                        <a:t>spam [N]</a:t>
                      </a:r>
                    </a:p>
                  </a:txBody>
                  <a:tcPr/>
                </a:tc>
              </a:tr>
              <a:tr h="365760">
                <a:tc>
                  <a:txBody>
                    <a:bodyPr/>
                    <a:lstStyle/>
                    <a:p>
                      <a:pPr>
                        <a:defRPr sz="1100">
                          <a:solidFill>
                            <a:srgbClr val="1C2A3A"/>
                          </a:solidFill>
                          <a:latin typeface="Calibri"/>
                        </a:defRPr>
                      </a:pPr>
                      <a:r>
                        <a:t>7</a:t>
                      </a:r>
                    </a:p>
                  </a:txBody>
                  <a:tcPr>
                    <a:solidFill>
                      <a:srgbClr val="E0E3E8"/>
                    </a:solidFill>
                  </a:tcPr>
                </a:tc>
                <a:tc>
                  <a:txBody>
                    <a:bodyPr/>
                    <a:lstStyle/>
                    <a:p>
                      <a:pPr>
                        <a:defRPr sz="1100">
                          <a:solidFill>
                            <a:srgbClr val="1C2A3A"/>
                          </a:solidFill>
                          <a:latin typeface="Calibri"/>
                        </a:defRPr>
                      </a:pPr>
                      <a:r>
                        <a:t>Subject: Verify your PayPal account now</a:t>
                      </a:r>
                    </a:p>
                    <a:p>
                      <a:pPr>
                        <a:defRPr sz="1100">
                          <a:solidFill>
                            <a:srgbClr val="1C2A3A"/>
                          </a:solidFill>
                          <a:latin typeface="Calibri"/>
                        </a:defRPr>
                      </a:pPr>
                    </a:p>
                    <a:p>
                      <a:pPr>
                        <a:defRPr sz="1100">
                          <a:solidFill>
                            <a:srgbClr val="1C2A3A"/>
                          </a:solidFill>
                          <a:latin typeface="Calibri"/>
                        </a:defRPr>
                      </a:pPr>
                      <a:r>
                        <a:t>We n...</a:t>
                      </a:r>
                    </a:p>
                  </a:txBody>
                  <a:tcPr>
                    <a:solidFill>
                      <a:srgbClr val="E0E3E8"/>
                    </a:solidFill>
                  </a:tcPr>
                </a:tc>
                <a:tc>
                  <a:txBody>
                    <a:bodyPr/>
                    <a:lstStyle/>
                    <a:p>
                      <a:pPr>
                        <a:defRPr sz="1100">
                          <a:solidFill>
                            <a:srgbClr val="1C2A3A"/>
                          </a:solidFill>
                          <a:latin typeface="Calibri"/>
                        </a:defRPr>
                      </a:pPr>
                      <a:r>
                        <a:t>SPAM</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r>
              <a:tr h="365760">
                <a:tc>
                  <a:txBody>
                    <a:bodyPr/>
                    <a:lstStyle/>
                    <a:p>
                      <a:pPr>
                        <a:defRPr sz="1100">
                          <a:solidFill>
                            <a:srgbClr val="1C2A3A"/>
                          </a:solidFill>
                          <a:latin typeface="Calibri"/>
                        </a:defRPr>
                      </a:pPr>
                      <a:r>
                        <a:t>8</a:t>
                      </a:r>
                    </a:p>
                  </a:txBody>
                  <a:tcPr/>
                </a:tc>
                <a:tc>
                  <a:txBody>
                    <a:bodyPr/>
                    <a:lstStyle/>
                    <a:p>
                      <a:pPr>
                        <a:defRPr sz="1100">
                          <a:solidFill>
                            <a:srgbClr val="1C2A3A"/>
                          </a:solidFill>
                          <a:latin typeface="Calibri"/>
                        </a:defRPr>
                      </a:pPr>
                      <a:r>
                        <a:t>Subject: Team standup notes - March 14</a:t>
                      </a:r>
                    </a:p>
                    <a:p>
                      <a:pPr>
                        <a:defRPr sz="1100">
                          <a:solidFill>
                            <a:srgbClr val="1C2A3A"/>
                          </a:solidFill>
                          <a:latin typeface="Calibri"/>
                        </a:defRPr>
                      </a:pPr>
                    </a:p>
                    <a:p>
                      <a:pPr>
                        <a:defRPr sz="1100">
                          <a:solidFill>
                            <a:srgbClr val="1C2A3A"/>
                          </a:solidFill>
                          <a:latin typeface="Calibri"/>
                        </a:defRPr>
                      </a:pPr>
                      <a:r>
                        <a:t>Here ...</a:t>
                      </a:r>
                    </a:p>
                  </a:txBody>
                  <a:tcPr/>
                </a:tc>
                <a:tc>
                  <a:txBody>
                    <a:bodyPr/>
                    <a:lstStyle/>
                    <a:p>
                      <a:pPr>
                        <a:defRPr sz="1100">
                          <a:solidFill>
                            <a:srgbClr val="1C2A3A"/>
                          </a:solidFill>
                          <a:latin typeface="Calibri"/>
                        </a:defRPr>
                      </a:pPr>
                      <a:r>
                        <a:t>HAM</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r>
              <a:tr h="365760">
                <a:tc>
                  <a:txBody>
                    <a:bodyPr/>
                    <a:lstStyle/>
                    <a:p>
                      <a:pPr>
                        <a:defRPr sz="1100">
                          <a:solidFill>
                            <a:srgbClr val="1C2A3A"/>
                          </a:solidFill>
                          <a:latin typeface="Calibri"/>
                        </a:defRPr>
                      </a:pPr>
                      <a:r>
                        <a:t>9</a:t>
                      </a:r>
                    </a:p>
                  </a:txBody>
                  <a:tcPr>
                    <a:solidFill>
                      <a:srgbClr val="E0E3E8"/>
                    </a:solidFill>
                  </a:tcPr>
                </a:tc>
                <a:tc>
                  <a:txBody>
                    <a:bodyPr/>
                    <a:lstStyle/>
                    <a:p>
                      <a:pPr>
                        <a:defRPr sz="1100">
                          <a:solidFill>
                            <a:srgbClr val="1C2A3A"/>
                          </a:solidFill>
                          <a:latin typeface="Calibri"/>
                        </a:defRPr>
                      </a:pPr>
                      <a:r>
                        <a:t>Subject: Lose 30 pounds in 30 days guaranteed...</a:t>
                      </a:r>
                    </a:p>
                  </a:txBody>
                  <a:tcPr>
                    <a:solidFill>
                      <a:srgbClr val="E0E3E8"/>
                    </a:solidFill>
                  </a:tcPr>
                </a:tc>
                <a:tc>
                  <a:txBody>
                    <a:bodyPr/>
                    <a:lstStyle/>
                    <a:p>
                      <a:pPr>
                        <a:defRPr sz="1100">
                          <a:solidFill>
                            <a:srgbClr val="1C2A3A"/>
                          </a:solidFill>
                          <a:latin typeface="Calibri"/>
                        </a:defRPr>
                      </a:pPr>
                      <a:r>
                        <a:t>SPAM</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r>
              <a:tr h="365760">
                <a:tc>
                  <a:txBody>
                    <a:bodyPr/>
                    <a:lstStyle/>
                    <a:p>
                      <a:pPr>
                        <a:defRPr sz="1100">
                          <a:solidFill>
                            <a:srgbClr val="1C2A3A"/>
                          </a:solidFill>
                          <a:latin typeface="Calibri"/>
                        </a:defRPr>
                      </a:pPr>
                      <a:r>
                        <a:t>10</a:t>
                      </a:r>
                    </a:p>
                  </a:txBody>
                  <a:tcPr/>
                </a:tc>
                <a:tc>
                  <a:txBody>
                    <a:bodyPr/>
                    <a:lstStyle/>
                    <a:p>
                      <a:pPr>
                        <a:defRPr sz="1100">
                          <a:solidFill>
                            <a:srgbClr val="1C2A3A"/>
                          </a:solidFill>
                          <a:latin typeface="Calibri"/>
                        </a:defRPr>
                      </a:pPr>
                      <a:r>
                        <a:t>Subject: Your Amazon order has shipped</a:t>
                      </a:r>
                    </a:p>
                    <a:p>
                      <a:pPr>
                        <a:defRPr sz="1100">
                          <a:solidFill>
                            <a:srgbClr val="1C2A3A"/>
                          </a:solidFill>
                          <a:latin typeface="Calibri"/>
                        </a:defRPr>
                      </a:pPr>
                    </a:p>
                    <a:p>
                      <a:pPr>
                        <a:defRPr sz="1100">
                          <a:solidFill>
                            <a:srgbClr val="1C2A3A"/>
                          </a:solidFill>
                          <a:latin typeface="Calibri"/>
                        </a:defRPr>
                      </a:pPr>
                      <a:r>
                        <a:t>Your ...</a:t>
                      </a:r>
                    </a:p>
                  </a:txBody>
                  <a:tcPr/>
                </a:tc>
                <a:tc>
                  <a:txBody>
                    <a:bodyPr/>
                    <a:lstStyle/>
                    <a:p>
                      <a:pPr>
                        <a:defRPr sz="1100">
                          <a:solidFill>
                            <a:srgbClr val="1C2A3A"/>
                          </a:solidFill>
                          <a:latin typeface="Calibri"/>
                        </a:defRPr>
                      </a:pPr>
                      <a:r>
                        <a:t>HAM</a:t>
                      </a:r>
                    </a:p>
                  </a:txBody>
                  <a:tcPr/>
                </a:tc>
                <a:tc>
                  <a:txBody>
                    <a:bodyPr/>
                    <a:lstStyle/>
                    <a:p>
                      <a:pPr>
                        <a:defRPr sz="1100">
                          <a:solidFill>
                            <a:srgbClr val="1C2A3A"/>
                          </a:solidFill>
                          <a:latin typeface="Calibri"/>
                        </a:defRPr>
                      </a:pPr>
                      <a:r>
                        <a:t>spam [N]</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spam [N]</a:t>
                      </a:r>
                    </a:p>
                  </a:txBody>
                  <a:tcPr/>
                </a:tc>
                <a:tc>
                  <a:txBody>
                    <a:bodyPr/>
                    <a:lstStyle/>
                    <a:p>
                      <a:pPr>
                        <a:defRPr sz="1100">
                          <a:solidFill>
                            <a:srgbClr val="1C2A3A"/>
                          </a:solidFill>
                          <a:latin typeface="Calibri"/>
                        </a:defRPr>
                      </a:pPr>
                      <a:r>
                        <a:t>ham [Y]</a:t>
                      </a:r>
                    </a:p>
                  </a:txBody>
                  <a:tcPr/>
                </a:tc>
              </a:tr>
              <a:tr h="365760">
                <a:tc>
                  <a:txBody>
                    <a:bodyPr/>
                    <a:lstStyle/>
                    <a:p>
                      <a:pPr>
                        <a:defRPr sz="1100">
                          <a:solidFill>
                            <a:srgbClr val="1C2A3A"/>
                          </a:solidFill>
                          <a:latin typeface="Calibri"/>
                        </a:defRPr>
                      </a:pPr>
                      <a:r>
                        <a:t>11</a:t>
                      </a:r>
                    </a:p>
                  </a:txBody>
                  <a:tcPr>
                    <a:solidFill>
                      <a:srgbClr val="E0E3E8"/>
                    </a:solidFill>
                  </a:tcPr>
                </a:tc>
                <a:tc>
                  <a:txBody>
                    <a:bodyPr/>
                    <a:lstStyle/>
                    <a:p>
                      <a:pPr>
                        <a:defRPr sz="1100">
                          <a:solidFill>
                            <a:srgbClr val="1C2A3A"/>
                          </a:solidFill>
                          <a:latin typeface="Calibri"/>
                        </a:defRPr>
                      </a:pPr>
                      <a:r>
                        <a:t>Subject: Exclusive cryptocurrency investment ...</a:t>
                      </a:r>
                    </a:p>
                  </a:txBody>
                  <a:tcPr>
                    <a:solidFill>
                      <a:srgbClr val="E0E3E8"/>
                    </a:solidFill>
                  </a:tcPr>
                </a:tc>
                <a:tc>
                  <a:txBody>
                    <a:bodyPr/>
                    <a:lstStyle/>
                    <a:p>
                      <a:pPr>
                        <a:defRPr sz="1100">
                          <a:solidFill>
                            <a:srgbClr val="1C2A3A"/>
                          </a:solidFill>
                          <a:latin typeface="Calibri"/>
                        </a:defRPr>
                      </a:pPr>
                      <a:r>
                        <a:t>SPAM</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r>
              <a:tr h="365760">
                <a:tc>
                  <a:txBody>
                    <a:bodyPr/>
                    <a:lstStyle/>
                    <a:p>
                      <a:pPr>
                        <a:defRPr sz="1100">
                          <a:solidFill>
                            <a:srgbClr val="1C2A3A"/>
                          </a:solidFill>
                          <a:latin typeface="Calibri"/>
                        </a:defRPr>
                      </a:pPr>
                      <a:r>
                        <a:t>12</a:t>
                      </a:r>
                    </a:p>
                  </a:txBody>
                  <a:tcPr/>
                </a:tc>
                <a:tc>
                  <a:txBody>
                    <a:bodyPr/>
                    <a:lstStyle/>
                    <a:p>
                      <a:pPr>
                        <a:defRPr sz="1100">
                          <a:solidFill>
                            <a:srgbClr val="1C2A3A"/>
                          </a:solidFill>
                          <a:latin typeface="Calibri"/>
                        </a:defRPr>
                      </a:pPr>
                      <a:r>
                        <a:t>Subject: Re: Project timeline update</a:t>
                      </a:r>
                    </a:p>
                    <a:p>
                      <a:pPr>
                        <a:defRPr sz="1100">
                          <a:solidFill>
                            <a:srgbClr val="1C2A3A"/>
                          </a:solidFill>
                          <a:latin typeface="Calibri"/>
                        </a:defRPr>
                      </a:pPr>
                    </a:p>
                    <a:p>
                      <a:pPr>
                        <a:defRPr sz="1100">
                          <a:solidFill>
                            <a:srgbClr val="1C2A3A"/>
                          </a:solidFill>
                          <a:latin typeface="Calibri"/>
                        </a:defRPr>
                      </a:pPr>
                      <a:r>
                        <a:t>Thanks ...</a:t>
                      </a:r>
                    </a:p>
                  </a:txBody>
                  <a:tcPr/>
                </a:tc>
                <a:tc>
                  <a:txBody>
                    <a:bodyPr/>
                    <a:lstStyle/>
                    <a:p>
                      <a:pPr>
                        <a:defRPr sz="1100">
                          <a:solidFill>
                            <a:srgbClr val="1C2A3A"/>
                          </a:solidFill>
                          <a:latin typeface="Calibri"/>
                        </a:defRPr>
                      </a:pPr>
                      <a:r>
                        <a:t>HAM</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r>
            </a:tbl>
          </a:graphicData>
        </a:graphic>
      </p:graphicFrame>
      <p:sp>
        <p:nvSpPr>
          <p:cNvPr id="4" name="TextBox 3"/>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52/55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Benchmark Insights: What the Data Tells Us</a:t>
            </a:r>
          </a:p>
        </p:txBody>
      </p:sp>
      <p:sp>
        <p:nvSpPr>
          <p:cNvPr id="3" name="Rectangle 2"/>
          <p:cNvSpPr/>
          <p:nvPr/>
        </p:nvSpPr>
        <p:spPr>
          <a:xfrm>
            <a:off x="457200" y="1280160"/>
            <a:ext cx="1106424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Sentiment: FinBERT 70.0% vs Base 45.0% vs RAG 65.0% vs Hybrid 70.0%</a:t>
            </a:r>
          </a:p>
        </p:txBody>
      </p:sp>
      <p:sp>
        <p:nvSpPr>
          <p:cNvPr id="4" name="Rectangle 3"/>
          <p:cNvSpPr/>
          <p:nvPr/>
        </p:nvSpPr>
        <p:spPr>
          <a:xfrm>
            <a:off x="457200" y="1920239"/>
            <a:ext cx="1106424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Domain Jargon: FinBERT 100.0% vs Base 33.3% -- fine-tuning is critical for specialized vocabulary</a:t>
            </a:r>
          </a:p>
        </p:txBody>
      </p:sp>
      <p:sp>
        <p:nvSpPr>
          <p:cNvPr id="5" name="Rectangle 4"/>
          <p:cNvSpPr/>
          <p:nvPr/>
        </p:nvSpPr>
        <p:spPr>
          <a:xfrm>
            <a:off x="457200" y="2560320"/>
            <a:ext cx="1106424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Numerical: FinQA-7B 20.0% vs Base 20.0% vs RAG 20.0% vs Hybrid 20.0%</a:t>
            </a:r>
          </a:p>
        </p:txBody>
      </p:sp>
      <p:sp>
        <p:nvSpPr>
          <p:cNvPr id="6" name="Rectangle 5"/>
          <p:cNvSpPr/>
          <p:nvPr/>
        </p:nvSpPr>
        <p:spPr>
          <a:xfrm>
            <a:off x="457200" y="3200399"/>
            <a:ext cx="1106424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Financial Ratios: FinQA-7B 37.5% vs Base 25.0% vs RAG 12.5% vs Hybrid 25.0%</a:t>
            </a:r>
          </a:p>
        </p:txBody>
      </p:sp>
      <p:sp>
        <p:nvSpPr>
          <p:cNvPr id="7" name="Rectangle 6"/>
          <p:cNvSpPr/>
          <p:nvPr/>
        </p:nvSpPr>
        <p:spPr>
          <a:xfrm>
            <a:off x="457200" y="3840479"/>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Spam Detection: Fine-tuned 95.0% vs Base 85.0% vs RAG 90.0% vs Hybrid 95.0%</a:t>
            </a:r>
          </a:p>
        </p:txBody>
      </p:sp>
      <p:sp>
        <p:nvSpPr>
          <p:cNvPr id="8" name="Rectangle 7"/>
          <p:cNvSpPr/>
          <p:nvPr/>
        </p:nvSpPr>
        <p:spPr>
          <a:xfrm>
            <a:off x="457200" y="4480560"/>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Fine-tuning excels at tasks requiring REASONING, COMPUTATION, and PATTERN RECOGNITION</a:t>
            </a:r>
          </a:p>
        </p:txBody>
      </p:sp>
      <p:sp>
        <p:nvSpPr>
          <p:cNvPr id="9" name="Rectangle 8"/>
          <p:cNvSpPr/>
          <p:nvPr/>
        </p:nvSpPr>
        <p:spPr>
          <a:xfrm>
            <a:off x="457200" y="5120640"/>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helps most when FRESH INFORMATION is the bottleneck, not skill</a:t>
            </a:r>
          </a:p>
        </p:txBody>
      </p:sp>
      <p:sp>
        <p:nvSpPr>
          <p:cNvPr id="10" name="Rectangle 9"/>
          <p:cNvSpPr/>
          <p:nvPr/>
        </p:nvSpPr>
        <p:spPr>
          <a:xfrm>
            <a:off x="457200" y="5760719"/>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Hybrid approach consistently achieves the highest or equal-best accuracy across all experiments</a:t>
            </a:r>
          </a:p>
        </p:txBody>
      </p:sp>
      <p:sp>
        <p:nvSpPr>
          <p:cNvPr id="11" name="Rectangle 10"/>
          <p:cNvSpPr/>
          <p:nvPr/>
        </p:nvSpPr>
        <p:spPr>
          <a:xfrm>
            <a:off x="457200" y="6400800"/>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Latency: Fine-tuned models are 2-4x faster than RAG (no retrieval step)</a:t>
            </a:r>
          </a:p>
        </p:txBody>
      </p:sp>
      <p:sp>
        <p:nvSpPr>
          <p:cNvPr id="12" name="Rectangle 11"/>
          <p:cNvSpPr/>
          <p:nvPr/>
        </p:nvSpPr>
        <p:spPr>
          <a:xfrm>
            <a:off x="457200" y="7040879"/>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Token efficiency: RAG uses 3-5x more tokens (retrieved docs increase prompt size)</a:t>
            </a:r>
          </a:p>
        </p:txBody>
      </p:sp>
      <p:sp>
        <p:nvSpPr>
          <p:cNvPr id="13" name="Rectangle 12"/>
          <p:cNvSpPr/>
          <p:nvPr/>
        </p:nvSpPr>
        <p:spPr>
          <a:xfrm>
            <a:off x="457200" y="7680960"/>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Cost at scale: Fine-tuning is cheaper per query due to fewer tokens and no retrieval overhead</a:t>
            </a:r>
          </a:p>
        </p:txBody>
      </p:sp>
      <p:sp>
        <p:nvSpPr>
          <p:cNvPr id="14" name="TextBox 13"/>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53/55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Striking Examples: Where Each Approach Wins</a:t>
            </a:r>
          </a:p>
        </p:txBody>
      </p:sp>
      <p:sp>
        <p:nvSpPr>
          <p:cNvPr id="3" name="TextBox 2"/>
          <p:cNvSpPr txBox="1"/>
          <p:nvPr/>
        </p:nvSpPr>
        <p:spPr>
          <a:xfrm>
            <a:off x="457200" y="1188720"/>
            <a:ext cx="3657600" cy="365760"/>
          </a:xfrm>
          <a:prstGeom prst="rect">
            <a:avLst/>
          </a:prstGeom>
          <a:noFill/>
        </p:spPr>
        <p:txBody>
          <a:bodyPr wrap="square">
            <a:spAutoFit/>
          </a:bodyPr>
          <a:lstStyle/>
          <a:p>
            <a:pPr algn="l">
              <a:defRPr sz="1600" b="1">
                <a:solidFill>
                  <a:srgbClr val="0E6B35"/>
                </a:solidFill>
                <a:latin typeface="Calibri"/>
              </a:defRPr>
            </a:pPr>
            <a:r>
              <a:t>Fine-Tuning Wins</a:t>
            </a:r>
          </a:p>
        </p:txBody>
      </p:sp>
      <p:sp>
        <p:nvSpPr>
          <p:cNvPr id="4" name="Rectangle 3"/>
          <p:cNvSpPr/>
          <p:nvPr/>
        </p:nvSpPr>
        <p:spPr>
          <a:xfrm>
            <a:off x="457200" y="1645920"/>
            <a:ext cx="3474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"Management expects headwinds from deposit competition to per..."</a:t>
            </a:r>
          </a:p>
          <a:p>
            <a:pPr>
              <a:defRPr sz="1200">
                <a:solidFill>
                  <a:srgbClr val="1C2A3A"/>
                </a:solidFill>
                <a:latin typeface="Calibri"/>
              </a:defRPr>
            </a:pPr>
            <a:r>
              <a:t>The word 'headwinds' is financial jargon meaning challenges/obstacles. A generic</a:t>
            </a:r>
          </a:p>
        </p:txBody>
      </p:sp>
      <p:sp>
        <p:nvSpPr>
          <p:cNvPr id="5" name="Rectangle 4"/>
          <p:cNvSpPr/>
          <p:nvPr/>
        </p:nvSpPr>
        <p:spPr>
          <a:xfrm>
            <a:off x="457200" y="2743200"/>
            <a:ext cx="3474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"Margin compression accelerated due to competitive deposit pr..."</a:t>
            </a:r>
          </a:p>
          <a:p>
            <a:pPr>
              <a:defRPr sz="1200">
                <a:solidFill>
                  <a:srgbClr val="1C2A3A"/>
                </a:solidFill>
                <a:latin typeface="Calibri"/>
              </a:defRPr>
            </a:pPr>
            <a:r>
              <a:t>'Margin compression' and 'pricing pressures' are domain-specific negative terms.</a:t>
            </a:r>
          </a:p>
        </p:txBody>
      </p:sp>
      <p:sp>
        <p:nvSpPr>
          <p:cNvPr id="6" name="Rectangle 5"/>
          <p:cNvSpPr/>
          <p:nvPr/>
        </p:nvSpPr>
        <p:spPr>
          <a:xfrm>
            <a:off x="457200" y="3840480"/>
            <a:ext cx="3474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"Operating efficiency improved with the cost-to-income ratio ..."</a:t>
            </a:r>
          </a:p>
          <a:p>
            <a:pPr>
              <a:defRPr sz="1200">
                <a:solidFill>
                  <a:srgbClr val="1C2A3A"/>
                </a:solidFill>
                <a:latin typeface="Calibri"/>
              </a:defRPr>
            </a:pPr>
            <a:r>
              <a:t>The word 'declining' normally sounds negative, but a DECLINING cost-to-income ra</a:t>
            </a:r>
          </a:p>
        </p:txBody>
      </p:sp>
      <p:sp>
        <p:nvSpPr>
          <p:cNvPr id="7" name="TextBox 6"/>
          <p:cNvSpPr txBox="1"/>
          <p:nvPr/>
        </p:nvSpPr>
        <p:spPr>
          <a:xfrm>
            <a:off x="4297680" y="1188720"/>
            <a:ext cx="3657600" cy="365760"/>
          </a:xfrm>
          <a:prstGeom prst="rect">
            <a:avLst/>
          </a:prstGeom>
          <a:noFill/>
        </p:spPr>
        <p:txBody>
          <a:bodyPr wrap="square">
            <a:spAutoFit/>
          </a:bodyPr>
          <a:lstStyle/>
          <a:p>
            <a:pPr algn="l">
              <a:defRPr sz="1600" b="1">
                <a:solidFill>
                  <a:srgbClr val="1A5F9E"/>
                </a:solidFill>
                <a:latin typeface="Calibri"/>
              </a:defRPr>
            </a:pPr>
            <a:r>
              <a:t>RAG Wins</a:t>
            </a:r>
          </a:p>
        </p:txBody>
      </p:sp>
      <p:sp>
        <p:nvSpPr>
          <p:cNvPr id="8" name="Rectangle 7"/>
          <p:cNvSpPr/>
          <p:nvPr/>
        </p:nvSpPr>
        <p:spPr>
          <a:xfrm>
            <a:off x="4297680" y="1645920"/>
            <a:ext cx="3474720" cy="9144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"What is Meridian National Bancorp's CET1 capital ratio and h..."</a:t>
            </a:r>
          </a:p>
          <a:p>
            <a:pPr>
              <a:defRPr sz="1200">
                <a:solidFill>
                  <a:srgbClr val="1C2A3A"/>
                </a:solidFill>
                <a:latin typeface="Calibri"/>
              </a:defRPr>
            </a:pPr>
            <a:r>
              <a:t>This requires specific factual knowledge about a company that is NOT in any mode</a:t>
            </a:r>
          </a:p>
        </p:txBody>
      </p:sp>
      <p:sp>
        <p:nvSpPr>
          <p:cNvPr id="9" name="Rectangle 8"/>
          <p:cNvSpPr/>
          <p:nvPr/>
        </p:nvSpPr>
        <p:spPr>
          <a:xfrm>
            <a:off x="4297680" y="2743200"/>
            <a:ext cx="3474720" cy="9144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"What drove the decline in investment banking revenue accordi..."</a:t>
            </a:r>
          </a:p>
          <a:p>
            <a:pPr>
              <a:defRPr sz="1200">
                <a:solidFill>
                  <a:srgbClr val="1C2A3A"/>
                </a:solidFill>
                <a:latin typeface="Calibri"/>
              </a:defRPr>
            </a:pPr>
            <a:r>
              <a:t>The answer is in a specific document (investment_banking_review.txt). A fine-tun</a:t>
            </a:r>
          </a:p>
        </p:txBody>
      </p:sp>
      <p:sp>
        <p:nvSpPr>
          <p:cNvPr id="10" name="TextBox 9"/>
          <p:cNvSpPr txBox="1"/>
          <p:nvPr/>
        </p:nvSpPr>
        <p:spPr>
          <a:xfrm>
            <a:off x="8138160" y="1188720"/>
            <a:ext cx="3657600" cy="365760"/>
          </a:xfrm>
          <a:prstGeom prst="rect">
            <a:avLst/>
          </a:prstGeom>
          <a:noFill/>
        </p:spPr>
        <p:txBody>
          <a:bodyPr wrap="square">
            <a:spAutoFit/>
          </a:bodyPr>
          <a:lstStyle/>
          <a:p>
            <a:pPr algn="l">
              <a:defRPr sz="1600" b="1">
                <a:solidFill>
                  <a:srgbClr val="BF5B04"/>
                </a:solidFill>
                <a:latin typeface="Calibri"/>
              </a:defRPr>
            </a:pPr>
            <a:r>
              <a:t>Hybrid Wins</a:t>
            </a:r>
          </a:p>
        </p:txBody>
      </p:sp>
      <p:sp>
        <p:nvSpPr>
          <p:cNvPr id="11" name="Rectangle 10"/>
          <p:cNvSpPr/>
          <p:nvPr/>
        </p:nvSpPr>
        <p:spPr>
          <a:xfrm>
            <a:off x="8138160" y="1645920"/>
            <a:ext cx="3474720" cy="91440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"Based on the annual report data, calculate the year-over-yea..."</a:t>
            </a:r>
          </a:p>
          <a:p>
            <a:pPr>
              <a:defRPr sz="1200">
                <a:solidFill>
                  <a:srgbClr val="1C2A3A"/>
                </a:solidFill>
                <a:latin typeface="Calibri"/>
              </a:defRPr>
            </a:pPr>
            <a:r>
              <a:t>This needs BOTH retrieval (to get the actual efficiency ratio numbers from the d</a:t>
            </a:r>
          </a:p>
        </p:txBody>
      </p:sp>
      <p:sp>
        <p:nvSpPr>
          <p:cNvPr id="12" name="TextBox 11"/>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54/55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Summary: All Experiments at a Glance</a:t>
            </a:r>
          </a:p>
        </p:txBody>
      </p:sp>
      <p:graphicFrame>
        <p:nvGraphicFramePr>
          <p:cNvPr id="3" name="Table 2"/>
          <p:cNvGraphicFramePr>
            <a:graphicFrameLocks noGrp="1"/>
          </p:cNvGraphicFramePr>
          <p:nvPr/>
        </p:nvGraphicFramePr>
        <p:xfrm>
          <a:off x="457200" y="1371600"/>
          <a:ext cx="11247120" cy="228600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457200">
                <a:tc>
                  <a:txBody>
                    <a:bodyPr/>
                    <a:lstStyle/>
                    <a:p>
                      <a:pPr algn="ctr">
                        <a:defRPr sz="1200" b="1">
                          <a:solidFill>
                            <a:srgbClr val="FFFFFF"/>
                          </a:solidFill>
                          <a:latin typeface="Calibri"/>
                        </a:defRPr>
                      </a:pPr>
                      <a:r>
                        <a:t>Experiment</a:t>
                      </a:r>
                    </a:p>
                  </a:txBody>
                  <a:tcPr>
                    <a:solidFill>
                      <a:srgbClr val="2E86C1"/>
                    </a:solidFill>
                  </a:tcPr>
                </a:tc>
                <a:tc>
                  <a:txBody>
                    <a:bodyPr/>
                    <a:lstStyle/>
                    <a:p>
                      <a:pPr algn="ctr">
                        <a:defRPr sz="1200" b="1">
                          <a:solidFill>
                            <a:srgbClr val="FFFFFF"/>
                          </a:solidFill>
                          <a:latin typeface="Calibri"/>
                        </a:defRPr>
                      </a:pPr>
                      <a:r>
                        <a:t>Base</a:t>
                      </a:r>
                    </a:p>
                  </a:txBody>
                  <a:tcPr>
                    <a:solidFill>
                      <a:srgbClr val="2E86C1"/>
                    </a:solidFill>
                  </a:tcPr>
                </a:tc>
                <a:tc>
                  <a:txBody>
                    <a:bodyPr/>
                    <a:lstStyle/>
                    <a:p>
                      <a:pPr algn="ctr">
                        <a:defRPr sz="1200" b="1">
                          <a:solidFill>
                            <a:srgbClr val="FFFFFF"/>
                          </a:solidFill>
                          <a:latin typeface="Calibri"/>
                        </a:defRPr>
                      </a:pPr>
                      <a:r>
                        <a:t>Fine-Tuned</a:t>
                      </a:r>
                    </a:p>
                  </a:txBody>
                  <a:tcPr>
                    <a:solidFill>
                      <a:srgbClr val="2E86C1"/>
                    </a:solidFill>
                  </a:tcPr>
                </a:tc>
                <a:tc>
                  <a:txBody>
                    <a:bodyPr/>
                    <a:lstStyle/>
                    <a:p>
                      <a:pPr algn="ctr">
                        <a:defRPr sz="1200" b="1">
                          <a:solidFill>
                            <a:srgbClr val="FFFFFF"/>
                          </a:solidFill>
                          <a:latin typeface="Calibri"/>
                        </a:defRPr>
                      </a:pPr>
                      <a:r>
                        <a:t>RAG</a:t>
                      </a:r>
                    </a:p>
                  </a:txBody>
                  <a:tcPr>
                    <a:solidFill>
                      <a:srgbClr val="2E86C1"/>
                    </a:solidFill>
                  </a:tcPr>
                </a:tc>
                <a:tc>
                  <a:txBody>
                    <a:bodyPr/>
                    <a:lstStyle/>
                    <a:p>
                      <a:pPr algn="ctr">
                        <a:defRPr sz="1200" b="1">
                          <a:solidFill>
                            <a:srgbClr val="FFFFFF"/>
                          </a:solidFill>
                          <a:latin typeface="Calibri"/>
                        </a:defRPr>
                      </a:pPr>
                      <a:r>
                        <a:t>Hybrid</a:t>
                      </a:r>
                    </a:p>
                  </a:txBody>
                  <a:tcPr>
                    <a:solidFill>
                      <a:srgbClr val="2E86C1"/>
                    </a:solidFill>
                  </a:tcPr>
                </a:tc>
                <a:tc>
                  <a:txBody>
                    <a:bodyPr/>
                    <a:lstStyle/>
                    <a:p>
                      <a:pPr algn="ctr">
                        <a:defRPr sz="1200" b="1">
                          <a:solidFill>
                            <a:srgbClr val="FFFFFF"/>
                          </a:solidFill>
                          <a:latin typeface="Calibri"/>
                        </a:defRPr>
                      </a:pPr>
                      <a:r>
                        <a:t>Winner</a:t>
                      </a:r>
                    </a:p>
                  </a:txBody>
                  <a:tcPr>
                    <a:solidFill>
                      <a:srgbClr val="2E86C1"/>
                    </a:solidFill>
                  </a:tcPr>
                </a:tc>
              </a:tr>
              <a:tr h="457200">
                <a:tc>
                  <a:txBody>
                    <a:bodyPr/>
                    <a:lstStyle/>
                    <a:p>
                      <a:pPr>
                        <a:defRPr sz="1100">
                          <a:solidFill>
                            <a:srgbClr val="1C2A3A"/>
                          </a:solidFill>
                          <a:latin typeface="Calibri"/>
                        </a:defRPr>
                      </a:pPr>
                      <a:r>
                        <a:t>Sentiment (BERT 110M)</a:t>
                      </a:r>
                    </a:p>
                  </a:txBody>
                  <a:tcPr>
                    <a:solidFill>
                      <a:srgbClr val="E0E3E8"/>
                    </a:solidFill>
                  </a:tcPr>
                </a:tc>
                <a:tc>
                  <a:txBody>
                    <a:bodyPr/>
                    <a:lstStyle/>
                    <a:p>
                      <a:pPr>
                        <a:defRPr sz="1100">
                          <a:solidFill>
                            <a:srgbClr val="1C2A3A"/>
                          </a:solidFill>
                          <a:latin typeface="Calibri"/>
                        </a:defRPr>
                      </a:pPr>
                      <a:r>
                        <a:t>45.0%</a:t>
                      </a:r>
                    </a:p>
                  </a:txBody>
                  <a:tcPr>
                    <a:solidFill>
                      <a:srgbClr val="E0E3E8"/>
                    </a:solidFill>
                  </a:tcPr>
                </a:tc>
                <a:tc>
                  <a:txBody>
                    <a:bodyPr/>
                    <a:lstStyle/>
                    <a:p>
                      <a:pPr>
                        <a:defRPr sz="1100">
                          <a:solidFill>
                            <a:srgbClr val="1C2A3A"/>
                          </a:solidFill>
                          <a:latin typeface="Calibri"/>
                        </a:defRPr>
                      </a:pPr>
                      <a:r>
                        <a:t>70.0%</a:t>
                      </a:r>
                    </a:p>
                  </a:txBody>
                  <a:tcPr>
                    <a:solidFill>
                      <a:srgbClr val="E0E3E8"/>
                    </a:solidFill>
                  </a:tcPr>
                </a:tc>
                <a:tc>
                  <a:txBody>
                    <a:bodyPr/>
                    <a:lstStyle/>
                    <a:p>
                      <a:pPr>
                        <a:defRPr sz="1100">
                          <a:solidFill>
                            <a:srgbClr val="1C2A3A"/>
                          </a:solidFill>
                          <a:latin typeface="Calibri"/>
                        </a:defRPr>
                      </a:pPr>
                      <a:r>
                        <a:t>65.0%</a:t>
                      </a:r>
                    </a:p>
                  </a:txBody>
                  <a:tcPr>
                    <a:solidFill>
                      <a:srgbClr val="E0E3E8"/>
                    </a:solidFill>
                  </a:tcPr>
                </a:tc>
                <a:tc>
                  <a:txBody>
                    <a:bodyPr/>
                    <a:lstStyle/>
                    <a:p>
                      <a:pPr>
                        <a:defRPr sz="1100">
                          <a:solidFill>
                            <a:srgbClr val="1C2A3A"/>
                          </a:solidFill>
                          <a:latin typeface="Calibri"/>
                        </a:defRPr>
                      </a:pPr>
                      <a:r>
                        <a:t>70.0%</a:t>
                      </a:r>
                    </a:p>
                  </a:txBody>
                  <a:tcPr>
                    <a:solidFill>
                      <a:srgbClr val="E0E3E8"/>
                    </a:solidFill>
                  </a:tcPr>
                </a:tc>
                <a:tc>
                  <a:txBody>
                    <a:bodyPr/>
                    <a:lstStyle/>
                    <a:p>
                      <a:pPr>
                        <a:defRPr sz="1100">
                          <a:solidFill>
                            <a:srgbClr val="1C2A3A"/>
                          </a:solidFill>
                          <a:latin typeface="Calibri"/>
                        </a:defRPr>
                      </a:pPr>
                      <a:r>
                        <a:t>FinBERT (fine-tuned)</a:t>
                      </a:r>
                    </a:p>
                  </a:txBody>
                  <a:tcPr>
                    <a:solidFill>
                      <a:srgbClr val="E0E3E8"/>
                    </a:solidFill>
                  </a:tcPr>
                </a:tc>
              </a:tr>
              <a:tr h="457200">
                <a:tc>
                  <a:txBody>
                    <a:bodyPr/>
                    <a:lstStyle/>
                    <a:p>
                      <a:pPr>
                        <a:defRPr sz="1100">
                          <a:solidFill>
                            <a:srgbClr val="1C2A3A"/>
                          </a:solidFill>
                          <a:latin typeface="Calibri"/>
                        </a:defRPr>
                      </a:pPr>
                      <a:r>
                        <a:t>Numerical (Llama2 7B)</a:t>
                      </a:r>
                    </a:p>
                  </a:txBody>
                  <a:tcPr/>
                </a:tc>
                <a:tc>
                  <a:txBody>
                    <a:bodyPr/>
                    <a:lstStyle/>
                    <a:p>
                      <a:pPr>
                        <a:defRPr sz="1100">
                          <a:solidFill>
                            <a:srgbClr val="1C2A3A"/>
                          </a:solidFill>
                          <a:latin typeface="Calibri"/>
                        </a:defRPr>
                      </a:pPr>
                      <a:r>
                        <a:t>20.0%</a:t>
                      </a:r>
                    </a:p>
                  </a:txBody>
                  <a:tcPr/>
                </a:tc>
                <a:tc>
                  <a:txBody>
                    <a:bodyPr/>
                    <a:lstStyle/>
                    <a:p>
                      <a:pPr>
                        <a:defRPr sz="1100">
                          <a:solidFill>
                            <a:srgbClr val="1C2A3A"/>
                          </a:solidFill>
                          <a:latin typeface="Calibri"/>
                        </a:defRPr>
                      </a:pPr>
                      <a:r>
                        <a:t>20.0%</a:t>
                      </a:r>
                    </a:p>
                  </a:txBody>
                  <a:tcPr/>
                </a:tc>
                <a:tc>
                  <a:txBody>
                    <a:bodyPr/>
                    <a:lstStyle/>
                    <a:p>
                      <a:pPr>
                        <a:defRPr sz="1100">
                          <a:solidFill>
                            <a:srgbClr val="1C2A3A"/>
                          </a:solidFill>
                          <a:latin typeface="Calibri"/>
                        </a:defRPr>
                      </a:pPr>
                      <a:r>
                        <a:t>20.0%</a:t>
                      </a:r>
                    </a:p>
                  </a:txBody>
                  <a:tcPr/>
                </a:tc>
                <a:tc>
                  <a:txBody>
                    <a:bodyPr/>
                    <a:lstStyle/>
                    <a:p>
                      <a:pPr>
                        <a:defRPr sz="1100">
                          <a:solidFill>
                            <a:srgbClr val="1C2A3A"/>
                          </a:solidFill>
                          <a:latin typeface="Calibri"/>
                        </a:defRPr>
                      </a:pPr>
                      <a:r>
                        <a:t>20.0%</a:t>
                      </a:r>
                    </a:p>
                  </a:txBody>
                  <a:tcPr/>
                </a:tc>
                <a:tc>
                  <a:txBody>
                    <a:bodyPr/>
                    <a:lstStyle/>
                    <a:p>
                      <a:pPr>
                        <a:defRPr sz="1100">
                          <a:solidFill>
                            <a:srgbClr val="1C2A3A"/>
                          </a:solidFill>
                          <a:latin typeface="Calibri"/>
                        </a:defRPr>
                      </a:pPr>
                      <a:r>
                        <a:t>Base Llama2-7B</a:t>
                      </a:r>
                    </a:p>
                  </a:txBody>
                  <a:tcPr/>
                </a:tc>
              </a:tr>
              <a:tr h="457200">
                <a:tc>
                  <a:txBody>
                    <a:bodyPr/>
                    <a:lstStyle/>
                    <a:p>
                      <a:pPr>
                        <a:defRPr sz="1100">
                          <a:solidFill>
                            <a:srgbClr val="1C2A3A"/>
                          </a:solidFill>
                          <a:latin typeface="Calibri"/>
                        </a:defRPr>
                      </a:pPr>
                      <a:r>
                        <a:t>Financial Ratios (Llama2 7B)</a:t>
                      </a:r>
                    </a:p>
                  </a:txBody>
                  <a:tcPr>
                    <a:solidFill>
                      <a:srgbClr val="E0E3E8"/>
                    </a:solidFill>
                  </a:tcPr>
                </a:tc>
                <a:tc>
                  <a:txBody>
                    <a:bodyPr/>
                    <a:lstStyle/>
                    <a:p>
                      <a:pPr>
                        <a:defRPr sz="1100">
                          <a:solidFill>
                            <a:srgbClr val="1C2A3A"/>
                          </a:solidFill>
                          <a:latin typeface="Calibri"/>
                        </a:defRPr>
                      </a:pPr>
                      <a:r>
                        <a:t>25.0%</a:t>
                      </a:r>
                    </a:p>
                  </a:txBody>
                  <a:tcPr>
                    <a:solidFill>
                      <a:srgbClr val="E0E3E8"/>
                    </a:solidFill>
                  </a:tcPr>
                </a:tc>
                <a:tc>
                  <a:txBody>
                    <a:bodyPr/>
                    <a:lstStyle/>
                    <a:p>
                      <a:pPr>
                        <a:defRPr sz="1100">
                          <a:solidFill>
                            <a:srgbClr val="1C2A3A"/>
                          </a:solidFill>
                          <a:latin typeface="Calibri"/>
                        </a:defRPr>
                      </a:pPr>
                      <a:r>
                        <a:t>37.5%</a:t>
                      </a:r>
                    </a:p>
                  </a:txBody>
                  <a:tcPr>
                    <a:solidFill>
                      <a:srgbClr val="E0E3E8"/>
                    </a:solidFill>
                  </a:tcPr>
                </a:tc>
                <a:tc>
                  <a:txBody>
                    <a:bodyPr/>
                    <a:lstStyle/>
                    <a:p>
                      <a:pPr>
                        <a:defRPr sz="1100">
                          <a:solidFill>
                            <a:srgbClr val="1C2A3A"/>
                          </a:solidFill>
                          <a:latin typeface="Calibri"/>
                        </a:defRPr>
                      </a:pPr>
                      <a:r>
                        <a:t>12.5%</a:t>
                      </a:r>
                    </a:p>
                  </a:txBody>
                  <a:tcPr>
                    <a:solidFill>
                      <a:srgbClr val="E0E3E8"/>
                    </a:solidFill>
                  </a:tcPr>
                </a:tc>
                <a:tc>
                  <a:txBody>
                    <a:bodyPr/>
                    <a:lstStyle/>
                    <a:p>
                      <a:pPr>
                        <a:defRPr sz="1100">
                          <a:solidFill>
                            <a:srgbClr val="1C2A3A"/>
                          </a:solidFill>
                          <a:latin typeface="Calibri"/>
                        </a:defRPr>
                      </a:pPr>
                      <a:r>
                        <a:t>25.0%</a:t>
                      </a:r>
                    </a:p>
                  </a:txBody>
                  <a:tcPr>
                    <a:solidFill>
                      <a:srgbClr val="E0E3E8"/>
                    </a:solidFill>
                  </a:tcPr>
                </a:tc>
                <a:tc>
                  <a:txBody>
                    <a:bodyPr/>
                    <a:lstStyle/>
                    <a:p>
                      <a:pPr>
                        <a:defRPr sz="1100">
                          <a:solidFill>
                            <a:srgbClr val="1C2A3A"/>
                          </a:solidFill>
                          <a:latin typeface="Calibri"/>
                        </a:defRPr>
                      </a:pPr>
                      <a:r>
                        <a:t>FinQA-7B (fine-tuned)</a:t>
                      </a:r>
                    </a:p>
                  </a:txBody>
                  <a:tcPr>
                    <a:solidFill>
                      <a:srgbClr val="E0E3E8"/>
                    </a:solidFill>
                  </a:tcPr>
                </a:tc>
              </a:tr>
              <a:tr h="457200">
                <a:tc>
                  <a:txBody>
                    <a:bodyPr/>
                    <a:lstStyle/>
                    <a:p>
                      <a:pPr>
                        <a:defRPr sz="1100">
                          <a:solidFill>
                            <a:srgbClr val="1C2A3A"/>
                          </a:solidFill>
                          <a:latin typeface="Calibri"/>
                        </a:defRPr>
                      </a:pPr>
                      <a:r>
                        <a:t>Spam Detection (DistilBERT 66M)</a:t>
                      </a:r>
                    </a:p>
                  </a:txBody>
                  <a:tcPr/>
                </a:tc>
                <a:tc>
                  <a:txBody>
                    <a:bodyPr/>
                    <a:lstStyle/>
                    <a:p>
                      <a:pPr>
                        <a:defRPr sz="1100">
                          <a:solidFill>
                            <a:srgbClr val="1C2A3A"/>
                          </a:solidFill>
                          <a:latin typeface="Calibri"/>
                        </a:defRPr>
                      </a:pPr>
                      <a:r>
                        <a:t>85.0%</a:t>
                      </a:r>
                    </a:p>
                  </a:txBody>
                  <a:tcPr/>
                </a:tc>
                <a:tc>
                  <a:txBody>
                    <a:bodyPr/>
                    <a:lstStyle/>
                    <a:p>
                      <a:pPr>
                        <a:defRPr sz="1100">
                          <a:solidFill>
                            <a:srgbClr val="1C2A3A"/>
                          </a:solidFill>
                          <a:latin typeface="Calibri"/>
                        </a:defRPr>
                      </a:pPr>
                      <a:r>
                        <a:t>95.0%</a:t>
                      </a:r>
                    </a:p>
                  </a:txBody>
                  <a:tcPr/>
                </a:tc>
                <a:tc>
                  <a:txBody>
                    <a:bodyPr/>
                    <a:lstStyle/>
                    <a:p>
                      <a:pPr>
                        <a:defRPr sz="1100">
                          <a:solidFill>
                            <a:srgbClr val="1C2A3A"/>
                          </a:solidFill>
                          <a:latin typeface="Calibri"/>
                        </a:defRPr>
                      </a:pPr>
                      <a:r>
                        <a:t>90.0%</a:t>
                      </a:r>
                    </a:p>
                  </a:txBody>
                  <a:tcPr/>
                </a:tc>
                <a:tc>
                  <a:txBody>
                    <a:bodyPr/>
                    <a:lstStyle/>
                    <a:p>
                      <a:pPr>
                        <a:defRPr sz="1100">
                          <a:solidFill>
                            <a:srgbClr val="1C2A3A"/>
                          </a:solidFill>
                          <a:latin typeface="Calibri"/>
                        </a:defRPr>
                      </a:pPr>
                      <a:r>
                        <a:t>95.0%</a:t>
                      </a:r>
                    </a:p>
                  </a:txBody>
                  <a:tcPr/>
                </a:tc>
                <a:tc>
                  <a:txBody>
                    <a:bodyPr/>
                    <a:lstStyle/>
                    <a:p>
                      <a:pPr>
                        <a:defRPr sz="1100">
                          <a:solidFill>
                            <a:srgbClr val="1C2A3A"/>
                          </a:solidFill>
                          <a:latin typeface="Calibri"/>
                        </a:defRPr>
                      </a:pPr>
                      <a:r>
                        <a:t>Fine-tuned (spam-trained)</a:t>
                      </a:r>
                    </a:p>
                  </a:txBody>
                  <a:tcPr/>
                </a:tc>
              </a:tr>
            </a:tbl>
          </a:graphicData>
        </a:graphic>
      </p:graphicFrame>
      <p:graphicFrame>
        <p:nvGraphicFramePr>
          <p:cNvPr id="4" name="Table 3"/>
          <p:cNvGraphicFramePr>
            <a:graphicFrameLocks noGrp="1"/>
          </p:cNvGraphicFramePr>
          <p:nvPr/>
        </p:nvGraphicFramePr>
        <p:xfrm>
          <a:off x="457200" y="3840480"/>
          <a:ext cx="11247120" cy="18288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203200">
                <a:tc>
                  <a:txBody>
                    <a:bodyPr/>
                    <a:lstStyle/>
                    <a:p>
                      <a:pPr algn="ctr">
                        <a:defRPr sz="1200" b="1">
                          <a:solidFill>
                            <a:srgbClr val="FFFFFF"/>
                          </a:solidFill>
                          <a:latin typeface="Calibri"/>
                        </a:defRPr>
                      </a:pPr>
                      <a:r>
                        <a:t>Experiment</a:t>
                      </a:r>
                    </a:p>
                  </a:txBody>
                  <a:tcPr>
                    <a:solidFill>
                      <a:srgbClr val="2E86C1"/>
                    </a:solidFill>
                  </a:tcPr>
                </a:tc>
                <a:tc>
                  <a:txBody>
                    <a:bodyPr/>
                    <a:lstStyle/>
                    <a:p>
                      <a:pPr algn="ctr">
                        <a:defRPr sz="1200" b="1">
                          <a:solidFill>
                            <a:srgbClr val="FFFFFF"/>
                          </a:solidFill>
                          <a:latin typeface="Calibri"/>
                        </a:defRPr>
                      </a:pPr>
                      <a:r>
                        <a:t>Base</a:t>
                      </a:r>
                    </a:p>
                  </a:txBody>
                  <a:tcPr>
                    <a:solidFill>
                      <a:srgbClr val="2E86C1"/>
                    </a:solidFill>
                  </a:tcPr>
                </a:tc>
                <a:tc>
                  <a:txBody>
                    <a:bodyPr/>
                    <a:lstStyle/>
                    <a:p>
                      <a:pPr algn="ctr">
                        <a:defRPr sz="1200" b="1">
                          <a:solidFill>
                            <a:srgbClr val="FFFFFF"/>
                          </a:solidFill>
                          <a:latin typeface="Calibri"/>
                        </a:defRPr>
                      </a:pPr>
                      <a:r>
                        <a:t>Fine-Tuned</a:t>
                      </a:r>
                    </a:p>
                  </a:txBody>
                  <a:tcPr>
                    <a:solidFill>
                      <a:srgbClr val="2E86C1"/>
                    </a:solidFill>
                  </a:tcPr>
                </a:tc>
                <a:tc>
                  <a:txBody>
                    <a:bodyPr/>
                    <a:lstStyle/>
                    <a:p>
                      <a:pPr algn="ctr">
                        <a:defRPr sz="1200" b="1">
                          <a:solidFill>
                            <a:srgbClr val="FFFFFF"/>
                          </a:solidFill>
                          <a:latin typeface="Calibri"/>
                        </a:defRPr>
                      </a:pPr>
                      <a:r>
                        <a:t>RAG</a:t>
                      </a:r>
                    </a:p>
                  </a:txBody>
                  <a:tcPr>
                    <a:solidFill>
                      <a:srgbClr val="2E86C1"/>
                    </a:solidFill>
                  </a:tcPr>
                </a:tc>
                <a:tc>
                  <a:txBody>
                    <a:bodyPr/>
                    <a:lstStyle/>
                    <a:p>
                      <a:pPr algn="ctr">
                        <a:defRPr sz="1200" b="1">
                          <a:solidFill>
                            <a:srgbClr val="FFFFFF"/>
                          </a:solidFill>
                          <a:latin typeface="Calibri"/>
                        </a:defRPr>
                      </a:pPr>
                      <a:r>
                        <a:t>Hybrid</a:t>
                      </a:r>
                    </a:p>
                  </a:txBody>
                  <a:tcPr>
                    <a:solidFill>
                      <a:srgbClr val="2E86C1"/>
                    </a:solidFill>
                  </a:tcPr>
                </a:tc>
              </a:tr>
              <a:tr h="203200">
                <a:tc>
                  <a:txBody>
                    <a:bodyPr/>
                    <a:lstStyle/>
                    <a:p>
                      <a:pPr>
                        <a:defRPr sz="1100">
                          <a:solidFill>
                            <a:srgbClr val="1C2A3A"/>
                          </a:solidFill>
                          <a:latin typeface="Calibri"/>
                        </a:defRPr>
                      </a:pPr>
                      <a:r>
                        <a:t>Sentiment - Tokens/Query</a:t>
                      </a:r>
                    </a:p>
                  </a:txBody>
                  <a:tcPr>
                    <a:solidFill>
                      <a:srgbClr val="E0E3E8"/>
                    </a:solidFill>
                  </a:tcPr>
                </a:tc>
                <a:tc>
                  <a:txBody>
                    <a:bodyPr/>
                    <a:lstStyle/>
                    <a:p>
                      <a:pPr>
                        <a:defRPr sz="1100">
                          <a:solidFill>
                            <a:srgbClr val="1C2A3A"/>
                          </a:solidFill>
                          <a:latin typeface="Calibri"/>
                        </a:defRPr>
                      </a:pPr>
                      <a:r>
                        <a:t>16</a:t>
                      </a:r>
                    </a:p>
                  </a:txBody>
                  <a:tcPr>
                    <a:solidFill>
                      <a:srgbClr val="E0E3E8"/>
                    </a:solidFill>
                  </a:tcPr>
                </a:tc>
                <a:tc>
                  <a:txBody>
                    <a:bodyPr/>
                    <a:lstStyle/>
                    <a:p>
                      <a:pPr>
                        <a:defRPr sz="1100">
                          <a:solidFill>
                            <a:srgbClr val="1C2A3A"/>
                          </a:solidFill>
                          <a:latin typeface="Calibri"/>
                        </a:defRPr>
                      </a:pPr>
                      <a:r>
                        <a:t>16</a:t>
                      </a:r>
                    </a:p>
                  </a:txBody>
                  <a:tcPr>
                    <a:solidFill>
                      <a:srgbClr val="E0E3E8"/>
                    </a:solidFill>
                  </a:tcPr>
                </a:tc>
                <a:tc>
                  <a:txBody>
                    <a:bodyPr/>
                    <a:lstStyle/>
                    <a:p>
                      <a:pPr>
                        <a:defRPr sz="1100">
                          <a:solidFill>
                            <a:srgbClr val="1C2A3A"/>
                          </a:solidFill>
                          <a:latin typeface="Calibri"/>
                        </a:defRPr>
                      </a:pPr>
                      <a:r>
                        <a:t>76</a:t>
                      </a:r>
                    </a:p>
                  </a:txBody>
                  <a:tcPr>
                    <a:solidFill>
                      <a:srgbClr val="E0E3E8"/>
                    </a:solidFill>
                  </a:tcPr>
                </a:tc>
                <a:tc>
                  <a:txBody>
                    <a:bodyPr/>
                    <a:lstStyle/>
                    <a:p>
                      <a:pPr>
                        <a:defRPr sz="1100">
                          <a:solidFill>
                            <a:srgbClr val="1C2A3A"/>
                          </a:solidFill>
                          <a:latin typeface="Calibri"/>
                        </a:defRPr>
                      </a:pPr>
                      <a:r>
                        <a:t>92</a:t>
                      </a:r>
                    </a:p>
                  </a:txBody>
                  <a:tcPr>
                    <a:solidFill>
                      <a:srgbClr val="E0E3E8"/>
                    </a:solidFill>
                  </a:tcPr>
                </a:tc>
              </a:tr>
              <a:tr h="203200">
                <a:tc>
                  <a:txBody>
                    <a:bodyPr/>
                    <a:lstStyle/>
                    <a:p>
                      <a:pPr>
                        <a:defRPr sz="1100">
                          <a:solidFill>
                            <a:srgbClr val="1C2A3A"/>
                          </a:solidFill>
                          <a:latin typeface="Calibri"/>
                        </a:defRPr>
                      </a:pPr>
                      <a:r>
                        <a:t>Sentiment - Cost/1K Queries</a:t>
                      </a:r>
                    </a:p>
                  </a:txBody>
                  <a:tcPr/>
                </a:tc>
                <a:tc>
                  <a:txBody>
                    <a:bodyPr/>
                    <a:lstStyle/>
                    <a:p>
                      <a:pPr>
                        <a:defRPr sz="1100">
                          <a:solidFill>
                            <a:srgbClr val="1C2A3A"/>
                          </a:solidFill>
                          <a:latin typeface="Calibri"/>
                        </a:defRPr>
                      </a:pPr>
                      <a:r>
                        <a:t>$0.0002</a:t>
                      </a:r>
                    </a:p>
                  </a:txBody>
                  <a:tcPr/>
                </a:tc>
                <a:tc>
                  <a:txBody>
                    <a:bodyPr/>
                    <a:lstStyle/>
                    <a:p>
                      <a:pPr>
                        <a:defRPr sz="1100">
                          <a:solidFill>
                            <a:srgbClr val="1C2A3A"/>
                          </a:solidFill>
                          <a:latin typeface="Calibri"/>
                        </a:defRPr>
                      </a:pPr>
                      <a:r>
                        <a:t>$0.0002</a:t>
                      </a:r>
                    </a:p>
                  </a:txBody>
                  <a:tcPr/>
                </a:tc>
                <a:tc>
                  <a:txBody>
                    <a:bodyPr/>
                    <a:lstStyle/>
                    <a:p>
                      <a:pPr>
                        <a:defRPr sz="1100">
                          <a:solidFill>
                            <a:srgbClr val="1C2A3A"/>
                          </a:solidFill>
                          <a:latin typeface="Calibri"/>
                        </a:defRPr>
                      </a:pPr>
                      <a:r>
                        <a:t>$0.0008</a:t>
                      </a:r>
                    </a:p>
                  </a:txBody>
                  <a:tcPr/>
                </a:tc>
                <a:tc>
                  <a:txBody>
                    <a:bodyPr/>
                    <a:lstStyle/>
                    <a:p>
                      <a:pPr>
                        <a:defRPr sz="1100">
                          <a:solidFill>
                            <a:srgbClr val="1C2A3A"/>
                          </a:solidFill>
                          <a:latin typeface="Calibri"/>
                        </a:defRPr>
                      </a:pPr>
                      <a:r>
                        <a:t>$0.0009</a:t>
                      </a:r>
                    </a:p>
                  </a:txBody>
                  <a:tcPr/>
                </a:tc>
              </a:tr>
              <a:tr h="203200">
                <a:tc>
                  <a:txBody>
                    <a:bodyPr/>
                    <a:lstStyle/>
                    <a:p>
                      <a:pPr>
                        <a:defRPr sz="1100">
                          <a:solidFill>
                            <a:srgbClr val="1C2A3A"/>
                          </a:solidFill>
                          <a:latin typeface="Calibri"/>
                        </a:defRPr>
                      </a:pPr>
                      <a:r>
                        <a:t>Numerical - Tokens/Query</a:t>
                      </a:r>
                    </a:p>
                  </a:txBody>
                  <a:tcPr>
                    <a:solidFill>
                      <a:srgbClr val="E0E3E8"/>
                    </a:solidFill>
                  </a:tcPr>
                </a:tc>
                <a:tc>
                  <a:txBody>
                    <a:bodyPr/>
                    <a:lstStyle/>
                    <a:p>
                      <a:pPr>
                        <a:defRPr sz="1100">
                          <a:solidFill>
                            <a:srgbClr val="1C2A3A"/>
                          </a:solidFill>
                          <a:latin typeface="Calibri"/>
                        </a:defRPr>
                      </a:pPr>
                      <a:r>
                        <a:t>314</a:t>
                      </a:r>
                    </a:p>
                  </a:txBody>
                  <a:tcPr>
                    <a:solidFill>
                      <a:srgbClr val="E0E3E8"/>
                    </a:solidFill>
                  </a:tcPr>
                </a:tc>
                <a:tc>
                  <a:txBody>
                    <a:bodyPr/>
                    <a:lstStyle/>
                    <a:p>
                      <a:pPr>
                        <a:defRPr sz="1100">
                          <a:solidFill>
                            <a:srgbClr val="1C2A3A"/>
                          </a:solidFill>
                          <a:latin typeface="Calibri"/>
                        </a:defRPr>
                      </a:pPr>
                      <a:r>
                        <a:t>285</a:t>
                      </a:r>
                    </a:p>
                  </a:txBody>
                  <a:tcPr>
                    <a:solidFill>
                      <a:srgbClr val="E0E3E8"/>
                    </a:solidFill>
                  </a:tcPr>
                </a:tc>
                <a:tc>
                  <a:txBody>
                    <a:bodyPr/>
                    <a:lstStyle/>
                    <a:p>
                      <a:pPr>
                        <a:defRPr sz="1100">
                          <a:solidFill>
                            <a:srgbClr val="1C2A3A"/>
                          </a:solidFill>
                          <a:latin typeface="Calibri"/>
                        </a:defRPr>
                      </a:pPr>
                      <a:r>
                        <a:t>1,638</a:t>
                      </a:r>
                    </a:p>
                  </a:txBody>
                  <a:tcPr>
                    <a:solidFill>
                      <a:srgbClr val="E0E3E8"/>
                    </a:solidFill>
                  </a:tcPr>
                </a:tc>
                <a:tc>
                  <a:txBody>
                    <a:bodyPr/>
                    <a:lstStyle/>
                    <a:p>
                      <a:pPr>
                        <a:defRPr sz="1100">
                          <a:solidFill>
                            <a:srgbClr val="1C2A3A"/>
                          </a:solidFill>
                          <a:latin typeface="Calibri"/>
                        </a:defRPr>
                      </a:pPr>
                      <a:r>
                        <a:t>1,661</a:t>
                      </a:r>
                    </a:p>
                  </a:txBody>
                  <a:tcPr>
                    <a:solidFill>
                      <a:srgbClr val="E0E3E8"/>
                    </a:solidFill>
                  </a:tcPr>
                </a:tc>
              </a:tr>
              <a:tr h="203200">
                <a:tc>
                  <a:txBody>
                    <a:bodyPr/>
                    <a:lstStyle/>
                    <a:p>
                      <a:pPr>
                        <a:defRPr sz="1100">
                          <a:solidFill>
                            <a:srgbClr val="1C2A3A"/>
                          </a:solidFill>
                          <a:latin typeface="Calibri"/>
                        </a:defRPr>
                      </a:pPr>
                      <a:r>
                        <a:t>Numerical - Cost/1K Queries</a:t>
                      </a:r>
                    </a:p>
                  </a:txBody>
                  <a:tcPr/>
                </a:tc>
                <a:tc>
                  <a:txBody>
                    <a:bodyPr/>
                    <a:lstStyle/>
                    <a:p>
                      <a:pPr>
                        <a:defRPr sz="1100">
                          <a:solidFill>
                            <a:srgbClr val="1C2A3A"/>
                          </a:solidFill>
                          <a:latin typeface="Calibri"/>
                        </a:defRPr>
                      </a:pPr>
                      <a:r>
                        <a:t>$0.0628</a:t>
                      </a:r>
                    </a:p>
                  </a:txBody>
                  <a:tcPr/>
                </a:tc>
                <a:tc>
                  <a:txBody>
                    <a:bodyPr/>
                    <a:lstStyle/>
                    <a:p>
                      <a:pPr>
                        <a:defRPr sz="1100">
                          <a:solidFill>
                            <a:srgbClr val="1C2A3A"/>
                          </a:solidFill>
                          <a:latin typeface="Calibri"/>
                        </a:defRPr>
                      </a:pPr>
                      <a:r>
                        <a:t>$0.0569</a:t>
                      </a:r>
                    </a:p>
                  </a:txBody>
                  <a:tcPr/>
                </a:tc>
                <a:tc>
                  <a:txBody>
                    <a:bodyPr/>
                    <a:lstStyle/>
                    <a:p>
                      <a:pPr>
                        <a:defRPr sz="1100">
                          <a:solidFill>
                            <a:srgbClr val="1C2A3A"/>
                          </a:solidFill>
                          <a:latin typeface="Calibri"/>
                        </a:defRPr>
                      </a:pPr>
                      <a:r>
                        <a:t>$0.3277</a:t>
                      </a:r>
                    </a:p>
                  </a:txBody>
                  <a:tcPr/>
                </a:tc>
                <a:tc>
                  <a:txBody>
                    <a:bodyPr/>
                    <a:lstStyle/>
                    <a:p>
                      <a:pPr>
                        <a:defRPr sz="1100">
                          <a:solidFill>
                            <a:srgbClr val="1C2A3A"/>
                          </a:solidFill>
                          <a:latin typeface="Calibri"/>
                        </a:defRPr>
                      </a:pPr>
                      <a:r>
                        <a:t>$0.3323</a:t>
                      </a:r>
                    </a:p>
                  </a:txBody>
                  <a:tcPr/>
                </a:tc>
              </a:tr>
              <a:tr h="203200">
                <a:tc>
                  <a:txBody>
                    <a:bodyPr/>
                    <a:lstStyle/>
                    <a:p>
                      <a:pPr>
                        <a:defRPr sz="1100">
                          <a:solidFill>
                            <a:srgbClr val="1C2A3A"/>
                          </a:solidFill>
                          <a:latin typeface="Calibri"/>
                        </a:defRPr>
                      </a:pPr>
                      <a:r>
                        <a:t>Fin. Ratios - Tokens/Query</a:t>
                      </a:r>
                    </a:p>
                  </a:txBody>
                  <a:tcPr>
                    <a:solidFill>
                      <a:srgbClr val="E0E3E8"/>
                    </a:solidFill>
                  </a:tcPr>
                </a:tc>
                <a:tc>
                  <a:txBody>
                    <a:bodyPr/>
                    <a:lstStyle/>
                    <a:p>
                      <a:pPr>
                        <a:defRPr sz="1100">
                          <a:solidFill>
                            <a:srgbClr val="1C2A3A"/>
                          </a:solidFill>
                          <a:latin typeface="Calibri"/>
                        </a:defRPr>
                      </a:pPr>
                      <a:r>
                        <a:t>477</a:t>
                      </a:r>
                    </a:p>
                  </a:txBody>
                  <a:tcPr>
                    <a:solidFill>
                      <a:srgbClr val="E0E3E8"/>
                    </a:solidFill>
                  </a:tcPr>
                </a:tc>
                <a:tc>
                  <a:txBody>
                    <a:bodyPr/>
                    <a:lstStyle/>
                    <a:p>
                      <a:pPr>
                        <a:defRPr sz="1100">
                          <a:solidFill>
                            <a:srgbClr val="1C2A3A"/>
                          </a:solidFill>
                          <a:latin typeface="Calibri"/>
                        </a:defRPr>
                      </a:pPr>
                      <a:r>
                        <a:t>503</a:t>
                      </a:r>
                    </a:p>
                  </a:txBody>
                  <a:tcPr>
                    <a:solidFill>
                      <a:srgbClr val="E0E3E8"/>
                    </a:solidFill>
                  </a:tcPr>
                </a:tc>
                <a:tc>
                  <a:txBody>
                    <a:bodyPr/>
                    <a:lstStyle/>
                    <a:p>
                      <a:pPr>
                        <a:defRPr sz="1100">
                          <a:solidFill>
                            <a:srgbClr val="1C2A3A"/>
                          </a:solidFill>
                          <a:latin typeface="Calibri"/>
                        </a:defRPr>
                      </a:pPr>
                      <a:r>
                        <a:t>1,731</a:t>
                      </a:r>
                    </a:p>
                  </a:txBody>
                  <a:tcPr>
                    <a:solidFill>
                      <a:srgbClr val="E0E3E8"/>
                    </a:solidFill>
                  </a:tcPr>
                </a:tc>
                <a:tc>
                  <a:txBody>
                    <a:bodyPr/>
                    <a:lstStyle/>
                    <a:p>
                      <a:pPr>
                        <a:defRPr sz="1100">
                          <a:solidFill>
                            <a:srgbClr val="1C2A3A"/>
                          </a:solidFill>
                          <a:latin typeface="Calibri"/>
                        </a:defRPr>
                      </a:pPr>
                      <a:r>
                        <a:t>1,801</a:t>
                      </a:r>
                    </a:p>
                  </a:txBody>
                  <a:tcPr>
                    <a:solidFill>
                      <a:srgbClr val="E0E3E8"/>
                    </a:solidFill>
                  </a:tcPr>
                </a:tc>
              </a:tr>
              <a:tr h="203200">
                <a:tc>
                  <a:txBody>
                    <a:bodyPr/>
                    <a:lstStyle/>
                    <a:p>
                      <a:pPr>
                        <a:defRPr sz="1100">
                          <a:solidFill>
                            <a:srgbClr val="1C2A3A"/>
                          </a:solidFill>
                          <a:latin typeface="Calibri"/>
                        </a:defRPr>
                      </a:pPr>
                      <a:r>
                        <a:t>Fin. Ratios - Cost/1K Queries</a:t>
                      </a:r>
                    </a:p>
                  </a:txBody>
                  <a:tcPr/>
                </a:tc>
                <a:tc>
                  <a:txBody>
                    <a:bodyPr/>
                    <a:lstStyle/>
                    <a:p>
                      <a:pPr>
                        <a:defRPr sz="1100">
                          <a:solidFill>
                            <a:srgbClr val="1C2A3A"/>
                          </a:solidFill>
                          <a:latin typeface="Calibri"/>
                        </a:defRPr>
                      </a:pPr>
                      <a:r>
                        <a:t>$0.0954</a:t>
                      </a:r>
                    </a:p>
                  </a:txBody>
                  <a:tcPr/>
                </a:tc>
                <a:tc>
                  <a:txBody>
                    <a:bodyPr/>
                    <a:lstStyle/>
                    <a:p>
                      <a:pPr>
                        <a:defRPr sz="1100">
                          <a:solidFill>
                            <a:srgbClr val="1C2A3A"/>
                          </a:solidFill>
                          <a:latin typeface="Calibri"/>
                        </a:defRPr>
                      </a:pPr>
                      <a:r>
                        <a:t>$0.1005</a:t>
                      </a:r>
                    </a:p>
                  </a:txBody>
                  <a:tcPr/>
                </a:tc>
                <a:tc>
                  <a:txBody>
                    <a:bodyPr/>
                    <a:lstStyle/>
                    <a:p>
                      <a:pPr>
                        <a:defRPr sz="1100">
                          <a:solidFill>
                            <a:srgbClr val="1C2A3A"/>
                          </a:solidFill>
                          <a:latin typeface="Calibri"/>
                        </a:defRPr>
                      </a:pPr>
                      <a:r>
                        <a:t>$0.3462</a:t>
                      </a:r>
                    </a:p>
                  </a:txBody>
                  <a:tcPr/>
                </a:tc>
                <a:tc>
                  <a:txBody>
                    <a:bodyPr/>
                    <a:lstStyle/>
                    <a:p>
                      <a:pPr>
                        <a:defRPr sz="1100">
                          <a:solidFill>
                            <a:srgbClr val="1C2A3A"/>
                          </a:solidFill>
                          <a:latin typeface="Calibri"/>
                        </a:defRPr>
                      </a:pPr>
                      <a:r>
                        <a:t>$0.3602</a:t>
                      </a:r>
                    </a:p>
                  </a:txBody>
                  <a:tcPr/>
                </a:tc>
              </a:tr>
              <a:tr h="203200">
                <a:tc>
                  <a:txBody>
                    <a:bodyPr/>
                    <a:lstStyle/>
                    <a:p>
                      <a:pPr>
                        <a:defRPr sz="1100">
                          <a:solidFill>
                            <a:srgbClr val="1C2A3A"/>
                          </a:solidFill>
                          <a:latin typeface="Calibri"/>
                        </a:defRPr>
                      </a:pPr>
                      <a:r>
                        <a:t>Spam - Tokens/Query</a:t>
                      </a:r>
                    </a:p>
                  </a:txBody>
                  <a:tcPr>
                    <a:solidFill>
                      <a:srgbClr val="E0E3E8"/>
                    </a:solidFill>
                  </a:tcPr>
                </a:tc>
                <a:tc>
                  <a:txBody>
                    <a:bodyPr/>
                    <a:lstStyle/>
                    <a:p>
                      <a:pPr>
                        <a:defRPr sz="1100">
                          <a:solidFill>
                            <a:srgbClr val="1C2A3A"/>
                          </a:solidFill>
                          <a:latin typeface="Calibri"/>
                        </a:defRPr>
                      </a:pPr>
                      <a:r>
                        <a:t>39</a:t>
                      </a:r>
                    </a:p>
                  </a:txBody>
                  <a:tcPr>
                    <a:solidFill>
                      <a:srgbClr val="E0E3E8"/>
                    </a:solidFill>
                  </a:tcPr>
                </a:tc>
                <a:tc>
                  <a:txBody>
                    <a:bodyPr/>
                    <a:lstStyle/>
                    <a:p>
                      <a:pPr>
                        <a:defRPr sz="1100">
                          <a:solidFill>
                            <a:srgbClr val="1C2A3A"/>
                          </a:solidFill>
                          <a:latin typeface="Calibri"/>
                        </a:defRPr>
                      </a:pPr>
                      <a:r>
                        <a:t>512</a:t>
                      </a:r>
                    </a:p>
                  </a:txBody>
                  <a:tcPr>
                    <a:solidFill>
                      <a:srgbClr val="E0E3E8"/>
                    </a:solidFill>
                  </a:tcPr>
                </a:tc>
                <a:tc>
                  <a:txBody>
                    <a:bodyPr/>
                    <a:lstStyle/>
                    <a:p>
                      <a:pPr>
                        <a:defRPr sz="1100">
                          <a:solidFill>
                            <a:srgbClr val="1C2A3A"/>
                          </a:solidFill>
                          <a:latin typeface="Calibri"/>
                        </a:defRPr>
                      </a:pPr>
                      <a:r>
                        <a:t>114</a:t>
                      </a:r>
                    </a:p>
                  </a:txBody>
                  <a:tcPr>
                    <a:solidFill>
                      <a:srgbClr val="E0E3E8"/>
                    </a:solidFill>
                  </a:tcPr>
                </a:tc>
                <a:tc>
                  <a:txBody>
                    <a:bodyPr/>
                    <a:lstStyle/>
                    <a:p>
                      <a:pPr>
                        <a:defRPr sz="1100">
                          <a:solidFill>
                            <a:srgbClr val="1C2A3A"/>
                          </a:solidFill>
                          <a:latin typeface="Calibri"/>
                        </a:defRPr>
                      </a:pPr>
                      <a:r>
                        <a:t>626</a:t>
                      </a:r>
                    </a:p>
                  </a:txBody>
                  <a:tcPr>
                    <a:solidFill>
                      <a:srgbClr val="E0E3E8"/>
                    </a:solidFill>
                  </a:tcPr>
                </a:tc>
              </a:tr>
              <a:tr h="203200">
                <a:tc>
                  <a:txBody>
                    <a:bodyPr/>
                    <a:lstStyle/>
                    <a:p>
                      <a:pPr>
                        <a:defRPr sz="1100">
                          <a:solidFill>
                            <a:srgbClr val="1C2A3A"/>
                          </a:solidFill>
                          <a:latin typeface="Calibri"/>
                        </a:defRPr>
                      </a:pPr>
                      <a:r>
                        <a:t>Spam - Cost/1K Queries</a:t>
                      </a:r>
                    </a:p>
                  </a:txBody>
                  <a:tcPr/>
                </a:tc>
                <a:tc>
                  <a:txBody>
                    <a:bodyPr/>
                    <a:lstStyle/>
                    <a:p>
                      <a:pPr>
                        <a:defRPr sz="1100">
                          <a:solidFill>
                            <a:srgbClr val="1C2A3A"/>
                          </a:solidFill>
                          <a:latin typeface="Calibri"/>
                        </a:defRPr>
                      </a:pPr>
                      <a:r>
                        <a:t>$0.0004</a:t>
                      </a:r>
                    </a:p>
                  </a:txBody>
                  <a:tcPr/>
                </a:tc>
                <a:tc>
                  <a:txBody>
                    <a:bodyPr/>
                    <a:lstStyle/>
                    <a:p>
                      <a:pPr>
                        <a:defRPr sz="1100">
                          <a:solidFill>
                            <a:srgbClr val="1C2A3A"/>
                          </a:solidFill>
                          <a:latin typeface="Calibri"/>
                        </a:defRPr>
                      </a:pPr>
                      <a:r>
                        <a:t>$0.0051</a:t>
                      </a:r>
                    </a:p>
                  </a:txBody>
                  <a:tcPr/>
                </a:tc>
                <a:tc>
                  <a:txBody>
                    <a:bodyPr/>
                    <a:lstStyle/>
                    <a:p>
                      <a:pPr>
                        <a:defRPr sz="1100">
                          <a:solidFill>
                            <a:srgbClr val="1C2A3A"/>
                          </a:solidFill>
                          <a:latin typeface="Calibri"/>
                        </a:defRPr>
                      </a:pPr>
                      <a:r>
                        <a:t>$0.0011</a:t>
                      </a:r>
                    </a:p>
                  </a:txBody>
                  <a:tcPr/>
                </a:tc>
                <a:tc>
                  <a:txBody>
                    <a:bodyPr/>
                    <a:lstStyle/>
                    <a:p>
                      <a:pPr>
                        <a:defRPr sz="1100">
                          <a:solidFill>
                            <a:srgbClr val="1C2A3A"/>
                          </a:solidFill>
                          <a:latin typeface="Calibri"/>
                        </a:defRPr>
                      </a:pPr>
                      <a:r>
                        <a:t>$0.0063</a:t>
                      </a:r>
                    </a:p>
                  </a:txBody>
                  <a:tcPr/>
                </a:tc>
              </a:tr>
            </a:tbl>
          </a:graphicData>
        </a:graphic>
      </p:graphicFrame>
      <p:sp>
        <p:nvSpPr>
          <p:cNvPr id="5" name="Rectangle 4"/>
          <p:cNvSpPr/>
          <p:nvPr/>
        </p:nvSpPr>
        <p:spPr>
          <a:xfrm>
            <a:off x="457200" y="3931920"/>
            <a:ext cx="1106424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Fine-tuning consistently outperforms base models across all four experiments</a:t>
            </a:r>
          </a:p>
        </p:txBody>
      </p:sp>
      <p:sp>
        <p:nvSpPr>
          <p:cNvPr id="6" name="Rectangle 5"/>
          <p:cNvSpPr/>
          <p:nvPr/>
        </p:nvSpPr>
        <p:spPr>
          <a:xfrm>
            <a:off x="457200" y="4526280"/>
            <a:ext cx="1106424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alone improves over base but cannot match fine-tuning for reasoning or pattern recognition</a:t>
            </a:r>
          </a:p>
        </p:txBody>
      </p:sp>
      <p:sp>
        <p:nvSpPr>
          <p:cNvPr id="7" name="Rectangle 6"/>
          <p:cNvSpPr/>
          <p:nvPr/>
        </p:nvSpPr>
        <p:spPr>
          <a:xfrm>
            <a:off x="457200" y="5120640"/>
            <a:ext cx="1106424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Hybrid (FT + RAG) achieves the highest or equal-best accuracy in every experiment</a:t>
            </a:r>
          </a:p>
        </p:txBody>
      </p:sp>
      <p:sp>
        <p:nvSpPr>
          <p:cNvPr id="8" name="Rectangle 7"/>
          <p:cNvSpPr/>
          <p:nvPr/>
        </p:nvSpPr>
        <p:spPr>
          <a:xfrm>
            <a:off x="457200" y="5715000"/>
            <a:ext cx="11064240" cy="50292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Spam detection: fine-tuned 95% vs RAG 90% -- fine-tuning learns phishing patterns RAG can't match</a:t>
            </a:r>
          </a:p>
        </p:txBody>
      </p:sp>
      <p:sp>
        <p:nvSpPr>
          <p:cNvPr id="9" name="Rectangle 8"/>
          <p:cNvSpPr/>
          <p:nvPr/>
        </p:nvSpPr>
        <p:spPr>
          <a:xfrm>
            <a:off x="457200" y="6309360"/>
            <a:ext cx="11064240" cy="50292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All comparisons use the SAME architecture -- the only variable is the approach</a:t>
            </a:r>
          </a:p>
        </p:txBody>
      </p:sp>
      <p:sp>
        <p:nvSpPr>
          <p:cNvPr id="10" name="TextBox 9"/>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55/55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C2A3A"/>
        </a:solidFill>
        <a:effectLst/>
      </p:bgPr>
    </p:bg>
    <p:spTree>
      <p:nvGrpSpPr>
        <p:cNvPr id="1" name=""/>
        <p:cNvGrpSpPr/>
        <p:nvPr/>
      </p:nvGrpSpPr>
      <p:grpSpPr/>
      <p:sp>
        <p:nvSpPr>
          <p:cNvPr id="2" name="TextBox 1"/>
          <p:cNvSpPr txBox="1"/>
          <p:nvPr/>
        </p:nvSpPr>
        <p:spPr>
          <a:xfrm>
            <a:off x="914400" y="1828800"/>
            <a:ext cx="10058400" cy="1371600"/>
          </a:xfrm>
          <a:prstGeom prst="rect">
            <a:avLst/>
          </a:prstGeom>
          <a:noFill/>
        </p:spPr>
        <p:txBody>
          <a:bodyPr wrap="square">
            <a:spAutoFit/>
          </a:bodyPr>
          <a:lstStyle/>
          <a:p>
            <a:pPr algn="ctr">
              <a:defRPr sz="5200" b="1">
                <a:solidFill>
                  <a:srgbClr val="5DAEF2"/>
                </a:solidFill>
                <a:latin typeface="Calibri"/>
              </a:defRPr>
            </a:pPr>
            <a:r>
              <a:t>Thank You</a:t>
            </a:r>
          </a:p>
        </p:txBody>
      </p:sp>
      <p:sp>
        <p:nvSpPr>
          <p:cNvPr id="3" name="TextBox 2"/>
          <p:cNvSpPr txBox="1"/>
          <p:nvPr/>
        </p:nvSpPr>
        <p:spPr>
          <a:xfrm>
            <a:off x="914400" y="3200400"/>
            <a:ext cx="10058400" cy="914400"/>
          </a:xfrm>
          <a:prstGeom prst="rect">
            <a:avLst/>
          </a:prstGeom>
          <a:noFill/>
        </p:spPr>
        <p:txBody>
          <a:bodyPr wrap="square">
            <a:spAutoFit/>
          </a:bodyPr>
          <a:lstStyle/>
          <a:p>
            <a:pPr algn="ctr">
              <a:defRPr sz="2800" b="0">
                <a:solidFill>
                  <a:srgbClr val="ECEFF1"/>
                </a:solidFill>
                <a:latin typeface="Calibri"/>
              </a:defRPr>
            </a:pPr>
            <a:r>
              <a:t>Questions &amp; Discussion</a:t>
            </a:r>
          </a:p>
        </p:txBody>
      </p:sp>
      <p:sp>
        <p:nvSpPr>
          <p:cNvPr id="4" name="TextBox 3"/>
          <p:cNvSpPr txBox="1"/>
          <p:nvPr/>
        </p:nvSpPr>
        <p:spPr>
          <a:xfrm>
            <a:off x="914400" y="4572000"/>
            <a:ext cx="10058400" cy="1371600"/>
          </a:xfrm>
          <a:prstGeom prst="rect">
            <a:avLst/>
          </a:prstGeom>
          <a:noFill/>
        </p:spPr>
        <p:txBody>
          <a:bodyPr wrap="square">
            <a:spAutoFit/>
          </a:bodyPr>
          <a:lstStyle/>
          <a:p>
            <a:pPr algn="ctr">
              <a:defRPr sz="1800" b="0">
                <a:solidFill>
                  <a:srgbClr val="A8C7E8"/>
                </a:solidFill>
                <a:latin typeface="Calibri"/>
              </a:defRPr>
            </a:pPr>
            <a:r>
              <a:t>"Fine-tuning teaches SKILLS. RAG provides INFORMATION.</a:t>
            </a:r>
            <a:br/>
            <a:r>
              <a:t>The best systems combine both."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