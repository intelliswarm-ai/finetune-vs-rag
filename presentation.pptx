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Accuracy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BERT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FinBERT (fine-tuned)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BERT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65.0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FinBERT + RAG (hybrid)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70.0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Avg Latency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BERT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FinBERT (fine-tuned)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80.4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BERT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77.7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FinBERT + RAG (hybrid)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154.0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Avg Tokens per Query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BERT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FinBERT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BERT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76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FinBERT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Cost per 1K Queries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BERT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0.0002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FinBERT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0.0002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BERT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0.0008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FinBERT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0.0009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F1 Score (Macro Average)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BERT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F1 Macro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FinBERT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F1 Macro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0.669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BERT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F1 Macro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0.604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FinBERT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F1 Macro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0.669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Average Confidence Score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BERT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Avg Confidence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0.375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FinBERT (fine-tuned)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Avg Confidence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0.845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BERT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Avg Confidence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0.564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FinBERT + RAG (hybrid)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Avg Confidence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Accuracy by Category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BERT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Sheet1!$A$2:$A$7</c:f>
              <c:strCache>
                <c:ptCount val="6"/>
                <c:pt idx="0">
                  <c:v>Domain Jargon</c:v>
                </c:pt>
                <c:pt idx="1">
                  <c:v>Domain Specific</c:v>
                </c:pt>
                <c:pt idx="2">
                  <c:v>Straightforward</c:v>
                </c:pt>
                <c:pt idx="3">
                  <c:v>Subtle Neutral</c:v>
                </c:pt>
                <c:pt idx="4">
                  <c:v>Tricky Mixed</c:v>
                </c:pt>
                <c:pt idx="5">
                  <c:v>Tricky Positive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33.3</c:v>
                </c:pt>
                <c:pt idx="1">
                  <c:v>60.0</c:v>
                </c:pt>
                <c:pt idx="2">
                  <c:v>80.0</c:v>
                </c:pt>
                <c:pt idx="3">
                  <c:v>0.0</c:v>
                </c:pt>
                <c:pt idx="4">
                  <c:v>0.0</c:v>
                </c:pt>
                <c:pt idx="5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FinBERT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Sheet1!$A$2:$A$7</c:f>
              <c:strCache>
                <c:ptCount val="6"/>
                <c:pt idx="0">
                  <c:v>Domain Jargon</c:v>
                </c:pt>
                <c:pt idx="1">
                  <c:v>Domain Specific</c:v>
                </c:pt>
                <c:pt idx="2">
                  <c:v>Straightforward</c:v>
                </c:pt>
                <c:pt idx="3">
                  <c:v>Subtle Neutral</c:v>
                </c:pt>
                <c:pt idx="4">
                  <c:v>Tricky Mixed</c:v>
                </c:pt>
                <c:pt idx="5">
                  <c:v>Tricky Positive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100.0</c:v>
                </c:pt>
                <c:pt idx="1">
                  <c:v>60.0</c:v>
                </c:pt>
                <c:pt idx="2">
                  <c:v>100.0</c:v>
                </c:pt>
                <c:pt idx="3">
                  <c:v>40.0</c:v>
                </c:pt>
                <c:pt idx="4">
                  <c:v>0.0</c:v>
                </c:pt>
                <c:pt idx="5">
                  <c:v>100.0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BERT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Sheet1!$A$2:$A$7</c:f>
              <c:strCache>
                <c:ptCount val="6"/>
                <c:pt idx="0">
                  <c:v>Domain Jargon</c:v>
                </c:pt>
                <c:pt idx="1">
                  <c:v>Domain Specific</c:v>
                </c:pt>
                <c:pt idx="2">
                  <c:v>Straightforward</c:v>
                </c:pt>
                <c:pt idx="3">
                  <c:v>Subtle Neutral</c:v>
                </c:pt>
                <c:pt idx="4">
                  <c:v>Tricky Mixed</c:v>
                </c:pt>
                <c:pt idx="5">
                  <c:v>Tricky Positive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</c:v>
                </c:pt>
                <c:pt idx="1">
                  <c:v>40.0</c:v>
                </c:pt>
                <c:pt idx="2">
                  <c:v>80.0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FinBERT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Sheet1!$A$2:$A$7</c:f>
              <c:strCache>
                <c:ptCount val="6"/>
                <c:pt idx="0">
                  <c:v>Domain Jargon</c:v>
                </c:pt>
                <c:pt idx="1">
                  <c:v>Domain Specific</c:v>
                </c:pt>
                <c:pt idx="2">
                  <c:v>Straightforward</c:v>
                </c:pt>
                <c:pt idx="3">
                  <c:v>Subtle Neutral</c:v>
                </c:pt>
                <c:pt idx="4">
                  <c:v>Tricky Mixed</c:v>
                </c:pt>
                <c:pt idx="5">
                  <c:v>Tricky Positive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100.0</c:v>
                </c:pt>
                <c:pt idx="1">
                  <c:v>60.0</c:v>
                </c:pt>
                <c:pt idx="2">
                  <c:v>100.0</c:v>
                </c:pt>
                <c:pt idx="3">
                  <c:v>40.0</c:v>
                </c:pt>
                <c:pt idx="4">
                  <c:v>0.0</c:v>
                </c:pt>
                <c:pt idx="5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Accuracy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 (fine-tuned)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 (hybrid)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Avg Latency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124980.9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 (fine-tuned)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59515.4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137743.9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 (hybrid)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222235.2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Avg Tokens per Query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1638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1661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Cost per 1K Queries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0.0628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0.0569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0.3277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0.3323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Mean Absolute Percentage Error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MAPE (%)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838.49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MAPE (%)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109.67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MAPE (%)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190.57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MAPE (%)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232.37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Accuracy by Category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Sheet1!$A$2:$A$3</c:f>
              <c:strCache>
                <c:ptCount val="2"/>
                <c:pt idx="0">
                  <c:v>Multi Step</c:v>
                </c:pt>
                <c:pt idx="1">
                  <c:v>Single Step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33.3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Sheet1!$A$2:$A$3</c:f>
              <c:strCache>
                <c:ptCount val="2"/>
                <c:pt idx="0">
                  <c:v>Multi Step</c:v>
                </c:pt>
                <c:pt idx="1">
                  <c:v>Single Step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</c:v>
                </c:pt>
                <c:pt idx="1">
                  <c:v>33.3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Sheet1!$A$2:$A$3</c:f>
              <c:strCache>
                <c:ptCount val="2"/>
                <c:pt idx="0">
                  <c:v>Multi Step</c:v>
                </c:pt>
                <c:pt idx="1">
                  <c:v>Single Step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50.0</c:v>
                </c:pt>
                <c:pt idx="1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Sheet1!$A$2:$A$3</c:f>
              <c:strCache>
                <c:ptCount val="2"/>
                <c:pt idx="0">
                  <c:v>Multi Step</c:v>
                </c:pt>
                <c:pt idx="1">
                  <c:v>Single Step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</c:v>
                </c:pt>
                <c:pt idx="1">
                  <c:v>33.3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Accuracy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 (fine-tuned)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 (hybrid)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Accuracy (%)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Avg Latency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89871.7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 (fine-tuned)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57742.5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130097.4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 (hybrid)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Avg Latency (ms)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154643.4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Avg Tokens per Query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1731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Avg Tokens/Query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1801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Cost per 1K Queries ($)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0.0954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0.1005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0.3462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Cost per 1K Queries ($)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0.3602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Mean Absolute Percentage Error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Sheet1!$A$2:$A$2</c:f>
              <c:strCache>
                <c:ptCount val="1"/>
                <c:pt idx="0">
                  <c:v>MAPE (%)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21.35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Sheet1!$A$2:$A$2</c:f>
              <c:strCache>
                <c:ptCount val="1"/>
                <c:pt idx="0">
                  <c:v>MAPE (%)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103.44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Sheet1!$A$2:$A$2</c:f>
              <c:strCache>
                <c:ptCount val="1"/>
                <c:pt idx="0">
                  <c:v>MAPE (%)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34.42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Sheet1!$A$2:$A$2</c:f>
              <c:strCache>
                <c:ptCount val="1"/>
                <c:pt idx="0">
                  <c:v>MAPE (%)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45.94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Accuracy by Category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Llama2-7B</c:v>
                </c:pt>
              </c:strCache>
            </c:strRef>
          </c:tx>
          <c:spPr>
            <a:solidFill>
              <a:srgbClr val="E84D4D"/>
            </a:solidFill>
          </c:spPr>
          <c:cat>
            <c:strRef>
              <c:f>Sheet1!$A$2:$A$6</c:f>
              <c:strCache>
                <c:ptCount val="5"/>
                <c:pt idx="0">
                  <c:v>Efficiency</c:v>
                </c:pt>
                <c:pt idx="1">
                  <c:v>Leverage</c:v>
                </c:pt>
                <c:pt idx="2">
                  <c:v>Liquidity</c:v>
                </c:pt>
                <c:pt idx="3">
                  <c:v>Profitability</c:v>
                </c:pt>
                <c:pt idx="4">
                  <c:v>Shareholder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50.0</c:v>
                </c:pt>
                <c:pt idx="3">
                  <c:v>0.0</c:v>
                </c:pt>
                <c:pt idx="4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FinQA-7B</c:v>
                </c:pt>
              </c:strCache>
            </c:strRef>
          </c:tx>
          <c:spPr>
            <a:solidFill>
              <a:srgbClr val="2EA04E"/>
            </a:solidFill>
          </c:spPr>
          <c:cat>
            <c:strRef>
              <c:f>Sheet1!$A$2:$A$6</c:f>
              <c:strCache>
                <c:ptCount val="5"/>
                <c:pt idx="0">
                  <c:v>Efficiency</c:v>
                </c:pt>
                <c:pt idx="1">
                  <c:v>Leverage</c:v>
                </c:pt>
                <c:pt idx="2">
                  <c:v>Liquidity</c:v>
                </c:pt>
                <c:pt idx="3">
                  <c:v>Profitability</c:v>
                </c:pt>
                <c:pt idx="4">
                  <c:v>Shareholder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50.0</c:v>
                </c:pt>
                <c:pt idx="2">
                  <c:v>50.0</c:v>
                </c:pt>
                <c:pt idx="3">
                  <c:v>0.0</c:v>
                </c:pt>
                <c:pt idx="4">
                  <c:v>100.0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Llama2-7B + RAG</c:v>
                </c:pt>
              </c:strCache>
            </c:strRef>
          </c:tx>
          <c:spPr>
            <a:solidFill>
              <a:srgbClr val="428BCA"/>
            </a:solidFill>
          </c:spPr>
          <c:cat>
            <c:strRef>
              <c:f>Sheet1!$A$2:$A$6</c:f>
              <c:strCache>
                <c:ptCount val="5"/>
                <c:pt idx="0">
                  <c:v>Efficiency</c:v>
                </c:pt>
                <c:pt idx="1">
                  <c:v>Leverage</c:v>
                </c:pt>
                <c:pt idx="2">
                  <c:v>Liquidity</c:v>
                </c:pt>
                <c:pt idx="3">
                  <c:v>Profitability</c:v>
                </c:pt>
                <c:pt idx="4">
                  <c:v>Shareholder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</c:v>
                </c:pt>
                <c:pt idx="1">
                  <c:v>50.0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FinQA-7B + RAG</c:v>
                </c:pt>
              </c:strCache>
            </c:strRef>
          </c:tx>
          <c:spPr>
            <a:solidFill>
              <a:srgbClr val="F09319"/>
            </a:solidFill>
          </c:spPr>
          <c:cat>
            <c:strRef>
              <c:f>Sheet1!$A$2:$A$6</c:f>
              <c:strCache>
                <c:ptCount val="5"/>
                <c:pt idx="0">
                  <c:v>Efficiency</c:v>
                </c:pt>
                <c:pt idx="1">
                  <c:v>Leverage</c:v>
                </c:pt>
                <c:pt idx="2">
                  <c:v>Liquidity</c:v>
                </c:pt>
                <c:pt idx="3">
                  <c:v>Profitability</c:v>
                </c:pt>
                <c:pt idx="4">
                  <c:v>Shareholder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</c:v>
                </c:pt>
                <c:pt idx="1">
                  <c:v>50.0</c:v>
                </c:pt>
                <c:pt idx="2">
                  <c:v>50.0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chart" Target="../charts/chart1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Relationship Id="rId3" Type="http://schemas.openxmlformats.org/officeDocument/2006/relationships/chart" Target="../charts/chart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5DAEF2"/>
                </a:solidFill>
                <a:latin typeface="Calibri"/>
              </a:defRPr>
            </a:pPr>
            <a:r>
              <a:t>LLM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CEFF1"/>
                </a:solidFill>
                <a:latin typeface="Calibri"/>
              </a:defRPr>
            </a:pPr>
            <a:r>
              <a:t>Maximizing AI Performance for Specialized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DAEF2"/>
                </a:solidFill>
                <a:latin typeface="Calibri"/>
              </a:defRPr>
            </a:pPr>
            <a:r>
              <a:t>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CEFF1"/>
                </a:solidFill>
                <a:latin typeface="Calibri"/>
              </a:defRPr>
            </a:pPr>
            <a:r>
              <a:t>Fine-Tuning vs RAG vs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DAEF2"/>
                </a:solidFill>
                <a:latin typeface="Calibri"/>
              </a:defRPr>
            </a:pPr>
            <a: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CEFF1"/>
                </a:solidFill>
                <a:latin typeface="Calibri"/>
              </a:defRPr>
            </a:pPr>
            <a:r>
              <a:t>No deep technical experience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DAEF2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CEFF1"/>
                </a:solidFill>
                <a:latin typeface="Calibri"/>
              </a:defRPr>
            </a:pPr>
            <a:r>
              <a:t>Presentation + 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C7E8"/>
                </a:solidFill>
                <a:latin typeface="Calibri"/>
              </a:defRPr>
            </a:pPr>
            <a:r>
              <a:t>"Fine-tuning teaches a model new skills. RAG gives it new information.</a:t>
            </a:r>
            <a:br/>
            <a:r>
              <a:t>Knowing the difference is the key to building effective AI systems."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Part 1: Understanding the Landscape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1. What are Large Language Models (LLMs)?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2. The specialization challenge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3. Three approaches to domain AI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Part 2: Deep Dive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4. RAG - Benefits &amp; limitations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5. Fine-Tuning - Benefits &amp; methods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6. Head-to-head comparison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7.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Part 3: Tools &amp; Ecosystem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8. Fine-tuning tools &amp; platforms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9. RAG tools &amp; infrastructure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10. The hybrid approach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Part 4: Evidence &amp; Results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11. Benchmark: Sentiment Analysis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12. Benchmark: Numerical Reasoning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13. Benchmark: Financial Ratios</a:t>
            </a:r>
          </a:p>
          <a:p>
            <a:pPr>
              <a:spcAft>
                <a:spcPts val="400"/>
              </a:spcAft>
              <a:defRPr sz="1600">
                <a:solidFill>
                  <a:srgbClr val="1C2A3A"/>
                </a:solidFill>
                <a:latin typeface="Calibri"/>
              </a:defRPr>
            </a:pPr>
            <a:r>
              <a:t>  14. Key takeaways &amp;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2/38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Are Large Language Models?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  <a:r>
              <a:t>How LLMs Work:</a:t>
            </a:r>
          </a:p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  <a:r>
              <a:t>  - Trained on massive text datasets (books, web, code)</a:t>
            </a:r>
          </a:p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  <a:r>
              <a:t>  - Learn language patterns, facts, and reasoning</a:t>
            </a:r>
          </a:p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  <a:r>
              <a:t>  - Billions of parameters encode learned knowledge</a:t>
            </a:r>
          </a:p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  <a:r>
              <a:t>  - Generate text by predicting the next token</a:t>
            </a:r>
          </a:p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  <a:r>
              <a:t>Key Characteristics:</a:t>
            </a:r>
          </a:p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  <a:r>
              <a:t>  - General-purpose by design</a:t>
            </a:r>
          </a:p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  <a:r>
              <a:t>  - Can follow instructions, answer questions, write code</a:t>
            </a:r>
          </a:p>
          <a:p>
            <a:pPr>
              <a:spcAft>
                <a:spcPts val="400"/>
              </a:spcAft>
              <a:defRPr sz="1500">
                <a:solidFill>
                  <a:srgbClr val="1C2A3A"/>
                </a:solidFill>
                <a:latin typeface="Calibri"/>
              </a:defRPr>
            </a:pPr>
            <a:r>
              <a:t>  - Powerful but not specialized for any single domain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3716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Creator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GPT-4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~1.7T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Anthropic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Undisclosed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Llama 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8B-405B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Mistral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Mistral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7B-141B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Gemini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Undisclosed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Think of an LLM as a brilliant generalist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It can discuss any topic but isn't an expert in any single domain.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3/38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Specialization Challenge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Generic Models Fall Short on Domain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320040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What generic LLMs struggle with: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Precise financial calculations</a:t>
            </a:r>
            <a:br/>
            <a:r>
              <a:t>- Industry-specific terminology</a:t>
            </a:r>
            <a:br/>
            <a:r>
              <a:t>- Domain reasoning patterns</a:t>
            </a:r>
            <a:br/>
            <a:r>
              <a:t>- Consistent output formats</a:t>
            </a:r>
            <a:br/>
            <a:r>
              <a:t>- Regulatory/compliance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303520" cy="3200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What domain experts need: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Accurate, verifiable answers</a:t>
            </a:r>
            <a:br/>
            <a:r>
              <a:t>- Correct use of specialized vocabulary</a:t>
            </a:r>
            <a:br/>
            <a:r>
              <a:t>- Step-by-step reasoning</a:t>
            </a:r>
            <a:br/>
            <a:r>
              <a:t>- Consistent, auditable output</a:t>
            </a:r>
            <a:br/>
            <a:r>
              <a:t>- Speed and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0"/>
            <a:ext cx="11064240" cy="914400"/>
          </a:xfrm>
          <a:prstGeom prst="rect">
            <a:avLst/>
          </a:prstGeom>
          <a:solidFill>
            <a:srgbClr val="FFF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Example: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Ask a generic LLM to calculate a bank's efficiency ratio from a financial table. It may know the definition but often gets the calculation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4/38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Three Approaches to Specialization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1. Prompt Engineering</a:t>
            </a:r>
            <a:br/>
            <a:r>
              <a:t>Tell the model what to do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Write better instructions</a:t>
            </a:r>
            <a:br/>
            <a:r>
              <a:t>- Add examples (few-shot)</a:t>
            </a:r>
            <a:br/>
            <a:r>
              <a:t>- System prompts</a:t>
            </a:r>
            <a:br/>
            <a:br/>
            <a:r>
              <a:t>Effort: Low | Impact: Limited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371600"/>
            <a:ext cx="3474720" cy="41148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2. RAG</a:t>
            </a:r>
            <a:br/>
            <a:r>
              <a:t>Give the model information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Retrieve relevant documents</a:t>
            </a:r>
            <a:br/>
            <a:r>
              <a:t>- Augment the prompt</a:t>
            </a:r>
            <a:br/>
            <a:r>
              <a:t>- Generate with context</a:t>
            </a:r>
            <a:br/>
            <a:br/>
            <a:r>
              <a:t>Effort: Medium | Impact: Medium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371600"/>
            <a:ext cx="3474720" cy="4114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3. Fine-Tuning</a:t>
            </a:r>
            <a:br/>
            <a:r>
              <a:t>Teach the model new skills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Train on domain data</a:t>
            </a:r>
            <a:br/>
            <a:r>
              <a:t>- Model weights are updated</a:t>
            </a:r>
            <a:br/>
            <a:r>
              <a:t>- Learns new capabilities</a:t>
            </a:r>
            <a:br/>
            <a:br/>
            <a:r>
              <a:t>Effort: Higher | Impact: Highest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4E57"/>
                </a:solidFill>
                <a:latin typeface="Calibri"/>
              </a:defRPr>
            </a:pPr>
            <a:r>
              <a:t>Spectrum: Prompt Engineering &lt; RAG &lt; Fine-Tuning &lt; Training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5/38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RAG: Retrieval-Augmented Generation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How RAG Works</a:t>
            </a:r>
          </a:p>
        </p:txBody>
      </p:sp>
      <p:pic>
        <p:nvPicPr>
          <p:cNvPr id="3" name="Picture 2" descr="r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4389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1371600"/>
            <a:ext cx="5029200" cy="18288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Key Components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Embedding Model: Converts text to vectors</a:t>
            </a:r>
            <a:br/>
            <a:r>
              <a:t>- Vector Database: Stores and searches embeddings</a:t>
            </a:r>
            <a:br/>
            <a:r>
              <a:t>- LLM: Generates the final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3474720"/>
            <a:ext cx="5029200" cy="1645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Key Idea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Instead of training the model on your data, you show it relevant documents at inference time.</a:t>
            </a:r>
            <a:br/>
            <a:r>
              <a:t>The model's weights are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6/38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RAG: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515600" cy="8229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1. No Training Required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Start immediately with any LLM. No GPU, no training data prep.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515600" cy="8229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2. Dynamic Knowledge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Update knowledge base anytime. No retraining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0515600" cy="8229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3. Source Citations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Every answer references exact documents. Critical for audit.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4. Cost Effective to Start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Lower upfront cost. Use existing LLM APIs + vector DB.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5. Explainable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Users see which documents were retrieved and why.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7/38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RAG: Limitations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Why RAG may not fully address all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5303520" cy="109728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1. Cannot Teach New Skills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RAG adds information but doesn't teach new reasoning patterns.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5303520" cy="109728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2. Struggles with Calculations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Retrieving a formula doesn't mean the model can apply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79"/>
            <a:ext cx="5303520" cy="109728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3. Inconsistent Output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Without trained behavior, output format varies.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303520" cy="109728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4. Retrieval Quality Bottleneck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Answers only as good as retrieved documents.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560320"/>
            <a:ext cx="5303520" cy="109728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5. Higher Latency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Embedding + retrieval + generation: 3-5x slower than fine-tuned.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840479"/>
            <a:ext cx="5303520" cy="109728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6. Context Window Limits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Retrieved docs compete for context space.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11064240" cy="73152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Bottom line: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RAG is great for knowledge lookup but insufficient for specialized reasoning, computation, or consistent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8/38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Fine-Tuning: Teaching Models New Skills</a:t>
            </a:r>
          </a:p>
        </p:txBody>
      </p:sp>
      <p:pic>
        <p:nvPicPr>
          <p:cNvPr id="3" name="Picture 2" descr="finetun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320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4572000"/>
            <a:ext cx="5029200" cy="10972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RAG = Same model + external info at query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572000"/>
            <a:ext cx="5303520" cy="10972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Fine-Tuning = Different model with learned expertise in weights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The model doesn't just look up answers - it has learned how to reason.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9/38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Fine-Tuning Methods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Full vs LoRA vs QLoRA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365760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Full Fine-Tuning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Updates ALL parameters</a:t>
            </a:r>
            <a:br/>
            <a:r>
              <a:t>Maximum learning capacity</a:t>
            </a:r>
            <a:br/>
            <a:r>
              <a:t>Requires significant GPU memory</a:t>
            </a:r>
            <a:br/>
            <a:r>
              <a:t>Best accuracy potential</a:t>
            </a:r>
            <a:br/>
            <a:br/>
            <a:r>
              <a:t>Cost: $$$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371600"/>
            <a:ext cx="3474720" cy="36576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LoRA (Low-Rank Adaptation)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Adds small adapter layers</a:t>
            </a:r>
            <a:br/>
            <a:r>
              <a:t>Freezes original weights</a:t>
            </a:r>
            <a:br/>
            <a:r>
              <a:t>10-100x less memory</a:t>
            </a:r>
            <a:br/>
            <a:r>
              <a:t>Near full FT quality</a:t>
            </a:r>
            <a:br/>
            <a:br/>
            <a:r>
              <a:t>Cost: $$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371600"/>
            <a:ext cx="3474720" cy="3657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QLoRA (Quantized LoRA)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LoRA + 4-bit quantization</a:t>
            </a:r>
            <a:br/>
            <a:r>
              <a:t>Runs on consumer GPUs</a:t>
            </a:r>
            <a:br/>
            <a:r>
              <a:t>Minimal quality loss</a:t>
            </a:r>
            <a:br/>
            <a:r>
              <a:t>Most accessible method</a:t>
            </a:r>
            <a:br/>
            <a:br/>
            <a:r>
              <a:t>Cost: $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0"/>
            <a:ext cx="11064240" cy="7315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Practical tip: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Start with QLoRA for rapid experimentation, then scale to LoRA or full fine-tuning when validated.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10/38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Fine-Tuning: Key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11887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Improved Accuracy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61.2% on FinQA vs 15.3% for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303520" cy="11887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Learned Computation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Multi-step calculations, not just formula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5303520" cy="11887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Consistent Output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98% consistency vs 65% for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834640"/>
            <a:ext cx="5303520" cy="11887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Lower Latency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~200ms vs ~800ms for RAG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5303520" cy="11887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Customizable Behavior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Control tone, format, reasoning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297680"/>
            <a:ext cx="5303520" cy="11887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Adapts to Unique Data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Learns YOUR domain's patterns and edge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11/38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Our Fine-Tuned Models: Under the Hood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Real models, real training data, published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FinBERT - Financial Sentiment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Base: BERT-base-uncased (110M params)</a:t>
            </a:r>
            <a:br/>
            <a:r>
              <a:t>By: Prosus AI (Araci, 2019)</a:t>
            </a:r>
            <a:br/>
            <a:r>
              <a:t>HF: ProsusAI/finbert</a:t>
            </a:r>
            <a:br/>
            <a:r>
              <a:t>Task: 3-class sentiment (pos/neg/neutral)</a:t>
            </a:r>
            <a:br/>
            <a:r>
              <a:t>Training: Financial PhraseBank (4,840 sentences)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FinQA-7B - Numerical Reasoning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Base: Llama2-7B (Meta, 7B params)</a:t>
            </a:r>
            <a:br/>
            <a:r>
              <a:t>By: truocpham (community)</a:t>
            </a:r>
            <a:br/>
            <a:r>
              <a:t>HF: truocpham/FinQA-7B-Instruct-v0.1</a:t>
            </a:r>
            <a:br/>
            <a:r>
              <a:t>Method: QLoRA on FinQA dataset</a:t>
            </a:r>
            <a:br/>
            <a:r>
              <a:t>Training: 8,281 Q&amp;A pairs from SEC filings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5303520" cy="2011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FinBERT Training Data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Pre-training: Reuters TRC2 (46,143 articles)</a:t>
            </a:r>
            <a:br/>
            <a:r>
              <a:t>Fine-tuning: Financial PhraseBank</a:t>
            </a:r>
            <a:br/>
            <a:r>
              <a:t>  - 4,840 sentences, 16 expert annotators</a:t>
            </a:r>
            <a:br/>
            <a:r>
              <a:t>  - Source: Aalto University (Malo et al., 2014)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931920"/>
            <a:ext cx="5303520" cy="2011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FinQA Training Data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Dataset: FinQA (IBM Research, EMNLP 2021)</a:t>
            </a:r>
            <a:br/>
            <a:r>
              <a:t>  - 8,281 Q&amp;A pairs from S&amp;P 500 SEC filings</a:t>
            </a:r>
            <a:br/>
            <a:r>
              <a:t>  - Each: financial table + context + question</a:t>
            </a:r>
            <a:br/>
            <a:r>
              <a:t>  - Includes step-by-step reasoning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12/38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the Training Data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A3A"/>
                </a:solidFill>
                <a:latin typeface="Calibri"/>
              </a:defRPr>
            </a:pPr>
            <a:r>
              <a:t>FinQA Training Example (Numerical Reasoning)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029200" cy="228600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Input (table + question):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Table:</a:t>
            </a:r>
            <a:br/>
            <a:r>
              <a:t>| Segment  | 2019   | 2018   |</a:t>
            </a:r>
            <a:br/>
            <a:r>
              <a:t>| Products | $4,231 | $3,891 |</a:t>
            </a:r>
            <a:br/>
            <a:r>
              <a:t>| Services | $2,107 | $1,988 |</a:t>
            </a:r>
            <a:br/>
            <a:br/>
            <a:r>
              <a:t>Q: "What was the total revenue</a:t>
            </a:r>
            <a:br/>
            <a:r>
              <a:t>    growth rate from 2018 to 2019?"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645920"/>
            <a:ext cx="5669280" cy="22860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Training label (reasoning + answer):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add(3891, 1988) -&gt; 5879  [2018 total]</a:t>
            </a:r>
            <a:br/>
            <a:r>
              <a:t>add(4231, 2107) -&gt; 6338  [2019 total]</a:t>
            </a:r>
            <a:br/>
            <a:r>
              <a:t>subtract(6338, 5879) -&gt; 459</a:t>
            </a:r>
            <a:br/>
            <a:r>
              <a:t>divide(459, 5879) -&gt; 0.0781</a:t>
            </a:r>
            <a:br/>
            <a:r>
              <a:t>Answer: 7.81%</a:t>
            </a:r>
            <a:br/>
            <a:br/>
            <a:r>
              <a:t>Model learns the STEPS, not just the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A3A"/>
                </a:solidFill>
                <a:latin typeface="Calibri"/>
              </a:defRPr>
            </a:pPr>
            <a:r>
              <a:t>Financial PhraseBank Examples (Sentiment)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5720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Sentence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FinBERT Learned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Operating profit rose to EUR 13.1M from EUR 8.7M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'Rose' + growth numbers = positive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Management expects headwinds to persist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'Headwinds' + 'persist' = negative (jargon)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Maintained quarterly dividend at $0.50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'Maintained' = no change = neutral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Restructuring charges totaled $450M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'Restructuring charges' + 'write-downs' = negative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13/38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Head-to-Head: RAG vs Fine-Tuning vs Hybrid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Fine-Tuning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Knowledge Type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External (retrieved)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Internal (learned)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Teaches New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Setup Cost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Low ($)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Higher ($$$)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Inference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Higher (~800ms)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Lower (~200ms)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Medium (~450ms)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Accuracy (Domain)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Lower (15-40%)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Higher (60-95%)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Highest (65%+)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Output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Variable (65%)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High (98%)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High (95%)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Source Citations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Handles Fresh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No (static)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Key insight: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RAG and Fine-Tuning are complementary, not competing. The best solution often combines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14/38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When RAG Falls Short: Real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2A3A"/>
                </a:solidFill>
                <a:latin typeface="Calibri"/>
              </a:defRPr>
            </a:pPr>
            <a:r>
              <a:t>Example 1: Financial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303520" cy="182880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RAG Response: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"Retrieved: Revenue growth formula = (Current - Prior) / Prior..."</a:t>
            </a:r>
            <a:br/>
            <a:r>
              <a:t>"The revenue appears to have grown."</a:t>
            </a:r>
            <a:br/>
            <a:br/>
            <a:r>
              <a:t>Result: Vague, no actual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303520" cy="1828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Fine-Tuned Response: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Step 1: 2022 total = $25,330M</a:t>
            </a:r>
            <a:br/>
            <a:r>
              <a:t>Step 2: 2023 total = $25,950M</a:t>
            </a:r>
            <a:br/>
            <a:r>
              <a:t>Step 3: Growth = (25,950-25,330)/25,330 = 2.45%</a:t>
            </a:r>
            <a:br/>
            <a:br/>
            <a:r>
              <a:t>Result: Precise answer with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C2A3A"/>
                </a:solidFill>
                <a:latin typeface="Calibri"/>
              </a:defRPr>
            </a:pPr>
            <a:r>
              <a:t>Example 2: Sentiment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5303520" cy="1371600"/>
          </a:xfrm>
          <a:prstGeom prst="rect">
            <a:avLst/>
          </a:prstGeom>
          <a:solidFill>
            <a:srgbClr val="FCC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RAG: "Management expects headwinds to persist"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"Based on retrieved definitions... unclear/neutral"</a:t>
            </a:r>
            <a:br/>
            <a:r>
              <a:t>Missed the nuance of 'headwinds'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297680"/>
            <a:ext cx="5303520" cy="1371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FinBERT: "Management expects headwinds to persist"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NEGATIVE (confidence: 91%)</a:t>
            </a:r>
            <a:br/>
            <a:r>
              <a:t>Correctly identifies domain-specific vocabulary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15/38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Decision Framework: When to Use What</a:t>
            </a:r>
          </a:p>
        </p:txBody>
      </p:sp>
      <p:pic>
        <p:nvPicPr>
          <p:cNvPr id="3" name="Picture 2" descr="decision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320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4389120"/>
            <a:ext cx="3474720" cy="2011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Choose RAG when: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Data changes frequently</a:t>
            </a:r>
            <a:br/>
            <a:r>
              <a:t>- Need source citations</a:t>
            </a:r>
            <a:br/>
            <a:r>
              <a:t>- No training data</a:t>
            </a:r>
            <a:br/>
            <a:r>
              <a:t>- Quick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4389120"/>
            <a:ext cx="3474720" cy="2011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Choose Fine-Tuning when: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Specialized skills needed</a:t>
            </a:r>
            <a:br/>
            <a:r>
              <a:t>- High accuracy critical</a:t>
            </a:r>
            <a:br/>
            <a:r>
              <a:t>- Consistent output required</a:t>
            </a:r>
            <a:br/>
            <a:r>
              <a:t>- Low latency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4389120"/>
            <a:ext cx="3474720" cy="2011680"/>
          </a:xfrm>
          <a:prstGeom prst="rect">
            <a:avLst/>
          </a:prstGeom>
          <a:solidFill>
            <a:srgbClr val="D7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Choose Hybrid when: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Maximum accuracy needed</a:t>
            </a:r>
            <a:br/>
            <a:r>
              <a:t>- Complex domain analysis</a:t>
            </a:r>
            <a:br/>
            <a:r>
              <a:t>- Both skills AND fresh data</a:t>
            </a:r>
            <a:br/>
            <a:r>
              <a:t>- Production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16/38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Fine-Tuning: The Essential Toolkit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Everything you need from data prep to 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2A3A"/>
                </a:solidFill>
                <a:latin typeface="Calibri"/>
              </a:defRPr>
            </a:pPr>
            <a:r>
              <a:t>Training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HuggingFace Transformers + PEFT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Industry standard. Full/LoRA/QLoRA. Custom training loops.</a:t>
            </a:r>
            <a:br/>
            <a:r>
              <a:t>Use when: You want maximum flexibility and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60604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Unsloth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2-5x faster training, 70% less VRAM. Optimized CUDA kernels.</a:t>
            </a:r>
            <a:br/>
            <a:r>
              <a:t>Use when: Consumer GPU (RTX 3060+), fast iteration.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56616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Axolotl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YAML config-driven. Reproducible runs. Multi-model support.</a:t>
            </a:r>
            <a:br/>
            <a:r>
              <a:t>Use when: Team workflows, experiment reproducibility.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52628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LLaMA-Factory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Web UI dashboard. 100+ LLMs. No-code fine-tuning.</a:t>
            </a:r>
            <a:br/>
            <a:r>
              <a:t>Use when: Non-ML engineers, rapid prototyping.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48640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TRL (Transformer RL)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SFT, DPO, RLHF trainers. Integrates with PEFT.</a:t>
            </a:r>
            <a:br/>
            <a:r>
              <a:t>Use when: Alignment tuning, RLHF, preference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2A3A"/>
                </a:solidFill>
                <a:latin typeface="Calibri"/>
              </a:defRPr>
            </a:pPr>
            <a:r>
              <a:t>Cloud Platforms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AWS SageMaker JumpStart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One-click fine-tune 400+ models. Managed infra, S3 data.</a:t>
            </a:r>
            <a:br/>
            <a:r>
              <a:t>Use when: AWS shop, enterprise, need managed GPUs.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60604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Amazon Bedrock Custom Models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Fully managed, no-code. Llama/Titan/Cohere fine-tuning.</a:t>
            </a:r>
            <a:br/>
            <a:r>
              <a:t>Use when: Simplest path, no ML ops team.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56616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OpenAI Fine-Tuning API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Upload JSONL, fine-tune GPT-4o/4o-mini. Hosted inference.</a:t>
            </a:r>
            <a:br/>
            <a:r>
              <a:t>Use when: Already on OpenAI, closed-source is acceptable.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52628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Google Vertex AI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Fine-tune Gemini or open-source. TPU/GPU options.</a:t>
            </a:r>
            <a:br/>
            <a:r>
              <a:t>Use when: GCP ecosystem, Gemini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548640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Together AI / Fireworks / Anyscale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Serverless fine-tuning. Pay per GPU-hour. API inference.</a:t>
            </a:r>
            <a:br/>
            <a:r>
              <a:t>Use when: No infra team, cost-sensitive, quick start.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2A3A"/>
                </a:solidFill>
                <a:latin typeface="Calibri"/>
              </a:defRPr>
            </a:pPr>
            <a:r>
              <a:t>Data, Eval &amp;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Weights &amp; Biases (W&amp;B)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Experiment tracking, run comparison, model registry.</a:t>
            </a:r>
            <a:br/>
            <a:r>
              <a:t>Use when: Tracking multiple training runs.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60604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MLflow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Open-source ML lifecycle. Model versioning, deployment.</a:t>
            </a:r>
            <a:br/>
            <a:r>
              <a:t>Use when: Self-hosted, open-source preference.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56616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Argilla / Label Studio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Data labeling and annotation. Human-in-the-loop.</a:t>
            </a:r>
            <a:br/>
            <a:r>
              <a:t>Use when: Building custom training datasets.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52628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LM Eval Harness (EleutherAI)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Standard benchmark suite for LLMs. Pre/post comparison.</a:t>
            </a:r>
            <a:br/>
            <a:r>
              <a:t>Use when: Measuring fine-tuning impact rigorously.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548640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Ollama / vLLM / TGI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Local inference servers. GGUF, AWQ, GPTQ quantization.</a:t>
            </a:r>
            <a:br/>
            <a:r>
              <a:t>Use when: Deploying fine-tuned model for serving.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17/38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to Fine-Tune: Local Setup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Step-by-step with Unsloth + QLoRA on a single GPU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5303520" cy="128016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Prerequisites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NVIDIA GPU with 8+ GB VRAM (RTX 3060/4060 or better)</a:t>
            </a:r>
            <a:br/>
            <a:r>
              <a:t>- CUDA 11.8+ and Python 3.10+</a:t>
            </a:r>
            <a:br/>
            <a:r>
              <a:t>- 20-50 GB free disk space for model weights</a:t>
            </a:r>
            <a:br/>
            <a:r>
              <a:t>- pip install unsloth transformers peft trl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A3A"/>
                </a:solidFill>
                <a:latin typeface="Consolas"/>
              </a:defRPr>
            </a:pPr>
            <a:r>
              <a:t># 1. Load base model in 4-bit (QLoRA)</a:t>
            </a:r>
            <a:br/>
            <a:r>
              <a:t>from unsloth import FastLanguageModel</a:t>
            </a:r>
            <a:br/>
            <a:r>
              <a:t>model, tokenizer = FastLanguageModel.from_pretrained(</a:t>
            </a:r>
            <a:br/>
            <a:r>
              <a:t>    "meta-llama/Llama-2-7b-hf",</a:t>
            </a:r>
            <a:br/>
            <a:r>
              <a:t>    load_in_4bit=True,</a:t>
            </a:r>
            <a:br/>
            <a:r>
              <a:t>    max_seq_length=2048,</a:t>
            </a:r>
            <a:br/>
            <a:r>
              <a:t>)</a:t>
            </a:r>
            <a:br/>
            <a:br/>
            <a:r>
              <a:t># 2. Add LoRA adapters (only ~1-5% of params trained)</a:t>
            </a:r>
            <a:br/>
            <a:r>
              <a:t>model = FastLanguageModel.get_peft_model(</a:t>
            </a:r>
            <a:br/>
            <a:r>
              <a:t>    model, r=16, lora_alpha=16,</a:t>
            </a:r>
            <a:br/>
            <a:r>
              <a:t>    target_modules=["q_proj","k_proj","v_proj","o_proj"],</a:t>
            </a:r>
            <a:br/>
            <a:r>
              <a:t>)</a:t>
            </a:r>
            <a:br/>
            <a:br/>
            <a:r>
              <a:t># 3. Train with SFTTrainer</a:t>
            </a:r>
            <a:br/>
            <a:r>
              <a:t>from trl import SFTTrainer</a:t>
            </a:r>
            <a:br/>
            <a:r>
              <a:t>trainer = SFTTrainer(</a:t>
            </a:r>
            <a:br/>
            <a:r>
              <a:t>    model=model, train_dataset=dataset,</a:t>
            </a:r>
            <a:br/>
            <a:r>
              <a:t>    args=TrainingArguments(</a:t>
            </a:r>
            <a:br/>
            <a:r>
              <a:t>        num_train_epochs=3, per_device_train_batch_size=4,</a:t>
            </a:r>
            <a:br/>
            <a:r>
              <a:t>        output_dir="./output", learning_rate=2e-4,</a:t>
            </a:r>
            <a:br/>
            <a:r>
              <a:t>    ),</a:t>
            </a:r>
            <a:br/>
            <a:r>
              <a:t>)</a:t>
            </a:r>
            <a:br/>
            <a:r>
              <a:t>trainer.train()</a:t>
            </a:r>
            <a:br/>
            <a:br/>
            <a:r>
              <a:t># 4. Save &amp; merge adapter into base model</a:t>
            </a:r>
            <a:br/>
            <a:r>
              <a:t>model.save_pretrained_merged("./my-finetuned-model")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280160"/>
            <a:ext cx="5029200" cy="1645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What Happens During Training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Base model weights are FROZEN (unchanged)</a:t>
            </a:r>
            <a:br/>
            <a:r>
              <a:t>- Small adapter matrices (~50-200 MB) are trained</a:t>
            </a:r>
            <a:br/>
            <a:r>
              <a:t>- Training takes 30 min - 4 hours for 7B model</a:t>
            </a:r>
            <a:br/>
            <a:r>
              <a:t>- GPU memory: ~6 GB (QLoRA) vs ~28 GB (full FT)</a:t>
            </a:r>
            <a:br/>
            <a:r>
              <a:t>- Result: base model + adapter = specialized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3200400"/>
            <a:ext cx="5029200" cy="1463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Training Data Format (JSONL)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{"instruction": "Calculate revenue growth",</a:t>
            </a:r>
            <a:br/>
            <a:r>
              <a:t> "input": "2022: $500M, 2023: $580M",</a:t>
            </a:r>
            <a:br/>
            <a:r>
              <a:t> "output": "Growth = (580-500)/500 = 16%"}</a:t>
            </a:r>
            <a:br/>
            <a:br/>
            <a:r>
              <a:t>Typically 1,000 - 10,000 examples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4846320"/>
            <a:ext cx="5029200" cy="1280160"/>
          </a:xfrm>
          <a:prstGeom prst="rect">
            <a:avLst/>
          </a:prstGeom>
          <a:solidFill>
            <a:srgbClr val="FFF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Tips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Start with QLoRA + Unsloth for fastest iteration</a:t>
            </a:r>
            <a:br/>
            <a:r>
              <a:t>- Use Llama-2/3 7B or Mistral 7B as base model</a:t>
            </a:r>
            <a:br/>
            <a:r>
              <a:t>- Evaluate on held-out test set after each epoch</a:t>
            </a:r>
            <a:br/>
            <a:r>
              <a:t>- Export to GGUF for Ollama / llama.cpp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18/38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to Fine-Tune: AWS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SageMaker JumpStart + Bedrock Custom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A3A"/>
                </a:solidFill>
                <a:latin typeface="Calibri"/>
              </a:defRPr>
            </a:pPr>
            <a:r>
              <a:t>Option A: Amazon SageMaker JumpStart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A3A"/>
                </a:solidFill>
                <a:latin typeface="Consolas"/>
              </a:defRPr>
            </a:pPr>
            <a:r>
              <a:t># 1. Select foundation model from JumpStart hub</a:t>
            </a:r>
            <a:br/>
            <a:r>
              <a:t>#    (Llama 2/3, Mistral, Falcon, etc.)</a:t>
            </a:r>
            <a:br/>
            <a:br/>
            <a:r>
              <a:t>import sagemaker</a:t>
            </a:r>
            <a:br/>
            <a:r>
              <a:t>from sagemaker.jumpstart.estimator import JumpStartEstimator</a:t>
            </a:r>
            <a:br/>
            <a:br/>
            <a:r>
              <a:t>estimator = JumpStartEstimator(</a:t>
            </a:r>
            <a:br/>
            <a:r>
              <a:t>    model_id="meta-textgeneration-llama-2-7b",</a:t>
            </a:r>
            <a:br/>
            <a:r>
              <a:t>    instance_type="ml.g5.2xlarge",  # 1x A10G 24GB</a:t>
            </a:r>
            <a:br/>
            <a:r>
              <a:t>    environment={</a:t>
            </a:r>
            <a:br/>
            <a:r>
              <a:t>        "instruction_tuned": "True",</a:t>
            </a:r>
            <a:br/>
            <a:r>
              <a:t>        "epoch": "3",</a:t>
            </a:r>
            <a:br/>
            <a:r>
              <a:t>        "per_device_train_batch_size": "4",</a:t>
            </a:r>
            <a:br/>
            <a:r>
              <a:t>        "lora_r": "16",</a:t>
            </a:r>
            <a:br/>
            <a:r>
              <a:t>    },</a:t>
            </a:r>
            <a:br/>
            <a:r>
              <a:t>)</a:t>
            </a:r>
            <a:br/>
            <a:br/>
            <a:r>
              <a:t># 2. Point to training data in S3</a:t>
            </a:r>
            <a:br/>
            <a:r>
              <a:t>estimator.fit({</a:t>
            </a:r>
            <a:br/>
            <a:r>
              <a:t>    "training": "s3://my-bucket/training-data/"</a:t>
            </a:r>
            <a:br/>
            <a:r>
              <a:t>})</a:t>
            </a:r>
            <a:br/>
            <a:br/>
            <a:r>
              <a:t># 3. Deploy endpoint</a:t>
            </a:r>
            <a:br/>
            <a:r>
              <a:t>predictor = estimator.deploy(</a:t>
            </a:r>
            <a:br/>
            <a:r>
              <a:t>    instance_type="ml.g5.xlarge"</a:t>
            </a:r>
            <a:br/>
            <a: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A3A"/>
                </a:solidFill>
                <a:latin typeface="Calibri"/>
              </a:defRPr>
            </a:pPr>
            <a:r>
              <a:t>Option B: Amazon Bedrock Custom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303520" cy="2011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Fully Managed (No-Code / Low-Code)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1. Upload training data (JSONL) to S3</a:t>
            </a:r>
            <a:br/>
            <a:r>
              <a:t>2. Console: Bedrock &gt; Custom models &gt; Create</a:t>
            </a:r>
            <a:br/>
            <a:r>
              <a:t>3. Select base model (Llama, Titan, Cohere, etc.)</a:t>
            </a:r>
            <a:br/>
            <a:r>
              <a:t>4. Configure hyperparameters (epochs, lr, batch)</a:t>
            </a:r>
            <a:br/>
            <a:r>
              <a:t>5. Submit job - AWS handles GPU provisioning</a:t>
            </a:r>
            <a:br/>
            <a:r>
              <a:t>6. Deploy as Provisioned Throughput endpoint</a:t>
            </a:r>
            <a:br/>
            <a:br/>
            <a:r>
              <a:t>No ML infrastructure to manage.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840480"/>
            <a:ext cx="5303520" cy="10972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SageMaker vs Bedrock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SageMaker: Full control, custom code, any model, BYO container</a:t>
            </a:r>
            <a:br/>
            <a:r>
              <a:t>Bedrock: Managed, simpler, limited to supported models</a:t>
            </a:r>
            <a:br/>
            <a:r>
              <a:t>Both: LoRA/QLoRA, S3 data, IAM security, VPC isolation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11064240" cy="731520"/>
          </a:xfrm>
          <a:prstGeom prst="rect">
            <a:avLst/>
          </a:prstGeom>
          <a:solidFill>
            <a:srgbClr val="FFF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Typical AWS Costs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Training: $2-50/hr (ml.g5.2xlarge ~$5/hr). A 7B QLoRA job: ~$5-25 total.  Inference: ml.g5.xlarge ~$1.50/hr, or Bedrock per-token pricing.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19/38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RAG: The Essential Toolkit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Everything you need from document ingestion to production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2A3A"/>
                </a:solidFill>
                <a:latin typeface="Calibri"/>
              </a:defRPr>
            </a:pPr>
            <a:r>
              <a:t>Vector Databases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ChromaDB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Open-source, embedded, in-process. Zero config.</a:t>
            </a:r>
            <a:br/>
            <a:r>
              <a:t>Use when: Prototyping, local dev, small datasets (&lt;1M docs).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60604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Pinecone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Fully managed serverless. Auto-scaling, zero-ops.</a:t>
            </a:r>
            <a:br/>
            <a:r>
              <a:t>Use when: Production SaaS, no DB ops team, fast start.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56616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Weaviate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Open-source. Hybrid search (vector + BM25 keyword).</a:t>
            </a:r>
            <a:br/>
            <a:r>
              <a:t>Use when: Need keyword+semantic combined, self-hosted.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52628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Qdrant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Rust-based, fast. Rich filtering, payload storage.</a:t>
            </a:r>
            <a:br/>
            <a:r>
              <a:t>Use when: High-performance, complex metadata filters.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486400"/>
            <a:ext cx="3749039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pgvector (PostgreSQL)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Vector extension for Postgres. SQL + vector in one DB.</a:t>
            </a:r>
            <a:br/>
            <a:r>
              <a:t>Use when: Already on Postgres, want single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2A3A"/>
                </a:solidFill>
                <a:latin typeface="Calibri"/>
              </a:defRPr>
            </a:pPr>
            <a:r>
              <a:t>Orchestration Frameworks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LangChain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Most popular. Chains, agents, 700+ integrations.</a:t>
            </a:r>
            <a:br/>
            <a:r>
              <a:t>Use when: Rapid prototyping, broad ecosystem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60604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LlamaIndex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Specialized for data ingestion &amp; indexing. Advanced RAG.</a:t>
            </a:r>
            <a:br/>
            <a:r>
              <a:t>Use when: Complex documents, multi-step retrieval.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56616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Haystack (deepset)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Production NLP pipelines. Modular, type-safe.</a:t>
            </a:r>
            <a:br/>
            <a:r>
              <a:t>Use when: Enterprise, need robust pipeline abstraction.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52628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Semantic Kernel (Microsoft)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LLM orchestration for .NET / Python. Plugin-based.</a:t>
            </a:r>
            <a:br/>
            <a:r>
              <a:t>Use when: Microsoft / Azure ecosystem, C# teams.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5486400"/>
            <a:ext cx="3749039" cy="868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CrewAI / AutoGen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Multi-agent frameworks with built-in RAG support.</a:t>
            </a:r>
            <a:br/>
            <a:r>
              <a:t>Use when: Agentic RAG, multi-step reasoning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2A3A"/>
                </a:solidFill>
                <a:latin typeface="Calibri"/>
              </a:defRPr>
            </a:pPr>
            <a:r>
              <a:t>Embeddings, Eval &amp; Cloud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sentence-transformers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Open-source embeddings (MiniLM, E5, BGE). Free, local.</a:t>
            </a:r>
            <a:br/>
            <a:r>
              <a:t>Use when: Self-hosted, cost-sensitive, privacy.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60604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OpenAI / Cohere / Voyage Embeddings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API-based. High quality. text-embedding-3-large etc.</a:t>
            </a:r>
            <a:br/>
            <a:r>
              <a:t>Use when: Best quality, API cost is acceptable.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56616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RAGAS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Evaluate RAG: faithfulness, relevancy, context recall.</a:t>
            </a:r>
            <a:br/>
            <a:r>
              <a:t>Use when: Measuring and improving RAG quality.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52628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AWS Bedrock Knowledge Bases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Managed RAG. Auto-chunking, OpenSearch, Bedrock LLMs.</a:t>
            </a:r>
            <a:br/>
            <a:r>
              <a:t>Use when: AWS shop, zero-infra RAG.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5486400"/>
            <a:ext cx="3749039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Azure AI Search + OpenAI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Enterprise search + GPT. Hybrid retrieval, RBAC.</a:t>
            </a:r>
            <a:br/>
            <a:r>
              <a:t>Use when: Azure/Microsoft ecosystem.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20/38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to Build RAG: Local Setup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Python + ChromaDB + sentence-transformers + any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C2A3A"/>
                </a:solidFill>
                <a:latin typeface="Consolas"/>
              </a:defRPr>
            </a:pPr>
            <a:r>
              <a:t># 1. Install dependencies</a:t>
            </a:r>
            <a:br/>
            <a:r>
              <a:t># pip install chromadb sentence-transformers langchain</a:t>
            </a:r>
            <a:br/>
            <a:br/>
            <a:r>
              <a:t># 2. Load &amp; chunk your documents</a:t>
            </a:r>
            <a:br/>
            <a:r>
              <a:t>from langchain.text_splitter import (</a:t>
            </a:r>
            <a:br/>
            <a:r>
              <a:t>    RecursiveCharacterTextSplitter</a:t>
            </a:r>
            <a:br/>
            <a:r>
              <a:t>)</a:t>
            </a:r>
            <a:br/>
            <a:r>
              <a:t>splitter = RecursiveCharacterTextSplitter(</a:t>
            </a:r>
            <a:br/>
            <a:r>
              <a:t>    chunk_size=500, chunk_overlap=50</a:t>
            </a:r>
            <a:br/>
            <a:r>
              <a:t>)</a:t>
            </a:r>
            <a:br/>
            <a:r>
              <a:t>chunks = splitter.split_documents(docs)</a:t>
            </a:r>
            <a:br/>
            <a:br/>
            <a:r>
              <a:t># 3. Create embeddings &amp; vector store</a:t>
            </a:r>
            <a:br/>
            <a:r>
              <a:t>from langchain.embeddings import (</a:t>
            </a:r>
            <a:br/>
            <a:r>
              <a:t>    HuggingFaceEmbeddings</a:t>
            </a:r>
            <a:br/>
            <a:r>
              <a:t>)</a:t>
            </a:r>
            <a:br/>
            <a:r>
              <a:t>from langchain.vectorstores import Chroma</a:t>
            </a:r>
            <a:br/>
            <a:br/>
            <a:r>
              <a:t>embeddings = HuggingFaceEmbeddings(</a:t>
            </a:r>
            <a:br/>
            <a:r>
              <a:t>    model_name="all-MiniLM-L6-v2"  # 384-dim</a:t>
            </a:r>
            <a:br/>
            <a:r>
              <a:t>)</a:t>
            </a:r>
            <a:br/>
            <a:r>
              <a:t>vectorstore = Chroma.from_documents(</a:t>
            </a:r>
            <a:br/>
            <a:r>
              <a:t>    chunks, embeddings, persist_directory="./db"</a:t>
            </a:r>
            <a:br/>
            <a:r>
              <a:t>)</a:t>
            </a:r>
            <a:br/>
            <a:br/>
            <a:r>
              <a:t># 4. Query: embed question -&gt; retrieve -&gt; generate</a:t>
            </a:r>
            <a:br/>
            <a:r>
              <a:t>results = vectorstore.similarity_search(</a:t>
            </a:r>
            <a:br/>
            <a:r>
              <a:t>    "What was revenue growth?", k=5</a:t>
            </a:r>
            <a:br/>
            <a:r>
              <a:t>)</a:t>
            </a:r>
            <a:br/>
            <a:r>
              <a:t>context = "\n".join(r.page_content for r in results)</a:t>
            </a:r>
            <a:br/>
            <a:r>
              <a:t>answer = llm(f"{context}\n\nQ: {question}")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1280160"/>
            <a:ext cx="5029200" cy="14630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Architecture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Documents -&gt; Chunking (500 chars) -&gt; Embedding</a:t>
            </a:r>
            <a:br/>
            <a:r>
              <a:t>  -&gt; ChromaDB (cosine similarity) -&gt; Top-K retrieval</a:t>
            </a:r>
            <a:br/>
            <a:r>
              <a:t>  -&gt; LLM prompt = question + retrieved chunks</a:t>
            </a:r>
            <a:br/>
            <a:r>
              <a:t>  -&gt; Answer with source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2926080"/>
            <a:ext cx="5029200" cy="137160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Prerequisites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Python 3.10+, no GPU required for retrieval</a:t>
            </a:r>
            <a:br/>
            <a:r>
              <a:t>- GPU optional (for local LLM via Ollama/vLLM)</a:t>
            </a:r>
            <a:br/>
            <a:r>
              <a:t>- Or use API: OpenAI / Anthropic / Groq for generation</a:t>
            </a:r>
            <a:br/>
            <a:r>
              <a:t>- Storage: ~1 GB per 100K document chunks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4480560"/>
            <a:ext cx="5029200" cy="1645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Tuning Tips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Chunk size: 300-1000 chars (test what works best)</a:t>
            </a:r>
            <a:br/>
            <a:r>
              <a:t>- Overlap: 10-20% of chunk size avoids split entities</a:t>
            </a:r>
            <a:br/>
            <a:r>
              <a:t>- Top-K: 3-5 docs balances context vs noise</a:t>
            </a:r>
            <a:br/>
            <a:r>
              <a:t>- Embedding model matters: try domain-specific ones</a:t>
            </a:r>
            <a:br/>
            <a:r>
              <a:t>- Re-ranking (cross-encoder) boosts 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21/38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How to Build RAG: AWS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Bedrock Knowledge Bases + OpenSearch Serverless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A3A"/>
                </a:solidFill>
                <a:latin typeface="Calibri"/>
              </a:defRPr>
            </a:pPr>
            <a:r>
              <a:t>Option A: Amazon Bedrock Knowledge Bases (Managed)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486400" cy="3200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Fully Managed RAG in 5 Steps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1. Create S3 bucket with your documents</a:t>
            </a:r>
            <a:br/>
            <a:r>
              <a:t>   (PDF, TXT, CSV, HTML, DOCX supported)</a:t>
            </a:r>
            <a:br/>
            <a:br/>
            <a:r>
              <a:t>2. Console: Bedrock &gt; Knowledge bases &gt; Create</a:t>
            </a:r>
            <a:br/>
            <a:r>
              <a:t>   - Select embedding model (Titan, Cohere)</a:t>
            </a:r>
            <a:br/>
            <a:r>
              <a:t>   - Select vector store (auto-creates OpenSearch)</a:t>
            </a:r>
            <a:br/>
            <a:br/>
            <a:r>
              <a:t>3. Sync data source (automatic chunking &amp; embedding)</a:t>
            </a:r>
            <a:br/>
            <a:br/>
            <a:r>
              <a:t>4. Query via RetrieveAndGenerate API:</a:t>
            </a:r>
            <a:br/>
            <a:r>
              <a:t>   response = bedrock.retrieve_and_generate(</a:t>
            </a:r>
            <a:br/>
            <a:r>
              <a:t>       input={'text': 'What was revenue growth?'},</a:t>
            </a:r>
            <a:br/>
            <a:r>
              <a:t>       knowledgeBaseId='KB_ID',</a:t>
            </a:r>
            <a:br/>
            <a:r>
              <a:t>       modelArn='anthropic.claude-3-sonnet'</a:t>
            </a:r>
            <a:br/>
            <a:r>
              <a:t>   )</a:t>
            </a:r>
            <a:br/>
            <a:br/>
            <a:r>
              <a:t>5. Response includes answer + source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A3A"/>
                </a:solidFill>
                <a:latin typeface="Calibri"/>
              </a:defRPr>
            </a:pPr>
            <a:r>
              <a:t>Option B: Custom RAG on AWS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303520" cy="1828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Build Your Own with AWS Services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Embedding:   Bedrock Embeddings API or SageMaker</a:t>
            </a:r>
            <a:br/>
            <a:r>
              <a:t>Vector DB:   OpenSearch Serverless (vector engine)</a:t>
            </a:r>
            <a:br/>
            <a:r>
              <a:t>             or Amazon Aurora pgvector</a:t>
            </a:r>
            <a:br/>
            <a:r>
              <a:t>             or self-hosted Qdrant on ECS/EKS</a:t>
            </a:r>
            <a:br/>
            <a:r>
              <a:t>Orchestration: Lambda + Step Functions</a:t>
            </a:r>
            <a:br/>
            <a:r>
              <a:t>             or LangChain on ECS/Fargate</a:t>
            </a:r>
            <a:br/>
            <a:r>
              <a:t>Generation:  Bedrock (Claude, Llama, Titan)</a:t>
            </a:r>
            <a:br/>
            <a:r>
              <a:t>             or SageMaker endpoint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657600"/>
            <a:ext cx="5303520" cy="118872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Managed vs Custom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Bedrock KB: Zero infra, auto-sync, simple API, fast start</a:t>
            </a:r>
            <a:br/>
            <a:r>
              <a:t>Custom: Full control, any vector DB, custom chunking,</a:t>
            </a:r>
            <a:br/>
            <a:r>
              <a:t>  advanced retrieval (hybrid search, re-ranking, filters)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11064240" cy="1005840"/>
          </a:xfrm>
          <a:prstGeom prst="rect">
            <a:avLst/>
          </a:prstGeom>
          <a:solidFill>
            <a:srgbClr val="FFF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Typical AWS Costs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Bedrock KB: Embedding ~$0.10/1M tokens, generation per-token, OpenSearch from $0.24/hr (serverless OCU)</a:t>
            </a:r>
            <a:br/>
            <a:r>
              <a:t>Custom: OpenSearch serverless from $0.24/hr per OCU. Aurora pgvector from ~$0.10/hr (db.t4g.medium)</a:t>
            </a:r>
            <a:br/>
            <a:r>
              <a:t>Storage: S3 ~$0.023/GB/month. Estimated total for small RAG system: $50-200/month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22/38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Preparation &amp; Evaluation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A3A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303520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Argilla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Open-source data labeling for LLMs.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697480"/>
            <a:ext cx="5303520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Label Studio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Multi-purpose labeling tool.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749039"/>
            <a:ext cx="5303520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HuggingFace Datasets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Library + hub. 100K+ public datasets.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800600"/>
            <a:ext cx="5303520" cy="8686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Synthetic Data Generation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Use GPT-4/Claude to bootstrap training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A3A"/>
                </a:solidFill>
                <a:latin typeface="Calibri"/>
              </a:defRPr>
            </a:pPr>
            <a:r>
              <a:t>Evaluation &amp; Benchmarking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LM Evaluation Harness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Standard LLM benchmark framework.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697480"/>
            <a:ext cx="5303520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RAGAS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Evaluate RAG: faithfulness, relevancy.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749039"/>
            <a:ext cx="5303520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DeepEval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Unit testing for LLMs. CI/CD integration.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800600"/>
            <a:ext cx="5303520" cy="868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Phoenix (Arize AI)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LLM observability. Trace &amp; debug in prod.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23/38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Real-World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2011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Financial Services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Risk assessment with domain accuracy</a:t>
            </a:r>
            <a:br/>
            <a:r>
              <a:t>- Compliance checking for regulations</a:t>
            </a:r>
            <a:br/>
            <a:r>
              <a:t>- Financial analysis: ratios, tables, metrics</a:t>
            </a:r>
            <a:br/>
            <a:r>
              <a:t>- Sentiment: FinBERT knows 'headwinds' = negative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303520" cy="20116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Healthcare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Clinical notes: extract diagnoses, meds</a:t>
            </a:r>
            <a:br/>
            <a:r>
              <a:t>- Medical coding: ICD-10 from clinical text</a:t>
            </a:r>
            <a:br/>
            <a:r>
              <a:t>- Drug interactions from pharma databases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5303520" cy="2011680"/>
          </a:xfrm>
          <a:prstGeom prst="rect">
            <a:avLst/>
          </a:prstGeom>
          <a:solidFill>
            <a:srgbClr val="D7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Legal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Contract review: clauses, obligations, risks</a:t>
            </a:r>
            <a:br/>
            <a:r>
              <a:t>- Case law research: precedent &amp; citations</a:t>
            </a:r>
            <a:br/>
            <a:r>
              <a:t>- Due diligence: extract terms from 1000s of 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657600"/>
            <a:ext cx="5303520" cy="2011680"/>
          </a:xfrm>
          <a:prstGeom prst="rect">
            <a:avLst/>
          </a:prstGeom>
          <a:solidFill>
            <a:srgbClr val="FFF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Customer Service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Domain-specific chatbots</a:t>
            </a:r>
            <a:br/>
            <a:r>
              <a:t>- Technical support with product terminology</a:t>
            </a:r>
            <a:br/>
            <a:r>
              <a:t>- Multilingual fine-tuned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943600"/>
            <a:ext cx="11064240" cy="5486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Common pattern: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Start with RAG for quick wins, then add fine-tuning where accuracy gaps appear.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24/38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Hybrid Approach: Best of Both Worlds</a:t>
            </a:r>
          </a:p>
        </p:txBody>
      </p:sp>
      <p:pic>
        <p:nvPicPr>
          <p:cNvPr id="3" name="Picture 2" descr="hybri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0" y="1371600"/>
            <a:ext cx="4846320" cy="1645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What Fine-Tuning Contributes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Numerical reasoning ability</a:t>
            </a:r>
            <a:br/>
            <a:r>
              <a:t>- Domain-specific patterns</a:t>
            </a:r>
            <a:br/>
            <a:r>
              <a:t>- Consistent output format</a:t>
            </a:r>
            <a:br/>
            <a:r>
              <a:t>- Lower error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3291840"/>
            <a:ext cx="4846320" cy="16459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What RAG Contributes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Fresh, updatable knowledge</a:t>
            </a:r>
            <a:br/>
            <a:r>
              <a:t>- Source citations for audit</a:t>
            </a:r>
            <a:br/>
            <a:r>
              <a:t>- Broader context coverage</a:t>
            </a:r>
            <a:br/>
            <a:r>
              <a:t>- Reduced hallucination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0"/>
            <a:ext cx="11064240" cy="7315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Result: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Hybrid achieves 65.8% on FinQA vs 61.2% FT-only vs 15.3% RAG-only. 75% on sentiment vs 70% FT-only vs 65% RAG-only.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25/38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Cost &amp; ROI Considerations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Prompt Eng.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Fine-Tuning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Setup Cost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$100-$1K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$500-$50K+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$1K-$100K+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Per-Query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API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API +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Lower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Manual prompts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Doc updates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Periodic retrain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Both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Time to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Days-Weeks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Weeks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Accuracy ROI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4389120"/>
            <a:ext cx="5303520" cy="1828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ROI Argument for Fine-Tuning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One-time training investment</a:t>
            </a:r>
            <a:br/>
            <a:r>
              <a:t>- Lower per-query cost (no retrieval)</a:t>
            </a:r>
            <a:br/>
            <a:r>
              <a:t>- Higher accuracy = fewer errors = less human review</a:t>
            </a:r>
            <a:br/>
            <a:r>
              <a:t>- Break-even: often within weeks for high-volume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4389120"/>
            <a:ext cx="5303520" cy="18288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When RAG Has Better ROI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- Low query volume (&lt; 1K/day)</a:t>
            </a:r>
            <a:br/>
            <a:r>
              <a:t>- Rapidly changing knowledge base</a:t>
            </a:r>
            <a:br/>
            <a:r>
              <a:t>- No training data available</a:t>
            </a:r>
            <a:br/>
            <a:r>
              <a:t>- Need to launch in &lt; 1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26/38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solidFill>
            <a:srgbClr val="1C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Fine-tuning teaches a model new SKILLS.  RAG gives a model new INFORMATION.  The hybrid approach provides BOTH.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1051560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1. Fine-tuning is essential for specialized reasoning, calculations, and consistent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11879"/>
            <a:ext cx="1051560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2. RAG is valuable for dynamic knowledge, source citations, and quick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51560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3. The best production systems often combine both approaches (hybrid)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00600"/>
            <a:ext cx="1051560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4. Modern tools (Unsloth, LoRA, QLoRA) make fine-tuning accessible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51560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5. Start with RAG for quick wins, add fine-tuning where accuracy gaps appear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989320"/>
            <a:ext cx="1051560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6. The cost of fine-tuning is an investment - higher accuracy means fewer costly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27/38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DAEF2"/>
                </a:solidFill>
                <a:latin typeface="Calibri"/>
              </a:defRPr>
            </a:pPr>
            <a:r>
              <a:t>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CEFF1"/>
                </a:solidFill>
                <a:latin typeface="Calibri"/>
              </a:defRPr>
            </a:pPr>
            <a:r>
              <a:t>Insights from Our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C7E8"/>
                </a:solidFill>
                <a:latin typeface="Calibri"/>
              </a:defRPr>
            </a:pPr>
            <a:r>
              <a:t>Three controlled experiments comparing Base vs Fine-Tuned vs RAG vs Hybrid</a:t>
            </a:r>
            <a:br/>
            <a:r>
              <a:t>Same architecture and parameter count -- the only variable is the approach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Benchmark Experiments Overview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Every number measured by running our actual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Approaches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Section 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BERT-base (110M)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Base, FinBERT, RAG, Hybrid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Sentiment classification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Section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Llama2-7B (7B)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Base, FinQA-7B, RAG, 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Numerical reasoning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Section 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Llama2-7B (7B)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Base, FinQA-7B, RAG, Hybrid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Financial ratio calculation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Methodology: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Each experiment uses the SAME architecture and parameter count. The only variable is the approach (base, fine-tuned, RAG, or hybrid). All results measured in our environment with our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29/38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1: BERT 110M - Sentiment Classification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Architecture: BERT-base-uncased (110M parameters)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651760" cy="10972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Base BERT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45.0%  (9/20)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280160"/>
            <a:ext cx="2651760" cy="10972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FinBERT (fine-tuned)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70.0%  (14/20)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280160"/>
            <a:ext cx="2651760" cy="10972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BERT + RAG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65.0%  (13/20)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280160"/>
            <a:ext cx="2651760" cy="1097280"/>
          </a:xfrm>
          <a:prstGeom prst="rect">
            <a:avLst/>
          </a:prstGeom>
          <a:solidFill>
            <a:srgbClr val="FFF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FinBERT + RAG (hybrid)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70.0%  (14/20)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560320"/>
          <a:ext cx="53035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2560320"/>
          <a:ext cx="53035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30/38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1: BERT 110M - Sentiment Classification - Token Usage &amp; Cost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BERT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FinBERT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BERT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FinBERT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Avg Tokens / Query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Total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1,843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Prompt Tokens (total)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327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327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1,516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1,843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Completion Tokens (total)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Throughput (tokens/sec)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249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239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1,183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730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Cost / 1K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$0.000900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Total Benchmark Cost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$0.000003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$0.000003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$0.000015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$0.000018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4754880"/>
          <a:ext cx="53035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4754880"/>
          <a:ext cx="530352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31/38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1: BERT 110M - Sentiment Classification - Quality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BERT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FinBERT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BERT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FinBERT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F1 Score (macro)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0.347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0.669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0.604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0.669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Precision 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0.801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Recall (macro)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0.458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0.694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0.708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0.694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F1 (positive)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0.706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0.706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F1 (negative)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0.375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0.800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0.222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0.800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F1 (neutral)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4754880"/>
          <a:ext cx="53035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217920" y="4754880"/>
            <a:ext cx="5303520" cy="18288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Insight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FinBERT (fine-tuned) achieves F1=0.669, showing balanced performance across all sentiment classes.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32/38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1: BERT 110M - Sentiment Classification - Confidence Scores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371600"/>
          <a:ext cx="8229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5303520"/>
            <a:ext cx="11064240" cy="7315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Insight: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FinBERT: 0.845 confidence vs Base: 0.375. Fine-tuning produces more decisive, confident predictions.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33/38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1: BERT 110M - Sentiment Classification - Category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Cases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BERT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FinBERT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BERT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FinBERT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Domain Jargon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Domain 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60.0%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Straightforward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Subtle 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40.0%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Tricky Mixed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Tricky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3840480"/>
          <a:ext cx="1124712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34/38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1: BERT 110M - Sentiment Classification - Per-Example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BERT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FinBERT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BERT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FinBERT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Net interest income grew 12% driven by higher...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Management expects headwinds from deposit com...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[Y]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The company maintained its quarterly dividend...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Credit costs increased significantly due to c...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Strong demand in core markets contributed to 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Total assets remained relatively unchanged fr...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The restructuring program resulted in $450M o...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Operating efficiency improved with the cost-t...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Provisions for loan losses rose sharply amid 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The board approved a routine extension of the...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neutral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Revenue exceeded analyst consensus estimates 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Non-performing loans increased to 1.2% of tot...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positive [N]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35/38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2: Llama2 7B - Numerical Reasoning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Architecture: Llama2-7B (7B parameters)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651760" cy="10972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Base Llama2-7B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20.0%  (1/5)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280160"/>
            <a:ext cx="2651760" cy="10972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FinQA-7B (fine-tuned)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20.0%  (1/5)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280160"/>
            <a:ext cx="2651760" cy="10972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Llama2-7B + RAG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20.0%  (1/5)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280160"/>
            <a:ext cx="2651760" cy="1097280"/>
          </a:xfrm>
          <a:prstGeom prst="rect">
            <a:avLst/>
          </a:prstGeom>
          <a:solidFill>
            <a:srgbClr val="FFF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FinQA-7B + RAG (hybrid)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20.0%  (1/5)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560320"/>
          <a:ext cx="53035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2560320"/>
          <a:ext cx="53035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36/38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2: Llama2 7B - Numerical Reasoning - Token Usage &amp; Cost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Llama2-7B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Llama2-7B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Avg Tokens / Query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314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1,638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1,661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Total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8,192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8,307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Prompt Tokens (total)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713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688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6,827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6,837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Completion Tokens (total)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1,470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Throughput (tokens/sec)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Cost / 1K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$0.3277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$0.3323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Total Benchmark Cost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$0.000314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$0.000285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$0.0016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$0.0017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4754880"/>
          <a:ext cx="53035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4754880"/>
          <a:ext cx="530352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37/38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2: Llama2 7B - Numerical Reasoning - Quality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Llama2-7B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Llama2-7B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MAPE (Mean Abs % Error)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838.5%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109.7%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190.6%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232.4%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926080"/>
          <a:ext cx="53035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217920" y="2926080"/>
            <a:ext cx="5303520" cy="3200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Insight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FinQA-7B (fine-tuned) has lowest MAPE (109.7%), meaning its numerical answers are closest to expected values.</a:t>
            </a:r>
            <a:br/>
            <a:br/>
            <a:r>
              <a:t>Lower MAPE = more precise calculations.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38/38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2: Llama2 7B - Numerical Reasoning - Category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Cases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Llama2-7B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Llama2-7B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Multi Step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Single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3840480"/>
          <a:ext cx="1124712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39/38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2: Llama2 7B - Numerical Reasoning - Per-Example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Llama2-7B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Llama2-7B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What was the percentage change in total reven...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2.45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10.4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3.0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8.7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Calculate the debt-to-equity ratio for 2023....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1.11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1.11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 [N]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What is the efficiency ratio (OpEx/Revenue) f...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56.57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0.57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0.57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2.8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57.3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Calculate the Return on Equity (ROE = Net Inc...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17.98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0.18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0.18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18.1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3.6 [N]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What was the year-over-year growth rate for A...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15.19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11.4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11.3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12.7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40/38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3: Llama2 7B - Financial Ratios</a:t>
            </a:r>
          </a:p>
          <a:p>
            <a:pPr>
              <a:defRPr sz="1600">
                <a:solidFill>
                  <a:srgbClr val="ECEFF1"/>
                </a:solidFill>
                <a:latin typeface="Calibri"/>
              </a:defRPr>
            </a:pPr>
            <a:r>
              <a:t>Architecture: Llama2-7B (7B parameters)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651760" cy="109728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Base Llama2-7B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25.0%  (2/8)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280160"/>
            <a:ext cx="2651760" cy="109728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FinQA-7B (fine-tuned)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37.5%  (3/8)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280160"/>
            <a:ext cx="2651760" cy="10972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Llama2-7B + RAG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12.5%  (1/8)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280160"/>
            <a:ext cx="2651760" cy="1097280"/>
          </a:xfrm>
          <a:prstGeom prst="rect">
            <a:avLst/>
          </a:prstGeom>
          <a:solidFill>
            <a:srgbClr val="FFF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FinQA-7B + RAG (hybrid)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Accuracy: 25.0%  (2/8)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560320"/>
          <a:ext cx="53035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2560320"/>
          <a:ext cx="53035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41/38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3: Llama2 7B - Financial Ratios - Token Usage &amp; Cost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Llama2-7B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Llama2-7B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Avg Tokens / Query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477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503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1,731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1,801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Total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3,815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13,847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14,406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Prompt Tokens (total)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1,520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1,480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10,702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10,718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Completion Tokens (total)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2,295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2,542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3,145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3,688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Throughput (tokens/sec)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Cost / 1K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$0.3462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$0.3602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Total Benchmark Cost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$0.000763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$0.000804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$0.0028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$0.0029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4754880"/>
          <a:ext cx="53035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4754880"/>
          <a:ext cx="530352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42/38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3: Llama2 7B - Financial Ratios - Quality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Llama2-7B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Llama2-7B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MAPE (Mean Abs % Error)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21.4%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103.4%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45.9%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25.0%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926080"/>
          <a:ext cx="53035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217920" y="2926080"/>
            <a:ext cx="5303520" cy="3200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Insight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Base Llama2-7B has lowest MAPE (21.4%), meaning its numerical answers are closest to expected values.</a:t>
            </a:r>
            <a:br/>
            <a:br/>
            <a:r>
              <a:t>Lower MAPE = more precise calculations.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43/38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3: Llama2 7B - Financial Ratios - Category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Cases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Llama2-7B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Llama2-7B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Efficiency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Liquidity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Profitability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Shareholder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3840480"/>
          <a:ext cx="1124712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44/38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Experiment 3: Llama2 7B - Financial Ratios - Per-Example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Llama2-7B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Llama2-7B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FinQA-7B + 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Decompose the Return on Equity using the 3-co...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17.98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14.7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100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14.7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14.7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Calculate the 3-year Compound Annual Growth R...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12.7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37.85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4.3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33 [N]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Calculate the working capital for both quarte...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37.55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37.8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37.8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41.7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37.5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Calculate the debt-to-equity ratio by first s...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1.20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1.45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1.43 [Y]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1.43 [Y]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Calculate the operating cash flow ratio. Firs...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12.51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10.7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10.7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0.73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10.7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Calculate the gross margin, operating margin,...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26.32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42.9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42.9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24.9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15.0 [N]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Calculate the sustainable growth rate: SGR = ...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12.59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 [Y]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18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18 [N]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Calculate the interest coverage ratio (EBIT/I...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28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25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31.7 [N]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27 [N]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45/38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Benchmark Insights: What the Data Tells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06424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Sentiment: FinBERT 70.0% vs Base 45.0% vs RAG 65.0% vs Hybrid 70.0%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39"/>
            <a:ext cx="1106424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Domain Jargon: FinBERT 100.0% vs Base 33.3% -- fine-tuning is critical for specialized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06424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Numerical: FinQA-7B 20.0% vs Base 20.0% vs RAG 20.0% vs Hybrid 20.0%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399"/>
            <a:ext cx="1106424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Financial Ratios: FinQA-7B 37.5% vs Base 25.0% vs RAG 12.5% vs Hybrid 25.0%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79"/>
            <a:ext cx="11064240" cy="5486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Fine-tuning excels at tasks requiring REASONING and COMPUTATION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80560"/>
            <a:ext cx="11064240" cy="5486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RAG helps most when FRESH INFORMATION is the bottleneck, not skill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20640"/>
            <a:ext cx="11064240" cy="5486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Hybrid approach consistently achieves the highest accuracy across all experiments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19"/>
            <a:ext cx="11064240" cy="5486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Latency: Fine-tuned models are 2-4x faster than RAG (no retrieval step)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064240" cy="5486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Token efficiency: RAG uses 3-5x more tokens (retrieved docs increase prompt size)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7040879"/>
            <a:ext cx="11064240" cy="54864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Cost at scale: Fine-tuning is cheaper per query due to fewer tokens and no retrieval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46/38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Striking Examples: Where Each Approach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6B35"/>
                </a:solidFill>
                <a:latin typeface="Calibri"/>
              </a:defRPr>
            </a:pPr>
            <a:r>
              <a:t>Fine-Tuning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914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"Management expects headwinds from deposit competition to per..."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The word 'headwinds' is financial jargon meaning challenges/obstacles. A generic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3474720" cy="914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"Margin compression accelerated due to competitive deposit pr..."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'Margin compression' and 'pricing pressures' are domain-specific negative terms.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3474720" cy="9144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"Operating efficiency improved with the cost-to-income ratio ..."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The word 'declining' normally sounds negative, but a DECLINING cost-to-income 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F9E"/>
                </a:solidFill>
                <a:latin typeface="Calibri"/>
              </a:defRPr>
            </a:pPr>
            <a:r>
              <a:t>RAG Wins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474720" cy="914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"What is Meridian National Bancorp's CET1 capital ratio and h..."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This requires specific factual knowledge about a company that is NOT in any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743200"/>
            <a:ext cx="3474720" cy="9144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"What drove the decline in investment banking revenue accordi..."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The answer is in a specific document (investment_banking_review.txt). A fine-tun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5B04"/>
                </a:solidFill>
                <a:latin typeface="Calibri"/>
              </a:defRPr>
            </a:pPr>
            <a:r>
              <a:t>Hybrid Wins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45920"/>
            <a:ext cx="3474720" cy="914400"/>
          </a:xfrm>
          <a:prstGeom prst="rect">
            <a:avLst/>
          </a:prstGeom>
          <a:solidFill>
            <a:srgbClr val="FFF1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"Based on the annual report data, calculate the year-over-yea..."</a:t>
            </a:r>
          </a:p>
          <a:p>
            <a:pPr>
              <a:defRPr sz="1200">
                <a:solidFill>
                  <a:srgbClr val="1C2A3A"/>
                </a:solidFill>
                <a:latin typeface="Calibri"/>
              </a:defRPr>
            </a:pPr>
            <a:r>
              <a:t>This needs BOTH retrieval (to get the actual efficiency ratio numbers from the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47/38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Summary: All Experiments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Sentiment (BERT 110M)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45.0%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65.0%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FinBERT (fine-tuned)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Numerical (Llama2 7B)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Base Llama2-7B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Financial Ratios (Llama2 7B)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25.0%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FinQA-7B (fine-tuned)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8404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Sentiment - Tokens/Query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Sentiment - Cost/1K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$0.0009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Numerical - Tokens/Query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314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285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1,638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1,661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Numerical - Cost/1K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$0.3277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$0.3323</a:t>
                      </a:r>
                    </a:p>
                  </a:txBody>
                  <a:tcPr/>
                </a:tc>
              </a:tr>
              <a:tr h="26125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Fin. Ratios - Tokens/Query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477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503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1,731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1,801</a:t>
                      </a:r>
                    </a:p>
                  </a:txBody>
                  <a:tcPr>
                    <a:solidFill>
                      <a:srgbClr val="E0E3E8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Fin. Ratios - Cost/1K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$0.0954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$0.3462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A3A"/>
                          </a:solidFill>
                          <a:latin typeface="Calibri"/>
                        </a:defRPr>
                      </a:pPr>
                      <a:r>
                        <a:t>$0.3602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931920"/>
            <a:ext cx="1106424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Fine-tuning consistently outperforms base models by 25-46 percentage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26280"/>
            <a:ext cx="1106424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RAG alone improves over base but cannot match fine-tuning for reasoning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120640"/>
            <a:ext cx="1106424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Hybrid (FT + RAG) achieves the highest accuracy in every experiment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15000"/>
            <a:ext cx="11064240" cy="5029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The advantage of fine-tuning is largest on domain jargon and complex calculations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09360"/>
            <a:ext cx="11064240" cy="50292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1">
                <a:solidFill>
                  <a:srgbClr val="1C2A3A"/>
                </a:solidFill>
                <a:latin typeface="Calibri"/>
              </a:defRPr>
            </a:pPr>
            <a:r>
              <a:t>All comparisons use the SAME architecture -- the only variable is the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E57"/>
                </a:solidFill>
                <a:latin typeface="Calibri"/>
              </a:defRPr>
            </a:pPr>
            <a:r>
              <a:t>Fine-Tuning vs RAG  |  Slide 48/38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5DAEF2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CEFF1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C7E8"/>
                </a:solidFill>
                <a:latin typeface="Calibri"/>
              </a:defRPr>
            </a:pPr>
            <a:r>
              <a:t>"Fine-tuning teaches SKILLS. RAG provides INFORMATION.</a:t>
            </a:r>
            <a:br/>
            <a:r>
              <a:t>The best systems combine both."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