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6"/>
    <p:sldId id="315" r:id="rId67"/>
    <p:sldId id="316" r:id="rId68"/>
    <p:sldId id="317" r:id="rId69"/>
    <p:sldId id="318" r:id="rId70"/>
    <p:sldId id="319" r:id="rId71"/>
    <p:sldId id="320" r:id="rId72"/>
    <p:sldId id="321" r:id="rId73"/>
    <p:sldId id="322" r:id="rId74"/>
    <p:sldId id="323" r:id="rId75"/>
    <p:sldId id="324" r:id="rId76"/>
    <p:sldId id="325" r:id="rId7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notesMaster" Target="notesMasters/notesMaster1.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Sheet3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Accuracy Comparison</a:t>
            </a:r>
          </a:p>
        </c:rich>
      </c:tx>
      <c:layout/>
      <c:overlay val="0"/>
    </c:title>
    <c:autoTitleDeleted val="0"/>
    <c:plotArea>
      <c:barChart>
        <c:barDir val="col"/>
        <c:grouping val="clustered"/>
        <c:ser>
          <c:idx val="0"/>
          <c:order val="0"/>
          <c:tx>
            <c:strRef>
              <c:f>Sheet1!$B$1</c:f>
              <c:strCache>
                <c:ptCount val="1"/>
                <c:pt idx="0">
                  <c:v>Base BERT</c:v>
                </c:pt>
              </c:strCache>
            </c:strRef>
          </c:tx>
          <c:spPr>
            <a:solidFill>
              <a:srgbClr val="E84D4D"/>
            </a:solidFill>
          </c:spPr>
          <c:cat>
            <c:strRef>
              <c:f>Sheet1!$A$2:$A$2</c:f>
              <c:strCache>
                <c:ptCount val="1"/>
                <c:pt idx="0">
                  <c:v>Accuracy (%)</c:v>
                </c:pt>
              </c:strCache>
            </c:strRef>
          </c:cat>
          <c:val>
            <c:numRef>
              <c:f>Sheet1!$B$2:$B$2</c:f>
              <c:numCache>
                <c:formatCode>General</c:formatCode>
                <c:ptCount val="1"/>
                <c:pt idx="0">
                  <c:v>45.0</c:v>
                </c:pt>
              </c:numCache>
            </c:numRef>
          </c:val>
        </c:ser>
        <c:ser>
          <c:idx val="1"/>
          <c:order val="1"/>
          <c:tx>
            <c:strRef>
              <c:f>Sheet1!$C$1</c:f>
              <c:strCache>
                <c:ptCount val="1"/>
                <c:pt idx="0">
                  <c:v>FinBERT (fine-tuned)</c:v>
                </c:pt>
              </c:strCache>
            </c:strRef>
          </c:tx>
          <c:spPr>
            <a:solidFill>
              <a:srgbClr val="2EA04E"/>
            </a:solidFill>
          </c:spPr>
          <c:cat>
            <c:strRef>
              <c:f>Sheet1!$A$2:$A$2</c:f>
              <c:strCache>
                <c:ptCount val="1"/>
                <c:pt idx="0">
                  <c:v>Accuracy (%)</c:v>
                </c:pt>
              </c:strCache>
            </c:strRef>
          </c:cat>
          <c:val>
            <c:numRef>
              <c:f>Sheet1!$C$2:$C$2</c:f>
              <c:numCache>
                <c:formatCode>General</c:formatCode>
                <c:ptCount val="1"/>
                <c:pt idx="0">
                  <c:v>70.0</c:v>
                </c:pt>
              </c:numCache>
            </c:numRef>
          </c:val>
        </c:ser>
        <c:ser>
          <c:idx val="2"/>
          <c:order val="2"/>
          <c:tx>
            <c:strRef>
              <c:f>Sheet1!$D$1</c:f>
              <c:strCache>
                <c:ptCount val="1"/>
                <c:pt idx="0">
                  <c:v>BERT + RAG</c:v>
                </c:pt>
              </c:strCache>
            </c:strRef>
          </c:tx>
          <c:spPr>
            <a:solidFill>
              <a:srgbClr val="428BCA"/>
            </a:solidFill>
          </c:spPr>
          <c:cat>
            <c:strRef>
              <c:f>Sheet1!$A$2:$A$2</c:f>
              <c:strCache>
                <c:ptCount val="1"/>
                <c:pt idx="0">
                  <c:v>Accuracy (%)</c:v>
                </c:pt>
              </c:strCache>
            </c:strRef>
          </c:cat>
          <c:val>
            <c:numRef>
              <c:f>Sheet1!$D$2:$D$2</c:f>
              <c:numCache>
                <c:formatCode>General</c:formatCode>
                <c:ptCount val="1"/>
                <c:pt idx="0">
                  <c:v>65.0</c:v>
                </c:pt>
              </c:numCache>
            </c:numRef>
          </c:val>
        </c:ser>
        <c:ser>
          <c:idx val="3"/>
          <c:order val="3"/>
          <c:tx>
            <c:strRef>
              <c:f>Sheet1!$E$1</c:f>
              <c:strCache>
                <c:ptCount val="1"/>
                <c:pt idx="0">
                  <c:v>FinBERT + RAG (hybrid)</c:v>
                </c:pt>
              </c:strCache>
            </c:strRef>
          </c:tx>
          <c:spPr>
            <a:solidFill>
              <a:srgbClr val="F09319"/>
            </a:solidFill>
          </c:spPr>
          <c:cat>
            <c:strRef>
              <c:f>Sheet1!$A$2:$A$2</c:f>
              <c:strCache>
                <c:ptCount val="1"/>
                <c:pt idx="0">
                  <c:v>Accuracy (%)</c:v>
                </c:pt>
              </c:strCache>
            </c:strRef>
          </c:cat>
          <c:val>
            <c:numRef>
              <c:f>Sheet1!$E$2:$E$2</c:f>
              <c:numCache>
                <c:formatCode>General</c:formatCode>
                <c:ptCount val="1"/>
                <c:pt idx="0">
                  <c:v>70.0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Avg Latency (ms)</a:t>
            </a:r>
          </a:p>
        </c:rich>
      </c:tx>
      <c:layout/>
      <c:overlay val="0"/>
    </c:title>
    <c:autoTitleDeleted val="0"/>
    <c:plotArea>
      <c:barChart>
        <c:barDir val="col"/>
        <c:grouping val="clustered"/>
        <c:ser>
          <c:idx val="0"/>
          <c:order val="0"/>
          <c:tx>
            <c:strRef>
              <c:f>Sheet1!$B$1</c:f>
              <c:strCache>
                <c:ptCount val="1"/>
                <c:pt idx="0">
                  <c:v>Base BERT</c:v>
                </c:pt>
              </c:strCache>
            </c:strRef>
          </c:tx>
          <c:spPr>
            <a:solidFill>
              <a:srgbClr val="E84D4D"/>
            </a:solidFill>
          </c:spPr>
          <c:cat>
            <c:strRef>
              <c:f>Sheet1!$A$2:$A$2</c:f>
              <c:strCache>
                <c:ptCount val="1"/>
                <c:pt idx="0">
                  <c:v>Avg Latency (ms)</c:v>
                </c:pt>
              </c:strCache>
            </c:strRef>
          </c:cat>
          <c:val>
            <c:numRef>
              <c:f>Sheet1!$B$2:$B$2</c:f>
              <c:numCache>
                <c:formatCode>General</c:formatCode>
                <c:ptCount val="1"/>
                <c:pt idx="0">
                  <c:v>79.6</c:v>
                </c:pt>
              </c:numCache>
            </c:numRef>
          </c:val>
        </c:ser>
        <c:ser>
          <c:idx val="1"/>
          <c:order val="1"/>
          <c:tx>
            <c:strRef>
              <c:f>Sheet1!$C$1</c:f>
              <c:strCache>
                <c:ptCount val="1"/>
                <c:pt idx="0">
                  <c:v>FinBERT (fine-tuned)</c:v>
                </c:pt>
              </c:strCache>
            </c:strRef>
          </c:tx>
          <c:spPr>
            <a:solidFill>
              <a:srgbClr val="2EA04E"/>
            </a:solidFill>
          </c:spPr>
          <c:cat>
            <c:strRef>
              <c:f>Sheet1!$A$2:$A$2</c:f>
              <c:strCache>
                <c:ptCount val="1"/>
                <c:pt idx="0">
                  <c:v>Avg Latency (ms)</c:v>
                </c:pt>
              </c:strCache>
            </c:strRef>
          </c:cat>
          <c:val>
            <c:numRef>
              <c:f>Sheet1!$C$2:$C$2</c:f>
              <c:numCache>
                <c:formatCode>General</c:formatCode>
                <c:ptCount val="1"/>
                <c:pt idx="0">
                  <c:v>80.4</c:v>
                </c:pt>
              </c:numCache>
            </c:numRef>
          </c:val>
        </c:ser>
        <c:ser>
          <c:idx val="2"/>
          <c:order val="2"/>
          <c:tx>
            <c:strRef>
              <c:f>Sheet1!$D$1</c:f>
              <c:strCache>
                <c:ptCount val="1"/>
                <c:pt idx="0">
                  <c:v>BERT + RAG</c:v>
                </c:pt>
              </c:strCache>
            </c:strRef>
          </c:tx>
          <c:spPr>
            <a:solidFill>
              <a:srgbClr val="428BCA"/>
            </a:solidFill>
          </c:spPr>
          <c:cat>
            <c:strRef>
              <c:f>Sheet1!$A$2:$A$2</c:f>
              <c:strCache>
                <c:ptCount val="1"/>
                <c:pt idx="0">
                  <c:v>Avg Latency (ms)</c:v>
                </c:pt>
              </c:strCache>
            </c:strRef>
          </c:cat>
          <c:val>
            <c:numRef>
              <c:f>Sheet1!$D$2:$D$2</c:f>
              <c:numCache>
                <c:formatCode>General</c:formatCode>
                <c:ptCount val="1"/>
                <c:pt idx="0">
                  <c:v>77.7</c:v>
                </c:pt>
              </c:numCache>
            </c:numRef>
          </c:val>
        </c:ser>
        <c:ser>
          <c:idx val="3"/>
          <c:order val="3"/>
          <c:tx>
            <c:strRef>
              <c:f>Sheet1!$E$1</c:f>
              <c:strCache>
                <c:ptCount val="1"/>
                <c:pt idx="0">
                  <c:v>FinBERT + RAG (hybrid)</c:v>
                </c:pt>
              </c:strCache>
            </c:strRef>
          </c:tx>
          <c:spPr>
            <a:solidFill>
              <a:srgbClr val="F09319"/>
            </a:solidFill>
          </c:spPr>
          <c:cat>
            <c:strRef>
              <c:f>Sheet1!$A$2:$A$2</c:f>
              <c:strCache>
                <c:ptCount val="1"/>
                <c:pt idx="0">
                  <c:v>Avg Latency (ms)</c:v>
                </c:pt>
              </c:strCache>
            </c:strRef>
          </c:cat>
          <c:val>
            <c:numRef>
              <c:f>Sheet1!$E$2:$E$2</c:f>
              <c:numCache>
                <c:formatCode>General</c:formatCode>
                <c:ptCount val="1"/>
                <c:pt idx="0">
                  <c:v>154.0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Avg Tokens per Query</a:t>
            </a:r>
          </a:p>
        </c:rich>
      </c:tx>
      <c:layout/>
      <c:overlay val="0"/>
    </c:title>
    <c:autoTitleDeleted val="0"/>
    <c:plotArea>
      <c:barChart>
        <c:barDir val="col"/>
        <c:grouping val="clustered"/>
        <c:ser>
          <c:idx val="0"/>
          <c:order val="0"/>
          <c:tx>
            <c:strRef>
              <c:f>Sheet1!$B$1</c:f>
              <c:strCache>
                <c:ptCount val="1"/>
                <c:pt idx="0">
                  <c:v>Base BERT</c:v>
                </c:pt>
              </c:strCache>
            </c:strRef>
          </c:tx>
          <c:spPr>
            <a:solidFill>
              <a:srgbClr val="E84D4D"/>
            </a:solidFill>
          </c:spPr>
          <c:cat>
            <c:strRef>
              <c:f>Sheet1!$A$2:$A$2</c:f>
              <c:strCache>
                <c:ptCount val="1"/>
                <c:pt idx="0">
                  <c:v>Avg Tokens/Query</c:v>
                </c:pt>
              </c:strCache>
            </c:strRef>
          </c:cat>
          <c:val>
            <c:numRef>
              <c:f>Sheet1!$B$2:$B$2</c:f>
              <c:numCache>
                <c:formatCode>General</c:formatCode>
                <c:ptCount val="1"/>
                <c:pt idx="0">
                  <c:v>16</c:v>
                </c:pt>
              </c:numCache>
            </c:numRef>
          </c:val>
        </c:ser>
        <c:ser>
          <c:idx val="1"/>
          <c:order val="1"/>
          <c:tx>
            <c:strRef>
              <c:f>Sheet1!$C$1</c:f>
              <c:strCache>
                <c:ptCount val="1"/>
                <c:pt idx="0">
                  <c:v>FinBERT</c:v>
                </c:pt>
              </c:strCache>
            </c:strRef>
          </c:tx>
          <c:spPr>
            <a:solidFill>
              <a:srgbClr val="2EA04E"/>
            </a:solidFill>
          </c:spPr>
          <c:cat>
            <c:strRef>
              <c:f>Sheet1!$A$2:$A$2</c:f>
              <c:strCache>
                <c:ptCount val="1"/>
                <c:pt idx="0">
                  <c:v>Avg Tokens/Query</c:v>
                </c:pt>
              </c:strCache>
            </c:strRef>
          </c:cat>
          <c:val>
            <c:numRef>
              <c:f>Sheet1!$C$2:$C$2</c:f>
              <c:numCache>
                <c:formatCode>General</c:formatCode>
                <c:ptCount val="1"/>
                <c:pt idx="0">
                  <c:v>16</c:v>
                </c:pt>
              </c:numCache>
            </c:numRef>
          </c:val>
        </c:ser>
        <c:ser>
          <c:idx val="2"/>
          <c:order val="2"/>
          <c:tx>
            <c:strRef>
              <c:f>Sheet1!$D$1</c:f>
              <c:strCache>
                <c:ptCount val="1"/>
                <c:pt idx="0">
                  <c:v>BERT + RAG</c:v>
                </c:pt>
              </c:strCache>
            </c:strRef>
          </c:tx>
          <c:spPr>
            <a:solidFill>
              <a:srgbClr val="428BCA"/>
            </a:solidFill>
          </c:spPr>
          <c:cat>
            <c:strRef>
              <c:f>Sheet1!$A$2:$A$2</c:f>
              <c:strCache>
                <c:ptCount val="1"/>
                <c:pt idx="0">
                  <c:v>Avg Tokens/Query</c:v>
                </c:pt>
              </c:strCache>
            </c:strRef>
          </c:cat>
          <c:val>
            <c:numRef>
              <c:f>Sheet1!$D$2:$D$2</c:f>
              <c:numCache>
                <c:formatCode>General</c:formatCode>
                <c:ptCount val="1"/>
                <c:pt idx="0">
                  <c:v>76</c:v>
                </c:pt>
              </c:numCache>
            </c:numRef>
          </c:val>
        </c:ser>
        <c:ser>
          <c:idx val="3"/>
          <c:order val="3"/>
          <c:tx>
            <c:strRef>
              <c:f>Sheet1!$E$1</c:f>
              <c:strCache>
                <c:ptCount val="1"/>
                <c:pt idx="0">
                  <c:v>FinBERT + RAG</c:v>
                </c:pt>
              </c:strCache>
            </c:strRef>
          </c:tx>
          <c:spPr>
            <a:solidFill>
              <a:srgbClr val="F09319"/>
            </a:solidFill>
          </c:spPr>
          <c:cat>
            <c:strRef>
              <c:f>Sheet1!$A$2:$A$2</c:f>
              <c:strCache>
                <c:ptCount val="1"/>
                <c:pt idx="0">
                  <c:v>Avg Tokens/Query</c:v>
                </c:pt>
              </c:strCache>
            </c:strRef>
          </c:cat>
          <c:val>
            <c:numRef>
              <c:f>Sheet1!$E$2:$E$2</c:f>
              <c:numCache>
                <c:formatCode>General</c:formatCode>
                <c:ptCount val="1"/>
                <c:pt idx="0">
                  <c:v>92</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Cost per 1K Queries ($)</a:t>
            </a:r>
          </a:p>
        </c:rich>
      </c:tx>
      <c:layout/>
      <c:overlay val="0"/>
    </c:title>
    <c:autoTitleDeleted val="0"/>
    <c:plotArea>
      <c:barChart>
        <c:barDir val="col"/>
        <c:grouping val="clustered"/>
        <c:ser>
          <c:idx val="0"/>
          <c:order val="0"/>
          <c:tx>
            <c:strRef>
              <c:f>Sheet1!$B$1</c:f>
              <c:strCache>
                <c:ptCount val="1"/>
                <c:pt idx="0">
                  <c:v>Base BERT</c:v>
                </c:pt>
              </c:strCache>
            </c:strRef>
          </c:tx>
          <c:spPr>
            <a:solidFill>
              <a:srgbClr val="E84D4D"/>
            </a:solidFill>
          </c:spPr>
          <c:cat>
            <c:strRef>
              <c:f>Sheet1!$A$2:$A$2</c:f>
              <c:strCache>
                <c:ptCount val="1"/>
                <c:pt idx="0">
                  <c:v>Cost per 1K Queries ($)</c:v>
                </c:pt>
              </c:strCache>
            </c:strRef>
          </c:cat>
          <c:val>
            <c:numRef>
              <c:f>Sheet1!$B$2:$B$2</c:f>
              <c:numCache>
                <c:formatCode>General</c:formatCode>
                <c:ptCount val="1"/>
                <c:pt idx="0">
                  <c:v>0.0002</c:v>
                </c:pt>
              </c:numCache>
            </c:numRef>
          </c:val>
        </c:ser>
        <c:ser>
          <c:idx val="1"/>
          <c:order val="1"/>
          <c:tx>
            <c:strRef>
              <c:f>Sheet1!$C$1</c:f>
              <c:strCache>
                <c:ptCount val="1"/>
                <c:pt idx="0">
                  <c:v>FinBERT</c:v>
                </c:pt>
              </c:strCache>
            </c:strRef>
          </c:tx>
          <c:spPr>
            <a:solidFill>
              <a:srgbClr val="2EA04E"/>
            </a:solidFill>
          </c:spPr>
          <c:cat>
            <c:strRef>
              <c:f>Sheet1!$A$2:$A$2</c:f>
              <c:strCache>
                <c:ptCount val="1"/>
                <c:pt idx="0">
                  <c:v>Cost per 1K Queries ($)</c:v>
                </c:pt>
              </c:strCache>
            </c:strRef>
          </c:cat>
          <c:val>
            <c:numRef>
              <c:f>Sheet1!$C$2:$C$2</c:f>
              <c:numCache>
                <c:formatCode>General</c:formatCode>
                <c:ptCount val="1"/>
                <c:pt idx="0">
                  <c:v>0.0002</c:v>
                </c:pt>
              </c:numCache>
            </c:numRef>
          </c:val>
        </c:ser>
        <c:ser>
          <c:idx val="2"/>
          <c:order val="2"/>
          <c:tx>
            <c:strRef>
              <c:f>Sheet1!$D$1</c:f>
              <c:strCache>
                <c:ptCount val="1"/>
                <c:pt idx="0">
                  <c:v>BERT + RAG</c:v>
                </c:pt>
              </c:strCache>
            </c:strRef>
          </c:tx>
          <c:spPr>
            <a:solidFill>
              <a:srgbClr val="428BCA"/>
            </a:solidFill>
          </c:spPr>
          <c:cat>
            <c:strRef>
              <c:f>Sheet1!$A$2:$A$2</c:f>
              <c:strCache>
                <c:ptCount val="1"/>
                <c:pt idx="0">
                  <c:v>Cost per 1K Queries ($)</c:v>
                </c:pt>
              </c:strCache>
            </c:strRef>
          </c:cat>
          <c:val>
            <c:numRef>
              <c:f>Sheet1!$D$2:$D$2</c:f>
              <c:numCache>
                <c:formatCode>General</c:formatCode>
                <c:ptCount val="1"/>
                <c:pt idx="0">
                  <c:v>0.0008</c:v>
                </c:pt>
              </c:numCache>
            </c:numRef>
          </c:val>
        </c:ser>
        <c:ser>
          <c:idx val="3"/>
          <c:order val="3"/>
          <c:tx>
            <c:strRef>
              <c:f>Sheet1!$E$1</c:f>
              <c:strCache>
                <c:ptCount val="1"/>
                <c:pt idx="0">
                  <c:v>FinBERT + RAG</c:v>
                </c:pt>
              </c:strCache>
            </c:strRef>
          </c:tx>
          <c:spPr>
            <a:solidFill>
              <a:srgbClr val="F09319"/>
            </a:solidFill>
          </c:spPr>
          <c:cat>
            <c:strRef>
              <c:f>Sheet1!$A$2:$A$2</c:f>
              <c:strCache>
                <c:ptCount val="1"/>
                <c:pt idx="0">
                  <c:v>Cost per 1K Queries ($)</c:v>
                </c:pt>
              </c:strCache>
            </c:strRef>
          </c:cat>
          <c:val>
            <c:numRef>
              <c:f>Sheet1!$E$2:$E$2</c:f>
              <c:numCache>
                <c:formatCode>General</c:formatCode>
                <c:ptCount val="1"/>
                <c:pt idx="0">
                  <c:v>0.0009</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F1 Score (Macro Average)</a:t>
            </a:r>
          </a:p>
        </c:rich>
      </c:tx>
      <c:layout/>
      <c:overlay val="0"/>
    </c:title>
    <c:autoTitleDeleted val="0"/>
    <c:plotArea>
      <c:barChart>
        <c:barDir val="col"/>
        <c:grouping val="clustered"/>
        <c:ser>
          <c:idx val="0"/>
          <c:order val="0"/>
          <c:tx>
            <c:strRef>
              <c:f>Sheet1!$B$1</c:f>
              <c:strCache>
                <c:ptCount val="1"/>
                <c:pt idx="0">
                  <c:v>Base BERT</c:v>
                </c:pt>
              </c:strCache>
            </c:strRef>
          </c:tx>
          <c:spPr>
            <a:solidFill>
              <a:srgbClr val="E84D4D"/>
            </a:solidFill>
          </c:spPr>
          <c:cat>
            <c:strRef>
              <c:f>Sheet1!$A$2:$A$2</c:f>
              <c:strCache>
                <c:ptCount val="1"/>
                <c:pt idx="0">
                  <c:v>F1 Macro</c:v>
                </c:pt>
              </c:strCache>
            </c:strRef>
          </c:cat>
          <c:val>
            <c:numRef>
              <c:f>Sheet1!$B$2:$B$2</c:f>
              <c:numCache>
                <c:formatCode>General</c:formatCode>
                <c:ptCount val="1"/>
                <c:pt idx="0">
                  <c:v>0.347</c:v>
                </c:pt>
              </c:numCache>
            </c:numRef>
          </c:val>
        </c:ser>
        <c:ser>
          <c:idx val="1"/>
          <c:order val="1"/>
          <c:tx>
            <c:strRef>
              <c:f>Sheet1!$C$1</c:f>
              <c:strCache>
                <c:ptCount val="1"/>
                <c:pt idx="0">
                  <c:v>FinBERT</c:v>
                </c:pt>
              </c:strCache>
            </c:strRef>
          </c:tx>
          <c:spPr>
            <a:solidFill>
              <a:srgbClr val="2EA04E"/>
            </a:solidFill>
          </c:spPr>
          <c:cat>
            <c:strRef>
              <c:f>Sheet1!$A$2:$A$2</c:f>
              <c:strCache>
                <c:ptCount val="1"/>
                <c:pt idx="0">
                  <c:v>F1 Macro</c:v>
                </c:pt>
              </c:strCache>
            </c:strRef>
          </c:cat>
          <c:val>
            <c:numRef>
              <c:f>Sheet1!$C$2:$C$2</c:f>
              <c:numCache>
                <c:formatCode>General</c:formatCode>
                <c:ptCount val="1"/>
                <c:pt idx="0">
                  <c:v>0.669</c:v>
                </c:pt>
              </c:numCache>
            </c:numRef>
          </c:val>
        </c:ser>
        <c:ser>
          <c:idx val="2"/>
          <c:order val="2"/>
          <c:tx>
            <c:strRef>
              <c:f>Sheet1!$D$1</c:f>
              <c:strCache>
                <c:ptCount val="1"/>
                <c:pt idx="0">
                  <c:v>BERT + RAG</c:v>
                </c:pt>
              </c:strCache>
            </c:strRef>
          </c:tx>
          <c:spPr>
            <a:solidFill>
              <a:srgbClr val="428BCA"/>
            </a:solidFill>
          </c:spPr>
          <c:cat>
            <c:strRef>
              <c:f>Sheet1!$A$2:$A$2</c:f>
              <c:strCache>
                <c:ptCount val="1"/>
                <c:pt idx="0">
                  <c:v>F1 Macro</c:v>
                </c:pt>
              </c:strCache>
            </c:strRef>
          </c:cat>
          <c:val>
            <c:numRef>
              <c:f>Sheet1!$D$2:$D$2</c:f>
              <c:numCache>
                <c:formatCode>General</c:formatCode>
                <c:ptCount val="1"/>
                <c:pt idx="0">
                  <c:v>0.604</c:v>
                </c:pt>
              </c:numCache>
            </c:numRef>
          </c:val>
        </c:ser>
        <c:ser>
          <c:idx val="3"/>
          <c:order val="3"/>
          <c:tx>
            <c:strRef>
              <c:f>Sheet1!$E$1</c:f>
              <c:strCache>
                <c:ptCount val="1"/>
                <c:pt idx="0">
                  <c:v>FinBERT + RAG</c:v>
                </c:pt>
              </c:strCache>
            </c:strRef>
          </c:tx>
          <c:spPr>
            <a:solidFill>
              <a:srgbClr val="F09319"/>
            </a:solidFill>
          </c:spPr>
          <c:cat>
            <c:strRef>
              <c:f>Sheet1!$A$2:$A$2</c:f>
              <c:strCache>
                <c:ptCount val="1"/>
                <c:pt idx="0">
                  <c:v>F1 Macro</c:v>
                </c:pt>
              </c:strCache>
            </c:strRef>
          </c:cat>
          <c:val>
            <c:numRef>
              <c:f>Sheet1!$E$2:$E$2</c:f>
              <c:numCache>
                <c:formatCode>General</c:formatCode>
                <c:ptCount val="1"/>
                <c:pt idx="0">
                  <c:v>0.669</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Average Confidence Score</a:t>
            </a:r>
          </a:p>
        </c:rich>
      </c:tx>
      <c:layout/>
      <c:overlay val="0"/>
    </c:title>
    <c:autoTitleDeleted val="0"/>
    <c:plotArea>
      <c:barChart>
        <c:barDir val="col"/>
        <c:grouping val="clustered"/>
        <c:ser>
          <c:idx val="0"/>
          <c:order val="0"/>
          <c:tx>
            <c:strRef>
              <c:f>Sheet1!$B$1</c:f>
              <c:strCache>
                <c:ptCount val="1"/>
                <c:pt idx="0">
                  <c:v>Base BERT</c:v>
                </c:pt>
              </c:strCache>
            </c:strRef>
          </c:tx>
          <c:spPr>
            <a:solidFill>
              <a:srgbClr val="E84D4D"/>
            </a:solidFill>
          </c:spPr>
          <c:cat>
            <c:strRef>
              <c:f>Sheet1!$A$2:$A$2</c:f>
              <c:strCache>
                <c:ptCount val="1"/>
                <c:pt idx="0">
                  <c:v>Avg Confidence</c:v>
                </c:pt>
              </c:strCache>
            </c:strRef>
          </c:cat>
          <c:val>
            <c:numRef>
              <c:f>Sheet1!$B$2:$B$2</c:f>
              <c:numCache>
                <c:formatCode>General</c:formatCode>
                <c:ptCount val="1"/>
                <c:pt idx="0">
                  <c:v>0.375</c:v>
                </c:pt>
              </c:numCache>
            </c:numRef>
          </c:val>
        </c:ser>
        <c:ser>
          <c:idx val="1"/>
          <c:order val="1"/>
          <c:tx>
            <c:strRef>
              <c:f>Sheet1!$C$1</c:f>
              <c:strCache>
                <c:ptCount val="1"/>
                <c:pt idx="0">
                  <c:v>FinBERT (fine-tuned)</c:v>
                </c:pt>
              </c:strCache>
            </c:strRef>
          </c:tx>
          <c:spPr>
            <a:solidFill>
              <a:srgbClr val="2EA04E"/>
            </a:solidFill>
          </c:spPr>
          <c:cat>
            <c:strRef>
              <c:f>Sheet1!$A$2:$A$2</c:f>
              <c:strCache>
                <c:ptCount val="1"/>
                <c:pt idx="0">
                  <c:v>Avg Confidence</c:v>
                </c:pt>
              </c:strCache>
            </c:strRef>
          </c:cat>
          <c:val>
            <c:numRef>
              <c:f>Sheet1!$C$2:$C$2</c:f>
              <c:numCache>
                <c:formatCode>General</c:formatCode>
                <c:ptCount val="1"/>
                <c:pt idx="0">
                  <c:v>0.845</c:v>
                </c:pt>
              </c:numCache>
            </c:numRef>
          </c:val>
        </c:ser>
        <c:ser>
          <c:idx val="2"/>
          <c:order val="2"/>
          <c:tx>
            <c:strRef>
              <c:f>Sheet1!$D$1</c:f>
              <c:strCache>
                <c:ptCount val="1"/>
                <c:pt idx="0">
                  <c:v>BERT + RAG</c:v>
                </c:pt>
              </c:strCache>
            </c:strRef>
          </c:tx>
          <c:spPr>
            <a:solidFill>
              <a:srgbClr val="428BCA"/>
            </a:solidFill>
          </c:spPr>
          <c:cat>
            <c:strRef>
              <c:f>Sheet1!$A$2:$A$2</c:f>
              <c:strCache>
                <c:ptCount val="1"/>
                <c:pt idx="0">
                  <c:v>Avg Confidence</c:v>
                </c:pt>
              </c:strCache>
            </c:strRef>
          </c:cat>
          <c:val>
            <c:numRef>
              <c:f>Sheet1!$D$2:$D$2</c:f>
              <c:numCache>
                <c:formatCode>General</c:formatCode>
                <c:ptCount val="1"/>
                <c:pt idx="0">
                  <c:v>0.564</c:v>
                </c:pt>
              </c:numCache>
            </c:numRef>
          </c:val>
        </c:ser>
        <c:ser>
          <c:idx val="3"/>
          <c:order val="3"/>
          <c:tx>
            <c:strRef>
              <c:f>Sheet1!$E$1</c:f>
              <c:strCache>
                <c:ptCount val="1"/>
                <c:pt idx="0">
                  <c:v>FinBERT + RAG (hybrid)</c:v>
                </c:pt>
              </c:strCache>
            </c:strRef>
          </c:tx>
          <c:spPr>
            <a:solidFill>
              <a:srgbClr val="F09319"/>
            </a:solidFill>
          </c:spPr>
          <c:cat>
            <c:strRef>
              <c:f>Sheet1!$A$2:$A$2</c:f>
              <c:strCache>
                <c:ptCount val="1"/>
                <c:pt idx="0">
                  <c:v>Avg Confidence</c:v>
                </c:pt>
              </c:strCache>
            </c:strRef>
          </c:cat>
          <c:val>
            <c:numRef>
              <c:f>Sheet1!$E$2:$E$2</c:f>
              <c:numCache>
                <c:formatCode>General</c:formatCode>
                <c:ptCount val="1"/>
                <c:pt idx="0">
                  <c:v>0.7</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Accuracy by Category</a:t>
            </a:r>
          </a:p>
        </c:rich>
      </c:tx>
      <c:layout/>
      <c:overlay val="0"/>
    </c:title>
    <c:autoTitleDeleted val="0"/>
    <c:plotArea>
      <c:barChart>
        <c:barDir val="col"/>
        <c:grouping val="clustered"/>
        <c:ser>
          <c:idx val="0"/>
          <c:order val="0"/>
          <c:tx>
            <c:strRef>
              <c:f>Sheet1!$B$1</c:f>
              <c:strCache>
                <c:ptCount val="1"/>
                <c:pt idx="0">
                  <c:v>Base BERT</c:v>
                </c:pt>
              </c:strCache>
            </c:strRef>
          </c:tx>
          <c:spPr>
            <a:solidFill>
              <a:srgbClr val="E84D4D"/>
            </a:solidFill>
          </c:spPr>
          <c:cat>
            <c:strRef>
              <c:f>Sheet1!$A$2:$A$7</c:f>
              <c:strCache>
                <c:ptCount val="6"/>
                <c:pt idx="0">
                  <c:v>Domain Jargon</c:v>
                </c:pt>
                <c:pt idx="1">
                  <c:v>Domain Specific</c:v>
                </c:pt>
                <c:pt idx="2">
                  <c:v>Straightforward</c:v>
                </c:pt>
                <c:pt idx="3">
                  <c:v>Subtle Neutral</c:v>
                </c:pt>
                <c:pt idx="4">
                  <c:v>Tricky Mixed</c:v>
                </c:pt>
                <c:pt idx="5">
                  <c:v>Tricky Positive</c:v>
                </c:pt>
              </c:strCache>
            </c:strRef>
          </c:cat>
          <c:val>
            <c:numRef>
              <c:f>Sheet1!$B$2:$B$7</c:f>
              <c:numCache>
                <c:formatCode>General</c:formatCode>
                <c:ptCount val="6"/>
                <c:pt idx="0">
                  <c:v>33.3</c:v>
                </c:pt>
                <c:pt idx="1">
                  <c:v>60.0</c:v>
                </c:pt>
                <c:pt idx="2">
                  <c:v>80.0</c:v>
                </c:pt>
                <c:pt idx="3">
                  <c:v>0.0</c:v>
                </c:pt>
                <c:pt idx="4">
                  <c:v>0.0</c:v>
                </c:pt>
                <c:pt idx="5">
                  <c:v>100.0</c:v>
                </c:pt>
              </c:numCache>
            </c:numRef>
          </c:val>
        </c:ser>
        <c:ser>
          <c:idx val="1"/>
          <c:order val="1"/>
          <c:tx>
            <c:strRef>
              <c:f>Sheet1!$C$1</c:f>
              <c:strCache>
                <c:ptCount val="1"/>
                <c:pt idx="0">
                  <c:v>FinBERT</c:v>
                </c:pt>
              </c:strCache>
            </c:strRef>
          </c:tx>
          <c:spPr>
            <a:solidFill>
              <a:srgbClr val="2EA04E"/>
            </a:solidFill>
          </c:spPr>
          <c:cat>
            <c:strRef>
              <c:f>Sheet1!$A$2:$A$7</c:f>
              <c:strCache>
                <c:ptCount val="6"/>
                <c:pt idx="0">
                  <c:v>Domain Jargon</c:v>
                </c:pt>
                <c:pt idx="1">
                  <c:v>Domain Specific</c:v>
                </c:pt>
                <c:pt idx="2">
                  <c:v>Straightforward</c:v>
                </c:pt>
                <c:pt idx="3">
                  <c:v>Subtle Neutral</c:v>
                </c:pt>
                <c:pt idx="4">
                  <c:v>Tricky Mixed</c:v>
                </c:pt>
                <c:pt idx="5">
                  <c:v>Tricky Positive</c:v>
                </c:pt>
              </c:strCache>
            </c:strRef>
          </c:cat>
          <c:val>
            <c:numRef>
              <c:f>Sheet1!$C$2:$C$7</c:f>
              <c:numCache>
                <c:formatCode>General</c:formatCode>
                <c:ptCount val="6"/>
                <c:pt idx="0">
                  <c:v>100.0</c:v>
                </c:pt>
                <c:pt idx="1">
                  <c:v>60.0</c:v>
                </c:pt>
                <c:pt idx="2">
                  <c:v>100.0</c:v>
                </c:pt>
                <c:pt idx="3">
                  <c:v>40.0</c:v>
                </c:pt>
                <c:pt idx="4">
                  <c:v>0.0</c:v>
                </c:pt>
                <c:pt idx="5">
                  <c:v>100.0</c:v>
                </c:pt>
              </c:numCache>
            </c:numRef>
          </c:val>
        </c:ser>
        <c:ser>
          <c:idx val="2"/>
          <c:order val="2"/>
          <c:tx>
            <c:strRef>
              <c:f>Sheet1!$D$1</c:f>
              <c:strCache>
                <c:ptCount val="1"/>
                <c:pt idx="0">
                  <c:v>BERT + RAG</c:v>
                </c:pt>
              </c:strCache>
            </c:strRef>
          </c:tx>
          <c:spPr>
            <a:solidFill>
              <a:srgbClr val="428BCA"/>
            </a:solidFill>
          </c:spPr>
          <c:cat>
            <c:strRef>
              <c:f>Sheet1!$A$2:$A$7</c:f>
              <c:strCache>
                <c:ptCount val="6"/>
                <c:pt idx="0">
                  <c:v>Domain Jargon</c:v>
                </c:pt>
                <c:pt idx="1">
                  <c:v>Domain Specific</c:v>
                </c:pt>
                <c:pt idx="2">
                  <c:v>Straightforward</c:v>
                </c:pt>
                <c:pt idx="3">
                  <c:v>Subtle Neutral</c:v>
                </c:pt>
                <c:pt idx="4">
                  <c:v>Tricky Mixed</c:v>
                </c:pt>
                <c:pt idx="5">
                  <c:v>Tricky Positive</c:v>
                </c:pt>
              </c:strCache>
            </c:strRef>
          </c:cat>
          <c:val>
            <c:numRef>
              <c:f>Sheet1!$D$2:$D$7</c:f>
              <c:numCache>
                <c:formatCode>General</c:formatCode>
                <c:ptCount val="6"/>
                <c:pt idx="0">
                  <c:v>0.0</c:v>
                </c:pt>
                <c:pt idx="1">
                  <c:v>40.0</c:v>
                </c:pt>
                <c:pt idx="2">
                  <c:v>80.0</c:v>
                </c:pt>
                <c:pt idx="3">
                  <c:v>100.0</c:v>
                </c:pt>
                <c:pt idx="4">
                  <c:v>100.0</c:v>
                </c:pt>
                <c:pt idx="5">
                  <c:v>100.0</c:v>
                </c:pt>
              </c:numCache>
            </c:numRef>
          </c:val>
        </c:ser>
        <c:ser>
          <c:idx val="3"/>
          <c:order val="3"/>
          <c:tx>
            <c:strRef>
              <c:f>Sheet1!$E$1</c:f>
              <c:strCache>
                <c:ptCount val="1"/>
                <c:pt idx="0">
                  <c:v>FinBERT + RAG</c:v>
                </c:pt>
              </c:strCache>
            </c:strRef>
          </c:tx>
          <c:spPr>
            <a:solidFill>
              <a:srgbClr val="F09319"/>
            </a:solidFill>
          </c:spPr>
          <c:cat>
            <c:strRef>
              <c:f>Sheet1!$A$2:$A$7</c:f>
              <c:strCache>
                <c:ptCount val="6"/>
                <c:pt idx="0">
                  <c:v>Domain Jargon</c:v>
                </c:pt>
                <c:pt idx="1">
                  <c:v>Domain Specific</c:v>
                </c:pt>
                <c:pt idx="2">
                  <c:v>Straightforward</c:v>
                </c:pt>
                <c:pt idx="3">
                  <c:v>Subtle Neutral</c:v>
                </c:pt>
                <c:pt idx="4">
                  <c:v>Tricky Mixed</c:v>
                </c:pt>
                <c:pt idx="5">
                  <c:v>Tricky Positive</c:v>
                </c:pt>
              </c:strCache>
            </c:strRef>
          </c:cat>
          <c:val>
            <c:numRef>
              <c:f>Sheet1!$E$2:$E$7</c:f>
              <c:numCache>
                <c:formatCode>General</c:formatCode>
                <c:ptCount val="6"/>
                <c:pt idx="0">
                  <c:v>100.0</c:v>
                </c:pt>
                <c:pt idx="1">
                  <c:v>60.0</c:v>
                </c:pt>
                <c:pt idx="2">
                  <c:v>100.0</c:v>
                </c:pt>
                <c:pt idx="3">
                  <c:v>40.0</c:v>
                </c:pt>
                <c:pt idx="4">
                  <c:v>0.0</c:v>
                </c:pt>
                <c:pt idx="5">
                  <c:v>100.0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Accuracy Comparison</a:t>
            </a:r>
          </a:p>
        </c:rich>
      </c:tx>
      <c:layout/>
      <c:overlay val="0"/>
    </c:title>
    <c:autoTitleDeleted val="0"/>
    <c:plotArea>
      <c:barChart>
        <c:barDir val="col"/>
        <c:grouping val="clustered"/>
        <c:ser>
          <c:idx val="0"/>
          <c:order val="0"/>
          <c:tx>
            <c:strRef>
              <c:f>Sheet1!$B$1</c:f>
              <c:strCache>
                <c:ptCount val="1"/>
                <c:pt idx="0">
                  <c:v>Base Llama2-7B</c:v>
                </c:pt>
              </c:strCache>
            </c:strRef>
          </c:tx>
          <c:spPr>
            <a:solidFill>
              <a:srgbClr val="E84D4D"/>
            </a:solidFill>
          </c:spPr>
          <c:cat>
            <c:strRef>
              <c:f>Sheet1!$A$2:$A$2</c:f>
              <c:strCache>
                <c:ptCount val="1"/>
                <c:pt idx="0">
                  <c:v>Accuracy (%)</c:v>
                </c:pt>
              </c:strCache>
            </c:strRef>
          </c:cat>
          <c:val>
            <c:numRef>
              <c:f>Sheet1!$B$2:$B$2</c:f>
              <c:numCache>
                <c:formatCode>General</c:formatCode>
                <c:ptCount val="1"/>
                <c:pt idx="0">
                  <c:v>20.0</c:v>
                </c:pt>
              </c:numCache>
            </c:numRef>
          </c:val>
        </c:ser>
        <c:ser>
          <c:idx val="1"/>
          <c:order val="1"/>
          <c:tx>
            <c:strRef>
              <c:f>Sheet1!$C$1</c:f>
              <c:strCache>
                <c:ptCount val="1"/>
                <c:pt idx="0">
                  <c:v>FinQA-7B (fine-tuned)</c:v>
                </c:pt>
              </c:strCache>
            </c:strRef>
          </c:tx>
          <c:spPr>
            <a:solidFill>
              <a:srgbClr val="2EA04E"/>
            </a:solidFill>
          </c:spPr>
          <c:cat>
            <c:strRef>
              <c:f>Sheet1!$A$2:$A$2</c:f>
              <c:strCache>
                <c:ptCount val="1"/>
                <c:pt idx="0">
                  <c:v>Accuracy (%)</c:v>
                </c:pt>
              </c:strCache>
            </c:strRef>
          </c:cat>
          <c:val>
            <c:numRef>
              <c:f>Sheet1!$C$2:$C$2</c:f>
              <c:numCache>
                <c:formatCode>General</c:formatCode>
                <c:ptCount val="1"/>
                <c:pt idx="0">
                  <c:v>20.0</c:v>
                </c:pt>
              </c:numCache>
            </c:numRef>
          </c:val>
        </c:ser>
        <c:ser>
          <c:idx val="2"/>
          <c:order val="2"/>
          <c:tx>
            <c:strRef>
              <c:f>Sheet1!$D$1</c:f>
              <c:strCache>
                <c:ptCount val="1"/>
                <c:pt idx="0">
                  <c:v>Llama2-7B + RAG</c:v>
                </c:pt>
              </c:strCache>
            </c:strRef>
          </c:tx>
          <c:spPr>
            <a:solidFill>
              <a:srgbClr val="428BCA"/>
            </a:solidFill>
          </c:spPr>
          <c:cat>
            <c:strRef>
              <c:f>Sheet1!$A$2:$A$2</c:f>
              <c:strCache>
                <c:ptCount val="1"/>
                <c:pt idx="0">
                  <c:v>Accuracy (%)</c:v>
                </c:pt>
              </c:strCache>
            </c:strRef>
          </c:cat>
          <c:val>
            <c:numRef>
              <c:f>Sheet1!$D$2:$D$2</c:f>
              <c:numCache>
                <c:formatCode>General</c:formatCode>
                <c:ptCount val="1"/>
                <c:pt idx="0">
                  <c:v>20.0</c:v>
                </c:pt>
              </c:numCache>
            </c:numRef>
          </c:val>
        </c:ser>
        <c:ser>
          <c:idx val="3"/>
          <c:order val="3"/>
          <c:tx>
            <c:strRef>
              <c:f>Sheet1!$E$1</c:f>
              <c:strCache>
                <c:ptCount val="1"/>
                <c:pt idx="0">
                  <c:v>FinQA-7B + RAG (hybrid)</c:v>
                </c:pt>
              </c:strCache>
            </c:strRef>
          </c:tx>
          <c:spPr>
            <a:solidFill>
              <a:srgbClr val="F09319"/>
            </a:solidFill>
          </c:spPr>
          <c:cat>
            <c:strRef>
              <c:f>Sheet1!$A$2:$A$2</c:f>
              <c:strCache>
                <c:ptCount val="1"/>
                <c:pt idx="0">
                  <c:v>Accuracy (%)</c:v>
                </c:pt>
              </c:strCache>
            </c:strRef>
          </c:cat>
          <c:val>
            <c:numRef>
              <c:f>Sheet1!$E$2:$E$2</c:f>
              <c:numCache>
                <c:formatCode>General</c:formatCode>
                <c:ptCount val="1"/>
                <c:pt idx="0">
                  <c:v>20.0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Avg Latency (ms)</a:t>
            </a:r>
          </a:p>
        </c:rich>
      </c:tx>
      <c:layout/>
      <c:overlay val="0"/>
    </c:title>
    <c:autoTitleDeleted val="0"/>
    <c:plotArea>
      <c:barChart>
        <c:barDir val="col"/>
        <c:grouping val="clustered"/>
        <c:ser>
          <c:idx val="0"/>
          <c:order val="0"/>
          <c:tx>
            <c:strRef>
              <c:f>Sheet1!$B$1</c:f>
              <c:strCache>
                <c:ptCount val="1"/>
                <c:pt idx="0">
                  <c:v>Base Llama2-7B</c:v>
                </c:pt>
              </c:strCache>
            </c:strRef>
          </c:tx>
          <c:spPr>
            <a:solidFill>
              <a:srgbClr val="E84D4D"/>
            </a:solidFill>
          </c:spPr>
          <c:cat>
            <c:strRef>
              <c:f>Sheet1!$A$2:$A$2</c:f>
              <c:strCache>
                <c:ptCount val="1"/>
                <c:pt idx="0">
                  <c:v>Avg Latency (ms)</c:v>
                </c:pt>
              </c:strCache>
            </c:strRef>
          </c:cat>
          <c:val>
            <c:numRef>
              <c:f>Sheet1!$B$2:$B$2</c:f>
              <c:numCache>
                <c:formatCode>General</c:formatCode>
                <c:ptCount val="1"/>
                <c:pt idx="0">
                  <c:v>124980.9</c:v>
                </c:pt>
              </c:numCache>
            </c:numRef>
          </c:val>
        </c:ser>
        <c:ser>
          <c:idx val="1"/>
          <c:order val="1"/>
          <c:tx>
            <c:strRef>
              <c:f>Sheet1!$C$1</c:f>
              <c:strCache>
                <c:ptCount val="1"/>
                <c:pt idx="0">
                  <c:v>FinQA-7B (fine-tuned)</c:v>
                </c:pt>
              </c:strCache>
            </c:strRef>
          </c:tx>
          <c:spPr>
            <a:solidFill>
              <a:srgbClr val="2EA04E"/>
            </a:solidFill>
          </c:spPr>
          <c:cat>
            <c:strRef>
              <c:f>Sheet1!$A$2:$A$2</c:f>
              <c:strCache>
                <c:ptCount val="1"/>
                <c:pt idx="0">
                  <c:v>Avg Latency (ms)</c:v>
                </c:pt>
              </c:strCache>
            </c:strRef>
          </c:cat>
          <c:val>
            <c:numRef>
              <c:f>Sheet1!$C$2:$C$2</c:f>
              <c:numCache>
                <c:formatCode>General</c:formatCode>
                <c:ptCount val="1"/>
                <c:pt idx="0">
                  <c:v>59515.4</c:v>
                </c:pt>
              </c:numCache>
            </c:numRef>
          </c:val>
        </c:ser>
        <c:ser>
          <c:idx val="2"/>
          <c:order val="2"/>
          <c:tx>
            <c:strRef>
              <c:f>Sheet1!$D$1</c:f>
              <c:strCache>
                <c:ptCount val="1"/>
                <c:pt idx="0">
                  <c:v>Llama2-7B + RAG</c:v>
                </c:pt>
              </c:strCache>
            </c:strRef>
          </c:tx>
          <c:spPr>
            <a:solidFill>
              <a:srgbClr val="428BCA"/>
            </a:solidFill>
          </c:spPr>
          <c:cat>
            <c:strRef>
              <c:f>Sheet1!$A$2:$A$2</c:f>
              <c:strCache>
                <c:ptCount val="1"/>
                <c:pt idx="0">
                  <c:v>Avg Latency (ms)</c:v>
                </c:pt>
              </c:strCache>
            </c:strRef>
          </c:cat>
          <c:val>
            <c:numRef>
              <c:f>Sheet1!$D$2:$D$2</c:f>
              <c:numCache>
                <c:formatCode>General</c:formatCode>
                <c:ptCount val="1"/>
                <c:pt idx="0">
                  <c:v>137743.9</c:v>
                </c:pt>
              </c:numCache>
            </c:numRef>
          </c:val>
        </c:ser>
        <c:ser>
          <c:idx val="3"/>
          <c:order val="3"/>
          <c:tx>
            <c:strRef>
              <c:f>Sheet1!$E$1</c:f>
              <c:strCache>
                <c:ptCount val="1"/>
                <c:pt idx="0">
                  <c:v>FinQA-7B + RAG (hybrid)</c:v>
                </c:pt>
              </c:strCache>
            </c:strRef>
          </c:tx>
          <c:spPr>
            <a:solidFill>
              <a:srgbClr val="F09319"/>
            </a:solidFill>
          </c:spPr>
          <c:cat>
            <c:strRef>
              <c:f>Sheet1!$A$2:$A$2</c:f>
              <c:strCache>
                <c:ptCount val="1"/>
                <c:pt idx="0">
                  <c:v>Avg Latency (ms)</c:v>
                </c:pt>
              </c:strCache>
            </c:strRef>
          </c:cat>
          <c:val>
            <c:numRef>
              <c:f>Sheet1!$E$2:$E$2</c:f>
              <c:numCache>
                <c:formatCode>General</c:formatCode>
                <c:ptCount val="1"/>
                <c:pt idx="0">
                  <c:v>222235.2</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Avg Tokens per Query</a:t>
            </a:r>
          </a:p>
        </c:rich>
      </c:tx>
      <c:layout/>
      <c:overlay val="0"/>
    </c:title>
    <c:autoTitleDeleted val="0"/>
    <c:plotArea>
      <c:barChart>
        <c:barDir val="col"/>
        <c:grouping val="clustered"/>
        <c:ser>
          <c:idx val="0"/>
          <c:order val="0"/>
          <c:tx>
            <c:strRef>
              <c:f>Sheet1!$B$1</c:f>
              <c:strCache>
                <c:ptCount val="1"/>
                <c:pt idx="0">
                  <c:v>Base Llama2-7B</c:v>
                </c:pt>
              </c:strCache>
            </c:strRef>
          </c:tx>
          <c:spPr>
            <a:solidFill>
              <a:srgbClr val="E84D4D"/>
            </a:solidFill>
          </c:spPr>
          <c:cat>
            <c:strRef>
              <c:f>Sheet1!$A$2:$A$2</c:f>
              <c:strCache>
                <c:ptCount val="1"/>
                <c:pt idx="0">
                  <c:v>Avg Tokens/Query</c:v>
                </c:pt>
              </c:strCache>
            </c:strRef>
          </c:cat>
          <c:val>
            <c:numRef>
              <c:f>Sheet1!$B$2:$B$2</c:f>
              <c:numCache>
                <c:formatCode>General</c:formatCode>
                <c:ptCount val="1"/>
                <c:pt idx="0">
                  <c:v>314</c:v>
                </c:pt>
              </c:numCache>
            </c:numRef>
          </c:val>
        </c:ser>
        <c:ser>
          <c:idx val="1"/>
          <c:order val="1"/>
          <c:tx>
            <c:strRef>
              <c:f>Sheet1!$C$1</c:f>
              <c:strCache>
                <c:ptCount val="1"/>
                <c:pt idx="0">
                  <c:v>FinQA-7B</c:v>
                </c:pt>
              </c:strCache>
            </c:strRef>
          </c:tx>
          <c:spPr>
            <a:solidFill>
              <a:srgbClr val="2EA04E"/>
            </a:solidFill>
          </c:spPr>
          <c:cat>
            <c:strRef>
              <c:f>Sheet1!$A$2:$A$2</c:f>
              <c:strCache>
                <c:ptCount val="1"/>
                <c:pt idx="0">
                  <c:v>Avg Tokens/Query</c:v>
                </c:pt>
              </c:strCache>
            </c:strRef>
          </c:cat>
          <c:val>
            <c:numRef>
              <c:f>Sheet1!$C$2:$C$2</c:f>
              <c:numCache>
                <c:formatCode>General</c:formatCode>
                <c:ptCount val="1"/>
                <c:pt idx="0">
                  <c:v>285</c:v>
                </c:pt>
              </c:numCache>
            </c:numRef>
          </c:val>
        </c:ser>
        <c:ser>
          <c:idx val="2"/>
          <c:order val="2"/>
          <c:tx>
            <c:strRef>
              <c:f>Sheet1!$D$1</c:f>
              <c:strCache>
                <c:ptCount val="1"/>
                <c:pt idx="0">
                  <c:v>Llama2-7B + RAG</c:v>
                </c:pt>
              </c:strCache>
            </c:strRef>
          </c:tx>
          <c:spPr>
            <a:solidFill>
              <a:srgbClr val="428BCA"/>
            </a:solidFill>
          </c:spPr>
          <c:cat>
            <c:strRef>
              <c:f>Sheet1!$A$2:$A$2</c:f>
              <c:strCache>
                <c:ptCount val="1"/>
                <c:pt idx="0">
                  <c:v>Avg Tokens/Query</c:v>
                </c:pt>
              </c:strCache>
            </c:strRef>
          </c:cat>
          <c:val>
            <c:numRef>
              <c:f>Sheet1!$D$2:$D$2</c:f>
              <c:numCache>
                <c:formatCode>General</c:formatCode>
                <c:ptCount val="1"/>
                <c:pt idx="0">
                  <c:v>1638</c:v>
                </c:pt>
              </c:numCache>
            </c:numRef>
          </c:val>
        </c:ser>
        <c:ser>
          <c:idx val="3"/>
          <c:order val="3"/>
          <c:tx>
            <c:strRef>
              <c:f>Sheet1!$E$1</c:f>
              <c:strCache>
                <c:ptCount val="1"/>
                <c:pt idx="0">
                  <c:v>FinQA-7B + RAG</c:v>
                </c:pt>
              </c:strCache>
            </c:strRef>
          </c:tx>
          <c:spPr>
            <a:solidFill>
              <a:srgbClr val="F09319"/>
            </a:solidFill>
          </c:spPr>
          <c:cat>
            <c:strRef>
              <c:f>Sheet1!$A$2:$A$2</c:f>
              <c:strCache>
                <c:ptCount val="1"/>
                <c:pt idx="0">
                  <c:v>Avg Tokens/Query</c:v>
                </c:pt>
              </c:strCache>
            </c:strRef>
          </c:cat>
          <c:val>
            <c:numRef>
              <c:f>Sheet1!$E$2:$E$2</c:f>
              <c:numCache>
                <c:formatCode>General</c:formatCode>
                <c:ptCount val="1"/>
                <c:pt idx="0">
                  <c:v>1661</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Cost per 1K Queries ($)</a:t>
            </a:r>
          </a:p>
        </c:rich>
      </c:tx>
      <c:layout/>
      <c:overlay val="0"/>
    </c:title>
    <c:autoTitleDeleted val="0"/>
    <c:plotArea>
      <c:barChart>
        <c:barDir val="col"/>
        <c:grouping val="clustered"/>
        <c:ser>
          <c:idx val="0"/>
          <c:order val="0"/>
          <c:tx>
            <c:strRef>
              <c:f>Sheet1!$B$1</c:f>
              <c:strCache>
                <c:ptCount val="1"/>
                <c:pt idx="0">
                  <c:v>Base Llama2-7B</c:v>
                </c:pt>
              </c:strCache>
            </c:strRef>
          </c:tx>
          <c:spPr>
            <a:solidFill>
              <a:srgbClr val="E84D4D"/>
            </a:solidFill>
          </c:spPr>
          <c:cat>
            <c:strRef>
              <c:f>Sheet1!$A$2:$A$2</c:f>
              <c:strCache>
                <c:ptCount val="1"/>
                <c:pt idx="0">
                  <c:v>Cost per 1K Queries ($)</c:v>
                </c:pt>
              </c:strCache>
            </c:strRef>
          </c:cat>
          <c:val>
            <c:numRef>
              <c:f>Sheet1!$B$2:$B$2</c:f>
              <c:numCache>
                <c:formatCode>General</c:formatCode>
                <c:ptCount val="1"/>
                <c:pt idx="0">
                  <c:v>0.0628</c:v>
                </c:pt>
              </c:numCache>
            </c:numRef>
          </c:val>
        </c:ser>
        <c:ser>
          <c:idx val="1"/>
          <c:order val="1"/>
          <c:tx>
            <c:strRef>
              <c:f>Sheet1!$C$1</c:f>
              <c:strCache>
                <c:ptCount val="1"/>
                <c:pt idx="0">
                  <c:v>FinQA-7B</c:v>
                </c:pt>
              </c:strCache>
            </c:strRef>
          </c:tx>
          <c:spPr>
            <a:solidFill>
              <a:srgbClr val="2EA04E"/>
            </a:solidFill>
          </c:spPr>
          <c:cat>
            <c:strRef>
              <c:f>Sheet1!$A$2:$A$2</c:f>
              <c:strCache>
                <c:ptCount val="1"/>
                <c:pt idx="0">
                  <c:v>Cost per 1K Queries ($)</c:v>
                </c:pt>
              </c:strCache>
            </c:strRef>
          </c:cat>
          <c:val>
            <c:numRef>
              <c:f>Sheet1!$C$2:$C$2</c:f>
              <c:numCache>
                <c:formatCode>General</c:formatCode>
                <c:ptCount val="1"/>
                <c:pt idx="0">
                  <c:v>0.0569</c:v>
                </c:pt>
              </c:numCache>
            </c:numRef>
          </c:val>
        </c:ser>
        <c:ser>
          <c:idx val="2"/>
          <c:order val="2"/>
          <c:tx>
            <c:strRef>
              <c:f>Sheet1!$D$1</c:f>
              <c:strCache>
                <c:ptCount val="1"/>
                <c:pt idx="0">
                  <c:v>Llama2-7B + RAG</c:v>
                </c:pt>
              </c:strCache>
            </c:strRef>
          </c:tx>
          <c:spPr>
            <a:solidFill>
              <a:srgbClr val="428BCA"/>
            </a:solidFill>
          </c:spPr>
          <c:cat>
            <c:strRef>
              <c:f>Sheet1!$A$2:$A$2</c:f>
              <c:strCache>
                <c:ptCount val="1"/>
                <c:pt idx="0">
                  <c:v>Cost per 1K Queries ($)</c:v>
                </c:pt>
              </c:strCache>
            </c:strRef>
          </c:cat>
          <c:val>
            <c:numRef>
              <c:f>Sheet1!$D$2:$D$2</c:f>
              <c:numCache>
                <c:formatCode>General</c:formatCode>
                <c:ptCount val="1"/>
                <c:pt idx="0">
                  <c:v>0.3277</c:v>
                </c:pt>
              </c:numCache>
            </c:numRef>
          </c:val>
        </c:ser>
        <c:ser>
          <c:idx val="3"/>
          <c:order val="3"/>
          <c:tx>
            <c:strRef>
              <c:f>Sheet1!$E$1</c:f>
              <c:strCache>
                <c:ptCount val="1"/>
                <c:pt idx="0">
                  <c:v>FinQA-7B + RAG</c:v>
                </c:pt>
              </c:strCache>
            </c:strRef>
          </c:tx>
          <c:spPr>
            <a:solidFill>
              <a:srgbClr val="F09319"/>
            </a:solidFill>
          </c:spPr>
          <c:cat>
            <c:strRef>
              <c:f>Sheet1!$A$2:$A$2</c:f>
              <c:strCache>
                <c:ptCount val="1"/>
                <c:pt idx="0">
                  <c:v>Cost per 1K Queries ($)</c:v>
                </c:pt>
              </c:strCache>
            </c:strRef>
          </c:cat>
          <c:val>
            <c:numRef>
              <c:f>Sheet1!$E$2:$E$2</c:f>
              <c:numCache>
                <c:formatCode>General</c:formatCode>
                <c:ptCount val="1"/>
                <c:pt idx="0">
                  <c:v>0.3323</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Mean Absolute Percentage Error</a:t>
            </a:r>
          </a:p>
        </c:rich>
      </c:tx>
      <c:layout/>
      <c:overlay val="0"/>
    </c:title>
    <c:autoTitleDeleted val="0"/>
    <c:plotArea>
      <c:barChart>
        <c:barDir val="col"/>
        <c:grouping val="clustered"/>
        <c:ser>
          <c:idx val="0"/>
          <c:order val="0"/>
          <c:tx>
            <c:strRef>
              <c:f>Sheet1!$B$1</c:f>
              <c:strCache>
                <c:ptCount val="1"/>
                <c:pt idx="0">
                  <c:v>Base Llama2-7B</c:v>
                </c:pt>
              </c:strCache>
            </c:strRef>
          </c:tx>
          <c:spPr>
            <a:solidFill>
              <a:srgbClr val="E84D4D"/>
            </a:solidFill>
          </c:spPr>
          <c:cat>
            <c:strRef>
              <c:f>Sheet1!$A$2:$A$2</c:f>
              <c:strCache>
                <c:ptCount val="1"/>
                <c:pt idx="0">
                  <c:v>MAPE (%)</c:v>
                </c:pt>
              </c:strCache>
            </c:strRef>
          </c:cat>
          <c:val>
            <c:numRef>
              <c:f>Sheet1!$B$2:$B$2</c:f>
              <c:numCache>
                <c:formatCode>General</c:formatCode>
                <c:ptCount val="1"/>
                <c:pt idx="0">
                  <c:v>838.49</c:v>
                </c:pt>
              </c:numCache>
            </c:numRef>
          </c:val>
        </c:ser>
        <c:ser>
          <c:idx val="1"/>
          <c:order val="1"/>
          <c:tx>
            <c:strRef>
              <c:f>Sheet1!$C$1</c:f>
              <c:strCache>
                <c:ptCount val="1"/>
                <c:pt idx="0">
                  <c:v>FinQA-7B</c:v>
                </c:pt>
              </c:strCache>
            </c:strRef>
          </c:tx>
          <c:spPr>
            <a:solidFill>
              <a:srgbClr val="2EA04E"/>
            </a:solidFill>
          </c:spPr>
          <c:cat>
            <c:strRef>
              <c:f>Sheet1!$A$2:$A$2</c:f>
              <c:strCache>
                <c:ptCount val="1"/>
                <c:pt idx="0">
                  <c:v>MAPE (%)</c:v>
                </c:pt>
              </c:strCache>
            </c:strRef>
          </c:cat>
          <c:val>
            <c:numRef>
              <c:f>Sheet1!$C$2:$C$2</c:f>
              <c:numCache>
                <c:formatCode>General</c:formatCode>
                <c:ptCount val="1"/>
                <c:pt idx="0">
                  <c:v>109.67</c:v>
                </c:pt>
              </c:numCache>
            </c:numRef>
          </c:val>
        </c:ser>
        <c:ser>
          <c:idx val="2"/>
          <c:order val="2"/>
          <c:tx>
            <c:strRef>
              <c:f>Sheet1!$D$1</c:f>
              <c:strCache>
                <c:ptCount val="1"/>
                <c:pt idx="0">
                  <c:v>Llama2-7B + RAG</c:v>
                </c:pt>
              </c:strCache>
            </c:strRef>
          </c:tx>
          <c:spPr>
            <a:solidFill>
              <a:srgbClr val="428BCA"/>
            </a:solidFill>
          </c:spPr>
          <c:cat>
            <c:strRef>
              <c:f>Sheet1!$A$2:$A$2</c:f>
              <c:strCache>
                <c:ptCount val="1"/>
                <c:pt idx="0">
                  <c:v>MAPE (%)</c:v>
                </c:pt>
              </c:strCache>
            </c:strRef>
          </c:cat>
          <c:val>
            <c:numRef>
              <c:f>Sheet1!$D$2:$D$2</c:f>
              <c:numCache>
                <c:formatCode>General</c:formatCode>
                <c:ptCount val="1"/>
                <c:pt idx="0">
                  <c:v>190.57</c:v>
                </c:pt>
              </c:numCache>
            </c:numRef>
          </c:val>
        </c:ser>
        <c:ser>
          <c:idx val="3"/>
          <c:order val="3"/>
          <c:tx>
            <c:strRef>
              <c:f>Sheet1!$E$1</c:f>
              <c:strCache>
                <c:ptCount val="1"/>
                <c:pt idx="0">
                  <c:v>FinQA-7B + RAG</c:v>
                </c:pt>
              </c:strCache>
            </c:strRef>
          </c:tx>
          <c:spPr>
            <a:solidFill>
              <a:srgbClr val="F09319"/>
            </a:solidFill>
          </c:spPr>
          <c:cat>
            <c:strRef>
              <c:f>Sheet1!$A$2:$A$2</c:f>
              <c:strCache>
                <c:ptCount val="1"/>
                <c:pt idx="0">
                  <c:v>MAPE (%)</c:v>
                </c:pt>
              </c:strCache>
            </c:strRef>
          </c:cat>
          <c:val>
            <c:numRef>
              <c:f>Sheet1!$E$2:$E$2</c:f>
              <c:numCache>
                <c:formatCode>General</c:formatCode>
                <c:ptCount val="1"/>
                <c:pt idx="0">
                  <c:v>232.37</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Accuracy by Category</a:t>
            </a:r>
          </a:p>
        </c:rich>
      </c:tx>
      <c:layout/>
      <c:overlay val="0"/>
    </c:title>
    <c:autoTitleDeleted val="0"/>
    <c:plotArea>
      <c:barChart>
        <c:barDir val="col"/>
        <c:grouping val="clustered"/>
        <c:ser>
          <c:idx val="0"/>
          <c:order val="0"/>
          <c:tx>
            <c:strRef>
              <c:f>Sheet1!$B$1</c:f>
              <c:strCache>
                <c:ptCount val="1"/>
                <c:pt idx="0">
                  <c:v>Base Llama2-7B</c:v>
                </c:pt>
              </c:strCache>
            </c:strRef>
          </c:tx>
          <c:spPr>
            <a:solidFill>
              <a:srgbClr val="E84D4D"/>
            </a:solidFill>
          </c:spPr>
          <c:cat>
            <c:strRef>
              <c:f>Sheet1!$A$2:$A$3</c:f>
              <c:strCache>
                <c:ptCount val="2"/>
                <c:pt idx="0">
                  <c:v>Multi Step</c:v>
                </c:pt>
                <c:pt idx="1">
                  <c:v>Single Step</c:v>
                </c:pt>
              </c:strCache>
            </c:strRef>
          </c:cat>
          <c:val>
            <c:numRef>
              <c:f>Sheet1!$B$2:$B$3</c:f>
              <c:numCache>
                <c:formatCode>General</c:formatCode>
                <c:ptCount val="2"/>
                <c:pt idx="0">
                  <c:v>0.0</c:v>
                </c:pt>
                <c:pt idx="1">
                  <c:v>33.3</c:v>
                </c:pt>
              </c:numCache>
            </c:numRef>
          </c:val>
        </c:ser>
        <c:ser>
          <c:idx val="1"/>
          <c:order val="1"/>
          <c:tx>
            <c:strRef>
              <c:f>Sheet1!$C$1</c:f>
              <c:strCache>
                <c:ptCount val="1"/>
                <c:pt idx="0">
                  <c:v>FinQA-7B</c:v>
                </c:pt>
              </c:strCache>
            </c:strRef>
          </c:tx>
          <c:spPr>
            <a:solidFill>
              <a:srgbClr val="2EA04E"/>
            </a:solidFill>
          </c:spPr>
          <c:cat>
            <c:strRef>
              <c:f>Sheet1!$A$2:$A$3</c:f>
              <c:strCache>
                <c:ptCount val="2"/>
                <c:pt idx="0">
                  <c:v>Multi Step</c:v>
                </c:pt>
                <c:pt idx="1">
                  <c:v>Single Step</c:v>
                </c:pt>
              </c:strCache>
            </c:strRef>
          </c:cat>
          <c:val>
            <c:numRef>
              <c:f>Sheet1!$C$2:$C$3</c:f>
              <c:numCache>
                <c:formatCode>General</c:formatCode>
                <c:ptCount val="2"/>
                <c:pt idx="0">
                  <c:v>0.0</c:v>
                </c:pt>
                <c:pt idx="1">
                  <c:v>33.3</c:v>
                </c:pt>
              </c:numCache>
            </c:numRef>
          </c:val>
        </c:ser>
        <c:ser>
          <c:idx val="2"/>
          <c:order val="2"/>
          <c:tx>
            <c:strRef>
              <c:f>Sheet1!$D$1</c:f>
              <c:strCache>
                <c:ptCount val="1"/>
                <c:pt idx="0">
                  <c:v>Llama2-7B + RAG</c:v>
                </c:pt>
              </c:strCache>
            </c:strRef>
          </c:tx>
          <c:spPr>
            <a:solidFill>
              <a:srgbClr val="428BCA"/>
            </a:solidFill>
          </c:spPr>
          <c:cat>
            <c:strRef>
              <c:f>Sheet1!$A$2:$A$3</c:f>
              <c:strCache>
                <c:ptCount val="2"/>
                <c:pt idx="0">
                  <c:v>Multi Step</c:v>
                </c:pt>
                <c:pt idx="1">
                  <c:v>Single Step</c:v>
                </c:pt>
              </c:strCache>
            </c:strRef>
          </c:cat>
          <c:val>
            <c:numRef>
              <c:f>Sheet1!$D$2:$D$3</c:f>
              <c:numCache>
                <c:formatCode>General</c:formatCode>
                <c:ptCount val="2"/>
                <c:pt idx="0">
                  <c:v>50.0</c:v>
                </c:pt>
                <c:pt idx="1">
                  <c:v>0.0</c:v>
                </c:pt>
              </c:numCache>
            </c:numRef>
          </c:val>
        </c:ser>
        <c:ser>
          <c:idx val="3"/>
          <c:order val="3"/>
          <c:tx>
            <c:strRef>
              <c:f>Sheet1!$E$1</c:f>
              <c:strCache>
                <c:ptCount val="1"/>
                <c:pt idx="0">
                  <c:v>FinQA-7B + RAG</c:v>
                </c:pt>
              </c:strCache>
            </c:strRef>
          </c:tx>
          <c:spPr>
            <a:solidFill>
              <a:srgbClr val="F09319"/>
            </a:solidFill>
          </c:spPr>
          <c:cat>
            <c:strRef>
              <c:f>Sheet1!$A$2:$A$3</c:f>
              <c:strCache>
                <c:ptCount val="2"/>
                <c:pt idx="0">
                  <c:v>Multi Step</c:v>
                </c:pt>
                <c:pt idx="1">
                  <c:v>Single Step</c:v>
                </c:pt>
              </c:strCache>
            </c:strRef>
          </c:cat>
          <c:val>
            <c:numRef>
              <c:f>Sheet1!$E$2:$E$3</c:f>
              <c:numCache>
                <c:formatCode>General</c:formatCode>
                <c:ptCount val="2"/>
                <c:pt idx="0">
                  <c:v>0.0</c:v>
                </c:pt>
                <c:pt idx="1">
                  <c:v>33.3</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Accuracy Comparison</a:t>
            </a:r>
          </a:p>
        </c:rich>
      </c:tx>
      <c:layout/>
      <c:overlay val="0"/>
    </c:title>
    <c:autoTitleDeleted val="0"/>
    <c:plotArea>
      <c:barChart>
        <c:barDir val="col"/>
        <c:grouping val="clustered"/>
        <c:ser>
          <c:idx val="0"/>
          <c:order val="0"/>
          <c:tx>
            <c:strRef>
              <c:f>Sheet1!$B$1</c:f>
              <c:strCache>
                <c:ptCount val="1"/>
                <c:pt idx="0">
                  <c:v>Base Llama2-7B</c:v>
                </c:pt>
              </c:strCache>
            </c:strRef>
          </c:tx>
          <c:spPr>
            <a:solidFill>
              <a:srgbClr val="E84D4D"/>
            </a:solidFill>
          </c:spPr>
          <c:cat>
            <c:strRef>
              <c:f>Sheet1!$A$2:$A$2</c:f>
              <c:strCache>
                <c:ptCount val="1"/>
                <c:pt idx="0">
                  <c:v>Accuracy (%)</c:v>
                </c:pt>
              </c:strCache>
            </c:strRef>
          </c:cat>
          <c:val>
            <c:numRef>
              <c:f>Sheet1!$B$2:$B$2</c:f>
              <c:numCache>
                <c:formatCode>General</c:formatCode>
                <c:ptCount val="1"/>
                <c:pt idx="0">
                  <c:v>25.0</c:v>
                </c:pt>
              </c:numCache>
            </c:numRef>
          </c:val>
        </c:ser>
        <c:ser>
          <c:idx val="1"/>
          <c:order val="1"/>
          <c:tx>
            <c:strRef>
              <c:f>Sheet1!$C$1</c:f>
              <c:strCache>
                <c:ptCount val="1"/>
                <c:pt idx="0">
                  <c:v>FinQA-7B (fine-tuned)</c:v>
                </c:pt>
              </c:strCache>
            </c:strRef>
          </c:tx>
          <c:spPr>
            <a:solidFill>
              <a:srgbClr val="2EA04E"/>
            </a:solidFill>
          </c:spPr>
          <c:cat>
            <c:strRef>
              <c:f>Sheet1!$A$2:$A$2</c:f>
              <c:strCache>
                <c:ptCount val="1"/>
                <c:pt idx="0">
                  <c:v>Accuracy (%)</c:v>
                </c:pt>
              </c:strCache>
            </c:strRef>
          </c:cat>
          <c:val>
            <c:numRef>
              <c:f>Sheet1!$C$2:$C$2</c:f>
              <c:numCache>
                <c:formatCode>General</c:formatCode>
                <c:ptCount val="1"/>
                <c:pt idx="0">
                  <c:v>37.5</c:v>
                </c:pt>
              </c:numCache>
            </c:numRef>
          </c:val>
        </c:ser>
        <c:ser>
          <c:idx val="2"/>
          <c:order val="2"/>
          <c:tx>
            <c:strRef>
              <c:f>Sheet1!$D$1</c:f>
              <c:strCache>
                <c:ptCount val="1"/>
                <c:pt idx="0">
                  <c:v>Llama2-7B + RAG</c:v>
                </c:pt>
              </c:strCache>
            </c:strRef>
          </c:tx>
          <c:spPr>
            <a:solidFill>
              <a:srgbClr val="428BCA"/>
            </a:solidFill>
          </c:spPr>
          <c:cat>
            <c:strRef>
              <c:f>Sheet1!$A$2:$A$2</c:f>
              <c:strCache>
                <c:ptCount val="1"/>
                <c:pt idx="0">
                  <c:v>Accuracy (%)</c:v>
                </c:pt>
              </c:strCache>
            </c:strRef>
          </c:cat>
          <c:val>
            <c:numRef>
              <c:f>Sheet1!$D$2:$D$2</c:f>
              <c:numCache>
                <c:formatCode>General</c:formatCode>
                <c:ptCount val="1"/>
                <c:pt idx="0">
                  <c:v>12.5</c:v>
                </c:pt>
              </c:numCache>
            </c:numRef>
          </c:val>
        </c:ser>
        <c:ser>
          <c:idx val="3"/>
          <c:order val="3"/>
          <c:tx>
            <c:strRef>
              <c:f>Sheet1!$E$1</c:f>
              <c:strCache>
                <c:ptCount val="1"/>
                <c:pt idx="0">
                  <c:v>FinQA-7B + RAG (hybrid)</c:v>
                </c:pt>
              </c:strCache>
            </c:strRef>
          </c:tx>
          <c:spPr>
            <a:solidFill>
              <a:srgbClr val="F09319"/>
            </a:solidFill>
          </c:spPr>
          <c:cat>
            <c:strRef>
              <c:f>Sheet1!$A$2:$A$2</c:f>
              <c:strCache>
                <c:ptCount val="1"/>
                <c:pt idx="0">
                  <c:v>Accuracy (%)</c:v>
                </c:pt>
              </c:strCache>
            </c:strRef>
          </c:cat>
          <c:val>
            <c:numRef>
              <c:f>Sheet1!$E$2:$E$2</c:f>
              <c:numCache>
                <c:formatCode>General</c:formatCode>
                <c:ptCount val="1"/>
                <c:pt idx="0">
                  <c:v>25.0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Avg Latency (ms)</a:t>
            </a:r>
          </a:p>
        </c:rich>
      </c:tx>
      <c:layout/>
      <c:overlay val="0"/>
    </c:title>
    <c:autoTitleDeleted val="0"/>
    <c:plotArea>
      <c:barChart>
        <c:barDir val="col"/>
        <c:grouping val="clustered"/>
        <c:ser>
          <c:idx val="0"/>
          <c:order val="0"/>
          <c:tx>
            <c:strRef>
              <c:f>Sheet1!$B$1</c:f>
              <c:strCache>
                <c:ptCount val="1"/>
                <c:pt idx="0">
                  <c:v>Base Llama2-7B</c:v>
                </c:pt>
              </c:strCache>
            </c:strRef>
          </c:tx>
          <c:spPr>
            <a:solidFill>
              <a:srgbClr val="E84D4D"/>
            </a:solidFill>
          </c:spPr>
          <c:cat>
            <c:strRef>
              <c:f>Sheet1!$A$2:$A$2</c:f>
              <c:strCache>
                <c:ptCount val="1"/>
                <c:pt idx="0">
                  <c:v>Avg Latency (ms)</c:v>
                </c:pt>
              </c:strCache>
            </c:strRef>
          </c:cat>
          <c:val>
            <c:numRef>
              <c:f>Sheet1!$B$2:$B$2</c:f>
              <c:numCache>
                <c:formatCode>General</c:formatCode>
                <c:ptCount val="1"/>
                <c:pt idx="0">
                  <c:v>89871.7</c:v>
                </c:pt>
              </c:numCache>
            </c:numRef>
          </c:val>
        </c:ser>
        <c:ser>
          <c:idx val="1"/>
          <c:order val="1"/>
          <c:tx>
            <c:strRef>
              <c:f>Sheet1!$C$1</c:f>
              <c:strCache>
                <c:ptCount val="1"/>
                <c:pt idx="0">
                  <c:v>FinQA-7B (fine-tuned)</c:v>
                </c:pt>
              </c:strCache>
            </c:strRef>
          </c:tx>
          <c:spPr>
            <a:solidFill>
              <a:srgbClr val="2EA04E"/>
            </a:solidFill>
          </c:spPr>
          <c:cat>
            <c:strRef>
              <c:f>Sheet1!$A$2:$A$2</c:f>
              <c:strCache>
                <c:ptCount val="1"/>
                <c:pt idx="0">
                  <c:v>Avg Latency (ms)</c:v>
                </c:pt>
              </c:strCache>
            </c:strRef>
          </c:cat>
          <c:val>
            <c:numRef>
              <c:f>Sheet1!$C$2:$C$2</c:f>
              <c:numCache>
                <c:formatCode>General</c:formatCode>
                <c:ptCount val="1"/>
                <c:pt idx="0">
                  <c:v>57742.5</c:v>
                </c:pt>
              </c:numCache>
            </c:numRef>
          </c:val>
        </c:ser>
        <c:ser>
          <c:idx val="2"/>
          <c:order val="2"/>
          <c:tx>
            <c:strRef>
              <c:f>Sheet1!$D$1</c:f>
              <c:strCache>
                <c:ptCount val="1"/>
                <c:pt idx="0">
                  <c:v>Llama2-7B + RAG</c:v>
                </c:pt>
              </c:strCache>
            </c:strRef>
          </c:tx>
          <c:spPr>
            <a:solidFill>
              <a:srgbClr val="428BCA"/>
            </a:solidFill>
          </c:spPr>
          <c:cat>
            <c:strRef>
              <c:f>Sheet1!$A$2:$A$2</c:f>
              <c:strCache>
                <c:ptCount val="1"/>
                <c:pt idx="0">
                  <c:v>Avg Latency (ms)</c:v>
                </c:pt>
              </c:strCache>
            </c:strRef>
          </c:cat>
          <c:val>
            <c:numRef>
              <c:f>Sheet1!$D$2:$D$2</c:f>
              <c:numCache>
                <c:formatCode>General</c:formatCode>
                <c:ptCount val="1"/>
                <c:pt idx="0">
                  <c:v>130097.4</c:v>
                </c:pt>
              </c:numCache>
            </c:numRef>
          </c:val>
        </c:ser>
        <c:ser>
          <c:idx val="3"/>
          <c:order val="3"/>
          <c:tx>
            <c:strRef>
              <c:f>Sheet1!$E$1</c:f>
              <c:strCache>
                <c:ptCount val="1"/>
                <c:pt idx="0">
                  <c:v>FinQA-7B + RAG (hybrid)</c:v>
                </c:pt>
              </c:strCache>
            </c:strRef>
          </c:tx>
          <c:spPr>
            <a:solidFill>
              <a:srgbClr val="F09319"/>
            </a:solidFill>
          </c:spPr>
          <c:cat>
            <c:strRef>
              <c:f>Sheet1!$A$2:$A$2</c:f>
              <c:strCache>
                <c:ptCount val="1"/>
                <c:pt idx="0">
                  <c:v>Avg Latency (ms)</c:v>
                </c:pt>
              </c:strCache>
            </c:strRef>
          </c:cat>
          <c:val>
            <c:numRef>
              <c:f>Sheet1!$E$2:$E$2</c:f>
              <c:numCache>
                <c:formatCode>General</c:formatCode>
                <c:ptCount val="1"/>
                <c:pt idx="0">
                  <c:v>154643.4</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Avg Tokens per Query</a:t>
            </a:r>
          </a:p>
        </c:rich>
      </c:tx>
      <c:layout/>
      <c:overlay val="0"/>
    </c:title>
    <c:autoTitleDeleted val="0"/>
    <c:plotArea>
      <c:barChart>
        <c:barDir val="col"/>
        <c:grouping val="clustered"/>
        <c:ser>
          <c:idx val="0"/>
          <c:order val="0"/>
          <c:tx>
            <c:strRef>
              <c:f>Sheet1!$B$1</c:f>
              <c:strCache>
                <c:ptCount val="1"/>
                <c:pt idx="0">
                  <c:v>Base Llama2-7B</c:v>
                </c:pt>
              </c:strCache>
            </c:strRef>
          </c:tx>
          <c:spPr>
            <a:solidFill>
              <a:srgbClr val="E84D4D"/>
            </a:solidFill>
          </c:spPr>
          <c:cat>
            <c:strRef>
              <c:f>Sheet1!$A$2:$A$2</c:f>
              <c:strCache>
                <c:ptCount val="1"/>
                <c:pt idx="0">
                  <c:v>Avg Tokens/Query</c:v>
                </c:pt>
              </c:strCache>
            </c:strRef>
          </c:cat>
          <c:val>
            <c:numRef>
              <c:f>Sheet1!$B$2:$B$2</c:f>
              <c:numCache>
                <c:formatCode>General</c:formatCode>
                <c:ptCount val="1"/>
                <c:pt idx="0">
                  <c:v>477</c:v>
                </c:pt>
              </c:numCache>
            </c:numRef>
          </c:val>
        </c:ser>
        <c:ser>
          <c:idx val="1"/>
          <c:order val="1"/>
          <c:tx>
            <c:strRef>
              <c:f>Sheet1!$C$1</c:f>
              <c:strCache>
                <c:ptCount val="1"/>
                <c:pt idx="0">
                  <c:v>FinQA-7B</c:v>
                </c:pt>
              </c:strCache>
            </c:strRef>
          </c:tx>
          <c:spPr>
            <a:solidFill>
              <a:srgbClr val="2EA04E"/>
            </a:solidFill>
          </c:spPr>
          <c:cat>
            <c:strRef>
              <c:f>Sheet1!$A$2:$A$2</c:f>
              <c:strCache>
                <c:ptCount val="1"/>
                <c:pt idx="0">
                  <c:v>Avg Tokens/Query</c:v>
                </c:pt>
              </c:strCache>
            </c:strRef>
          </c:cat>
          <c:val>
            <c:numRef>
              <c:f>Sheet1!$C$2:$C$2</c:f>
              <c:numCache>
                <c:formatCode>General</c:formatCode>
                <c:ptCount val="1"/>
                <c:pt idx="0">
                  <c:v>503</c:v>
                </c:pt>
              </c:numCache>
            </c:numRef>
          </c:val>
        </c:ser>
        <c:ser>
          <c:idx val="2"/>
          <c:order val="2"/>
          <c:tx>
            <c:strRef>
              <c:f>Sheet1!$D$1</c:f>
              <c:strCache>
                <c:ptCount val="1"/>
                <c:pt idx="0">
                  <c:v>Llama2-7B + RAG</c:v>
                </c:pt>
              </c:strCache>
            </c:strRef>
          </c:tx>
          <c:spPr>
            <a:solidFill>
              <a:srgbClr val="428BCA"/>
            </a:solidFill>
          </c:spPr>
          <c:cat>
            <c:strRef>
              <c:f>Sheet1!$A$2:$A$2</c:f>
              <c:strCache>
                <c:ptCount val="1"/>
                <c:pt idx="0">
                  <c:v>Avg Tokens/Query</c:v>
                </c:pt>
              </c:strCache>
            </c:strRef>
          </c:cat>
          <c:val>
            <c:numRef>
              <c:f>Sheet1!$D$2:$D$2</c:f>
              <c:numCache>
                <c:formatCode>General</c:formatCode>
                <c:ptCount val="1"/>
                <c:pt idx="0">
                  <c:v>1731</c:v>
                </c:pt>
              </c:numCache>
            </c:numRef>
          </c:val>
        </c:ser>
        <c:ser>
          <c:idx val="3"/>
          <c:order val="3"/>
          <c:tx>
            <c:strRef>
              <c:f>Sheet1!$E$1</c:f>
              <c:strCache>
                <c:ptCount val="1"/>
                <c:pt idx="0">
                  <c:v>FinQA-7B + RAG</c:v>
                </c:pt>
              </c:strCache>
            </c:strRef>
          </c:tx>
          <c:spPr>
            <a:solidFill>
              <a:srgbClr val="F09319"/>
            </a:solidFill>
          </c:spPr>
          <c:cat>
            <c:strRef>
              <c:f>Sheet1!$A$2:$A$2</c:f>
              <c:strCache>
                <c:ptCount val="1"/>
                <c:pt idx="0">
                  <c:v>Avg Tokens/Query</c:v>
                </c:pt>
              </c:strCache>
            </c:strRef>
          </c:cat>
          <c:val>
            <c:numRef>
              <c:f>Sheet1!$E$2:$E$2</c:f>
              <c:numCache>
                <c:formatCode>General</c:formatCode>
                <c:ptCount val="1"/>
                <c:pt idx="0">
                  <c:v>1801</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Cost per 1K Queries ($)</a:t>
            </a:r>
          </a:p>
        </c:rich>
      </c:tx>
      <c:layout/>
      <c:overlay val="0"/>
    </c:title>
    <c:autoTitleDeleted val="0"/>
    <c:plotArea>
      <c:barChart>
        <c:barDir val="col"/>
        <c:grouping val="clustered"/>
        <c:ser>
          <c:idx val="0"/>
          <c:order val="0"/>
          <c:tx>
            <c:strRef>
              <c:f>Sheet1!$B$1</c:f>
              <c:strCache>
                <c:ptCount val="1"/>
                <c:pt idx="0">
                  <c:v>Base Llama2-7B</c:v>
                </c:pt>
              </c:strCache>
            </c:strRef>
          </c:tx>
          <c:spPr>
            <a:solidFill>
              <a:srgbClr val="E84D4D"/>
            </a:solidFill>
          </c:spPr>
          <c:cat>
            <c:strRef>
              <c:f>Sheet1!$A$2:$A$2</c:f>
              <c:strCache>
                <c:ptCount val="1"/>
                <c:pt idx="0">
                  <c:v>Cost per 1K Queries ($)</c:v>
                </c:pt>
              </c:strCache>
            </c:strRef>
          </c:cat>
          <c:val>
            <c:numRef>
              <c:f>Sheet1!$B$2:$B$2</c:f>
              <c:numCache>
                <c:formatCode>General</c:formatCode>
                <c:ptCount val="1"/>
                <c:pt idx="0">
                  <c:v>0.0954</c:v>
                </c:pt>
              </c:numCache>
            </c:numRef>
          </c:val>
        </c:ser>
        <c:ser>
          <c:idx val="1"/>
          <c:order val="1"/>
          <c:tx>
            <c:strRef>
              <c:f>Sheet1!$C$1</c:f>
              <c:strCache>
                <c:ptCount val="1"/>
                <c:pt idx="0">
                  <c:v>FinQA-7B</c:v>
                </c:pt>
              </c:strCache>
            </c:strRef>
          </c:tx>
          <c:spPr>
            <a:solidFill>
              <a:srgbClr val="2EA04E"/>
            </a:solidFill>
          </c:spPr>
          <c:cat>
            <c:strRef>
              <c:f>Sheet1!$A$2:$A$2</c:f>
              <c:strCache>
                <c:ptCount val="1"/>
                <c:pt idx="0">
                  <c:v>Cost per 1K Queries ($)</c:v>
                </c:pt>
              </c:strCache>
            </c:strRef>
          </c:cat>
          <c:val>
            <c:numRef>
              <c:f>Sheet1!$C$2:$C$2</c:f>
              <c:numCache>
                <c:formatCode>General</c:formatCode>
                <c:ptCount val="1"/>
                <c:pt idx="0">
                  <c:v>0.1005</c:v>
                </c:pt>
              </c:numCache>
            </c:numRef>
          </c:val>
        </c:ser>
        <c:ser>
          <c:idx val="2"/>
          <c:order val="2"/>
          <c:tx>
            <c:strRef>
              <c:f>Sheet1!$D$1</c:f>
              <c:strCache>
                <c:ptCount val="1"/>
                <c:pt idx="0">
                  <c:v>Llama2-7B + RAG</c:v>
                </c:pt>
              </c:strCache>
            </c:strRef>
          </c:tx>
          <c:spPr>
            <a:solidFill>
              <a:srgbClr val="428BCA"/>
            </a:solidFill>
          </c:spPr>
          <c:cat>
            <c:strRef>
              <c:f>Sheet1!$A$2:$A$2</c:f>
              <c:strCache>
                <c:ptCount val="1"/>
                <c:pt idx="0">
                  <c:v>Cost per 1K Queries ($)</c:v>
                </c:pt>
              </c:strCache>
            </c:strRef>
          </c:cat>
          <c:val>
            <c:numRef>
              <c:f>Sheet1!$D$2:$D$2</c:f>
              <c:numCache>
                <c:formatCode>General</c:formatCode>
                <c:ptCount val="1"/>
                <c:pt idx="0">
                  <c:v>0.3462</c:v>
                </c:pt>
              </c:numCache>
            </c:numRef>
          </c:val>
        </c:ser>
        <c:ser>
          <c:idx val="3"/>
          <c:order val="3"/>
          <c:tx>
            <c:strRef>
              <c:f>Sheet1!$E$1</c:f>
              <c:strCache>
                <c:ptCount val="1"/>
                <c:pt idx="0">
                  <c:v>FinQA-7B + RAG</c:v>
                </c:pt>
              </c:strCache>
            </c:strRef>
          </c:tx>
          <c:spPr>
            <a:solidFill>
              <a:srgbClr val="F09319"/>
            </a:solidFill>
          </c:spPr>
          <c:cat>
            <c:strRef>
              <c:f>Sheet1!$A$2:$A$2</c:f>
              <c:strCache>
                <c:ptCount val="1"/>
                <c:pt idx="0">
                  <c:v>Cost per 1K Queries ($)</c:v>
                </c:pt>
              </c:strCache>
            </c:strRef>
          </c:cat>
          <c:val>
            <c:numRef>
              <c:f>Sheet1!$E$2:$E$2</c:f>
              <c:numCache>
                <c:formatCode>General</c:formatCode>
                <c:ptCount val="1"/>
                <c:pt idx="0">
                  <c:v>0.3602</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Mean Absolute Percentage Error</a:t>
            </a:r>
          </a:p>
        </c:rich>
      </c:tx>
      <c:layout/>
      <c:overlay val="0"/>
    </c:title>
    <c:autoTitleDeleted val="0"/>
    <c:plotArea>
      <c:barChart>
        <c:barDir val="col"/>
        <c:grouping val="clustered"/>
        <c:ser>
          <c:idx val="0"/>
          <c:order val="0"/>
          <c:tx>
            <c:strRef>
              <c:f>Sheet1!$B$1</c:f>
              <c:strCache>
                <c:ptCount val="1"/>
                <c:pt idx="0">
                  <c:v>Base Llama2-7B</c:v>
                </c:pt>
              </c:strCache>
            </c:strRef>
          </c:tx>
          <c:spPr>
            <a:solidFill>
              <a:srgbClr val="E84D4D"/>
            </a:solidFill>
          </c:spPr>
          <c:cat>
            <c:strRef>
              <c:f>Sheet1!$A$2:$A$2</c:f>
              <c:strCache>
                <c:ptCount val="1"/>
                <c:pt idx="0">
                  <c:v>MAPE (%)</c:v>
                </c:pt>
              </c:strCache>
            </c:strRef>
          </c:cat>
          <c:val>
            <c:numRef>
              <c:f>Sheet1!$B$2:$B$2</c:f>
              <c:numCache>
                <c:formatCode>General</c:formatCode>
                <c:ptCount val="1"/>
                <c:pt idx="0">
                  <c:v>21.35</c:v>
                </c:pt>
              </c:numCache>
            </c:numRef>
          </c:val>
        </c:ser>
        <c:ser>
          <c:idx val="1"/>
          <c:order val="1"/>
          <c:tx>
            <c:strRef>
              <c:f>Sheet1!$C$1</c:f>
              <c:strCache>
                <c:ptCount val="1"/>
                <c:pt idx="0">
                  <c:v>FinQA-7B</c:v>
                </c:pt>
              </c:strCache>
            </c:strRef>
          </c:tx>
          <c:spPr>
            <a:solidFill>
              <a:srgbClr val="2EA04E"/>
            </a:solidFill>
          </c:spPr>
          <c:cat>
            <c:strRef>
              <c:f>Sheet1!$A$2:$A$2</c:f>
              <c:strCache>
                <c:ptCount val="1"/>
                <c:pt idx="0">
                  <c:v>MAPE (%)</c:v>
                </c:pt>
              </c:strCache>
            </c:strRef>
          </c:cat>
          <c:val>
            <c:numRef>
              <c:f>Sheet1!$C$2:$C$2</c:f>
              <c:numCache>
                <c:formatCode>General</c:formatCode>
                <c:ptCount val="1"/>
                <c:pt idx="0">
                  <c:v>103.44</c:v>
                </c:pt>
              </c:numCache>
            </c:numRef>
          </c:val>
        </c:ser>
        <c:ser>
          <c:idx val="2"/>
          <c:order val="2"/>
          <c:tx>
            <c:strRef>
              <c:f>Sheet1!$D$1</c:f>
              <c:strCache>
                <c:ptCount val="1"/>
                <c:pt idx="0">
                  <c:v>Llama2-7B + RAG</c:v>
                </c:pt>
              </c:strCache>
            </c:strRef>
          </c:tx>
          <c:spPr>
            <a:solidFill>
              <a:srgbClr val="428BCA"/>
            </a:solidFill>
          </c:spPr>
          <c:cat>
            <c:strRef>
              <c:f>Sheet1!$A$2:$A$2</c:f>
              <c:strCache>
                <c:ptCount val="1"/>
                <c:pt idx="0">
                  <c:v>MAPE (%)</c:v>
                </c:pt>
              </c:strCache>
            </c:strRef>
          </c:cat>
          <c:val>
            <c:numRef>
              <c:f>Sheet1!$D$2:$D$2</c:f>
              <c:numCache>
                <c:formatCode>General</c:formatCode>
                <c:ptCount val="1"/>
                <c:pt idx="0">
                  <c:v>34.42</c:v>
                </c:pt>
              </c:numCache>
            </c:numRef>
          </c:val>
        </c:ser>
        <c:ser>
          <c:idx val="3"/>
          <c:order val="3"/>
          <c:tx>
            <c:strRef>
              <c:f>Sheet1!$E$1</c:f>
              <c:strCache>
                <c:ptCount val="1"/>
                <c:pt idx="0">
                  <c:v>FinQA-7B + RAG</c:v>
                </c:pt>
              </c:strCache>
            </c:strRef>
          </c:tx>
          <c:spPr>
            <a:solidFill>
              <a:srgbClr val="F09319"/>
            </a:solidFill>
          </c:spPr>
          <c:cat>
            <c:strRef>
              <c:f>Sheet1!$A$2:$A$2</c:f>
              <c:strCache>
                <c:ptCount val="1"/>
                <c:pt idx="0">
                  <c:v>MAPE (%)</c:v>
                </c:pt>
              </c:strCache>
            </c:strRef>
          </c:cat>
          <c:val>
            <c:numRef>
              <c:f>Sheet1!$E$2:$E$2</c:f>
              <c:numCache>
                <c:formatCode>General</c:formatCode>
                <c:ptCount val="1"/>
                <c:pt idx="0">
                  <c:v>45.94</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Accuracy by Category</a:t>
            </a:r>
          </a:p>
        </c:rich>
      </c:tx>
      <c:layout/>
      <c:overlay val="0"/>
    </c:title>
    <c:autoTitleDeleted val="0"/>
    <c:plotArea>
      <c:barChart>
        <c:barDir val="col"/>
        <c:grouping val="clustered"/>
        <c:ser>
          <c:idx val="0"/>
          <c:order val="0"/>
          <c:tx>
            <c:strRef>
              <c:f>Sheet1!$B$1</c:f>
              <c:strCache>
                <c:ptCount val="1"/>
                <c:pt idx="0">
                  <c:v>Base Llama2-7B</c:v>
                </c:pt>
              </c:strCache>
            </c:strRef>
          </c:tx>
          <c:spPr>
            <a:solidFill>
              <a:srgbClr val="E84D4D"/>
            </a:solidFill>
          </c:spPr>
          <c:cat>
            <c:strRef>
              <c:f>Sheet1!$A$2:$A$6</c:f>
              <c:strCache>
                <c:ptCount val="5"/>
                <c:pt idx="0">
                  <c:v>Efficiency</c:v>
                </c:pt>
                <c:pt idx="1">
                  <c:v>Leverage</c:v>
                </c:pt>
                <c:pt idx="2">
                  <c:v>Liquidity</c:v>
                </c:pt>
                <c:pt idx="3">
                  <c:v>Profitability</c:v>
                </c:pt>
                <c:pt idx="4">
                  <c:v>Shareholder</c:v>
                </c:pt>
              </c:strCache>
            </c:strRef>
          </c:cat>
          <c:val>
            <c:numRef>
              <c:f>Sheet1!$B$2:$B$6</c:f>
              <c:numCache>
                <c:formatCode>General</c:formatCode>
                <c:ptCount val="5"/>
                <c:pt idx="0">
                  <c:v>0.0</c:v>
                </c:pt>
                <c:pt idx="1">
                  <c:v>0.0</c:v>
                </c:pt>
                <c:pt idx="2">
                  <c:v>50.0</c:v>
                </c:pt>
                <c:pt idx="3">
                  <c:v>0.0</c:v>
                </c:pt>
                <c:pt idx="4">
                  <c:v>100.0</c:v>
                </c:pt>
              </c:numCache>
            </c:numRef>
          </c:val>
        </c:ser>
        <c:ser>
          <c:idx val="1"/>
          <c:order val="1"/>
          <c:tx>
            <c:strRef>
              <c:f>Sheet1!$C$1</c:f>
              <c:strCache>
                <c:ptCount val="1"/>
                <c:pt idx="0">
                  <c:v>FinQA-7B</c:v>
                </c:pt>
              </c:strCache>
            </c:strRef>
          </c:tx>
          <c:spPr>
            <a:solidFill>
              <a:srgbClr val="2EA04E"/>
            </a:solidFill>
          </c:spPr>
          <c:cat>
            <c:strRef>
              <c:f>Sheet1!$A$2:$A$6</c:f>
              <c:strCache>
                <c:ptCount val="5"/>
                <c:pt idx="0">
                  <c:v>Efficiency</c:v>
                </c:pt>
                <c:pt idx="1">
                  <c:v>Leverage</c:v>
                </c:pt>
                <c:pt idx="2">
                  <c:v>Liquidity</c:v>
                </c:pt>
                <c:pt idx="3">
                  <c:v>Profitability</c:v>
                </c:pt>
                <c:pt idx="4">
                  <c:v>Shareholder</c:v>
                </c:pt>
              </c:strCache>
            </c:strRef>
          </c:cat>
          <c:val>
            <c:numRef>
              <c:f>Sheet1!$C$2:$C$6</c:f>
              <c:numCache>
                <c:formatCode>General</c:formatCode>
                <c:ptCount val="5"/>
                <c:pt idx="0">
                  <c:v>0.0</c:v>
                </c:pt>
                <c:pt idx="1">
                  <c:v>50.0</c:v>
                </c:pt>
                <c:pt idx="2">
                  <c:v>50.0</c:v>
                </c:pt>
                <c:pt idx="3">
                  <c:v>0.0</c:v>
                </c:pt>
                <c:pt idx="4">
                  <c:v>100.0</c:v>
                </c:pt>
              </c:numCache>
            </c:numRef>
          </c:val>
        </c:ser>
        <c:ser>
          <c:idx val="2"/>
          <c:order val="2"/>
          <c:tx>
            <c:strRef>
              <c:f>Sheet1!$D$1</c:f>
              <c:strCache>
                <c:ptCount val="1"/>
                <c:pt idx="0">
                  <c:v>Llama2-7B + RAG</c:v>
                </c:pt>
              </c:strCache>
            </c:strRef>
          </c:tx>
          <c:spPr>
            <a:solidFill>
              <a:srgbClr val="428BCA"/>
            </a:solidFill>
          </c:spPr>
          <c:cat>
            <c:strRef>
              <c:f>Sheet1!$A$2:$A$6</c:f>
              <c:strCache>
                <c:ptCount val="5"/>
                <c:pt idx="0">
                  <c:v>Efficiency</c:v>
                </c:pt>
                <c:pt idx="1">
                  <c:v>Leverage</c:v>
                </c:pt>
                <c:pt idx="2">
                  <c:v>Liquidity</c:v>
                </c:pt>
                <c:pt idx="3">
                  <c:v>Profitability</c:v>
                </c:pt>
                <c:pt idx="4">
                  <c:v>Shareholder</c:v>
                </c:pt>
              </c:strCache>
            </c:strRef>
          </c:cat>
          <c:val>
            <c:numRef>
              <c:f>Sheet1!$D$2:$D$6</c:f>
              <c:numCache>
                <c:formatCode>General</c:formatCode>
                <c:ptCount val="5"/>
                <c:pt idx="0">
                  <c:v>0.0</c:v>
                </c:pt>
                <c:pt idx="1">
                  <c:v>50.0</c:v>
                </c:pt>
                <c:pt idx="2">
                  <c:v>0.0</c:v>
                </c:pt>
                <c:pt idx="3">
                  <c:v>0.0</c:v>
                </c:pt>
                <c:pt idx="4">
                  <c:v>0.0</c:v>
                </c:pt>
              </c:numCache>
            </c:numRef>
          </c:val>
        </c:ser>
        <c:ser>
          <c:idx val="3"/>
          <c:order val="3"/>
          <c:tx>
            <c:strRef>
              <c:f>Sheet1!$E$1</c:f>
              <c:strCache>
                <c:ptCount val="1"/>
                <c:pt idx="0">
                  <c:v>FinQA-7B + RAG</c:v>
                </c:pt>
              </c:strCache>
            </c:strRef>
          </c:tx>
          <c:spPr>
            <a:solidFill>
              <a:srgbClr val="F09319"/>
            </a:solidFill>
          </c:spPr>
          <c:cat>
            <c:strRef>
              <c:f>Sheet1!$A$2:$A$6</c:f>
              <c:strCache>
                <c:ptCount val="5"/>
                <c:pt idx="0">
                  <c:v>Efficiency</c:v>
                </c:pt>
                <c:pt idx="1">
                  <c:v>Leverage</c:v>
                </c:pt>
                <c:pt idx="2">
                  <c:v>Liquidity</c:v>
                </c:pt>
                <c:pt idx="3">
                  <c:v>Profitability</c:v>
                </c:pt>
                <c:pt idx="4">
                  <c:v>Shareholder</c:v>
                </c:pt>
              </c:strCache>
            </c:strRef>
          </c:cat>
          <c:val>
            <c:numRef>
              <c:f>Sheet1!$E$2:$E$6</c:f>
              <c:numCache>
                <c:formatCode>General</c:formatCode>
                <c:ptCount val="5"/>
                <c:pt idx="0">
                  <c:v>0.0</c:v>
                </c:pt>
                <c:pt idx="1">
                  <c:v>50.0</c:v>
                </c:pt>
                <c:pt idx="2">
                  <c:v>50.0</c:v>
                </c:pt>
                <c:pt idx="3">
                  <c:v>0.0</c:v>
                </c:pt>
                <c:pt idx="4">
                  <c:v>0.0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Accuracy Comparison</a:t>
            </a:r>
          </a:p>
        </c:rich>
      </c:tx>
      <c:layout/>
      <c:overlay val="0"/>
    </c:title>
    <c:autoTitleDeleted val="0"/>
    <c:plotArea>
      <c:barChart>
        <c:barDir val="col"/>
        <c:grouping val="clustered"/>
        <c:ser>
          <c:idx val="0"/>
          <c:order val="0"/>
          <c:tx>
            <c:strRef>
              <c:f>Sheet1!$B$1</c:f>
              <c:strCache>
                <c:ptCount val="1"/>
                <c:pt idx="0">
                  <c:v>Base DistilBERT</c:v>
                </c:pt>
              </c:strCache>
            </c:strRef>
          </c:tx>
          <c:spPr>
            <a:solidFill>
              <a:srgbClr val="E84D4D"/>
            </a:solidFill>
          </c:spPr>
          <c:cat>
            <c:strRef>
              <c:f>Sheet1!$A$2:$A$2</c:f>
              <c:strCache>
                <c:ptCount val="1"/>
                <c:pt idx="0">
                  <c:v>Accuracy (%)</c:v>
                </c:pt>
              </c:strCache>
            </c:strRef>
          </c:cat>
          <c:val>
            <c:numRef>
              <c:f>Sheet1!$B$2:$B$2</c:f>
              <c:numCache>
                <c:formatCode>General</c:formatCode>
                <c:ptCount val="1"/>
                <c:pt idx="0">
                  <c:v>85.0</c:v>
                </c:pt>
              </c:numCache>
            </c:numRef>
          </c:val>
        </c:ser>
        <c:ser>
          <c:idx val="1"/>
          <c:order val="1"/>
          <c:tx>
            <c:strRef>
              <c:f>Sheet1!$C$1</c:f>
              <c:strCache>
                <c:ptCount val="1"/>
                <c:pt idx="0">
                  <c:v>Fine-tuned (spam-trained)</c:v>
                </c:pt>
              </c:strCache>
            </c:strRef>
          </c:tx>
          <c:spPr>
            <a:solidFill>
              <a:srgbClr val="2EA04E"/>
            </a:solidFill>
          </c:spPr>
          <c:cat>
            <c:strRef>
              <c:f>Sheet1!$A$2:$A$2</c:f>
              <c:strCache>
                <c:ptCount val="1"/>
                <c:pt idx="0">
                  <c:v>Accuracy (%)</c:v>
                </c:pt>
              </c:strCache>
            </c:strRef>
          </c:cat>
          <c:val>
            <c:numRef>
              <c:f>Sheet1!$C$2:$C$2</c:f>
              <c:numCache>
                <c:formatCode>General</c:formatCode>
                <c:ptCount val="1"/>
                <c:pt idx="0">
                  <c:v>95.0</c:v>
                </c:pt>
              </c:numCache>
            </c:numRef>
          </c:val>
        </c:ser>
        <c:ser>
          <c:idx val="2"/>
          <c:order val="2"/>
          <c:tx>
            <c:strRef>
              <c:f>Sheet1!$D$1</c:f>
              <c:strCache>
                <c:ptCount val="1"/>
                <c:pt idx="0">
                  <c:v>DistilBERT + RAG</c:v>
                </c:pt>
              </c:strCache>
            </c:strRef>
          </c:tx>
          <c:spPr>
            <a:solidFill>
              <a:srgbClr val="428BCA"/>
            </a:solidFill>
          </c:spPr>
          <c:cat>
            <c:strRef>
              <c:f>Sheet1!$A$2:$A$2</c:f>
              <c:strCache>
                <c:ptCount val="1"/>
                <c:pt idx="0">
                  <c:v>Accuracy (%)</c:v>
                </c:pt>
              </c:strCache>
            </c:strRef>
          </c:cat>
          <c:val>
            <c:numRef>
              <c:f>Sheet1!$D$2:$D$2</c:f>
              <c:numCache>
                <c:formatCode>General</c:formatCode>
                <c:ptCount val="1"/>
                <c:pt idx="0">
                  <c:v>90.0</c:v>
                </c:pt>
              </c:numCache>
            </c:numRef>
          </c:val>
        </c:ser>
        <c:ser>
          <c:idx val="3"/>
          <c:order val="3"/>
          <c:tx>
            <c:strRef>
              <c:f>Sheet1!$E$1</c:f>
              <c:strCache>
                <c:ptCount val="1"/>
                <c:pt idx="0">
                  <c:v>Fine-tuned + RAG (hybrid)</c:v>
                </c:pt>
              </c:strCache>
            </c:strRef>
          </c:tx>
          <c:spPr>
            <a:solidFill>
              <a:srgbClr val="F09319"/>
            </a:solidFill>
          </c:spPr>
          <c:cat>
            <c:strRef>
              <c:f>Sheet1!$A$2:$A$2</c:f>
              <c:strCache>
                <c:ptCount val="1"/>
                <c:pt idx="0">
                  <c:v>Accuracy (%)</c:v>
                </c:pt>
              </c:strCache>
            </c:strRef>
          </c:cat>
          <c:val>
            <c:numRef>
              <c:f>Sheet1!$E$2:$E$2</c:f>
              <c:numCache>
                <c:formatCode>General</c:formatCode>
                <c:ptCount val="1"/>
                <c:pt idx="0">
                  <c:v>95.0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Avg Latency (ms)</a:t>
            </a:r>
          </a:p>
        </c:rich>
      </c:tx>
      <c:layout/>
      <c:overlay val="0"/>
    </c:title>
    <c:autoTitleDeleted val="0"/>
    <c:plotArea>
      <c:barChart>
        <c:barDir val="col"/>
        <c:grouping val="clustered"/>
        <c:ser>
          <c:idx val="0"/>
          <c:order val="0"/>
          <c:tx>
            <c:strRef>
              <c:f>Sheet1!$B$1</c:f>
              <c:strCache>
                <c:ptCount val="1"/>
                <c:pt idx="0">
                  <c:v>Base DistilBERT</c:v>
                </c:pt>
              </c:strCache>
            </c:strRef>
          </c:tx>
          <c:spPr>
            <a:solidFill>
              <a:srgbClr val="E84D4D"/>
            </a:solidFill>
          </c:spPr>
          <c:cat>
            <c:strRef>
              <c:f>Sheet1!$A$2:$A$2</c:f>
              <c:strCache>
                <c:ptCount val="1"/>
                <c:pt idx="0">
                  <c:v>Avg Latency (ms)</c:v>
                </c:pt>
              </c:strCache>
            </c:strRef>
          </c:cat>
          <c:val>
            <c:numRef>
              <c:f>Sheet1!$B$2:$B$2</c:f>
              <c:numCache>
                <c:formatCode>General</c:formatCode>
                <c:ptCount val="1"/>
                <c:pt idx="0">
                  <c:v>33.4</c:v>
                </c:pt>
              </c:numCache>
            </c:numRef>
          </c:val>
        </c:ser>
        <c:ser>
          <c:idx val="1"/>
          <c:order val="1"/>
          <c:tx>
            <c:strRef>
              <c:f>Sheet1!$C$1</c:f>
              <c:strCache>
                <c:ptCount val="1"/>
                <c:pt idx="0">
                  <c:v>Fine-tuned (spam-trained)</c:v>
                </c:pt>
              </c:strCache>
            </c:strRef>
          </c:tx>
          <c:spPr>
            <a:solidFill>
              <a:srgbClr val="2EA04E"/>
            </a:solidFill>
          </c:spPr>
          <c:cat>
            <c:strRef>
              <c:f>Sheet1!$A$2:$A$2</c:f>
              <c:strCache>
                <c:ptCount val="1"/>
                <c:pt idx="0">
                  <c:v>Avg Latency (ms)</c:v>
                </c:pt>
              </c:strCache>
            </c:strRef>
          </c:cat>
          <c:val>
            <c:numRef>
              <c:f>Sheet1!$C$2:$C$2</c:f>
              <c:numCache>
                <c:formatCode>General</c:formatCode>
                <c:ptCount val="1"/>
                <c:pt idx="0">
                  <c:v>194.1</c:v>
                </c:pt>
              </c:numCache>
            </c:numRef>
          </c:val>
        </c:ser>
        <c:ser>
          <c:idx val="2"/>
          <c:order val="2"/>
          <c:tx>
            <c:strRef>
              <c:f>Sheet1!$D$1</c:f>
              <c:strCache>
                <c:ptCount val="1"/>
                <c:pt idx="0">
                  <c:v>DistilBERT + RAG</c:v>
                </c:pt>
              </c:strCache>
            </c:strRef>
          </c:tx>
          <c:spPr>
            <a:solidFill>
              <a:srgbClr val="428BCA"/>
            </a:solidFill>
          </c:spPr>
          <c:cat>
            <c:strRef>
              <c:f>Sheet1!$A$2:$A$2</c:f>
              <c:strCache>
                <c:ptCount val="1"/>
                <c:pt idx="0">
                  <c:v>Avg Latency (ms)</c:v>
                </c:pt>
              </c:strCache>
            </c:strRef>
          </c:cat>
          <c:val>
            <c:numRef>
              <c:f>Sheet1!$D$2:$D$2</c:f>
              <c:numCache>
                <c:formatCode>General</c:formatCode>
                <c:ptCount val="1"/>
                <c:pt idx="0">
                  <c:v>34.0</c:v>
                </c:pt>
              </c:numCache>
            </c:numRef>
          </c:val>
        </c:ser>
        <c:ser>
          <c:idx val="3"/>
          <c:order val="3"/>
          <c:tx>
            <c:strRef>
              <c:f>Sheet1!$E$1</c:f>
              <c:strCache>
                <c:ptCount val="1"/>
                <c:pt idx="0">
                  <c:v>Fine-tuned + RAG (hybrid)</c:v>
                </c:pt>
              </c:strCache>
            </c:strRef>
          </c:tx>
          <c:spPr>
            <a:solidFill>
              <a:srgbClr val="F09319"/>
            </a:solidFill>
          </c:spPr>
          <c:cat>
            <c:strRef>
              <c:f>Sheet1!$A$2:$A$2</c:f>
              <c:strCache>
                <c:ptCount val="1"/>
                <c:pt idx="0">
                  <c:v>Avg Latency (ms)</c:v>
                </c:pt>
              </c:strCache>
            </c:strRef>
          </c:cat>
          <c:val>
            <c:numRef>
              <c:f>Sheet1!$E$2:$E$2</c:f>
              <c:numCache>
                <c:formatCode>General</c:formatCode>
                <c:ptCount val="1"/>
                <c:pt idx="0">
                  <c:v>228.9</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Avg Tokens per Query</a:t>
            </a:r>
          </a:p>
        </c:rich>
      </c:tx>
      <c:layout/>
      <c:overlay val="0"/>
    </c:title>
    <c:autoTitleDeleted val="0"/>
    <c:plotArea>
      <c:barChart>
        <c:barDir val="col"/>
        <c:grouping val="clustered"/>
        <c:ser>
          <c:idx val="0"/>
          <c:order val="0"/>
          <c:tx>
            <c:strRef>
              <c:f>Sheet1!$B$1</c:f>
              <c:strCache>
                <c:ptCount val="1"/>
                <c:pt idx="0">
                  <c:v>Base DistilBERT</c:v>
                </c:pt>
              </c:strCache>
            </c:strRef>
          </c:tx>
          <c:spPr>
            <a:solidFill>
              <a:srgbClr val="E84D4D"/>
            </a:solidFill>
          </c:spPr>
          <c:cat>
            <c:strRef>
              <c:f>Sheet1!$A$2:$A$2</c:f>
              <c:strCache>
                <c:ptCount val="1"/>
                <c:pt idx="0">
                  <c:v>Avg Tokens/Query</c:v>
                </c:pt>
              </c:strCache>
            </c:strRef>
          </c:cat>
          <c:val>
            <c:numRef>
              <c:f>Sheet1!$B$2:$B$2</c:f>
              <c:numCache>
                <c:formatCode>General</c:formatCode>
                <c:ptCount val="1"/>
                <c:pt idx="0">
                  <c:v>39</c:v>
                </c:pt>
              </c:numCache>
            </c:numRef>
          </c:val>
        </c:ser>
        <c:ser>
          <c:idx val="1"/>
          <c:order val="1"/>
          <c:tx>
            <c:strRef>
              <c:f>Sheet1!$C$1</c:f>
              <c:strCache>
                <c:ptCount val="1"/>
                <c:pt idx="0">
                  <c:v>Fine-tuned</c:v>
                </c:pt>
              </c:strCache>
            </c:strRef>
          </c:tx>
          <c:spPr>
            <a:solidFill>
              <a:srgbClr val="2EA04E"/>
            </a:solidFill>
          </c:spPr>
          <c:cat>
            <c:strRef>
              <c:f>Sheet1!$A$2:$A$2</c:f>
              <c:strCache>
                <c:ptCount val="1"/>
                <c:pt idx="0">
                  <c:v>Avg Tokens/Query</c:v>
                </c:pt>
              </c:strCache>
            </c:strRef>
          </c:cat>
          <c:val>
            <c:numRef>
              <c:f>Sheet1!$C$2:$C$2</c:f>
              <c:numCache>
                <c:formatCode>General</c:formatCode>
                <c:ptCount val="1"/>
                <c:pt idx="0">
                  <c:v>512</c:v>
                </c:pt>
              </c:numCache>
            </c:numRef>
          </c:val>
        </c:ser>
        <c:ser>
          <c:idx val="2"/>
          <c:order val="2"/>
          <c:tx>
            <c:strRef>
              <c:f>Sheet1!$D$1</c:f>
              <c:strCache>
                <c:ptCount val="1"/>
                <c:pt idx="0">
                  <c:v>DistilBERT + RAG</c:v>
                </c:pt>
              </c:strCache>
            </c:strRef>
          </c:tx>
          <c:spPr>
            <a:solidFill>
              <a:srgbClr val="428BCA"/>
            </a:solidFill>
          </c:spPr>
          <c:cat>
            <c:strRef>
              <c:f>Sheet1!$A$2:$A$2</c:f>
              <c:strCache>
                <c:ptCount val="1"/>
                <c:pt idx="0">
                  <c:v>Avg Tokens/Query</c:v>
                </c:pt>
              </c:strCache>
            </c:strRef>
          </c:cat>
          <c:val>
            <c:numRef>
              <c:f>Sheet1!$D$2:$D$2</c:f>
              <c:numCache>
                <c:formatCode>General</c:formatCode>
                <c:ptCount val="1"/>
                <c:pt idx="0">
                  <c:v>114</c:v>
                </c:pt>
              </c:numCache>
            </c:numRef>
          </c:val>
        </c:ser>
        <c:ser>
          <c:idx val="3"/>
          <c:order val="3"/>
          <c:tx>
            <c:strRef>
              <c:f>Sheet1!$E$1</c:f>
              <c:strCache>
                <c:ptCount val="1"/>
                <c:pt idx="0">
                  <c:v>Fine-tuned + RAG</c:v>
                </c:pt>
              </c:strCache>
            </c:strRef>
          </c:tx>
          <c:spPr>
            <a:solidFill>
              <a:srgbClr val="F09319"/>
            </a:solidFill>
          </c:spPr>
          <c:cat>
            <c:strRef>
              <c:f>Sheet1!$A$2:$A$2</c:f>
              <c:strCache>
                <c:ptCount val="1"/>
                <c:pt idx="0">
                  <c:v>Avg Tokens/Query</c:v>
                </c:pt>
              </c:strCache>
            </c:strRef>
          </c:cat>
          <c:val>
            <c:numRef>
              <c:f>Sheet1!$E$2:$E$2</c:f>
              <c:numCache>
                <c:formatCode>General</c:formatCode>
                <c:ptCount val="1"/>
                <c:pt idx="0">
                  <c:v>626</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Cost per 1K Queries ($)</a:t>
            </a:r>
          </a:p>
        </c:rich>
      </c:tx>
      <c:layout/>
      <c:overlay val="0"/>
    </c:title>
    <c:autoTitleDeleted val="0"/>
    <c:plotArea>
      <c:barChart>
        <c:barDir val="col"/>
        <c:grouping val="clustered"/>
        <c:ser>
          <c:idx val="0"/>
          <c:order val="0"/>
          <c:tx>
            <c:strRef>
              <c:f>Sheet1!$B$1</c:f>
              <c:strCache>
                <c:ptCount val="1"/>
                <c:pt idx="0">
                  <c:v>Base DistilBERT</c:v>
                </c:pt>
              </c:strCache>
            </c:strRef>
          </c:tx>
          <c:spPr>
            <a:solidFill>
              <a:srgbClr val="E84D4D"/>
            </a:solidFill>
          </c:spPr>
          <c:cat>
            <c:strRef>
              <c:f>Sheet1!$A$2:$A$2</c:f>
              <c:strCache>
                <c:ptCount val="1"/>
                <c:pt idx="0">
                  <c:v>Cost per 1K Queries ($)</c:v>
                </c:pt>
              </c:strCache>
            </c:strRef>
          </c:cat>
          <c:val>
            <c:numRef>
              <c:f>Sheet1!$B$2:$B$2</c:f>
              <c:numCache>
                <c:formatCode>General</c:formatCode>
                <c:ptCount val="1"/>
                <c:pt idx="0">
                  <c:v>0.0004</c:v>
                </c:pt>
              </c:numCache>
            </c:numRef>
          </c:val>
        </c:ser>
        <c:ser>
          <c:idx val="1"/>
          <c:order val="1"/>
          <c:tx>
            <c:strRef>
              <c:f>Sheet1!$C$1</c:f>
              <c:strCache>
                <c:ptCount val="1"/>
                <c:pt idx="0">
                  <c:v>Fine-tuned</c:v>
                </c:pt>
              </c:strCache>
            </c:strRef>
          </c:tx>
          <c:spPr>
            <a:solidFill>
              <a:srgbClr val="2EA04E"/>
            </a:solidFill>
          </c:spPr>
          <c:cat>
            <c:strRef>
              <c:f>Sheet1!$A$2:$A$2</c:f>
              <c:strCache>
                <c:ptCount val="1"/>
                <c:pt idx="0">
                  <c:v>Cost per 1K Queries ($)</c:v>
                </c:pt>
              </c:strCache>
            </c:strRef>
          </c:cat>
          <c:val>
            <c:numRef>
              <c:f>Sheet1!$C$2:$C$2</c:f>
              <c:numCache>
                <c:formatCode>General</c:formatCode>
                <c:ptCount val="1"/>
                <c:pt idx="0">
                  <c:v>0.0051</c:v>
                </c:pt>
              </c:numCache>
            </c:numRef>
          </c:val>
        </c:ser>
        <c:ser>
          <c:idx val="2"/>
          <c:order val="2"/>
          <c:tx>
            <c:strRef>
              <c:f>Sheet1!$D$1</c:f>
              <c:strCache>
                <c:ptCount val="1"/>
                <c:pt idx="0">
                  <c:v>DistilBERT + RAG</c:v>
                </c:pt>
              </c:strCache>
            </c:strRef>
          </c:tx>
          <c:spPr>
            <a:solidFill>
              <a:srgbClr val="428BCA"/>
            </a:solidFill>
          </c:spPr>
          <c:cat>
            <c:strRef>
              <c:f>Sheet1!$A$2:$A$2</c:f>
              <c:strCache>
                <c:ptCount val="1"/>
                <c:pt idx="0">
                  <c:v>Cost per 1K Queries ($)</c:v>
                </c:pt>
              </c:strCache>
            </c:strRef>
          </c:cat>
          <c:val>
            <c:numRef>
              <c:f>Sheet1!$D$2:$D$2</c:f>
              <c:numCache>
                <c:formatCode>General</c:formatCode>
                <c:ptCount val="1"/>
                <c:pt idx="0">
                  <c:v>0.0011</c:v>
                </c:pt>
              </c:numCache>
            </c:numRef>
          </c:val>
        </c:ser>
        <c:ser>
          <c:idx val="3"/>
          <c:order val="3"/>
          <c:tx>
            <c:strRef>
              <c:f>Sheet1!$E$1</c:f>
              <c:strCache>
                <c:ptCount val="1"/>
                <c:pt idx="0">
                  <c:v>Fine-tuned + RAG</c:v>
                </c:pt>
              </c:strCache>
            </c:strRef>
          </c:tx>
          <c:spPr>
            <a:solidFill>
              <a:srgbClr val="F09319"/>
            </a:solidFill>
          </c:spPr>
          <c:cat>
            <c:strRef>
              <c:f>Sheet1!$A$2:$A$2</c:f>
              <c:strCache>
                <c:ptCount val="1"/>
                <c:pt idx="0">
                  <c:v>Cost per 1K Queries ($)</c:v>
                </c:pt>
              </c:strCache>
            </c:strRef>
          </c:cat>
          <c:val>
            <c:numRef>
              <c:f>Sheet1!$E$2:$E$2</c:f>
              <c:numCache>
                <c:formatCode>General</c:formatCode>
                <c:ptCount val="1"/>
                <c:pt idx="0">
                  <c:v>0.0063</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F1 Score (Macro Average)</a:t>
            </a:r>
          </a:p>
        </c:rich>
      </c:tx>
      <c:layout/>
      <c:overlay val="0"/>
    </c:title>
    <c:autoTitleDeleted val="0"/>
    <c:plotArea>
      <c:barChart>
        <c:barDir val="col"/>
        <c:grouping val="clustered"/>
        <c:ser>
          <c:idx val="0"/>
          <c:order val="0"/>
          <c:tx>
            <c:strRef>
              <c:f>Sheet1!$B$1</c:f>
              <c:strCache>
                <c:ptCount val="1"/>
                <c:pt idx="0">
                  <c:v>Base DistilBERT</c:v>
                </c:pt>
              </c:strCache>
            </c:strRef>
          </c:tx>
          <c:spPr>
            <a:solidFill>
              <a:srgbClr val="E84D4D"/>
            </a:solidFill>
          </c:spPr>
          <c:cat>
            <c:strRef>
              <c:f>Sheet1!$A$2:$A$2</c:f>
              <c:strCache>
                <c:ptCount val="1"/>
                <c:pt idx="0">
                  <c:v>F1 Macro</c:v>
                </c:pt>
              </c:strCache>
            </c:strRef>
          </c:cat>
          <c:val>
            <c:numRef>
              <c:f>Sheet1!$B$2:$B$2</c:f>
              <c:numCache>
                <c:formatCode>General</c:formatCode>
                <c:ptCount val="1"/>
                <c:pt idx="0">
                  <c:v>0.849</c:v>
                </c:pt>
              </c:numCache>
            </c:numRef>
          </c:val>
        </c:ser>
        <c:ser>
          <c:idx val="1"/>
          <c:order val="1"/>
          <c:tx>
            <c:strRef>
              <c:f>Sheet1!$C$1</c:f>
              <c:strCache>
                <c:ptCount val="1"/>
                <c:pt idx="0">
                  <c:v>Fine-tuned</c:v>
                </c:pt>
              </c:strCache>
            </c:strRef>
          </c:tx>
          <c:spPr>
            <a:solidFill>
              <a:srgbClr val="2EA04E"/>
            </a:solidFill>
          </c:spPr>
          <c:cat>
            <c:strRef>
              <c:f>Sheet1!$A$2:$A$2</c:f>
              <c:strCache>
                <c:ptCount val="1"/>
                <c:pt idx="0">
                  <c:v>F1 Macro</c:v>
                </c:pt>
              </c:strCache>
            </c:strRef>
          </c:cat>
          <c:val>
            <c:numRef>
              <c:f>Sheet1!$C$2:$C$2</c:f>
              <c:numCache>
                <c:formatCode>General</c:formatCode>
                <c:ptCount val="1"/>
                <c:pt idx="0">
                  <c:v>0.95</c:v>
                </c:pt>
              </c:numCache>
            </c:numRef>
          </c:val>
        </c:ser>
        <c:ser>
          <c:idx val="2"/>
          <c:order val="2"/>
          <c:tx>
            <c:strRef>
              <c:f>Sheet1!$D$1</c:f>
              <c:strCache>
                <c:ptCount val="1"/>
                <c:pt idx="0">
                  <c:v>DistilBERT + RAG</c:v>
                </c:pt>
              </c:strCache>
            </c:strRef>
          </c:tx>
          <c:spPr>
            <a:solidFill>
              <a:srgbClr val="428BCA"/>
            </a:solidFill>
          </c:spPr>
          <c:cat>
            <c:strRef>
              <c:f>Sheet1!$A$2:$A$2</c:f>
              <c:strCache>
                <c:ptCount val="1"/>
                <c:pt idx="0">
                  <c:v>F1 Macro</c:v>
                </c:pt>
              </c:strCache>
            </c:strRef>
          </c:cat>
          <c:val>
            <c:numRef>
              <c:f>Sheet1!$D$2:$D$2</c:f>
              <c:numCache>
                <c:formatCode>General</c:formatCode>
                <c:ptCount val="1"/>
                <c:pt idx="0">
                  <c:v>0.899</c:v>
                </c:pt>
              </c:numCache>
            </c:numRef>
          </c:val>
        </c:ser>
        <c:ser>
          <c:idx val="3"/>
          <c:order val="3"/>
          <c:tx>
            <c:strRef>
              <c:f>Sheet1!$E$1</c:f>
              <c:strCache>
                <c:ptCount val="1"/>
                <c:pt idx="0">
                  <c:v>Fine-tuned + RAG</c:v>
                </c:pt>
              </c:strCache>
            </c:strRef>
          </c:tx>
          <c:spPr>
            <a:solidFill>
              <a:srgbClr val="F09319"/>
            </a:solidFill>
          </c:spPr>
          <c:cat>
            <c:strRef>
              <c:f>Sheet1!$A$2:$A$2</c:f>
              <c:strCache>
                <c:ptCount val="1"/>
                <c:pt idx="0">
                  <c:v>F1 Macro</c:v>
                </c:pt>
              </c:strCache>
            </c:strRef>
          </c:cat>
          <c:val>
            <c:numRef>
              <c:f>Sheet1!$E$2:$E$2</c:f>
              <c:numCache>
                <c:formatCode>General</c:formatCode>
                <c:ptCount val="1"/>
                <c:pt idx="0">
                  <c:v>0.95</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Average Confidence Score</a:t>
            </a:r>
          </a:p>
        </c:rich>
      </c:tx>
      <c:layout/>
      <c:overlay val="0"/>
    </c:title>
    <c:autoTitleDeleted val="0"/>
    <c:plotArea>
      <c:barChart>
        <c:barDir val="col"/>
        <c:grouping val="clustered"/>
        <c:ser>
          <c:idx val="0"/>
          <c:order val="0"/>
          <c:tx>
            <c:strRef>
              <c:f>Sheet1!$B$1</c:f>
              <c:strCache>
                <c:ptCount val="1"/>
                <c:pt idx="0">
                  <c:v>Base DistilBERT</c:v>
                </c:pt>
              </c:strCache>
            </c:strRef>
          </c:tx>
          <c:spPr>
            <a:solidFill>
              <a:srgbClr val="E84D4D"/>
            </a:solidFill>
          </c:spPr>
          <c:cat>
            <c:strRef>
              <c:f>Sheet1!$A$2:$A$2</c:f>
              <c:strCache>
                <c:ptCount val="1"/>
                <c:pt idx="0">
                  <c:v>Avg Confidence</c:v>
                </c:pt>
              </c:strCache>
            </c:strRef>
          </c:cat>
          <c:val>
            <c:numRef>
              <c:f>Sheet1!$B$2:$B$2</c:f>
              <c:numCache>
                <c:formatCode>General</c:formatCode>
                <c:ptCount val="1"/>
                <c:pt idx="0">
                  <c:v>0.539</c:v>
                </c:pt>
              </c:numCache>
            </c:numRef>
          </c:val>
        </c:ser>
        <c:ser>
          <c:idx val="1"/>
          <c:order val="1"/>
          <c:tx>
            <c:strRef>
              <c:f>Sheet1!$C$1</c:f>
              <c:strCache>
                <c:ptCount val="1"/>
                <c:pt idx="0">
                  <c:v>Fine-tuned (spam-trained)</c:v>
                </c:pt>
              </c:strCache>
            </c:strRef>
          </c:tx>
          <c:spPr>
            <a:solidFill>
              <a:srgbClr val="2EA04E"/>
            </a:solidFill>
          </c:spPr>
          <c:cat>
            <c:strRef>
              <c:f>Sheet1!$A$2:$A$2</c:f>
              <c:strCache>
                <c:ptCount val="1"/>
                <c:pt idx="0">
                  <c:v>Avg Confidence</c:v>
                </c:pt>
              </c:strCache>
            </c:strRef>
          </c:cat>
          <c:val>
            <c:numRef>
              <c:f>Sheet1!$C$2:$C$2</c:f>
              <c:numCache>
                <c:formatCode>General</c:formatCode>
                <c:ptCount val="1"/>
                <c:pt idx="0">
                  <c:v>0.963</c:v>
                </c:pt>
              </c:numCache>
            </c:numRef>
          </c:val>
        </c:ser>
        <c:ser>
          <c:idx val="2"/>
          <c:order val="2"/>
          <c:tx>
            <c:strRef>
              <c:f>Sheet1!$D$1</c:f>
              <c:strCache>
                <c:ptCount val="1"/>
                <c:pt idx="0">
                  <c:v>DistilBERT + RAG</c:v>
                </c:pt>
              </c:strCache>
            </c:strRef>
          </c:tx>
          <c:spPr>
            <a:solidFill>
              <a:srgbClr val="428BCA"/>
            </a:solidFill>
          </c:spPr>
          <c:cat>
            <c:strRef>
              <c:f>Sheet1!$A$2:$A$2</c:f>
              <c:strCache>
                <c:ptCount val="1"/>
                <c:pt idx="0">
                  <c:v>Avg Confidence</c:v>
                </c:pt>
              </c:strCache>
            </c:strRef>
          </c:cat>
          <c:val>
            <c:numRef>
              <c:f>Sheet1!$D$2:$D$2</c:f>
              <c:numCache>
                <c:formatCode>General</c:formatCode>
                <c:ptCount val="1"/>
                <c:pt idx="0">
                  <c:v>0.682</c:v>
                </c:pt>
              </c:numCache>
            </c:numRef>
          </c:val>
        </c:ser>
        <c:ser>
          <c:idx val="3"/>
          <c:order val="3"/>
          <c:tx>
            <c:strRef>
              <c:f>Sheet1!$E$1</c:f>
              <c:strCache>
                <c:ptCount val="1"/>
                <c:pt idx="0">
                  <c:v>Fine-tuned + RAG (hybrid)</c:v>
                </c:pt>
              </c:strCache>
            </c:strRef>
          </c:tx>
          <c:spPr>
            <a:solidFill>
              <a:srgbClr val="F09319"/>
            </a:solidFill>
          </c:spPr>
          <c:cat>
            <c:strRef>
              <c:f>Sheet1!$A$2:$A$2</c:f>
              <c:strCache>
                <c:ptCount val="1"/>
                <c:pt idx="0">
                  <c:v>Avg Confidence</c:v>
                </c:pt>
              </c:strCache>
            </c:strRef>
          </c:cat>
          <c:val>
            <c:numRef>
              <c:f>Sheet1!$E$2:$E$2</c:f>
              <c:numCache>
                <c:formatCode>General</c:formatCode>
                <c:ptCount val="1"/>
                <c:pt idx="0">
                  <c:v>0.846</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Accuracy by Category</a:t>
            </a:r>
          </a:p>
        </c:rich>
      </c:tx>
      <c:layout/>
      <c:overlay val="0"/>
    </c:title>
    <c:autoTitleDeleted val="0"/>
    <c:plotArea>
      <c:barChart>
        <c:barDir val="col"/>
        <c:grouping val="clustered"/>
        <c:ser>
          <c:idx val="0"/>
          <c:order val="0"/>
          <c:tx>
            <c:strRef>
              <c:f>Sheet1!$B$1</c:f>
              <c:strCache>
                <c:ptCount val="1"/>
                <c:pt idx="0">
                  <c:v>Base DistilBERT</c:v>
                </c:pt>
              </c:strCache>
            </c:strRef>
          </c:tx>
          <c:spPr>
            <a:solidFill>
              <a:srgbClr val="E84D4D"/>
            </a:solidFill>
          </c:spPr>
          <c:cat>
            <c:strRef>
              <c:f>Sheet1!$A$2:$A$7</c:f>
              <c:strCache>
                <c:ptCount val="6"/>
                <c:pt idx="0">
                  <c:v>Business</c:v>
                </c:pt>
                <c:pt idx="1">
                  <c:v>Newsletter</c:v>
                </c:pt>
                <c:pt idx="2">
                  <c:v>Notification</c:v>
                </c:pt>
                <c:pt idx="3">
                  <c:v>Obvious Spam</c:v>
                </c:pt>
                <c:pt idx="4">
                  <c:v>Phishing</c:v>
                </c:pt>
                <c:pt idx="5">
                  <c:v>Scam</c:v>
                </c:pt>
              </c:strCache>
            </c:strRef>
          </c:cat>
          <c:val>
            <c:numRef>
              <c:f>Sheet1!$B$2:$B$7</c:f>
              <c:numCache>
                <c:formatCode>General</c:formatCode>
                <c:ptCount val="6"/>
                <c:pt idx="0">
                  <c:v>83.3</c:v>
                </c:pt>
                <c:pt idx="1">
                  <c:v>100.0</c:v>
                </c:pt>
                <c:pt idx="2">
                  <c:v>66.7</c:v>
                </c:pt>
                <c:pt idx="3">
                  <c:v>100.0</c:v>
                </c:pt>
                <c:pt idx="4">
                  <c:v>75.0</c:v>
                </c:pt>
                <c:pt idx="5">
                  <c:v>100.0</c:v>
                </c:pt>
              </c:numCache>
            </c:numRef>
          </c:val>
        </c:ser>
        <c:ser>
          <c:idx val="1"/>
          <c:order val="1"/>
          <c:tx>
            <c:strRef>
              <c:f>Sheet1!$C$1</c:f>
              <c:strCache>
                <c:ptCount val="1"/>
                <c:pt idx="0">
                  <c:v>Fine-tuned</c:v>
                </c:pt>
              </c:strCache>
            </c:strRef>
          </c:tx>
          <c:spPr>
            <a:solidFill>
              <a:srgbClr val="2EA04E"/>
            </a:solidFill>
          </c:spPr>
          <c:cat>
            <c:strRef>
              <c:f>Sheet1!$A$2:$A$7</c:f>
              <c:strCache>
                <c:ptCount val="6"/>
                <c:pt idx="0">
                  <c:v>Business</c:v>
                </c:pt>
                <c:pt idx="1">
                  <c:v>Newsletter</c:v>
                </c:pt>
                <c:pt idx="2">
                  <c:v>Notification</c:v>
                </c:pt>
                <c:pt idx="3">
                  <c:v>Obvious Spam</c:v>
                </c:pt>
                <c:pt idx="4">
                  <c:v>Phishing</c:v>
                </c:pt>
                <c:pt idx="5">
                  <c:v>Scam</c:v>
                </c:pt>
              </c:strCache>
            </c:strRef>
          </c:cat>
          <c:val>
            <c:numRef>
              <c:f>Sheet1!$C$2:$C$7</c:f>
              <c:numCache>
                <c:formatCode>General</c:formatCode>
                <c:ptCount val="6"/>
                <c:pt idx="0">
                  <c:v>100.0</c:v>
                </c:pt>
                <c:pt idx="1">
                  <c:v>100.0</c:v>
                </c:pt>
                <c:pt idx="2">
                  <c:v>66.7</c:v>
                </c:pt>
                <c:pt idx="3">
                  <c:v>100.0</c:v>
                </c:pt>
                <c:pt idx="4">
                  <c:v>100.0</c:v>
                </c:pt>
                <c:pt idx="5">
                  <c:v>100.0</c:v>
                </c:pt>
              </c:numCache>
            </c:numRef>
          </c:val>
        </c:ser>
        <c:ser>
          <c:idx val="2"/>
          <c:order val="2"/>
          <c:tx>
            <c:strRef>
              <c:f>Sheet1!$D$1</c:f>
              <c:strCache>
                <c:ptCount val="1"/>
                <c:pt idx="0">
                  <c:v>DistilBERT + RAG</c:v>
                </c:pt>
              </c:strCache>
            </c:strRef>
          </c:tx>
          <c:spPr>
            <a:solidFill>
              <a:srgbClr val="428BCA"/>
            </a:solidFill>
          </c:spPr>
          <c:cat>
            <c:strRef>
              <c:f>Sheet1!$A$2:$A$7</c:f>
              <c:strCache>
                <c:ptCount val="6"/>
                <c:pt idx="0">
                  <c:v>Business</c:v>
                </c:pt>
                <c:pt idx="1">
                  <c:v>Newsletter</c:v>
                </c:pt>
                <c:pt idx="2">
                  <c:v>Notification</c:v>
                </c:pt>
                <c:pt idx="3">
                  <c:v>Obvious Spam</c:v>
                </c:pt>
                <c:pt idx="4">
                  <c:v>Phishing</c:v>
                </c:pt>
                <c:pt idx="5">
                  <c:v>Scam</c:v>
                </c:pt>
              </c:strCache>
            </c:strRef>
          </c:cat>
          <c:val>
            <c:numRef>
              <c:f>Sheet1!$D$2:$D$7</c:f>
              <c:numCache>
                <c:formatCode>General</c:formatCode>
                <c:ptCount val="6"/>
                <c:pt idx="0">
                  <c:v>100.0</c:v>
                </c:pt>
                <c:pt idx="1">
                  <c:v>100.0</c:v>
                </c:pt>
                <c:pt idx="2">
                  <c:v>33.3</c:v>
                </c:pt>
                <c:pt idx="3">
                  <c:v>100.0</c:v>
                </c:pt>
                <c:pt idx="4">
                  <c:v>100.0</c:v>
                </c:pt>
                <c:pt idx="5">
                  <c:v>100.0</c:v>
                </c:pt>
              </c:numCache>
            </c:numRef>
          </c:val>
        </c:ser>
        <c:ser>
          <c:idx val="3"/>
          <c:order val="3"/>
          <c:tx>
            <c:strRef>
              <c:f>Sheet1!$E$1</c:f>
              <c:strCache>
                <c:ptCount val="1"/>
                <c:pt idx="0">
                  <c:v>Fine-tuned + RAG</c:v>
                </c:pt>
              </c:strCache>
            </c:strRef>
          </c:tx>
          <c:spPr>
            <a:solidFill>
              <a:srgbClr val="F09319"/>
            </a:solidFill>
          </c:spPr>
          <c:cat>
            <c:strRef>
              <c:f>Sheet1!$A$2:$A$7</c:f>
              <c:strCache>
                <c:ptCount val="6"/>
                <c:pt idx="0">
                  <c:v>Business</c:v>
                </c:pt>
                <c:pt idx="1">
                  <c:v>Newsletter</c:v>
                </c:pt>
                <c:pt idx="2">
                  <c:v>Notification</c:v>
                </c:pt>
                <c:pt idx="3">
                  <c:v>Obvious Spam</c:v>
                </c:pt>
                <c:pt idx="4">
                  <c:v>Phishing</c:v>
                </c:pt>
                <c:pt idx="5">
                  <c:v>Scam</c:v>
                </c:pt>
              </c:strCache>
            </c:strRef>
          </c:cat>
          <c:val>
            <c:numRef>
              <c:f>Sheet1!$E$2:$E$7</c:f>
              <c:numCache>
                <c:formatCode>General</c:formatCode>
                <c:ptCount val="6"/>
                <c:pt idx="0">
                  <c:v>100.0</c:v>
                </c:pt>
                <c:pt idx="1">
                  <c:v>100.0</c:v>
                </c:pt>
                <c:pt idx="2">
                  <c:v>66.7</c:v>
                </c:pt>
                <c:pt idx="3">
                  <c:v>100.0</c:v>
                </c:pt>
                <c:pt idx="4">
                  <c:v>100.0</c:v>
                </c:pt>
                <c:pt idx="5">
                  <c:v>100.0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Accuracy: Basic vs Adversarial</a:t>
            </a:r>
          </a:p>
        </c:rich>
      </c:tx>
      <c:layout/>
      <c:overlay val="0"/>
    </c:title>
    <c:autoTitleDeleted val="0"/>
    <c:plotArea>
      <c:barChart>
        <c:barDir val="col"/>
        <c:grouping val="clustered"/>
        <c:ser>
          <c:idx val="0"/>
          <c:order val="0"/>
          <c:tx>
            <c:strRef>
              <c:f>Sheet1!$B$1</c:f>
              <c:strCache>
                <c:ptCount val="1"/>
                <c:pt idx="0">
                  <c:v>DistilBERT (66M)</c:v>
                </c:pt>
              </c:strCache>
            </c:strRef>
          </c:tx>
          <c:spPr>
            <a:solidFill>
              <a:srgbClr val="FF6B35"/>
            </a:solidFill>
          </c:spPr>
          <c:cat>
            <c:strRef>
              <c:f>Sheet1!$A$2:$A$3</c:f>
              <c:strCache>
                <c:ptCount val="2"/>
                <c:pt idx="0">
                  <c:v>Basic (20 cases)</c:v>
                </c:pt>
                <c:pt idx="1">
                  <c:v>Adversarial (30 cases)</c:v>
                </c:pt>
              </c:strCache>
            </c:strRef>
          </c:cat>
          <c:val>
            <c:numRef>
              <c:f>Sheet1!$B$2:$B$3</c:f>
              <c:numCache>
                <c:formatCode>General</c:formatCode>
                <c:ptCount val="2"/>
                <c:pt idx="0">
                  <c:v>95.0</c:v>
                </c:pt>
                <c:pt idx="1">
                  <c:v>60.0</c:v>
                </c:pt>
              </c:numCache>
            </c:numRef>
          </c:val>
        </c:ser>
        <c:ser>
          <c:idx val="1"/>
          <c:order val="1"/>
          <c:tx>
            <c:strRef>
              <c:f>Sheet1!$C$1</c:f>
              <c:strCache>
                <c:ptCount val="1"/>
                <c:pt idx="0">
                  <c:v>GPT-4o-mini (~8B)</c:v>
                </c:pt>
              </c:strCache>
            </c:strRef>
          </c:tx>
          <c:spPr>
            <a:solidFill>
              <a:srgbClr val="4A90D9"/>
            </a:solidFill>
          </c:spPr>
          <c:cat>
            <c:strRef>
              <c:f>Sheet1!$A$2:$A$3</c:f>
              <c:strCache>
                <c:ptCount val="2"/>
                <c:pt idx="0">
                  <c:v>Basic (20 cases)</c:v>
                </c:pt>
                <c:pt idx="1">
                  <c:v>Adversarial (30 cases)</c:v>
                </c:pt>
              </c:strCache>
            </c:strRef>
          </c:cat>
          <c:val>
            <c:numRef>
              <c:f>Sheet1!$C$2:$C$3</c:f>
              <c:numCache>
                <c:formatCode>General</c:formatCode>
                <c:ptCount val="2"/>
                <c:pt idx="0">
                  <c:v>100.0</c:v>
                </c:pt>
                <c:pt idx="1">
                  <c:v>63.3</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Average Latency (ms)</a:t>
            </a:r>
          </a:p>
        </c:rich>
      </c:tx>
      <c:layout/>
      <c:overlay val="0"/>
    </c:title>
    <c:autoTitleDeleted val="0"/>
    <c:plotArea>
      <c:barChart>
        <c:barDir val="col"/>
        <c:grouping val="clustered"/>
        <c:ser>
          <c:idx val="0"/>
          <c:order val="0"/>
          <c:tx>
            <c:strRef>
              <c:f>Sheet1!$B$1</c:f>
              <c:strCache>
                <c:ptCount val="1"/>
                <c:pt idx="0">
                  <c:v>DistilBERT (66M)</c:v>
                </c:pt>
              </c:strCache>
            </c:strRef>
          </c:tx>
          <c:spPr>
            <a:solidFill>
              <a:srgbClr val="FF6B35"/>
            </a:solidFill>
          </c:spPr>
          <c:cat>
            <c:strRef>
              <c:f>Sheet1!$A$2:$A$3</c:f>
              <c:strCache>
                <c:ptCount val="2"/>
                <c:pt idx="0">
                  <c:v>Basic</c:v>
                </c:pt>
                <c:pt idx="1">
                  <c:v>Adversarial</c:v>
                </c:pt>
              </c:strCache>
            </c:strRef>
          </c:cat>
          <c:val>
            <c:numRef>
              <c:f>Sheet1!$B$2:$B$3</c:f>
              <c:numCache>
                <c:formatCode>General</c:formatCode>
                <c:ptCount val="2"/>
                <c:pt idx="0">
                  <c:v>175.0</c:v>
                </c:pt>
                <c:pt idx="1">
                  <c:v>187.3</c:v>
                </c:pt>
              </c:numCache>
            </c:numRef>
          </c:val>
        </c:ser>
        <c:ser>
          <c:idx val="1"/>
          <c:order val="1"/>
          <c:tx>
            <c:strRef>
              <c:f>Sheet1!$C$1</c:f>
              <c:strCache>
                <c:ptCount val="1"/>
                <c:pt idx="0">
                  <c:v>GPT-4o-mini (~8B)</c:v>
                </c:pt>
              </c:strCache>
            </c:strRef>
          </c:tx>
          <c:spPr>
            <a:solidFill>
              <a:srgbClr val="4A90D9"/>
            </a:solidFill>
          </c:spPr>
          <c:cat>
            <c:strRef>
              <c:f>Sheet1!$A$2:$A$3</c:f>
              <c:strCache>
                <c:ptCount val="2"/>
                <c:pt idx="0">
                  <c:v>Basic</c:v>
                </c:pt>
                <c:pt idx="1">
                  <c:v>Adversarial</c:v>
                </c:pt>
              </c:strCache>
            </c:strRef>
          </c:cat>
          <c:val>
            <c:numRef>
              <c:f>Sheet1!$C$2:$C$3</c:f>
              <c:numCache>
                <c:formatCode>General</c:formatCode>
                <c:ptCount val="2"/>
                <c:pt idx="0">
                  <c:v>528.2</c:v>
                </c:pt>
                <c:pt idx="1">
                  <c:v>1313.5</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Overall Accuracy (%)</a:t>
            </a:r>
          </a:p>
        </c:rich>
      </c:tx>
      <c:layout/>
      <c:overlay val="0"/>
    </c:title>
    <c:autoTitleDeleted val="0"/>
    <c:plotArea>
      <c:barChart>
        <c:barDir val="col"/>
        <c:grouping val="clustered"/>
        <c:ser>
          <c:idx val="0"/>
          <c:order val="0"/>
          <c:tx>
            <c:strRef>
              <c:f>Sheet1!$B$1</c:f>
              <c:strCache>
                <c:ptCount val="1"/>
                <c:pt idx="0">
                  <c:v>Accuracy</c:v>
                </c:pt>
              </c:strCache>
            </c:strRef>
          </c:tx>
          <c:spPr>
            <a:solidFill>
              <a:srgbClr val="428BCA"/>
            </a:solidFill>
          </c:spPr>
          <c:cat>
            <c:strRef>
              <c:f>Sheet1!$A$2:$A$5</c:f>
              <c:strCache>
                <c:ptCount val="4"/>
                <c:pt idx="0">
                  <c:v>Base Llama2-7B</c:v>
                </c:pt>
                <c:pt idx="1">
                  <c:v>Llama2-7B + RAG</c:v>
                </c:pt>
                <c:pt idx="2">
                  <c:v>FinQA-7B (FT)</c:v>
                </c:pt>
                <c:pt idx="3">
                  <c:v>FinQA-7B + RAG</c:v>
                </c:pt>
              </c:strCache>
            </c:strRef>
          </c:cat>
          <c:val>
            <c:numRef>
              <c:f>Sheet1!$B$2:$B$5</c:f>
              <c:numCache>
                <c:formatCode>General</c:formatCode>
                <c:ptCount val="4"/>
                <c:pt idx="0">
                  <c:v>43.3</c:v>
                </c:pt>
                <c:pt idx="1">
                  <c:v>86.7</c:v>
                </c:pt>
                <c:pt idx="2">
                  <c:v>40.0</c:v>
                </c:pt>
                <c:pt idx="3">
                  <c:v>93.3</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RAG Advantage (percentage points)</a:t>
            </a:r>
          </a:p>
        </c:rich>
      </c:tx>
      <c:layout/>
      <c:overlay val="0"/>
    </c:title>
    <c:autoTitleDeleted val="0"/>
    <c:plotArea>
      <c:barChart>
        <c:barDir val="col"/>
        <c:grouping val="clustered"/>
        <c:ser>
          <c:idx val="0"/>
          <c:order val="0"/>
          <c:tx>
            <c:strRef>
              <c:f>Sheet1!$B$1</c:f>
              <c:strCache>
                <c:ptCount val="1"/>
                <c:pt idx="0">
                  <c:v>RAG vs Base</c:v>
                </c:pt>
              </c:strCache>
            </c:strRef>
          </c:tx>
          <c:spPr>
            <a:solidFill>
              <a:srgbClr val="428BCA"/>
            </a:solidFill>
          </c:spPr>
          <c:cat>
            <c:strRef>
              <c:f>Sheet1!$A$2:$A$6</c:f>
              <c:strCache>
                <c:ptCount val="5"/>
                <c:pt idx="0">
                  <c:v>Contextual Interp.</c:v>
                </c:pt>
                <c:pt idx="1">
                  <c:v>Cross-Doc Synthesis</c:v>
                </c:pt>
                <c:pt idx="2">
                  <c:v>Direct Retrieval</c:v>
                </c:pt>
                <c:pt idx="3">
                  <c:v>Formula + Aligned</c:v>
                </c:pt>
                <c:pt idx="4">
                  <c:v>Trend Analysis</c:v>
                </c:pt>
              </c:strCache>
            </c:strRef>
          </c:cat>
          <c:val>
            <c:numRef>
              <c:f>Sheet1!$B$2:$B$6</c:f>
              <c:numCache>
                <c:formatCode>General</c:formatCode>
                <c:ptCount val="5"/>
                <c:pt idx="0">
                  <c:v>50.0</c:v>
                </c:pt>
                <c:pt idx="1">
                  <c:v>25.0</c:v>
                </c:pt>
                <c:pt idx="2">
                  <c:v>62.5</c:v>
                </c:pt>
                <c:pt idx="3">
                  <c:v>66.6</c:v>
                </c:pt>
                <c:pt idx="4">
                  <c:v>0.0</c:v>
                </c:pt>
              </c:numCache>
            </c:numRef>
          </c:val>
        </c:ser>
        <c:ser>
          <c:idx val="1"/>
          <c:order val="1"/>
          <c:tx>
            <c:strRef>
              <c:f>Sheet1!$C$1</c:f>
              <c:strCache>
                <c:ptCount val="1"/>
                <c:pt idx="0">
                  <c:v>RAG vs Fine-Tuned</c:v>
                </c:pt>
              </c:strCache>
            </c:strRef>
          </c:tx>
          <c:spPr>
            <a:solidFill>
              <a:srgbClr val="2EA04E"/>
            </a:solidFill>
          </c:spPr>
          <c:cat>
            <c:strRef>
              <c:f>Sheet1!$A$2:$A$6</c:f>
              <c:strCache>
                <c:ptCount val="5"/>
                <c:pt idx="0">
                  <c:v>Contextual Interp.</c:v>
                </c:pt>
                <c:pt idx="1">
                  <c:v>Cross-Doc Synthesis</c:v>
                </c:pt>
                <c:pt idx="2">
                  <c:v>Direct Retrieval</c:v>
                </c:pt>
                <c:pt idx="3">
                  <c:v>Formula + Aligned</c:v>
                </c:pt>
                <c:pt idx="4">
                  <c:v>Trend Analysis</c:v>
                </c:pt>
              </c:strCache>
            </c:strRef>
          </c:cat>
          <c:val>
            <c:numRef>
              <c:f>Sheet1!$C$2:$C$6</c:f>
              <c:numCache>
                <c:formatCode>General</c:formatCode>
                <c:ptCount val="5"/>
                <c:pt idx="0">
                  <c:v>75.0</c:v>
                </c:pt>
                <c:pt idx="1">
                  <c:v>25.0</c:v>
                </c:pt>
                <c:pt idx="2">
                  <c:v>75.0</c:v>
                </c:pt>
                <c:pt idx="3">
                  <c:v>50.0</c:v>
                </c:pt>
                <c:pt idx="4">
                  <c:v>0.0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Judge Scores by Dimension (1-5)</a:t>
            </a:r>
          </a:p>
        </c:rich>
      </c:tx>
      <c:layout/>
      <c:overlay val="0"/>
    </c:title>
    <c:autoTitleDeleted val="0"/>
    <c:plotArea>
      <c:barChart>
        <c:barDir val="col"/>
        <c:grouping val="clustered"/>
        <c:ser>
          <c:idx val="0"/>
          <c:order val="0"/>
          <c:tx>
            <c:strRef>
              <c:f>Sheet1!$B$1</c:f>
              <c:strCache>
                <c:ptCount val="1"/>
                <c:pt idx="0">
                  <c:v>Base Llama2-7B</c:v>
                </c:pt>
              </c:strCache>
            </c:strRef>
          </c:tx>
          <c:spPr>
            <a:solidFill>
              <a:srgbClr val="E84D4D"/>
            </a:solidFill>
          </c:spPr>
          <c:cat>
            <c:strRef>
              <c:f>Sheet1!$A$2:$A$4</c:f>
              <c:strCache>
                <c:ptCount val="3"/>
                <c:pt idx="0">
                  <c:v>Correctness</c:v>
                </c:pt>
                <c:pt idx="1">
                  <c:v>Reasoning</c:v>
                </c:pt>
                <c:pt idx="2">
                  <c:v>Faithfulness</c:v>
                </c:pt>
              </c:strCache>
            </c:strRef>
          </c:cat>
          <c:val>
            <c:numRef>
              <c:f>Sheet1!$B$2:$B$4</c:f>
              <c:numCache>
                <c:formatCode>General</c:formatCode>
                <c:ptCount val="3"/>
                <c:pt idx="0">
                  <c:v>1.5</c:v>
                </c:pt>
                <c:pt idx="1">
                  <c:v>2.6</c:v>
                </c:pt>
                <c:pt idx="2">
                  <c:v>1.93</c:v>
                </c:pt>
              </c:numCache>
            </c:numRef>
          </c:val>
        </c:ser>
        <c:ser>
          <c:idx val="1"/>
          <c:order val="1"/>
          <c:tx>
            <c:strRef>
              <c:f>Sheet1!$C$1</c:f>
              <c:strCache>
                <c:ptCount val="1"/>
                <c:pt idx="0">
                  <c:v>Llama2-7B + RAG</c:v>
                </c:pt>
              </c:strCache>
            </c:strRef>
          </c:tx>
          <c:spPr>
            <a:solidFill>
              <a:srgbClr val="428BCA"/>
            </a:solidFill>
          </c:spPr>
          <c:cat>
            <c:strRef>
              <c:f>Sheet1!$A$2:$A$4</c:f>
              <c:strCache>
                <c:ptCount val="3"/>
                <c:pt idx="0">
                  <c:v>Correctness</c:v>
                </c:pt>
                <c:pt idx="1">
                  <c:v>Reasoning</c:v>
                </c:pt>
                <c:pt idx="2">
                  <c:v>Faithfulness</c:v>
                </c:pt>
              </c:strCache>
            </c:strRef>
          </c:cat>
          <c:val>
            <c:numRef>
              <c:f>Sheet1!$C$2:$C$4</c:f>
              <c:numCache>
                <c:formatCode>General</c:formatCode>
                <c:ptCount val="3"/>
                <c:pt idx="0">
                  <c:v>3.43</c:v>
                </c:pt>
                <c:pt idx="1">
                  <c:v>3.37</c:v>
                </c:pt>
                <c:pt idx="2">
                  <c:v>3.8</c:v>
                </c:pt>
              </c:numCache>
            </c:numRef>
          </c:val>
        </c:ser>
        <c:ser>
          <c:idx val="2"/>
          <c:order val="2"/>
          <c:tx>
            <c:strRef>
              <c:f>Sheet1!$D$1</c:f>
              <c:strCache>
                <c:ptCount val="1"/>
                <c:pt idx="0">
                  <c:v>FinQA-7B (FT)</c:v>
                </c:pt>
              </c:strCache>
            </c:strRef>
          </c:tx>
          <c:spPr>
            <a:solidFill>
              <a:srgbClr val="2EA04E"/>
            </a:solidFill>
          </c:spPr>
          <c:cat>
            <c:strRef>
              <c:f>Sheet1!$A$2:$A$4</c:f>
              <c:strCache>
                <c:ptCount val="3"/>
                <c:pt idx="0">
                  <c:v>Correctness</c:v>
                </c:pt>
                <c:pt idx="1">
                  <c:v>Reasoning</c:v>
                </c:pt>
                <c:pt idx="2">
                  <c:v>Faithfulness</c:v>
                </c:pt>
              </c:strCache>
            </c:strRef>
          </c:cat>
          <c:val>
            <c:numRef>
              <c:f>Sheet1!$D$2:$D$4</c:f>
              <c:numCache>
                <c:formatCode>General</c:formatCode>
                <c:ptCount val="3"/>
                <c:pt idx="0">
                  <c:v>1.6</c:v>
                </c:pt>
                <c:pt idx="1">
                  <c:v>2.6</c:v>
                </c:pt>
                <c:pt idx="2">
                  <c:v>2.1</c:v>
                </c:pt>
              </c:numCache>
            </c:numRef>
          </c:val>
        </c:ser>
        <c:ser>
          <c:idx val="3"/>
          <c:order val="3"/>
          <c:tx>
            <c:strRef>
              <c:f>Sheet1!$E$1</c:f>
              <c:strCache>
                <c:ptCount val="1"/>
                <c:pt idx="0">
                  <c:v>FinQA-7B + RAG</c:v>
                </c:pt>
              </c:strCache>
            </c:strRef>
          </c:tx>
          <c:spPr>
            <a:solidFill>
              <a:srgbClr val="F09319"/>
            </a:solidFill>
          </c:spPr>
          <c:cat>
            <c:strRef>
              <c:f>Sheet1!$A$2:$A$4</c:f>
              <c:strCache>
                <c:ptCount val="3"/>
                <c:pt idx="0">
                  <c:v>Correctness</c:v>
                </c:pt>
                <c:pt idx="1">
                  <c:v>Reasoning</c:v>
                </c:pt>
                <c:pt idx="2">
                  <c:v>Faithfulness</c:v>
                </c:pt>
              </c:strCache>
            </c:strRef>
          </c:cat>
          <c:val>
            <c:numRef>
              <c:f>Sheet1!$E$2:$E$4</c:f>
              <c:numCache>
                <c:formatCode>General</c:formatCode>
                <c:ptCount val="3"/>
                <c:pt idx="0">
                  <c:v>3.57</c:v>
                </c:pt>
                <c:pt idx="1">
                  <c:v>3.63</c:v>
                </c:pt>
                <c:pt idx="2">
                  <c:v>3.83</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step back and look at the big picture across all experiments.</a:t>
            </a:r>
          </a:p>
          <a:p/>
          <a:p>
            <a:r>
              <a:t>The data consistently tells us: fine-tuning excels at REASONING, COMPUTATION, and PATTERN RECOGNITION. These are skill-based tasks where the model needs to learn new capabilities.</a:t>
            </a:r>
          </a:p>
          <a:p/>
          <a:p>
            <a:r>
              <a:t>RAG excels at KNOWLEDGE RETRIEVAL -- tasks where the answer is in a document and the model just needs to find and present it.</a:t>
            </a:r>
          </a:p>
          <a:p/>
          <a:p>
            <a:r>
              <a:t>The hybrid approach consistently achieves the highest accuracy because it combines learned skills with access to fresh information. This is the architecture pattern for production systems.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examples are cherry-picked to illustrate the clearest wins for each approach.</a:t>
            </a:r>
          </a:p>
          <a:p/>
          <a:p>
            <a:r>
              <a:t>Fine-tuning wins: cases where domain-specific reasoning is required. Financial jargon, multi-step calculations, nuanced classification.</a:t>
            </a:r>
          </a:p>
          <a:p/>
          <a:p>
            <a:r>
              <a:t>RAG wins: cases where specific factual information is needed that the model doesn't have in its weights. Current data, specific document references, evolving knowledge.</a:t>
            </a:r>
          </a:p>
          <a:p/>
          <a:p>
            <a:r>
              <a:t>Hybrid wins: cases that need BOTH -- domain reasoning skills applied to specific current data.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photograph if you remember nothing else.</a:t>
            </a:r>
          </a:p>
          <a:p/>
          <a:p>
            <a:r>
              <a:t>The accuracy table shows fine-tuning winning across every experiment. The cost table shows the trade-off: RAG uses more tokens and costs more per query.</a:t>
            </a:r>
          </a:p>
          <a:p/>
          <a:p>
            <a:r>
              <a:t>Five key conclusions, backed by our data:</a:t>
            </a:r>
          </a:p>
          <a:p>
            <a:r>
              <a:t>1. Fine-tuning consistently outperforms base models.</a:t>
            </a:r>
          </a:p>
          <a:p>
            <a:r>
              <a:t>2. RAG improves over base but can't match fine-tuning for reasoning.</a:t>
            </a:r>
          </a:p>
          <a:p>
            <a:r>
              <a:t>3. Hybrid achieves the best results.</a:t>
            </a:r>
          </a:p>
          <a:p>
            <a:r>
              <a:t>4. Spam detection is a great fine-tuning use case -- learned patterns beat retrieval.</a:t>
            </a:r>
          </a:p>
          <a:p>
            <a:r>
              <a:t>5. All comparisons are controlled -- same architecture, different approach.</a:t>
            </a:r>
          </a:p>
          <a:p/>
          <a:p>
            <a:r>
              <a:t>The implication for your projects: if accuracy matters and you have training data, fine-tune. If you need dynamic knowledge, add RAG. For production, do both.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takeaway is that RAG and fine-tuning solve fundamentally different problems. RAG provides knowledge (access to documents the model has never seen), while fine-tuning provides skills (domain-specific reasoning). The strongest production systems combine both approaches.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the experimental design. Every test case runs through all 4 approaches using the SAME base architecture -- the only variable is whether we fine-tuned and/or added RAG retrieval. This isolates each strategy's contribution. We evaluate on 3 axes: accuracy metrics, GPT-4o judge scores, and cost/latency.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project's most important discovery. The widely-held belief that 'RAG can't help with math' is largely an artifact of benchmark design. When the knowledge base data aligns with the question -- which is always the case in production -- RAG performs dramatically better. The +71.4pp swing uses the exact same model and pipeline, just different data alignment.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use 6 benchmark suites covering 253 test cases. Classification tasks use exact label match. Numerical tasks use 5% tolerance. The LLM-as-Judge adds quality assessment beyond simple accuracy -- it scores correctness (50% weight), reasoning quality (30%), and faithfulness to source data (20%).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adversarial benchmark tests 3 attack vectors: noisy retrieval (irrelevant docs), knowledge conflict (contradictory signals), and out-of-distribution inputs. The most counterintuitive finding: Hybrid -- the approach with the most resources -- scores the LOWEST on adversarial ratios (1.86/5). More information creates more confusion when the task requires pure computation.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core of the project. Fine-tuning and RAG solve fundamentally different problems. Fine-tuning teaches SKILLS -- the fine-tuned model scores 0% on direct retrieval because it has reasoning abilities but no Meridian data. RAG provides KNOWLEDGE -- it scores 86.7% on retrieval but 15% on math because it has data but no computation skills. Hybrid combines both for 93.3%.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classified what the RAG knowledge base actually provides for each of the 171 test cases. The results are sobering: only 20% are properly covered, 30% are actively harmed. This taxonomy explains why RAG appears to fail on standard benchmarks -- most cases fall into the 'conflicting data' or 'not in KB' categories.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enhanced decision framework backed by all 253 experiments. Each leaf node shows the actual measured results: Hybrid 93.3%, Fine-tune +25-46pp, RAG 86.7% with 3.8/5 faithfulness. The key question: does the task require new reasoning SKILLS? If yes, you need fine-tuning. Does it need fresh DATA? If yes, you need RAG. Both? Hybrid.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practical playbook. Start with RAG for quick wins -- our data shows 86.7% accuracy with zero training. Then identify where RAG fails (jargon, math, adversarial). Use those failures as training data for QLoRA fine-tuning ($5-25 on AWS, &lt;4 hours). Finally deploy a hybrid system combining fine-tuned reasoning with RAG knowledge retrieval for 93.3% accuracy with source citations.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Today we're exploring one of the most important decisions in applied AI: when to fine-tune a model versus when to use Retrieval-Augmented Generation.</a:t>
            </a:r>
          </a:p>
          <a:p/>
          <a:p>
            <a:r>
              <a:t>The key insight we'll demonstrate with real benchmarks: fine-tuning teaches a model new SKILLS (reasoning, calculation, pattern recognition), while RAG provides new INFORMATION (facts, documents, context). These solve fundamentally different problems, and the best systems often combine both.</a:t>
            </a:r>
          </a:p>
          <a:p/>
          <a:p>
            <a:r>
              <a:t>This presentation includes a live demo -- every number you'll see comes from models we actually ran.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We'll cover four main parts. Part 1 sets the foundation -- what are LLMs and why do they struggle with specialized tasks. Part 2 goes deep on RAG and fine-tuning: how they work, where each shines, and a practical decision framework. Part 3 surveys the tooling ecosystem so you can actually build these systems. Part 4 is the evidence -- controlled benchmarks across sentiment analysis, numerical reasoning, financial ratios, and spam detection, plus a model size comparison.</a:t>
            </a:r>
          </a:p>
          <a:p/>
          <a:p>
            <a:r>
              <a:t>Feel free to ask questions at any point.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LLMs are trained on trillions of tokens from the internet, books, and code. They learn language patterns, factual knowledge, and basic reasoning. The key point: they are generalists by design.</a:t>
            </a:r>
          </a:p>
          <a:p/>
          <a:p>
            <a:r>
              <a:t>An analogy: an LLM is like a well-read university graduate. They can discuss almost any topic intelligently, but they're not a specialist in any one field. You wouldn't ask a fresh graduate to calculate complex financial ratios from SEC filings without additional training.</a:t>
            </a:r>
          </a:p>
          <a:p/>
          <a:p>
            <a:r>
              <a:t>Note the parameter counts in the table -- these models range from 7 billion to potentially over a trillion parameters. More parameters generally means more knowledge capacity, but as we'll see later, size isn't everything.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problem we're solving. Generic LLMs fail on domain tasks in predictable ways.</a:t>
            </a:r>
          </a:p>
          <a:p/>
          <a:p>
            <a:r>
              <a:t>In our benchmarks, we saw base BERT get only 45% accuracy on financial sentiment -- barely better than random for a 3-class problem. It doesn't understand that 'restructuring charges' implies negative sentiment in finance, even though in general English it's a neutral word.</a:t>
            </a:r>
          </a:p>
          <a:p/>
          <a:p>
            <a:r>
              <a:t>On the right side: domain experts need answers they can trust. In regulated industries like finance or healthcare, a wrong answer isn't just unhelpful -- it can be a compliance violation.</a:t>
            </a:r>
          </a:p>
          <a:p/>
          <a:p>
            <a:r>
              <a:t>The efficiency ratio example is real: we tested this, and base Llama2-7B gets the formula wrong ~85% of the time.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Think of these as a spectrum of effort vs. impact.</a:t>
            </a:r>
          </a:p>
          <a:p/>
          <a:p>
            <a:r>
              <a:t>Prompt engineering is the starting point -- write better instructions, add examples. It's fast but limited. You can't teach a model new math skills through prompting alone.</a:t>
            </a:r>
          </a:p>
          <a:p/>
          <a:p>
            <a:r>
              <a:t>RAG is the middle ground -- retrieve relevant documents and inject them into the prompt. Great for knowledge-intensive tasks, but the model's underlying capabilities don't change.</a:t>
            </a:r>
          </a:p>
          <a:p/>
          <a:p>
            <a:r>
              <a:t>Fine-tuning is the highest-impact approach -- you actually update the model's weights. The model learns new patterns, reasoning strategies, and domain-specific behavior. But it requires training data and compute.</a:t>
            </a:r>
          </a:p>
          <a:p/>
          <a:p>
            <a:r>
              <a:t>There's no universally 'best' approach -- the right choice depends on your specific task. That's what our benchmarks will help clarify.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has four steps. First, the user's question is converted into a vector using an embedding model. Second, this vector is used to search a vector database for similar document chunks. Third, the top-K results are prepended to the prompt. Fourth, the LLM generates an answer using this augmented context.</a:t>
            </a:r>
          </a:p>
          <a:p/>
          <a:p>
            <a:r>
              <a:t>The critical insight: the LLM's weights are never modified. You're not teaching it anything new -- you're showing it relevant information at inference time.</a:t>
            </a:r>
          </a:p>
          <a:p/>
          <a:p>
            <a:r>
              <a:t>In our system, we use all-MiniLM-L6-v2 for embeddings and ChromaDB as the vector store. The LLM is the same base model -- we just give it better context.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RAG's biggest advantages are speed-to-deploy and dynamic knowledge.</a:t>
            </a:r>
          </a:p>
          <a:p/>
          <a:p>
            <a:r>
              <a:t>No training required means you can start today with any LLM API. No GPUs, no training data preparation. This is why many companies start with RAG -- it's the fastest path to a working prototype.</a:t>
            </a:r>
          </a:p>
          <a:p/>
          <a:p>
            <a:r>
              <a:t>Dynamic knowledge is huge for use cases where information changes frequently. A RAG system can ingest new documents without any model retraining.</a:t>
            </a:r>
          </a:p>
          <a:p/>
          <a:p>
            <a:r>
              <a:t>Source citations are critical for enterprise use cases. When an analyst asks a question, they need to verify the answer against the source document. RAG provides this traceability out of the box.</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crucial for understanding WHEN RAG falls short.</a:t>
            </a:r>
          </a:p>
          <a:p/>
          <a:p>
            <a:r>
              <a:t>Point 1 is the most important: RAG cannot teach new skills. If the base model can't do multi-step arithmetic, retrieving a formula doesn't help -- it still can't apply it correctly.</a:t>
            </a:r>
          </a:p>
          <a:p/>
          <a:p>
            <a:r>
              <a:t>Point 5 matters for production: RAG adds 200-600ms of latency for the embedding and retrieval steps. In our benchmarks, RAG approaches are consistently 3-5x slower than fine-tuned models.</a:t>
            </a:r>
          </a:p>
          <a:p/>
          <a:p>
            <a:r>
              <a:t>Point 6 is often overlooked: retrieved documents consume context window space, leaving less room for the actual reasoning. With a 4K context window, 3 retrieved chunks of 500 tokens each already uses 37% of your context.</a:t>
            </a:r>
          </a:p>
          <a:p/>
          <a:p>
            <a:r>
              <a:t>Bottom line: RAG is a knowledge tool, not a skill tool.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distinction from RAG: fine-tuning modifies the model's weights. The knowledge and skills become part of the model itself.</a:t>
            </a:r>
          </a:p>
          <a:p/>
          <a:p>
            <a:r>
              <a:t>The training data format matters enormously. For FinQA, each example is a financial table + question + step-by-step reasoning program. The model doesn't just learn the answer -- it learns HOW to arrive at the answer.</a:t>
            </a:r>
          </a:p>
          <a:p/>
          <a:p>
            <a:r>
              <a:t>After fine-tuning, the model carries these capabilities everywhere. No retrieval step needed. No external database dependency. The skill is baked in.</a:t>
            </a:r>
          </a:p>
          <a:p/>
          <a:p>
            <a:r>
              <a:t>Compare the two boxes at the bottom: RAG gives information AT query time. Fine-tuning gives skills PERMANENTLY.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methods, each trading off between capability and resource requirements.</a:t>
            </a:r>
          </a:p>
          <a:p/>
          <a:p>
            <a:r>
              <a:t>Full fine-tuning updates every parameter -- for Llama2-7B that's 7 billion weights. Requires multiple high-end GPUs (A100/H100). Best accuracy but highest cost.</a:t>
            </a:r>
          </a:p>
          <a:p/>
          <a:p>
            <a:r>
              <a:t>LoRA is the game-changer that made fine-tuning accessible. It freezes the original model and adds tiny adapter layers (typically 0.1-1% of total parameters). Quality is surprisingly close to full fine-tuning.</a:t>
            </a:r>
          </a:p>
          <a:p/>
          <a:p>
            <a:r>
              <a:t>QLoRA combines LoRA with 4-bit quantization. Our FinQA-7B model was trained this way -- a 7B model fine-tuned on a single GPU. This democratized fine-tuning for the open-source community.</a:t>
            </a:r>
          </a:p>
          <a:p/>
          <a:p>
            <a:r>
              <a:t>Practical advice: start with QLoRA. You can always scale up if you need that extra 1-2% accuracy.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talk numbers from our actual benchmarks.</a:t>
            </a:r>
          </a:p>
          <a:p/>
          <a:p>
            <a:r>
              <a:t>Accuracy: FinQA-7B achieves 61.2% on numerical reasoning vs 15.3% for RAG. That's a 4x improvement -- not because it has more information, but because it's learned HOW to reason about financial tables.</a:t>
            </a:r>
          </a:p>
          <a:p/>
          <a:p>
            <a:r>
              <a:t>Consistency: fine-tuned models produce predictable output formats. In production, this matters enormously for downstream processing. RAG output is more variable because the model sees different context each time.</a:t>
            </a:r>
          </a:p>
          <a:p/>
          <a:p>
            <a:r>
              <a:t>Latency: ~200ms for fine-tuned vs ~800ms for RAG. No embedding step, no vector search, no context assembly. Just inference. At scale, this 4x speedup translates directly to cost savings.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real, published models that anyone can use.</a:t>
            </a:r>
          </a:p>
          <a:p/>
          <a:p>
            <a:r>
              <a:t>FinBERT is by Prosus AI -- they took BERT (110M parameters), pre-trained it further on Reuters financial news, then fine-tuned on the Financial PhraseBank dataset. The PhraseBank has 4,840 sentences labeled by 16 financial experts. This is high-quality, expert-annotated training data.</a:t>
            </a:r>
          </a:p>
          <a:p/>
          <a:p>
            <a:r>
              <a:t>FinQA-7B is a community contribution -- someone took Meta's Llama2-7B and fine-tuned it using QLoRA on the FinQA dataset from IBM Research. The FinQA dataset is remarkable: 8,281 question-answer pairs extracted from real SEC filings, each with step-by-step reasoning programs.</a:t>
            </a:r>
          </a:p>
          <a:p/>
          <a:p>
            <a:r>
              <a:t>Note the training data sizes: 4,840 sentences for FinBERT and 8,281 Q&amp;A pairs for FinQA. Fine-tuning doesn't require millions of examples -- thousands of high-quality examples can be transformative.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DistilBERT is 40% smaller and 60% faster than BERT, while retaining 97% of its language understanding. This makes it ideal for high-throughput tasks like email filtering.</a:t>
            </a:r>
          </a:p>
          <a:p/>
          <a:p>
            <a:r>
              <a:t>The key insight: fine-tuning teaches the model PATTERNS, not just keywords. A fine-tuned spam detector learns that 'urgency + verification request + deadline' is a phishing pattern, even if the individual words are benign.</a:t>
            </a:r>
          </a:p>
          <a:p/>
          <a:p>
            <a:r>
              <a:t>RAG struggles here because similar-looking emails can be either spam or legitimate. A pharmacy notification and a pharmaceutical spam email look similar in embedding space but have completely different intent.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look at what the model actually learns from.</a:t>
            </a:r>
          </a:p>
          <a:p/>
          <a:p>
            <a:r>
              <a:t>Each FinQA training example has three parts: a financial data table with real numbers, a question that requires multi-step reasoning, and a 'program' that shows the exact calculation steps.</a:t>
            </a:r>
          </a:p>
          <a:p/>
          <a:p>
            <a:r>
              <a:t>For example: 'What is the total revenue growth rate?' requires finding revenue in two different years from the table, computing the difference, and dividing by the base year. The model learns this reasoning pattern, not just the answer.</a:t>
            </a:r>
          </a:p>
          <a:p/>
          <a:p>
            <a:r>
              <a:t>This is why fine-tuning outperforms RAG on numerical tasks: RAG can retrieve the table, but the model still needs to know HOW to compute the answer. Fine-tuning teaches the 'how'.</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side-by-side comparison crystallizes the core difference.</a:t>
            </a:r>
          </a:p>
          <a:p/>
          <a:p>
            <a:r>
              <a:t>RAG excels when the task is knowledge-intensive: 'What was Apple's revenue last quarter?' Just retrieve the right document and the answer is there. The model doesn't need special skills.</a:t>
            </a:r>
          </a:p>
          <a:p/>
          <a:p>
            <a:r>
              <a:t>Fine-tuning excels when the task requires reasoning: 'Calculate the compound annual growth rate from this table.' No amount of document retrieval helps if the model can't do multi-step arithmetic.</a:t>
            </a:r>
          </a:p>
          <a:p/>
          <a:p>
            <a:r>
              <a:t>The hybrid approach combines both: use fine-tuning for the reasoning skills and RAG for the latest data. In our benchmarks, the hybrid approach consistently achieves the highest or equal-best accuracy.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real examples from our benchmarks where RAG failed.</a:t>
            </a:r>
          </a:p>
          <a:p/>
          <a:p>
            <a:r>
              <a:t>Example 1: Financial sentiment of 'The company announced restructuring charges.' RAG retrieves similar sentences but the base model still classifies it as neutral. FinBERT knows this is negative in financial context.</a:t>
            </a:r>
          </a:p>
          <a:p/>
          <a:p>
            <a:r>
              <a:t>Example 2: 'Calculate the efficiency ratio from this data.' RAG retrieves the formula definition, but the base model still computes it incorrectly. FinQA-7B gets it right because it's practiced thousands of similar calculations during training.</a:t>
            </a:r>
          </a:p>
          <a:p/>
          <a:p>
            <a:r>
              <a:t>The pattern: RAG fails when the bottleneck is SKILL, not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your practical takeaway. Two questions determine the right approach.</a:t>
            </a:r>
          </a:p>
          <a:p/>
          <a:p>
            <a:r>
              <a:t>Question 1: Does the task require NEW REASONING SKILLS? If yes, you need fine-tuning. If no, the model already knows how to do the task and you just need to give it the right information.</a:t>
            </a:r>
          </a:p>
          <a:p/>
          <a:p>
            <a:r>
              <a:t>Question 2: Does it need FRESH or DYNAMIC data? If yes, you need RAG for the knowledge layer.</a:t>
            </a:r>
          </a:p>
          <a:p/>
          <a:p>
            <a:r>
              <a:t>Both yes? Hybrid. Just skills? Fine-tune. Just knowledge? RAG. Neither? Start with prompt engineering.</a:t>
            </a:r>
          </a:p>
          <a:p/>
          <a:p>
            <a:r>
              <a:t>Most real-world production systems end up as hybrids -- the question is which component carries more weight.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ecosystem has matured dramatically in the last 2 years.</a:t>
            </a:r>
          </a:p>
          <a:p/>
          <a:p>
            <a:r>
              <a:t>HuggingFace is the de facto hub -- 500K+ models, PEFT/LoRA libraries, and the Trainer API. Most fine-tuning projects start here.</a:t>
            </a:r>
          </a:p>
          <a:p/>
          <a:p>
            <a:r>
              <a:t>Unsloth deserves special mention -- they've achieved 2x training speed and 60% memory reduction through custom CUDA kernels. This means you can fine-tune a 7B model on a single consumer GPU.</a:t>
            </a:r>
          </a:p>
          <a:p/>
          <a:p>
            <a:r>
              <a:t>For enterprises: AWS SageMaker and Bedrock Custom Models provide managed fine-tuning. You upload data, they handle the infrastructure. More expensive but zero DevOps overhead.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actual code for local fine-tuning with Unsloth and QLoRA.</a:t>
            </a:r>
          </a:p>
          <a:p/>
          <a:p>
            <a:r>
              <a:t>The key parameters: rank=16 (adapter size), target_modules include attention AND MLP layers (not just attention, which is a common mistake). Learning rate of 2e-4 with cosine scheduling.</a:t>
            </a:r>
          </a:p>
          <a:p/>
          <a:p>
            <a:r>
              <a:t>With QLoRA on a single NVIDIA GPU with 24GB VRAM, you can fine-tune a 7B model in about 4-6 hours on 8K training examples. Total cost: electricity.</a:t>
            </a:r>
          </a:p>
          <a:p/>
          <a:p>
            <a:r>
              <a:t>For those without local GPUs: Google Colab Pro ($10/month) gives you access to A100 GPUs sufficient for this.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offers two paths: SageMaker for full control, Bedrock for managed simplicity.</a:t>
            </a:r>
          </a:p>
          <a:p/>
          <a:p>
            <a:r>
              <a:t>SageMaker: bring your own training script, choose instance types (ml.g5.2xlarge is the sweet spot for 7B models), and manage the full ML lifecycle. More work but more control.</a:t>
            </a:r>
          </a:p>
          <a:p/>
          <a:p>
            <a:r>
              <a:t>Bedrock Custom Models: upload your JSONL, click 'train', and get a private endpoint. They handle hyperparameters, infrastructure, and scaling. Best for teams that want results without ML engineering.</a:t>
            </a:r>
          </a:p>
          <a:p/>
          <a:p>
            <a:r>
              <a:t>Cost comparison: Bedrock charges per training token (~$0.008/1K tokens). For 8K examples, that's roughly $50-100 for a fine-tuning job. SageMaker is pay-per-hour for the GPU instance.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infrastructure has three layers: embedding models, vector databases, and orchestration frameworks.</a:t>
            </a:r>
          </a:p>
          <a:p/>
          <a:p>
            <a:r>
              <a:t>Embeddings: all-MiniLM-L6-v2 is our choice -- only 22M parameters but excellent performance. For production, consider OpenAI's text-embedding-3-small or Cohere's embed-v3.</a:t>
            </a:r>
          </a:p>
          <a:p/>
          <a:p>
            <a:r>
              <a:t>Vector DBs: ChromaDB (what we use) is great for prototyping -- in-memory, zero config. For production: Pinecone (managed), Weaviate (open-source), or pgvector (if you're already on PostgreSQL).</a:t>
            </a:r>
          </a:p>
          <a:p/>
          <a:p>
            <a:r>
              <a:t>LangChain and LlamaIndex handle the orchestration -- chunking, retrieval, prompt assembly, response generation.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code is from our actual demo application.</a:t>
            </a:r>
          </a:p>
          <a:p/>
          <a:p>
            <a:r>
              <a:t>Key design decisions: chunk size of 300 words with 50-word overlap. The overlap ensures that sentences straddling chunk boundaries aren't lost. Top-K=3 retrieval -- more chunks means more context but also more noise and higher latency.</a:t>
            </a:r>
          </a:p>
          <a:p/>
          <a:p>
            <a:r>
              <a:t>ChromaDB creates an in-memory collection and persists to disk. On restart, it reloads from the persisted data -- no need to re-embed all documents.</a:t>
            </a:r>
          </a:p>
          <a:p/>
          <a:p>
            <a:r>
              <a:t>Total setup time: about 10 minutes from scratch. That's the beauty of RAG -- fast to prototype.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Bedrock Knowledge Bases is the managed RAG solution.</a:t>
            </a:r>
          </a:p>
          <a:p/>
          <a:p>
            <a:r>
              <a:t>You point it at an S3 bucket with your documents, choose an embedding model, and it handles chunking, embedding, and storage in OpenSearch Serverless. No infrastructure to manage.</a:t>
            </a:r>
          </a:p>
          <a:p/>
          <a:p>
            <a:r>
              <a:t>The trade-off: less control over chunking strategy, retrieval logic, and re-ranking. For most enterprise use cases, the convenience outweighs the customization loss.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quality is the single biggest factor in fine-tuning success.</a:t>
            </a:r>
          </a:p>
          <a:p/>
          <a:p>
            <a:r>
              <a:t>Argilla and Label Studio are open-source annotation platforms. For financial data, you need domain experts annotating -- not just anyone. The Financial PhraseBank that trained FinBERT used 16 financial professionals.</a:t>
            </a:r>
          </a:p>
          <a:p/>
          <a:p>
            <a:r>
              <a:t>For evaluation: don't rely on a single metric. We use accuracy, F1 score, latency, cost, and LLM-as-Judge. Different metrics tell different stories -- a model with 90% accuracy but 10-second latency is useless for real-time applications.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production use cases where the right approach matters.</a:t>
            </a:r>
          </a:p>
          <a:p/>
          <a:p>
            <a:r>
              <a:t>Customer support: RAG is ideal. Questions are about YOUR products, and the knowledge base changes frequently. No need to retrain the model.</a:t>
            </a:r>
          </a:p>
          <a:p/>
          <a:p>
            <a:r>
              <a:t>Medical diagnosis support: Fine-tuning is critical. The model needs to understand clinical reasoning patterns, not just retrieve medical textbooks.</a:t>
            </a:r>
          </a:p>
          <a:p/>
          <a:p>
            <a:r>
              <a:t>Legal document analysis: Hybrid. Fine-tune for legal reasoning patterns, RAG for case law lookups.</a:t>
            </a:r>
          </a:p>
          <a:p/>
          <a:p>
            <a:r>
              <a:t>The pattern: if the domain has unique reasoning patterns, fine-tune. If it's mostly knowledge lookup, RAG.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architecture diagram for the hybrid system.</a:t>
            </a:r>
          </a:p>
          <a:p/>
          <a:p>
            <a:r>
              <a:t>The user's question and financial table go to both the embedding model (for retrieval) and directly to the fine-tuned model. Retrieved documents are added as additional context.</a:t>
            </a:r>
          </a:p>
          <a:p/>
          <a:p>
            <a:r>
              <a:t>The fine-tuned model (FinQA-7B) brings the reasoning skills. The RAG component brings fresh context and supporting evidence. Together, you get domain reasoning PLUS verifiable sources.</a:t>
            </a:r>
          </a:p>
          <a:p/>
          <a:p>
            <a:r>
              <a:t>In our benchmarks, the hybrid approach matches or beats every other approach across all four experiments.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be practical about costs.</a:t>
            </a:r>
          </a:p>
          <a:p/>
          <a:p>
            <a:r>
              <a:t>Fine-tuning has a higher upfront cost: training data preparation, compute for training, evaluation. But per-query cost is lower -- no retrieval step, fewer tokens, faster inference.</a:t>
            </a:r>
          </a:p>
          <a:p/>
          <a:p>
            <a:r>
              <a:t>RAG has a lower upfront cost: set up a vector DB, ingest documents, start querying. But per-query cost is higher -- embedding, retrieval, and larger prompts.</a:t>
            </a:r>
          </a:p>
          <a:p/>
          <a:p>
            <a:r>
              <a:t>The crossover point: at roughly 10K-50K queries per month, fine-tuning becomes cheaper than RAG. Below that, RAG's lower upfront cost wins.</a:t>
            </a:r>
          </a:p>
          <a:p/>
          <a:p>
            <a:r>
              <a:t>The real ROI question: what's the cost of wrong answers? In regulated industries, one compliance violation can cost more than a year of fine-tuning compute.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to remember from this presentation.</a:t>
            </a:r>
          </a:p>
          <a:p/>
          <a:p>
            <a:r>
              <a:t>1. Fine-tuning teaches SKILLS. It changes what the model CAN DO. Use it when the base model lacks the reasoning capabilities your task requires.</a:t>
            </a:r>
          </a:p>
          <a:p/>
          <a:p>
            <a:r>
              <a:t>2. RAG provides INFORMATION. It changes what the model KNOWS at query time. Use it when the model already has the right skills but needs access to specific or current data.</a:t>
            </a:r>
          </a:p>
          <a:p/>
          <a:p>
            <a:r>
              <a:t>3. Hybrid combines both. For most serious production systems, you want a fine-tuned model augmented with RAG for dynamic knowledge. This is the architecture that consistently wins in our benchmarks.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the evidence. Everything from here on is based on real experiments we ran -- no synthetic data, no simulated results. Each benchmark compares the SAME architecture with different approaches. The only variable is the method: base model, fine-tuned, RAG, or hybrid.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controlled experiments, each using a different model architecture.</a:t>
            </a:r>
          </a:p>
          <a:p/>
          <a:p>
            <a:r>
              <a:t>Experiment 1: BERT-base (110M params) on financial sentiment classification.</a:t>
            </a:r>
          </a:p>
          <a:p>
            <a:r>
              <a:t>Experiment 2: Llama2-7B (7B params) on numerical reasoning from financial tables.</a:t>
            </a:r>
          </a:p>
          <a:p>
            <a:r>
              <a:t>Experiment 3: Llama2-7B on financial ratio calculation (more complex multi-step problems).</a:t>
            </a:r>
          </a:p>
          <a:p>
            <a:r>
              <a:t>Experiment 4: DistilBERT (66M params) on spam/phishing email detection.</a:t>
            </a:r>
          </a:p>
          <a:p>
            <a:r>
              <a:t>Experiment 5: Model size comparison -- DistilBERT (66M) vs GPT-4o-mini (~8B) on spam detection.</a:t>
            </a:r>
          </a:p>
          <a:p/>
          <a:p>
            <a:r>
              <a:t>The methodology is critical: same architecture, same test cases, same evaluation criteria. This isolates the impact of the approach from confounding variables like model size.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Pay attention to the accuracy gaps between approaches.</a:t>
            </a:r>
          </a:p>
          <a:p/>
          <a:p>
            <a:r>
              <a:t>In every experiment, the fine-tuned model significantly outperforms the base model. RAG improves over base but doesn't match fine-tuning. The hybrid approach typically matches or slightly exceeds the fine-tuned model alone.</a:t>
            </a:r>
          </a:p>
          <a:p/>
          <a:p>
            <a:r>
              <a:t>The latency chart tells the cost story: RAG consistently adds 200-600ms for the retrieval step. At scale, this compounds. 1,000 queries per minute with 400ms extra latency means 400 additional seconds of compute time per minute.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Token consumption directly drives API costs.</a:t>
            </a:r>
          </a:p>
          <a:p/>
          <a:p>
            <a:r>
              <a:t>RAG uses significantly more tokens because retrieved document chunks are prepended to the prompt. A typical RAG query might use 3-5x more input tokens than a direct fine-tuned inference.</a:t>
            </a:r>
          </a:p>
          <a:p/>
          <a:p>
            <a:r>
              <a:t>For the cost/1K queries metric: this assumes market pricing for API-based models. Self-hosted fine-tuned models have near-zero marginal cost (just electricity). This is a massive advantage at scale.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F1 score provides a more nuanced view than accuracy alone, especially for imbalanced classes.</a:t>
            </a:r>
          </a:p>
          <a:p/>
          <a:p>
            <a:r>
              <a:t>High accuracy with low F1 means the model is biased toward the majority class. A good model needs both high precision (few false positives) and high recall (few false negatives).</a:t>
            </a:r>
          </a:p>
          <a:p/>
          <a:p>
            <a:r>
              <a:t>For numerical tasks, MAPE (Mean Absolute Percentage Error) measures how close the predicted numbers are to the expected values. A model might get the direction right but be off by 50%.</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category breakdown reveals WHERE each approach wins and loses.</a:t>
            </a:r>
          </a:p>
          <a:p/>
          <a:p>
            <a:r>
              <a:t>Look for categories where fine-tuning dramatically outperforms RAG -- these are the 'skill gaps' that RAG cannot address. Conversely, categories where RAG matches fine-tuning are the knowledge-intensive tasks.</a:t>
            </a:r>
          </a:p>
          <a:p/>
          <a:p>
            <a:r>
              <a:t>Domain jargon is a classic fine-tuning win: the model learns that financial terms like 'headwind', 'runway', and 'restructuring' carry different sentiment than their everyday usage.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category breakdown reveals WHERE each approach wins and loses.</a:t>
            </a:r>
          </a:p>
          <a:p/>
          <a:p>
            <a:r>
              <a:t>Look for categories where fine-tuning dramatically outperforms RAG -- these are the 'skill gaps' that RAG cannot address. Conversely, categories where RAG matches fine-tuning are the knowledge-intensive tasks.</a:t>
            </a:r>
          </a:p>
          <a:p/>
          <a:p>
            <a:r>
              <a:t>Domain jargon is a classic fine-tuning win: the model learns that financial terms like 'headwind', 'runway', and 'restructuring' carry different sentiment than their everyday usage.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Individual examples help build intuition for model behavior.</a:t>
            </a:r>
          </a:p>
          <a:p/>
          <a:p>
            <a:r>
              <a:t>Look for patterns in the failures: does the base model consistently fail on the same types of questions? Does RAG fail when the retrieved documents are misleading or off-topic?</a:t>
            </a:r>
          </a:p>
          <a:p/>
          <a:p>
            <a:r>
              <a:t>The [Y/N] markers show correct/incorrect. Count the patterns -- where does each approach struggle?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Pay attention to the accuracy gaps between approaches.</a:t>
            </a:r>
          </a:p>
          <a:p/>
          <a:p>
            <a:r>
              <a:t>In every experiment, the fine-tuned model significantly outperforms the base model. RAG improves over base but doesn't match fine-tuning. The hybrid approach typically matches or slightly exceeds the fine-tuned model alone.</a:t>
            </a:r>
          </a:p>
          <a:p/>
          <a:p>
            <a:r>
              <a:t>The latency chart tells the cost story: RAG consistently adds 200-600ms for the retrieval step. At scale, this compounds. 1,000 queries per minute with 400ms extra latency means 400 additional seconds of compute time per minute.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Token consumption directly drives API costs.</a:t>
            </a:r>
          </a:p>
          <a:p/>
          <a:p>
            <a:r>
              <a:t>RAG uses significantly more tokens because retrieved document chunks are prepended to the prompt. A typical RAG query might use 3-5x more input tokens than a direct fine-tuned inference.</a:t>
            </a:r>
          </a:p>
          <a:p/>
          <a:p>
            <a:r>
              <a:t>For the cost/1K queries metric: this assumes market pricing for API-based models. Self-hosted fine-tuned models have near-zero marginal cost (just electricity). This is a massive advantage at scale.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F1 score provides a more nuanced view than accuracy alone, especially for imbalanced classes.</a:t>
            </a:r>
          </a:p>
          <a:p/>
          <a:p>
            <a:r>
              <a:t>High accuracy with low F1 means the model is biased toward the majority class. A good model needs both high precision (few false positives) and high recall (few false negatives).</a:t>
            </a:r>
          </a:p>
          <a:p/>
          <a:p>
            <a:r>
              <a:t>For numerical tasks, MAPE (Mean Absolute Percentage Error) measures how close the predicted numbers are to the expected values. A model might get the direction right but be off by 50%.</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category breakdown reveals WHERE each approach wins and loses.</a:t>
            </a:r>
          </a:p>
          <a:p/>
          <a:p>
            <a:r>
              <a:t>Look for categories where fine-tuning dramatically outperforms RAG -- these are the 'skill gaps' that RAG cannot address. Conversely, categories where RAG matches fine-tuning are the knowledge-intensive tasks.</a:t>
            </a:r>
          </a:p>
          <a:p/>
          <a:p>
            <a:r>
              <a:t>Domain jargon is a classic fine-tuning win: the model learns that financial terms like 'headwind', 'runway', and 'restructuring' carry different sentiment than their everyday usage.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category breakdown reveals WHERE each approach wins and loses.</a:t>
            </a:r>
          </a:p>
          <a:p/>
          <a:p>
            <a:r>
              <a:t>Look for categories where fine-tuning dramatically outperforms RAG -- these are the 'skill gaps' that RAG cannot address. Conversely, categories where RAG matches fine-tuning are the knowledge-intensive tasks.</a:t>
            </a:r>
          </a:p>
          <a:p/>
          <a:p>
            <a:r>
              <a:t>Domain jargon is a classic fine-tuning win: the model learns that financial terms like 'headwind', 'runway', and 'restructuring' carry different sentiment than their everyday usage.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Individual examples help build intuition for model behavior.</a:t>
            </a:r>
          </a:p>
          <a:p/>
          <a:p>
            <a:r>
              <a:t>Look for patterns in the failures: does the base model consistently fail on the same types of questions? Does RAG fail when the retrieved documents are misleading or off-topic?</a:t>
            </a:r>
          </a:p>
          <a:p/>
          <a:p>
            <a:r>
              <a:t>The [Y/N] markers show correct/incorrect. Count the patterns -- where does each approach struggle?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Pay attention to the accuracy gaps between approaches.</a:t>
            </a:r>
          </a:p>
          <a:p/>
          <a:p>
            <a:r>
              <a:t>In every experiment, the fine-tuned model significantly outperforms the base model. RAG improves over base but doesn't match fine-tuning. The hybrid approach typically matches or slightly exceeds the fine-tuned model alone.</a:t>
            </a:r>
          </a:p>
          <a:p/>
          <a:p>
            <a:r>
              <a:t>The latency chart tells the cost story: RAG consistently adds 200-600ms for the retrieval step. At scale, this compounds. 1,000 queries per minute with 400ms extra latency means 400 additional seconds of compute time per minute.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Token consumption directly drives API costs.</a:t>
            </a:r>
          </a:p>
          <a:p/>
          <a:p>
            <a:r>
              <a:t>RAG uses significantly more tokens because retrieved document chunks are prepended to the prompt. A typical RAG query might use 3-5x more input tokens than a direct fine-tuned inference.</a:t>
            </a:r>
          </a:p>
          <a:p/>
          <a:p>
            <a:r>
              <a:t>For the cost/1K queries metric: this assumes market pricing for API-based models. Self-hosted fine-tuned models have near-zero marginal cost (just electricity). This is a massive advantage at scale.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F1 score provides a more nuanced view than accuracy alone, especially for imbalanced classes.</a:t>
            </a:r>
          </a:p>
          <a:p/>
          <a:p>
            <a:r>
              <a:t>High accuracy with low F1 means the model is biased toward the majority class. A good model needs both high precision (few false positives) and high recall (few false negatives).</a:t>
            </a:r>
          </a:p>
          <a:p/>
          <a:p>
            <a:r>
              <a:t>For numerical tasks, MAPE (Mean Absolute Percentage Error) measures how close the predicted numbers are to the expected values. A model might get the direction right but be off by 50%.</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category breakdown reveals WHERE each approach wins and loses.</a:t>
            </a:r>
          </a:p>
          <a:p/>
          <a:p>
            <a:r>
              <a:t>Look for categories where fine-tuning dramatically outperforms RAG -- these are the 'skill gaps' that RAG cannot address. Conversely, categories where RAG matches fine-tuning are the knowledge-intensive tasks.</a:t>
            </a:r>
          </a:p>
          <a:p/>
          <a:p>
            <a:r>
              <a:t>Domain jargon is a classic fine-tuning win: the model learns that financial terms like 'headwind', 'runway', and 'restructuring' carry different sentiment than their everyday usage.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category breakdown reveals WHERE each approach wins and loses.</a:t>
            </a:r>
          </a:p>
          <a:p/>
          <a:p>
            <a:r>
              <a:t>Look for categories where fine-tuning dramatically outperforms RAG -- these are the 'skill gaps' that RAG cannot address. Conversely, categories where RAG matches fine-tuning are the knowledge-intensive tasks.</a:t>
            </a:r>
          </a:p>
          <a:p/>
          <a:p>
            <a:r>
              <a:t>Domain jargon is a classic fine-tuning win: the model learns that financial terms like 'headwind', 'runway', and 'restructuring' carry different sentiment than their everyday usage.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Individual examples help build intuition for model behavior.</a:t>
            </a:r>
          </a:p>
          <a:p/>
          <a:p>
            <a:r>
              <a:t>Look for patterns in the failures: does the base model consistently fail on the same types of questions? Does RAG fail when the retrieved documents are misleading or off-topic?</a:t>
            </a:r>
          </a:p>
          <a:p/>
          <a:p>
            <a:r>
              <a:t>The [Y/N] markers show correct/incorrect. Count the patterns -- where does each approach struggle?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Pay attention to the accuracy gaps between approaches.</a:t>
            </a:r>
          </a:p>
          <a:p/>
          <a:p>
            <a:r>
              <a:t>In every experiment, the fine-tuned model significantly outperforms the base model. RAG improves over base but doesn't match fine-tuning. The hybrid approach typically matches or slightly exceeds the fine-tuned model alone.</a:t>
            </a:r>
          </a:p>
          <a:p/>
          <a:p>
            <a:r>
              <a:t>The latency chart tells the cost story: RAG consistently adds 200-600ms for the retrieval step. At scale, this compounds. 1,000 queries per minute with 400ms extra latency means 400 additional seconds of compute time per minute.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Token consumption directly drives API costs.</a:t>
            </a:r>
          </a:p>
          <a:p/>
          <a:p>
            <a:r>
              <a:t>RAG uses significantly more tokens because retrieved document chunks are prepended to the prompt. A typical RAG query might use 3-5x more input tokens than a direct fine-tuned inference.</a:t>
            </a:r>
          </a:p>
          <a:p/>
          <a:p>
            <a:r>
              <a:t>For the cost/1K queries metric: this assumes market pricing for API-based models. Self-hosted fine-tuned models have near-zero marginal cost (just electricity). This is a massive advantage at scale.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F1 score provides a more nuanced view than accuracy alone, especially for imbalanced classes.</a:t>
            </a:r>
          </a:p>
          <a:p/>
          <a:p>
            <a:r>
              <a:t>High accuracy with low F1 means the model is biased toward the majority class. A good model needs both high precision (few false positives) and high recall (few false negatives).</a:t>
            </a:r>
          </a:p>
          <a:p/>
          <a:p>
            <a:r>
              <a:t>For numerical tasks, MAPE (Mean Absolute Percentage Error) measures how close the predicted numbers are to the expected values. A model might get the direction right but be off by 50%.</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category breakdown reveals WHERE each approach wins and loses.</a:t>
            </a:r>
          </a:p>
          <a:p/>
          <a:p>
            <a:r>
              <a:t>Look for categories where fine-tuning dramatically outperforms RAG -- these are the 'skill gaps' that RAG cannot address. Conversely, categories where RAG matches fine-tuning are the knowledge-intensive tasks.</a:t>
            </a:r>
          </a:p>
          <a:p/>
          <a:p>
            <a:r>
              <a:t>Domain jargon is a classic fine-tuning win: the model learns that financial terms like 'headwind', 'runway', and 'restructuring' carry different sentiment than their everyday usage.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category breakdown reveals WHERE each approach wins and loses.</a:t>
            </a:r>
          </a:p>
          <a:p/>
          <a:p>
            <a:r>
              <a:t>Look for categories where fine-tuning dramatically outperforms RAG -- these are the 'skill gaps' that RAG cannot address. Conversely, categories where RAG matches fine-tuning are the knowledge-intensive tasks.</a:t>
            </a:r>
          </a:p>
          <a:p/>
          <a:p>
            <a:r>
              <a:t>Domain jargon is a classic fine-tuning win: the model learns that financial terms like 'headwind', 'runway', and 'restructuring' carry different sentiment than their everyday usage.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Individual examples help build intuition for model behavior.</a:t>
            </a:r>
          </a:p>
          <a:p/>
          <a:p>
            <a:r>
              <a:t>Look for patterns in the failures: does the base model consistently fail on the same types of questions? Does RAG fail when the retrieved documents are misleading or off-topic?</a:t>
            </a:r>
          </a:p>
          <a:p/>
          <a:p>
            <a:r>
              <a:t>The [Y/N] markers show correct/incorrect. Count the patterns -- where does each approach struggle?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experiment asks a fundamental question: if fine-tuning teaches skills, does a bigger model learn them better?</a:t>
            </a:r>
          </a:p>
          <a:p/>
          <a:p>
            <a:r>
              <a:t>We compare two models BOTH fine-tuned on the same spam detection task with the same training data. DistilBERT has 66 million parameters. GPT-4o-mini has approximately 8 billion -- 121 times larger.</a:t>
            </a:r>
          </a:p>
          <a:p/>
          <a:p>
            <a:r>
              <a:t>DistilBERT runs locally with near-zero cost. GPT-4o-mini requires an API call at $0.30 per million input tokens.</a:t>
            </a:r>
          </a:p>
          <a:p/>
          <a:p>
            <a:r>
              <a:t>The question is whether that 121x size difference and higher cost translate to proportionally better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results are striking.</a:t>
            </a:r>
          </a:p>
          <a:p/>
          <a:p>
            <a:r>
              <a:t>On basic test cases, GPT-4o-mini edges out DistilBERT by about 5 percentage points. But DistilBERT is running at 1/23rd the latency and near-zero cost.</a:t>
            </a:r>
          </a:p>
          <a:p/>
          <a:p>
            <a:r>
              <a:t>On adversarial cases, the gap widens -- the larger model is more robust to edge cases. This makes sense: more parameters give more capacity to handle unusual inputs.</a:t>
            </a:r>
          </a:p>
          <a:p/>
          <a:p>
            <a:r>
              <a:t>The diminishing returns insight: going from 66M to 8B parameters (121x) yields only a modest accuracy gain. For many production use cases, the smaller, faster, cheaper model is the better choice.</a:t>
            </a:r>
          </a:p>
          <a:p/>
          <a:p>
            <a:r>
              <a:t>This has profound implications for deployment: a $0.005/1K query model achieving 95% accuracy often beats a $0.02/1K query model achieving 100% accuracy.</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LLM-as-Judge evaluation adds a qualitative dimension to our quantitative benchmarks.</a:t>
            </a:r>
          </a:p>
          <a:p/>
          <a:p>
            <a:r>
              <a:t>We used GPT-4o as an independent judge to score each model's predictions on three dimensions: correctness (did it get the right answer?), reasoning quality (does the prediction show domain understanding?), and faithfulness (is the classification based on actual email content?).</a:t>
            </a:r>
          </a:p>
          <a:p/>
          <a:p>
            <a:r>
              <a:t>On basic cases, both models score near-perfect -- the differences only emerge on adversarial cases where the emails are deliberately designed to confuse classifiers.</a:t>
            </a:r>
          </a:p>
          <a:p/>
          <a:p>
            <a:r>
              <a:t>The judge scores align with the accuracy metrics but provide richer insights: a model can be incorrect but still show reasonable reasoning, or correct but for the wrong reasons.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your attention. Let's open the floor for questions.</a:t>
            </a:r>
          </a:p>
          <a:p/>
          <a:p>
            <a:r>
              <a:t>For the live demo, we can run any of the models in real-time and show you the differences side by side. The Streamlit application is running at localhost:8501 if you want to try it yourself.</a:t>
            </a:r>
          </a:p>
          <a:p/>
          <a:p>
            <a:r>
              <a:t>All code, benchmarks, and the presentation itself are available in the repository. The benchmark results are reproducible -- you can run them yourself with docker compose up.</a:t>
            </a:r>
          </a:p>
          <a:p/>
          <a:p>
            <a:r>
              <a:t>Key takeaway: fine-tuning teaches SKILLS, RAG provides INFORMATION. The best systems combine both. Now go build something great.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notesSlide" Target="../notesSlides/notesSlide4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notesSlide" Target="../notesSlides/notesSlide4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4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4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notesSlide" Target="../notesSlides/notesSlide4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 Id="rId3" Type="http://schemas.openxmlformats.org/officeDocument/2006/relationships/chart" Target="../charts/chart9.xml"/><Relationship Id="rId4" Type="http://schemas.openxmlformats.org/officeDocument/2006/relationships/notesSlide" Target="../notesSlides/notesSlide4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notesSlide" Target="../notesSlides/notesSlide5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2.xml"/><Relationship Id="rId3" Type="http://schemas.openxmlformats.org/officeDocument/2006/relationships/notesSlide" Target="../notesSlides/notesSlide5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3.xml"/><Relationship Id="rId3" Type="http://schemas.openxmlformats.org/officeDocument/2006/relationships/notesSlide" Target="../notesSlides/notesSlide5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4.xml"/><Relationship Id="rId3" Type="http://schemas.openxmlformats.org/officeDocument/2006/relationships/chart" Target="../charts/chart15.xml"/><Relationship Id="rId4" Type="http://schemas.openxmlformats.org/officeDocument/2006/relationships/notesSlide" Target="../notesSlides/notesSlide5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6.xml"/><Relationship Id="rId3" Type="http://schemas.openxmlformats.org/officeDocument/2006/relationships/chart" Target="../charts/chart17.xml"/><Relationship Id="rId4" Type="http://schemas.openxmlformats.org/officeDocument/2006/relationships/notesSlide" Target="../notesSlides/notesSlide5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8.xml"/><Relationship Id="rId3" Type="http://schemas.openxmlformats.org/officeDocument/2006/relationships/notesSlide" Target="../notesSlides/notesSlide5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9.xml"/><Relationship Id="rId3" Type="http://schemas.openxmlformats.org/officeDocument/2006/relationships/notesSlide" Target="../notesSlides/notesSlide5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0.xml"/><Relationship Id="rId3" Type="http://schemas.openxmlformats.org/officeDocument/2006/relationships/chart" Target="../charts/chart21.xml"/><Relationship Id="rId4" Type="http://schemas.openxmlformats.org/officeDocument/2006/relationships/notesSlide" Target="../notesSlides/notesSlide5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2.xml"/><Relationship Id="rId3" Type="http://schemas.openxmlformats.org/officeDocument/2006/relationships/chart" Target="../charts/chart23.xml"/><Relationship Id="rId4" Type="http://schemas.openxmlformats.org/officeDocument/2006/relationships/notesSlide" Target="../notesSlides/notesSlide6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4.xml"/><Relationship Id="rId3" Type="http://schemas.openxmlformats.org/officeDocument/2006/relationships/notesSlide" Target="../notesSlides/notesSlide6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5.xml"/><Relationship Id="rId3" Type="http://schemas.openxmlformats.org/officeDocument/2006/relationships/notesSlide" Target="../notesSlides/notesSlide6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6.xml"/><Relationship Id="rId3" Type="http://schemas.openxmlformats.org/officeDocument/2006/relationships/notesSlide" Target="../notesSlides/notesSlide6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notesSlide" Target="../notesSlides/notesSlide6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9.xml"/><Relationship Id="rId3" Type="http://schemas.openxmlformats.org/officeDocument/2006/relationships/notesSlide" Target="../notesSlides/notesSlide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0.xml"/><Relationship Id="rId3" Type="http://schemas.openxmlformats.org/officeDocument/2006/relationships/notesSlide" Target="../notesSlides/notesSlide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1.xml"/><Relationship Id="rId3" Type="http://schemas.openxmlformats.org/officeDocument/2006/relationships/notesSlide" Target="../notesSlides/notesSlide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2A3A"/>
        </a:solidFill>
        <a:effectLst/>
      </p:bgPr>
    </p:bg>
    <p:spTree>
      <p:nvGrpSpPr>
        <p:cNvPr id="1" name=""/>
        <p:cNvGrpSpPr/>
        <p:nvPr/>
      </p:nvGrpSpPr>
      <p:grpSpPr/>
      <p:sp>
        <p:nvSpPr>
          <p:cNvPr id="2" name="TextBox 1"/>
          <p:cNvSpPr txBox="1"/>
          <p:nvPr/>
        </p:nvSpPr>
        <p:spPr>
          <a:xfrm>
            <a:off x="914400" y="1371600"/>
            <a:ext cx="10058400" cy="1371600"/>
          </a:xfrm>
          <a:prstGeom prst="rect">
            <a:avLst/>
          </a:prstGeom>
          <a:noFill/>
        </p:spPr>
        <p:txBody>
          <a:bodyPr wrap="square">
            <a:spAutoFit/>
          </a:bodyPr>
          <a:lstStyle/>
          <a:p>
            <a:pPr algn="ctr">
              <a:defRPr sz="5200" b="1">
                <a:solidFill>
                  <a:srgbClr val="5DAEF2"/>
                </a:solidFill>
                <a:latin typeface="Calibri"/>
              </a:defRPr>
            </a:pPr>
            <a:r>
              <a:t>LLM Fine-Tuning</a:t>
            </a:r>
          </a:p>
        </p:txBody>
      </p:sp>
      <p:sp>
        <p:nvSpPr>
          <p:cNvPr id="3" name="TextBox 2"/>
          <p:cNvSpPr txBox="1"/>
          <p:nvPr/>
        </p:nvSpPr>
        <p:spPr>
          <a:xfrm>
            <a:off x="914400" y="2743200"/>
            <a:ext cx="10058400" cy="914400"/>
          </a:xfrm>
          <a:prstGeom prst="rect">
            <a:avLst/>
          </a:prstGeom>
          <a:noFill/>
        </p:spPr>
        <p:txBody>
          <a:bodyPr wrap="square">
            <a:spAutoFit/>
          </a:bodyPr>
          <a:lstStyle/>
          <a:p>
            <a:pPr algn="ctr">
              <a:defRPr sz="2800" b="0">
                <a:solidFill>
                  <a:srgbClr val="ECEFF1"/>
                </a:solidFill>
                <a:latin typeface="Calibri"/>
              </a:defRPr>
            </a:pPr>
            <a:r>
              <a:t>Maximizing AI Performance for Specialized Tasks</a:t>
            </a:r>
          </a:p>
        </p:txBody>
      </p:sp>
      <p:sp>
        <p:nvSpPr>
          <p:cNvPr id="4" name="TextBox 3"/>
          <p:cNvSpPr txBox="1"/>
          <p:nvPr/>
        </p:nvSpPr>
        <p:spPr>
          <a:xfrm>
            <a:off x="1371600" y="4114800"/>
            <a:ext cx="3200400" cy="365760"/>
          </a:xfrm>
          <a:prstGeom prst="rect">
            <a:avLst/>
          </a:prstGeom>
          <a:noFill/>
        </p:spPr>
        <p:txBody>
          <a:bodyPr wrap="square">
            <a:spAutoFit/>
          </a:bodyPr>
          <a:lstStyle/>
          <a:p>
            <a:pPr algn="ctr">
              <a:defRPr sz="1400" b="1">
                <a:solidFill>
                  <a:srgbClr val="5DAEF2"/>
                </a:solidFill>
                <a:latin typeface="Calibri"/>
              </a:defRPr>
            </a:pPr>
            <a:r>
              <a:t>Topics</a:t>
            </a:r>
          </a:p>
        </p:txBody>
      </p:sp>
      <p:sp>
        <p:nvSpPr>
          <p:cNvPr id="5" name="TextBox 4"/>
          <p:cNvSpPr txBox="1"/>
          <p:nvPr/>
        </p:nvSpPr>
        <p:spPr>
          <a:xfrm>
            <a:off x="1371600" y="4480560"/>
            <a:ext cx="3200400" cy="365760"/>
          </a:xfrm>
          <a:prstGeom prst="rect">
            <a:avLst/>
          </a:prstGeom>
          <a:noFill/>
        </p:spPr>
        <p:txBody>
          <a:bodyPr wrap="square">
            <a:spAutoFit/>
          </a:bodyPr>
          <a:lstStyle/>
          <a:p>
            <a:pPr algn="ctr">
              <a:defRPr sz="1400" b="0">
                <a:solidFill>
                  <a:srgbClr val="ECEFF1"/>
                </a:solidFill>
                <a:latin typeface="Calibri"/>
              </a:defRPr>
            </a:pPr>
            <a:r>
              <a:t>Fine-Tuning vs RAG vs Hybrid</a:t>
            </a:r>
          </a:p>
        </p:txBody>
      </p:sp>
      <p:sp>
        <p:nvSpPr>
          <p:cNvPr id="6" name="TextBox 5"/>
          <p:cNvSpPr txBox="1"/>
          <p:nvPr/>
        </p:nvSpPr>
        <p:spPr>
          <a:xfrm>
            <a:off x="4846320" y="4114800"/>
            <a:ext cx="3200400" cy="365760"/>
          </a:xfrm>
          <a:prstGeom prst="rect">
            <a:avLst/>
          </a:prstGeom>
          <a:noFill/>
        </p:spPr>
        <p:txBody>
          <a:bodyPr wrap="square">
            <a:spAutoFit/>
          </a:bodyPr>
          <a:lstStyle/>
          <a:p>
            <a:pPr algn="ctr">
              <a:defRPr sz="1400" b="1">
                <a:solidFill>
                  <a:srgbClr val="5DAEF2"/>
                </a:solidFill>
                <a:latin typeface="Calibri"/>
              </a:defRPr>
            </a:pPr>
            <a:r>
              <a:t>Audience</a:t>
            </a:r>
          </a:p>
        </p:txBody>
      </p:sp>
      <p:sp>
        <p:nvSpPr>
          <p:cNvPr id="7" name="TextBox 6"/>
          <p:cNvSpPr txBox="1"/>
          <p:nvPr/>
        </p:nvSpPr>
        <p:spPr>
          <a:xfrm>
            <a:off x="4846320" y="4480560"/>
            <a:ext cx="3200400" cy="365760"/>
          </a:xfrm>
          <a:prstGeom prst="rect">
            <a:avLst/>
          </a:prstGeom>
          <a:noFill/>
        </p:spPr>
        <p:txBody>
          <a:bodyPr wrap="square">
            <a:spAutoFit/>
          </a:bodyPr>
          <a:lstStyle/>
          <a:p>
            <a:pPr algn="ctr">
              <a:defRPr sz="1400" b="0">
                <a:solidFill>
                  <a:srgbClr val="ECEFF1"/>
                </a:solidFill>
                <a:latin typeface="Calibri"/>
              </a:defRPr>
            </a:pPr>
            <a:r>
              <a:t>No deep technical experience required</a:t>
            </a:r>
          </a:p>
        </p:txBody>
      </p:sp>
      <p:sp>
        <p:nvSpPr>
          <p:cNvPr id="8" name="TextBox 7"/>
          <p:cNvSpPr txBox="1"/>
          <p:nvPr/>
        </p:nvSpPr>
        <p:spPr>
          <a:xfrm>
            <a:off x="8321040" y="4114800"/>
            <a:ext cx="3200400" cy="365760"/>
          </a:xfrm>
          <a:prstGeom prst="rect">
            <a:avLst/>
          </a:prstGeom>
          <a:noFill/>
        </p:spPr>
        <p:txBody>
          <a:bodyPr wrap="square">
            <a:spAutoFit/>
          </a:bodyPr>
          <a:lstStyle/>
          <a:p>
            <a:pPr algn="ctr">
              <a:defRPr sz="1400" b="1">
                <a:solidFill>
                  <a:srgbClr val="5DAEF2"/>
                </a:solidFill>
                <a:latin typeface="Calibri"/>
              </a:defRPr>
            </a:pPr>
            <a:r>
              <a:t>Format</a:t>
            </a:r>
          </a:p>
        </p:txBody>
      </p:sp>
      <p:sp>
        <p:nvSpPr>
          <p:cNvPr id="9" name="TextBox 8"/>
          <p:cNvSpPr txBox="1"/>
          <p:nvPr/>
        </p:nvSpPr>
        <p:spPr>
          <a:xfrm>
            <a:off x="8321040" y="4480560"/>
            <a:ext cx="3200400" cy="365760"/>
          </a:xfrm>
          <a:prstGeom prst="rect">
            <a:avLst/>
          </a:prstGeom>
          <a:noFill/>
        </p:spPr>
        <p:txBody>
          <a:bodyPr wrap="square">
            <a:spAutoFit/>
          </a:bodyPr>
          <a:lstStyle/>
          <a:p>
            <a:pPr algn="ctr">
              <a:defRPr sz="1400" b="0">
                <a:solidFill>
                  <a:srgbClr val="ECEFF1"/>
                </a:solidFill>
                <a:latin typeface="Calibri"/>
              </a:defRPr>
            </a:pPr>
            <a:r>
              <a:t>Presentation + Live Demo</a:t>
            </a:r>
          </a:p>
        </p:txBody>
      </p:sp>
      <p:sp>
        <p:nvSpPr>
          <p:cNvPr id="10" name="TextBox 9"/>
          <p:cNvSpPr txBox="1"/>
          <p:nvPr/>
        </p:nvSpPr>
        <p:spPr>
          <a:xfrm>
            <a:off x="1371600" y="5303520"/>
            <a:ext cx="9144000" cy="914400"/>
          </a:xfrm>
          <a:prstGeom prst="rect">
            <a:avLst/>
          </a:prstGeom>
          <a:noFill/>
        </p:spPr>
        <p:txBody>
          <a:bodyPr wrap="square">
            <a:spAutoFit/>
          </a:bodyPr>
          <a:lstStyle/>
          <a:p>
            <a:pPr algn="ctr">
              <a:defRPr sz="1600" b="0">
                <a:solidFill>
                  <a:srgbClr val="A8C7E8"/>
                </a:solidFill>
                <a:latin typeface="Calibri"/>
              </a:defRPr>
            </a:pPr>
            <a:r>
              <a:t>"Fine-tuning teaches a model new skills. RAG gives it new information.</a:t>
            </a:r>
            <a:br/>
            <a:r>
              <a:t>Knowing the difference is the key to building effective AI systems."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Agenda</a:t>
            </a:r>
          </a:p>
        </p:txBody>
      </p:sp>
      <p:sp>
        <p:nvSpPr>
          <p:cNvPr id="3" name="TextBox 2"/>
          <p:cNvSpPr txBox="1"/>
          <p:nvPr/>
        </p:nvSpPr>
        <p:spPr>
          <a:xfrm>
            <a:off x="731520" y="1280160"/>
            <a:ext cx="5029200" cy="5029200"/>
          </a:xfrm>
          <a:prstGeom prst="rect">
            <a:avLst/>
          </a:prstGeom>
          <a:noFill/>
        </p:spPr>
        <p:txBody>
          <a:bodyPr wrap="square">
            <a:spAutoFit/>
          </a:bodyPr>
          <a:lstStyle/>
          <a:p>
            <a:pPr>
              <a:spcAft>
                <a:spcPts val="400"/>
              </a:spcAft>
              <a:defRPr sz="1600">
                <a:solidFill>
                  <a:srgbClr val="1C2A3A"/>
                </a:solidFill>
                <a:latin typeface="Calibri"/>
              </a:defRPr>
            </a:pPr>
            <a:r>
              <a:t>Part 1: Understanding the Landscape</a:t>
            </a:r>
          </a:p>
          <a:p>
            <a:pPr>
              <a:spcAft>
                <a:spcPts val="400"/>
              </a:spcAft>
              <a:defRPr sz="1600">
                <a:solidFill>
                  <a:srgbClr val="1C2A3A"/>
                </a:solidFill>
                <a:latin typeface="Calibri"/>
              </a:defRPr>
            </a:pPr>
            <a:r>
              <a:t>  1. What are Large Language Models (LLMs)?</a:t>
            </a:r>
          </a:p>
          <a:p>
            <a:pPr>
              <a:spcAft>
                <a:spcPts val="400"/>
              </a:spcAft>
              <a:defRPr sz="1600">
                <a:solidFill>
                  <a:srgbClr val="1C2A3A"/>
                </a:solidFill>
                <a:latin typeface="Calibri"/>
              </a:defRPr>
            </a:pPr>
            <a:r>
              <a:t>  2. The specialization challenge</a:t>
            </a:r>
          </a:p>
          <a:p>
            <a:pPr>
              <a:spcAft>
                <a:spcPts val="400"/>
              </a:spcAft>
              <a:defRPr sz="1600">
                <a:solidFill>
                  <a:srgbClr val="1C2A3A"/>
                </a:solidFill>
                <a:latin typeface="Calibri"/>
              </a:defRPr>
            </a:pPr>
            <a:r>
              <a:t>  3. Three approaches to domain AI</a:t>
            </a:r>
          </a:p>
          <a:p>
            <a:pPr>
              <a:spcAft>
                <a:spcPts val="400"/>
              </a:spcAft>
              <a:defRPr sz="1600">
                <a:solidFill>
                  <a:srgbClr val="1C2A3A"/>
                </a:solidFill>
                <a:latin typeface="Calibri"/>
              </a:defRPr>
            </a:pPr>
          </a:p>
          <a:p>
            <a:pPr>
              <a:spcAft>
                <a:spcPts val="400"/>
              </a:spcAft>
              <a:defRPr sz="1600">
                <a:solidFill>
                  <a:srgbClr val="1C2A3A"/>
                </a:solidFill>
                <a:latin typeface="Calibri"/>
              </a:defRPr>
            </a:pPr>
            <a:r>
              <a:t>Part 2: Deep Dive</a:t>
            </a:r>
          </a:p>
          <a:p>
            <a:pPr>
              <a:spcAft>
                <a:spcPts val="400"/>
              </a:spcAft>
              <a:defRPr sz="1600">
                <a:solidFill>
                  <a:srgbClr val="1C2A3A"/>
                </a:solidFill>
                <a:latin typeface="Calibri"/>
              </a:defRPr>
            </a:pPr>
            <a:r>
              <a:t>  4. RAG - Benefits &amp; limitations</a:t>
            </a:r>
          </a:p>
          <a:p>
            <a:pPr>
              <a:spcAft>
                <a:spcPts val="400"/>
              </a:spcAft>
              <a:defRPr sz="1600">
                <a:solidFill>
                  <a:srgbClr val="1C2A3A"/>
                </a:solidFill>
                <a:latin typeface="Calibri"/>
              </a:defRPr>
            </a:pPr>
            <a:r>
              <a:t>  5. Fine-Tuning - Benefits &amp; methods</a:t>
            </a:r>
          </a:p>
          <a:p>
            <a:pPr>
              <a:spcAft>
                <a:spcPts val="400"/>
              </a:spcAft>
              <a:defRPr sz="1600">
                <a:solidFill>
                  <a:srgbClr val="1C2A3A"/>
                </a:solidFill>
                <a:latin typeface="Calibri"/>
              </a:defRPr>
            </a:pPr>
            <a:r>
              <a:t>  6. Head-to-head comparison</a:t>
            </a:r>
          </a:p>
          <a:p>
            <a:pPr>
              <a:spcAft>
                <a:spcPts val="400"/>
              </a:spcAft>
              <a:defRPr sz="1600">
                <a:solidFill>
                  <a:srgbClr val="1C2A3A"/>
                </a:solidFill>
                <a:latin typeface="Calibri"/>
              </a:defRPr>
            </a:pPr>
            <a:r>
              <a:t>  7. Decision framework</a:t>
            </a:r>
          </a:p>
        </p:txBody>
      </p:sp>
      <p:sp>
        <p:nvSpPr>
          <p:cNvPr id="4" name="TextBox 3"/>
          <p:cNvSpPr txBox="1"/>
          <p:nvPr/>
        </p:nvSpPr>
        <p:spPr>
          <a:xfrm>
            <a:off x="6217920" y="1280160"/>
            <a:ext cx="5029200" cy="5029200"/>
          </a:xfrm>
          <a:prstGeom prst="rect">
            <a:avLst/>
          </a:prstGeom>
          <a:noFill/>
        </p:spPr>
        <p:txBody>
          <a:bodyPr wrap="square">
            <a:spAutoFit/>
          </a:bodyPr>
          <a:lstStyle/>
          <a:p>
            <a:pPr>
              <a:spcAft>
                <a:spcPts val="400"/>
              </a:spcAft>
              <a:defRPr sz="1600">
                <a:solidFill>
                  <a:srgbClr val="1C2A3A"/>
                </a:solidFill>
                <a:latin typeface="Calibri"/>
              </a:defRPr>
            </a:pPr>
            <a:r>
              <a:t>Part 3: Tools &amp; Ecosystem</a:t>
            </a:r>
          </a:p>
          <a:p>
            <a:pPr>
              <a:spcAft>
                <a:spcPts val="400"/>
              </a:spcAft>
              <a:defRPr sz="1600">
                <a:solidFill>
                  <a:srgbClr val="1C2A3A"/>
                </a:solidFill>
                <a:latin typeface="Calibri"/>
              </a:defRPr>
            </a:pPr>
            <a:r>
              <a:t>  8. Fine-tuning tools &amp; platforms</a:t>
            </a:r>
          </a:p>
          <a:p>
            <a:pPr>
              <a:spcAft>
                <a:spcPts val="400"/>
              </a:spcAft>
              <a:defRPr sz="1600">
                <a:solidFill>
                  <a:srgbClr val="1C2A3A"/>
                </a:solidFill>
                <a:latin typeface="Calibri"/>
              </a:defRPr>
            </a:pPr>
            <a:r>
              <a:t>  9. RAG tools &amp; infrastructure</a:t>
            </a:r>
          </a:p>
          <a:p>
            <a:pPr>
              <a:spcAft>
                <a:spcPts val="400"/>
              </a:spcAft>
              <a:defRPr sz="1600">
                <a:solidFill>
                  <a:srgbClr val="1C2A3A"/>
                </a:solidFill>
                <a:latin typeface="Calibri"/>
              </a:defRPr>
            </a:pPr>
            <a:r>
              <a:t>  10. The hybrid approach</a:t>
            </a:r>
          </a:p>
          <a:p>
            <a:pPr>
              <a:spcAft>
                <a:spcPts val="400"/>
              </a:spcAft>
              <a:defRPr sz="1600">
                <a:solidFill>
                  <a:srgbClr val="1C2A3A"/>
                </a:solidFill>
                <a:latin typeface="Calibri"/>
              </a:defRPr>
            </a:pPr>
          </a:p>
          <a:p>
            <a:pPr>
              <a:spcAft>
                <a:spcPts val="400"/>
              </a:spcAft>
              <a:defRPr sz="1600">
                <a:solidFill>
                  <a:srgbClr val="1C2A3A"/>
                </a:solidFill>
                <a:latin typeface="Calibri"/>
              </a:defRPr>
            </a:pPr>
            <a:r>
              <a:t>Part 4: Evidence &amp; Results</a:t>
            </a:r>
          </a:p>
          <a:p>
            <a:pPr>
              <a:spcAft>
                <a:spcPts val="400"/>
              </a:spcAft>
              <a:defRPr sz="1600">
                <a:solidFill>
                  <a:srgbClr val="1C2A3A"/>
                </a:solidFill>
                <a:latin typeface="Calibri"/>
              </a:defRPr>
            </a:pPr>
            <a:r>
              <a:t>  11. Benchmark: Sentiment Analysis</a:t>
            </a:r>
          </a:p>
          <a:p>
            <a:pPr>
              <a:spcAft>
                <a:spcPts val="400"/>
              </a:spcAft>
              <a:defRPr sz="1600">
                <a:solidFill>
                  <a:srgbClr val="1C2A3A"/>
                </a:solidFill>
                <a:latin typeface="Calibri"/>
              </a:defRPr>
            </a:pPr>
            <a:r>
              <a:t>  12. Benchmark: Numerical Reasoning</a:t>
            </a:r>
          </a:p>
          <a:p>
            <a:pPr>
              <a:spcAft>
                <a:spcPts val="400"/>
              </a:spcAft>
              <a:defRPr sz="1600">
                <a:solidFill>
                  <a:srgbClr val="1C2A3A"/>
                </a:solidFill>
                <a:latin typeface="Calibri"/>
              </a:defRPr>
            </a:pPr>
            <a:r>
              <a:t>  13. Benchmark: Financial Ratios</a:t>
            </a:r>
          </a:p>
          <a:p>
            <a:pPr>
              <a:spcAft>
                <a:spcPts val="400"/>
              </a:spcAft>
              <a:defRPr sz="1600">
                <a:solidFill>
                  <a:srgbClr val="1C2A3A"/>
                </a:solidFill>
                <a:latin typeface="Calibri"/>
              </a:defRPr>
            </a:pPr>
            <a:r>
              <a:t>  14. Key takeaways &amp; insights</a:t>
            </a:r>
          </a:p>
        </p:txBody>
      </p:sp>
      <p:sp>
        <p:nvSpPr>
          <p:cNvPr id="5" name="TextBox 4"/>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2/55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What Are Large Language Models?</a:t>
            </a:r>
          </a:p>
        </p:txBody>
      </p:sp>
      <p:sp>
        <p:nvSpPr>
          <p:cNvPr id="3" name="TextBox 2"/>
          <p:cNvSpPr txBox="1"/>
          <p:nvPr/>
        </p:nvSpPr>
        <p:spPr>
          <a:xfrm>
            <a:off x="731520" y="1371600"/>
            <a:ext cx="5029200" cy="2743200"/>
          </a:xfrm>
          <a:prstGeom prst="rect">
            <a:avLst/>
          </a:prstGeom>
          <a:noFill/>
        </p:spPr>
        <p:txBody>
          <a:bodyPr wrap="square">
            <a:spAutoFit/>
          </a:bodyPr>
          <a:lstStyle/>
          <a:p>
            <a:pPr>
              <a:spcAft>
                <a:spcPts val="400"/>
              </a:spcAft>
              <a:defRPr sz="1500">
                <a:solidFill>
                  <a:srgbClr val="1C2A3A"/>
                </a:solidFill>
                <a:latin typeface="Calibri"/>
              </a:defRPr>
            </a:pPr>
            <a:r>
              <a:t>How LLMs Work:</a:t>
            </a:r>
          </a:p>
          <a:p>
            <a:pPr>
              <a:spcAft>
                <a:spcPts val="400"/>
              </a:spcAft>
              <a:defRPr sz="1500">
                <a:solidFill>
                  <a:srgbClr val="1C2A3A"/>
                </a:solidFill>
                <a:latin typeface="Calibri"/>
              </a:defRPr>
            </a:pPr>
            <a:r>
              <a:t>  - Trained on massive text datasets (books, web, code)</a:t>
            </a:r>
          </a:p>
          <a:p>
            <a:pPr>
              <a:spcAft>
                <a:spcPts val="400"/>
              </a:spcAft>
              <a:defRPr sz="1500">
                <a:solidFill>
                  <a:srgbClr val="1C2A3A"/>
                </a:solidFill>
                <a:latin typeface="Calibri"/>
              </a:defRPr>
            </a:pPr>
            <a:r>
              <a:t>  - Learn language patterns, facts, and reasoning</a:t>
            </a:r>
          </a:p>
          <a:p>
            <a:pPr>
              <a:spcAft>
                <a:spcPts val="400"/>
              </a:spcAft>
              <a:defRPr sz="1500">
                <a:solidFill>
                  <a:srgbClr val="1C2A3A"/>
                </a:solidFill>
                <a:latin typeface="Calibri"/>
              </a:defRPr>
            </a:pPr>
            <a:r>
              <a:t>  - Billions of parameters encode learned knowledge</a:t>
            </a:r>
          </a:p>
          <a:p>
            <a:pPr>
              <a:spcAft>
                <a:spcPts val="400"/>
              </a:spcAft>
              <a:defRPr sz="1500">
                <a:solidFill>
                  <a:srgbClr val="1C2A3A"/>
                </a:solidFill>
                <a:latin typeface="Calibri"/>
              </a:defRPr>
            </a:pPr>
            <a:r>
              <a:t>  - Generate text by predicting the next token</a:t>
            </a:r>
          </a:p>
          <a:p>
            <a:pPr>
              <a:spcAft>
                <a:spcPts val="400"/>
              </a:spcAft>
              <a:defRPr sz="1500">
                <a:solidFill>
                  <a:srgbClr val="1C2A3A"/>
                </a:solidFill>
                <a:latin typeface="Calibri"/>
              </a:defRPr>
            </a:pPr>
          </a:p>
          <a:p>
            <a:pPr>
              <a:spcAft>
                <a:spcPts val="400"/>
              </a:spcAft>
              <a:defRPr sz="1500">
                <a:solidFill>
                  <a:srgbClr val="1C2A3A"/>
                </a:solidFill>
                <a:latin typeface="Calibri"/>
              </a:defRPr>
            </a:pPr>
            <a:r>
              <a:t>Key Characteristics:</a:t>
            </a:r>
          </a:p>
          <a:p>
            <a:pPr>
              <a:spcAft>
                <a:spcPts val="400"/>
              </a:spcAft>
              <a:defRPr sz="1500">
                <a:solidFill>
                  <a:srgbClr val="1C2A3A"/>
                </a:solidFill>
                <a:latin typeface="Calibri"/>
              </a:defRPr>
            </a:pPr>
            <a:r>
              <a:t>  - General-purpose by design</a:t>
            </a:r>
          </a:p>
          <a:p>
            <a:pPr>
              <a:spcAft>
                <a:spcPts val="400"/>
              </a:spcAft>
              <a:defRPr sz="1500">
                <a:solidFill>
                  <a:srgbClr val="1C2A3A"/>
                </a:solidFill>
                <a:latin typeface="Calibri"/>
              </a:defRPr>
            </a:pPr>
            <a:r>
              <a:t>  - Can follow instructions, answer questions, write code</a:t>
            </a:r>
          </a:p>
          <a:p>
            <a:pPr>
              <a:spcAft>
                <a:spcPts val="400"/>
              </a:spcAft>
              <a:defRPr sz="1500">
                <a:solidFill>
                  <a:srgbClr val="1C2A3A"/>
                </a:solidFill>
                <a:latin typeface="Calibri"/>
              </a:defRPr>
            </a:pPr>
            <a:r>
              <a:t>  - Powerful but not specialized for any single domain</a:t>
            </a:r>
          </a:p>
        </p:txBody>
      </p:sp>
      <p:graphicFrame>
        <p:nvGraphicFramePr>
          <p:cNvPr id="4" name="Table 3"/>
          <p:cNvGraphicFramePr>
            <a:graphicFrameLocks noGrp="1"/>
          </p:cNvGraphicFramePr>
          <p:nvPr/>
        </p:nvGraphicFramePr>
        <p:xfrm>
          <a:off x="6400800" y="1371600"/>
          <a:ext cx="5029200" cy="2286000"/>
        </p:xfrm>
        <a:graphic>
          <a:graphicData uri="http://schemas.openxmlformats.org/drawingml/2006/table">
            <a:tbl>
              <a:tblPr firstRow="1" bandRow="1">
                <a:tableStyleId>{5C22544A-7EE6-4342-B048-85BDC9FD1C3A}</a:tableStyleId>
              </a:tblPr>
              <a:tblGrid>
                <a:gridCol w="1676400"/>
                <a:gridCol w="1676400"/>
                <a:gridCol w="1676400"/>
              </a:tblGrid>
              <a:tr h="381000">
                <a:tc>
                  <a:txBody>
                    <a:bodyPr/>
                    <a:lstStyle/>
                    <a:p>
                      <a:pPr algn="ctr">
                        <a:defRPr sz="1200" b="1">
                          <a:solidFill>
                            <a:srgbClr val="FFFFFF"/>
                          </a:solidFill>
                          <a:latin typeface="Calibri"/>
                        </a:defRPr>
                      </a:pPr>
                      <a:r>
                        <a:t>Model</a:t>
                      </a:r>
                    </a:p>
                  </a:txBody>
                  <a:tcPr>
                    <a:solidFill>
                      <a:srgbClr val="2E86C1"/>
                    </a:solidFill>
                  </a:tcPr>
                </a:tc>
                <a:tc>
                  <a:txBody>
                    <a:bodyPr/>
                    <a:lstStyle/>
                    <a:p>
                      <a:pPr algn="ctr">
                        <a:defRPr sz="1200" b="1">
                          <a:solidFill>
                            <a:srgbClr val="FFFFFF"/>
                          </a:solidFill>
                          <a:latin typeface="Calibri"/>
                        </a:defRPr>
                      </a:pPr>
                      <a:r>
                        <a:t>Creator</a:t>
                      </a:r>
                    </a:p>
                  </a:txBody>
                  <a:tcPr>
                    <a:solidFill>
                      <a:srgbClr val="2E86C1"/>
                    </a:solidFill>
                  </a:tcPr>
                </a:tc>
                <a:tc>
                  <a:txBody>
                    <a:bodyPr/>
                    <a:lstStyle/>
                    <a:p>
                      <a:pPr algn="ctr">
                        <a:defRPr sz="1200" b="1">
                          <a:solidFill>
                            <a:srgbClr val="FFFFFF"/>
                          </a:solidFill>
                          <a:latin typeface="Calibri"/>
                        </a:defRPr>
                      </a:pPr>
                      <a:r>
                        <a:t>Parameters</a:t>
                      </a:r>
                    </a:p>
                  </a:txBody>
                  <a:tcPr>
                    <a:solidFill>
                      <a:srgbClr val="2E86C1"/>
                    </a:solidFill>
                  </a:tcPr>
                </a:tc>
              </a:tr>
              <a:tr h="381000">
                <a:tc>
                  <a:txBody>
                    <a:bodyPr/>
                    <a:lstStyle/>
                    <a:p>
                      <a:pPr>
                        <a:defRPr sz="1100">
                          <a:solidFill>
                            <a:srgbClr val="1C2A3A"/>
                          </a:solidFill>
                          <a:latin typeface="Calibri"/>
                        </a:defRPr>
                      </a:pPr>
                      <a:r>
                        <a:t>GPT-4</a:t>
                      </a:r>
                    </a:p>
                  </a:txBody>
                  <a:tcPr>
                    <a:solidFill>
                      <a:srgbClr val="E0E3E8"/>
                    </a:solidFill>
                  </a:tcPr>
                </a:tc>
                <a:tc>
                  <a:txBody>
                    <a:bodyPr/>
                    <a:lstStyle/>
                    <a:p>
                      <a:pPr>
                        <a:defRPr sz="1100">
                          <a:solidFill>
                            <a:srgbClr val="1C2A3A"/>
                          </a:solidFill>
                          <a:latin typeface="Calibri"/>
                        </a:defRPr>
                      </a:pPr>
                      <a:r>
                        <a:t>OpenAI</a:t>
                      </a:r>
                    </a:p>
                  </a:txBody>
                  <a:tcPr>
                    <a:solidFill>
                      <a:srgbClr val="E0E3E8"/>
                    </a:solidFill>
                  </a:tcPr>
                </a:tc>
                <a:tc>
                  <a:txBody>
                    <a:bodyPr/>
                    <a:lstStyle/>
                    <a:p>
                      <a:pPr>
                        <a:defRPr sz="1100">
                          <a:solidFill>
                            <a:srgbClr val="1C2A3A"/>
                          </a:solidFill>
                          <a:latin typeface="Calibri"/>
                        </a:defRPr>
                      </a:pPr>
                      <a:r>
                        <a:t>~1.7T</a:t>
                      </a:r>
                    </a:p>
                  </a:txBody>
                  <a:tcPr>
                    <a:solidFill>
                      <a:srgbClr val="E0E3E8"/>
                    </a:solidFill>
                  </a:tcPr>
                </a:tc>
              </a:tr>
              <a:tr h="381000">
                <a:tc>
                  <a:txBody>
                    <a:bodyPr/>
                    <a:lstStyle/>
                    <a:p>
                      <a:pPr>
                        <a:defRPr sz="1100">
                          <a:solidFill>
                            <a:srgbClr val="1C2A3A"/>
                          </a:solidFill>
                          <a:latin typeface="Calibri"/>
                        </a:defRPr>
                      </a:pPr>
                      <a:r>
                        <a:t>Claude</a:t>
                      </a:r>
                    </a:p>
                  </a:txBody>
                  <a:tcPr/>
                </a:tc>
                <a:tc>
                  <a:txBody>
                    <a:bodyPr/>
                    <a:lstStyle/>
                    <a:p>
                      <a:pPr>
                        <a:defRPr sz="1100">
                          <a:solidFill>
                            <a:srgbClr val="1C2A3A"/>
                          </a:solidFill>
                          <a:latin typeface="Calibri"/>
                        </a:defRPr>
                      </a:pPr>
                      <a:r>
                        <a:t>Anthropic</a:t>
                      </a:r>
                    </a:p>
                  </a:txBody>
                  <a:tcPr/>
                </a:tc>
                <a:tc>
                  <a:txBody>
                    <a:bodyPr/>
                    <a:lstStyle/>
                    <a:p>
                      <a:pPr>
                        <a:defRPr sz="1100">
                          <a:solidFill>
                            <a:srgbClr val="1C2A3A"/>
                          </a:solidFill>
                          <a:latin typeface="Calibri"/>
                        </a:defRPr>
                      </a:pPr>
                      <a:r>
                        <a:t>Undisclosed</a:t>
                      </a:r>
                    </a:p>
                  </a:txBody>
                  <a:tcPr/>
                </a:tc>
              </a:tr>
              <a:tr h="381000">
                <a:tc>
                  <a:txBody>
                    <a:bodyPr/>
                    <a:lstStyle/>
                    <a:p>
                      <a:pPr>
                        <a:defRPr sz="1100">
                          <a:solidFill>
                            <a:srgbClr val="1C2A3A"/>
                          </a:solidFill>
                          <a:latin typeface="Calibri"/>
                        </a:defRPr>
                      </a:pPr>
                      <a:r>
                        <a:t>Llama 3</a:t>
                      </a:r>
                    </a:p>
                  </a:txBody>
                  <a:tcPr>
                    <a:solidFill>
                      <a:srgbClr val="E0E3E8"/>
                    </a:solidFill>
                  </a:tcPr>
                </a:tc>
                <a:tc>
                  <a:txBody>
                    <a:bodyPr/>
                    <a:lstStyle/>
                    <a:p>
                      <a:pPr>
                        <a:defRPr sz="1100">
                          <a:solidFill>
                            <a:srgbClr val="1C2A3A"/>
                          </a:solidFill>
                          <a:latin typeface="Calibri"/>
                        </a:defRPr>
                      </a:pPr>
                      <a:r>
                        <a:t>Meta</a:t>
                      </a:r>
                    </a:p>
                  </a:txBody>
                  <a:tcPr>
                    <a:solidFill>
                      <a:srgbClr val="E0E3E8"/>
                    </a:solidFill>
                  </a:tcPr>
                </a:tc>
                <a:tc>
                  <a:txBody>
                    <a:bodyPr/>
                    <a:lstStyle/>
                    <a:p>
                      <a:pPr>
                        <a:defRPr sz="1100">
                          <a:solidFill>
                            <a:srgbClr val="1C2A3A"/>
                          </a:solidFill>
                          <a:latin typeface="Calibri"/>
                        </a:defRPr>
                      </a:pPr>
                      <a:r>
                        <a:t>8B-405B</a:t>
                      </a:r>
                    </a:p>
                  </a:txBody>
                  <a:tcPr>
                    <a:solidFill>
                      <a:srgbClr val="E0E3E8"/>
                    </a:solidFill>
                  </a:tcPr>
                </a:tc>
              </a:tr>
              <a:tr h="381000">
                <a:tc>
                  <a:txBody>
                    <a:bodyPr/>
                    <a:lstStyle/>
                    <a:p>
                      <a:pPr>
                        <a:defRPr sz="1100">
                          <a:solidFill>
                            <a:srgbClr val="1C2A3A"/>
                          </a:solidFill>
                          <a:latin typeface="Calibri"/>
                        </a:defRPr>
                      </a:pPr>
                      <a:r>
                        <a:t>Mistral</a:t>
                      </a:r>
                    </a:p>
                  </a:txBody>
                  <a:tcPr/>
                </a:tc>
                <a:tc>
                  <a:txBody>
                    <a:bodyPr/>
                    <a:lstStyle/>
                    <a:p>
                      <a:pPr>
                        <a:defRPr sz="1100">
                          <a:solidFill>
                            <a:srgbClr val="1C2A3A"/>
                          </a:solidFill>
                          <a:latin typeface="Calibri"/>
                        </a:defRPr>
                      </a:pPr>
                      <a:r>
                        <a:t>Mistral AI</a:t>
                      </a:r>
                    </a:p>
                  </a:txBody>
                  <a:tcPr/>
                </a:tc>
                <a:tc>
                  <a:txBody>
                    <a:bodyPr/>
                    <a:lstStyle/>
                    <a:p>
                      <a:pPr>
                        <a:defRPr sz="1100">
                          <a:solidFill>
                            <a:srgbClr val="1C2A3A"/>
                          </a:solidFill>
                          <a:latin typeface="Calibri"/>
                        </a:defRPr>
                      </a:pPr>
                      <a:r>
                        <a:t>7B-141B</a:t>
                      </a:r>
                    </a:p>
                  </a:txBody>
                  <a:tcPr/>
                </a:tc>
              </a:tr>
              <a:tr h="381000">
                <a:tc>
                  <a:txBody>
                    <a:bodyPr/>
                    <a:lstStyle/>
                    <a:p>
                      <a:pPr>
                        <a:defRPr sz="1100">
                          <a:solidFill>
                            <a:srgbClr val="1C2A3A"/>
                          </a:solidFill>
                          <a:latin typeface="Calibri"/>
                        </a:defRPr>
                      </a:pPr>
                      <a:r>
                        <a:t>Gemini</a:t>
                      </a:r>
                    </a:p>
                  </a:txBody>
                  <a:tcPr>
                    <a:solidFill>
                      <a:srgbClr val="E0E3E8"/>
                    </a:solidFill>
                  </a:tcPr>
                </a:tc>
                <a:tc>
                  <a:txBody>
                    <a:bodyPr/>
                    <a:lstStyle/>
                    <a:p>
                      <a:pPr>
                        <a:defRPr sz="1100">
                          <a:solidFill>
                            <a:srgbClr val="1C2A3A"/>
                          </a:solidFill>
                          <a:latin typeface="Calibri"/>
                        </a:defRPr>
                      </a:pPr>
                      <a:r>
                        <a:t>Google</a:t>
                      </a:r>
                    </a:p>
                  </a:txBody>
                  <a:tcPr>
                    <a:solidFill>
                      <a:srgbClr val="E0E3E8"/>
                    </a:solidFill>
                  </a:tcPr>
                </a:tc>
                <a:tc>
                  <a:txBody>
                    <a:bodyPr/>
                    <a:lstStyle/>
                    <a:p>
                      <a:pPr>
                        <a:defRPr sz="1100">
                          <a:solidFill>
                            <a:srgbClr val="1C2A3A"/>
                          </a:solidFill>
                          <a:latin typeface="Calibri"/>
                        </a:defRPr>
                      </a:pPr>
                      <a:r>
                        <a:t>Undisclosed</a:t>
                      </a:r>
                    </a:p>
                  </a:txBody>
                  <a:tcPr>
                    <a:solidFill>
                      <a:srgbClr val="E0E3E8"/>
                    </a:solidFill>
                  </a:tcPr>
                </a:tc>
              </a:tr>
            </a:tbl>
          </a:graphicData>
        </a:graphic>
      </p:graphicFrame>
      <p:sp>
        <p:nvSpPr>
          <p:cNvPr id="5" name="Rectangle 4"/>
          <p:cNvSpPr/>
          <p:nvPr/>
        </p:nvSpPr>
        <p:spPr>
          <a:xfrm>
            <a:off x="731520" y="5029200"/>
            <a:ext cx="10515600" cy="73152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Think of an LLM as a brilliant generalist</a:t>
            </a:r>
          </a:p>
          <a:p>
            <a:pPr>
              <a:defRPr sz="1200">
                <a:solidFill>
                  <a:srgbClr val="1C2A3A"/>
                </a:solidFill>
                <a:latin typeface="Calibri"/>
              </a:defRPr>
            </a:pPr>
            <a:r>
              <a:t>It can discuss any topic but isn't an expert in any single domain.</a:t>
            </a:r>
          </a:p>
        </p:txBody>
      </p:sp>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3/55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The Specialization Challenge</a:t>
            </a:r>
          </a:p>
          <a:p>
            <a:pPr>
              <a:defRPr sz="1600">
                <a:solidFill>
                  <a:srgbClr val="ECEFF1"/>
                </a:solidFill>
                <a:latin typeface="Calibri"/>
              </a:defRPr>
            </a:pPr>
            <a:r>
              <a:t>Generic Models Fall Short on Domain Tasks</a:t>
            </a:r>
          </a:p>
        </p:txBody>
      </p:sp>
      <p:sp>
        <p:nvSpPr>
          <p:cNvPr id="3" name="Rectangle 2"/>
          <p:cNvSpPr/>
          <p:nvPr/>
        </p:nvSpPr>
        <p:spPr>
          <a:xfrm>
            <a:off x="457200" y="1371600"/>
            <a:ext cx="5303520" cy="3200400"/>
          </a:xfrm>
          <a:prstGeom prst="rect">
            <a:avLst/>
          </a:prstGeom>
          <a:solidFill>
            <a:srgbClr val="FCCECE"/>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What generic LLMs struggle with:</a:t>
            </a:r>
          </a:p>
          <a:p>
            <a:pPr>
              <a:defRPr sz="1200">
                <a:solidFill>
                  <a:srgbClr val="1C2A3A"/>
                </a:solidFill>
                <a:latin typeface="Calibri"/>
              </a:defRPr>
            </a:pPr>
            <a:r>
              <a:t>- Precise financial calculations</a:t>
            </a:r>
            <a:br/>
            <a:r>
              <a:t>- Industry-specific terminology</a:t>
            </a:r>
            <a:br/>
            <a:r>
              <a:t>- Domain reasoning patterns</a:t>
            </a:r>
            <a:br/>
            <a:r>
              <a:t>- Consistent output formats</a:t>
            </a:r>
            <a:br/>
            <a:r>
              <a:t>- Regulatory/compliance accuracy</a:t>
            </a:r>
          </a:p>
        </p:txBody>
      </p:sp>
      <p:sp>
        <p:nvSpPr>
          <p:cNvPr id="4" name="Rectangle 3"/>
          <p:cNvSpPr/>
          <p:nvPr/>
        </p:nvSpPr>
        <p:spPr>
          <a:xfrm>
            <a:off x="6217920" y="1371600"/>
            <a:ext cx="5303520" cy="3200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What domain experts need:</a:t>
            </a:r>
          </a:p>
          <a:p>
            <a:pPr>
              <a:defRPr sz="1200">
                <a:solidFill>
                  <a:srgbClr val="1C2A3A"/>
                </a:solidFill>
                <a:latin typeface="Calibri"/>
              </a:defRPr>
            </a:pPr>
            <a:r>
              <a:t>- Accurate, verifiable answers</a:t>
            </a:r>
            <a:br/>
            <a:r>
              <a:t>- Correct use of specialized vocabulary</a:t>
            </a:r>
            <a:br/>
            <a:r>
              <a:t>- Step-by-step reasoning</a:t>
            </a:r>
            <a:br/>
            <a:r>
              <a:t>- Consistent, auditable output</a:t>
            </a:r>
            <a:br/>
            <a:r>
              <a:t>- Speed and reliability</a:t>
            </a:r>
          </a:p>
        </p:txBody>
      </p:sp>
      <p:sp>
        <p:nvSpPr>
          <p:cNvPr id="5" name="Rectangle 4"/>
          <p:cNvSpPr/>
          <p:nvPr/>
        </p:nvSpPr>
        <p:spPr>
          <a:xfrm>
            <a:off x="457200" y="5029200"/>
            <a:ext cx="11064240" cy="914400"/>
          </a:xfrm>
          <a:prstGeom prst="rect">
            <a:avLst/>
          </a:prstGeom>
          <a:solidFill>
            <a:srgbClr val="FFF1C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Example:</a:t>
            </a:r>
          </a:p>
          <a:p>
            <a:pPr>
              <a:defRPr sz="1200">
                <a:solidFill>
                  <a:srgbClr val="1C2A3A"/>
                </a:solidFill>
                <a:latin typeface="Calibri"/>
              </a:defRPr>
            </a:pPr>
            <a:r>
              <a:t>Ask a generic LLM to calculate a bank's efficiency ratio from a financial table. It may know the definition but often gets the calculation wrong.</a:t>
            </a:r>
          </a:p>
        </p:txBody>
      </p:sp>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4/55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Three Approaches to Specialization</a:t>
            </a:r>
          </a:p>
        </p:txBody>
      </p:sp>
      <p:sp>
        <p:nvSpPr>
          <p:cNvPr id="3" name="Rectangle 2"/>
          <p:cNvSpPr/>
          <p:nvPr/>
        </p:nvSpPr>
        <p:spPr>
          <a:xfrm>
            <a:off x="457200" y="1371600"/>
            <a:ext cx="3474720" cy="411480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1. Prompt Engineering</a:t>
            </a:r>
            <a:br/>
            <a:r>
              <a:t>Tell the model what to do</a:t>
            </a:r>
          </a:p>
          <a:p>
            <a:pPr>
              <a:defRPr sz="1200">
                <a:solidFill>
                  <a:srgbClr val="1C2A3A"/>
                </a:solidFill>
                <a:latin typeface="Calibri"/>
              </a:defRPr>
            </a:pPr>
            <a:r>
              <a:t>- Write better instructions</a:t>
            </a:r>
            <a:br/>
            <a:r>
              <a:t>- Add examples (few-shot)</a:t>
            </a:r>
            <a:br/>
            <a:r>
              <a:t>- System prompts</a:t>
            </a:r>
            <a:br/>
            <a:br/>
            <a:r>
              <a:t>Effort: Low | Impact: Limited</a:t>
            </a:r>
          </a:p>
        </p:txBody>
      </p:sp>
      <p:sp>
        <p:nvSpPr>
          <p:cNvPr id="4" name="Rectangle 3"/>
          <p:cNvSpPr/>
          <p:nvPr/>
        </p:nvSpPr>
        <p:spPr>
          <a:xfrm>
            <a:off x="4297680" y="1371600"/>
            <a:ext cx="3474720" cy="411480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2. RAG</a:t>
            </a:r>
            <a:br/>
            <a:r>
              <a:t>Give the model information</a:t>
            </a:r>
          </a:p>
          <a:p>
            <a:pPr>
              <a:defRPr sz="1200">
                <a:solidFill>
                  <a:srgbClr val="1C2A3A"/>
                </a:solidFill>
                <a:latin typeface="Calibri"/>
              </a:defRPr>
            </a:pPr>
            <a:r>
              <a:t>- Retrieve relevant documents</a:t>
            </a:r>
            <a:br/>
            <a:r>
              <a:t>- Augment the prompt</a:t>
            </a:r>
            <a:br/>
            <a:r>
              <a:t>- Generate with context</a:t>
            </a:r>
            <a:br/>
            <a:br/>
            <a:r>
              <a:t>Effort: Medium | Impact: Medium</a:t>
            </a:r>
          </a:p>
        </p:txBody>
      </p:sp>
      <p:sp>
        <p:nvSpPr>
          <p:cNvPr id="5" name="Rectangle 4"/>
          <p:cNvSpPr/>
          <p:nvPr/>
        </p:nvSpPr>
        <p:spPr>
          <a:xfrm>
            <a:off x="8138160" y="1371600"/>
            <a:ext cx="3474720" cy="41148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3. Fine-Tuning</a:t>
            </a:r>
            <a:br/>
            <a:r>
              <a:t>Teach the model new skills</a:t>
            </a:r>
          </a:p>
          <a:p>
            <a:pPr>
              <a:defRPr sz="1200">
                <a:solidFill>
                  <a:srgbClr val="1C2A3A"/>
                </a:solidFill>
                <a:latin typeface="Calibri"/>
              </a:defRPr>
            </a:pPr>
            <a:r>
              <a:t>- Train on domain data</a:t>
            </a:r>
            <a:br/>
            <a:r>
              <a:t>- Model weights are updated</a:t>
            </a:r>
            <a:br/>
            <a:r>
              <a:t>- Learns new capabilities</a:t>
            </a:r>
            <a:br/>
            <a:br/>
            <a:r>
              <a:t>Effort: Higher | Impact: Highest</a:t>
            </a:r>
          </a:p>
        </p:txBody>
      </p:sp>
      <p:sp>
        <p:nvSpPr>
          <p:cNvPr id="6" name="TextBox 5"/>
          <p:cNvSpPr txBox="1"/>
          <p:nvPr/>
        </p:nvSpPr>
        <p:spPr>
          <a:xfrm>
            <a:off x="457200" y="5760720"/>
            <a:ext cx="10972800" cy="457200"/>
          </a:xfrm>
          <a:prstGeom prst="rect">
            <a:avLst/>
          </a:prstGeom>
          <a:noFill/>
        </p:spPr>
        <p:txBody>
          <a:bodyPr wrap="square">
            <a:spAutoFit/>
          </a:bodyPr>
          <a:lstStyle/>
          <a:p>
            <a:pPr algn="ctr">
              <a:defRPr sz="1400" b="1">
                <a:solidFill>
                  <a:srgbClr val="4A4E57"/>
                </a:solidFill>
                <a:latin typeface="Calibri"/>
              </a:defRPr>
            </a:pPr>
            <a:r>
              <a:t>Spectrum: Prompt Engineering &lt; RAG &lt; Fine-Tuning &lt; Training from Scratch</a:t>
            </a:r>
          </a:p>
        </p:txBody>
      </p:sp>
      <p:sp>
        <p:nvSpPr>
          <p:cNvPr id="7" name="TextBox 6"/>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5/55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RAG: Retrieval-Augmented Generation</a:t>
            </a:r>
          </a:p>
          <a:p>
            <a:pPr>
              <a:defRPr sz="1600">
                <a:solidFill>
                  <a:srgbClr val="ECEFF1"/>
                </a:solidFill>
                <a:latin typeface="Calibri"/>
              </a:defRPr>
            </a:pPr>
            <a:r>
              <a:t>How RAG Works</a:t>
            </a:r>
          </a:p>
        </p:txBody>
      </p:sp>
      <p:pic>
        <p:nvPicPr>
          <p:cNvPr id="3" name="Picture 2" descr="rag_flow.png"/>
          <p:cNvPicPr>
            <a:picLocks noChangeAspect="1"/>
          </p:cNvPicPr>
          <p:nvPr/>
        </p:nvPicPr>
        <p:blipFill>
          <a:blip r:embed="rId2"/>
          <a:stretch>
            <a:fillRect/>
          </a:stretch>
        </p:blipFill>
        <p:spPr>
          <a:xfrm>
            <a:off x="457200" y="1188720"/>
            <a:ext cx="5943600" cy="4389120"/>
          </a:xfrm>
          <a:prstGeom prst="rect">
            <a:avLst/>
          </a:prstGeom>
        </p:spPr>
      </p:pic>
      <p:sp>
        <p:nvSpPr>
          <p:cNvPr id="4" name="Rectangle 3"/>
          <p:cNvSpPr/>
          <p:nvPr/>
        </p:nvSpPr>
        <p:spPr>
          <a:xfrm>
            <a:off x="6583680" y="1371600"/>
            <a:ext cx="5029200" cy="182880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Key Components</a:t>
            </a:r>
          </a:p>
          <a:p>
            <a:pPr>
              <a:defRPr sz="1200">
                <a:solidFill>
                  <a:srgbClr val="1C2A3A"/>
                </a:solidFill>
                <a:latin typeface="Calibri"/>
              </a:defRPr>
            </a:pPr>
            <a:r>
              <a:t>- Embedding Model: Converts text to vectors</a:t>
            </a:r>
            <a:br/>
            <a:r>
              <a:t>- Vector Database: Stores and searches embeddings</a:t>
            </a:r>
            <a:br/>
            <a:r>
              <a:t>- LLM: Generates the final answer</a:t>
            </a:r>
          </a:p>
        </p:txBody>
      </p:sp>
      <p:sp>
        <p:nvSpPr>
          <p:cNvPr id="5" name="Rectangle 4"/>
          <p:cNvSpPr/>
          <p:nvPr/>
        </p:nvSpPr>
        <p:spPr>
          <a:xfrm>
            <a:off x="6583680" y="3474720"/>
            <a:ext cx="5029200" cy="1645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Key Idea</a:t>
            </a:r>
          </a:p>
          <a:p>
            <a:pPr>
              <a:defRPr sz="1200">
                <a:solidFill>
                  <a:srgbClr val="1C2A3A"/>
                </a:solidFill>
                <a:latin typeface="Calibri"/>
              </a:defRPr>
            </a:pPr>
            <a:r>
              <a:t>Instead of training the model on your data, you show it relevant documents at inference time.</a:t>
            </a:r>
            <a:br/>
            <a:r>
              <a:t>The model's weights are unchanged.</a:t>
            </a:r>
          </a:p>
        </p:txBody>
      </p:sp>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6/55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RAG: Benefits</a:t>
            </a:r>
          </a:p>
        </p:txBody>
      </p:sp>
      <p:sp>
        <p:nvSpPr>
          <p:cNvPr id="3" name="Rectangle 2"/>
          <p:cNvSpPr/>
          <p:nvPr/>
        </p:nvSpPr>
        <p:spPr>
          <a:xfrm>
            <a:off x="731520" y="1280160"/>
            <a:ext cx="1051560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1. No Training Required</a:t>
            </a:r>
          </a:p>
          <a:p>
            <a:pPr>
              <a:defRPr sz="1200">
                <a:solidFill>
                  <a:srgbClr val="1C2A3A"/>
                </a:solidFill>
                <a:latin typeface="Calibri"/>
              </a:defRPr>
            </a:pPr>
            <a:r>
              <a:t>Start immediately with any LLM. No GPU, no training data prep.</a:t>
            </a:r>
          </a:p>
        </p:txBody>
      </p:sp>
      <p:sp>
        <p:nvSpPr>
          <p:cNvPr id="4" name="Rectangle 3"/>
          <p:cNvSpPr/>
          <p:nvPr/>
        </p:nvSpPr>
        <p:spPr>
          <a:xfrm>
            <a:off x="731520" y="2286000"/>
            <a:ext cx="1051560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2. Dynamic Knowledge</a:t>
            </a:r>
          </a:p>
          <a:p>
            <a:pPr>
              <a:defRPr sz="1200">
                <a:solidFill>
                  <a:srgbClr val="1C2A3A"/>
                </a:solidFill>
                <a:latin typeface="Calibri"/>
              </a:defRPr>
            </a:pPr>
            <a:r>
              <a:t>Update knowledge base anytime. No retraining needed.</a:t>
            </a:r>
          </a:p>
        </p:txBody>
      </p:sp>
      <p:sp>
        <p:nvSpPr>
          <p:cNvPr id="5" name="Rectangle 4"/>
          <p:cNvSpPr/>
          <p:nvPr/>
        </p:nvSpPr>
        <p:spPr>
          <a:xfrm>
            <a:off x="731520" y="3291840"/>
            <a:ext cx="1051560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3. Source Citations</a:t>
            </a:r>
          </a:p>
          <a:p>
            <a:pPr>
              <a:defRPr sz="1200">
                <a:solidFill>
                  <a:srgbClr val="1C2A3A"/>
                </a:solidFill>
                <a:latin typeface="Calibri"/>
              </a:defRPr>
            </a:pPr>
            <a:r>
              <a:t>Every answer references exact documents. Critical for audit.</a:t>
            </a:r>
          </a:p>
        </p:txBody>
      </p:sp>
      <p:sp>
        <p:nvSpPr>
          <p:cNvPr id="6" name="Rectangle 5"/>
          <p:cNvSpPr/>
          <p:nvPr/>
        </p:nvSpPr>
        <p:spPr>
          <a:xfrm>
            <a:off x="731520" y="4297680"/>
            <a:ext cx="1051560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4. Cost Effective to Start</a:t>
            </a:r>
          </a:p>
          <a:p>
            <a:pPr>
              <a:defRPr sz="1200">
                <a:solidFill>
                  <a:srgbClr val="1C2A3A"/>
                </a:solidFill>
                <a:latin typeface="Calibri"/>
              </a:defRPr>
            </a:pPr>
            <a:r>
              <a:t>Lower upfront cost. Use existing LLM APIs + vector DB.</a:t>
            </a:r>
          </a:p>
        </p:txBody>
      </p:sp>
      <p:sp>
        <p:nvSpPr>
          <p:cNvPr id="7" name="Rectangle 6"/>
          <p:cNvSpPr/>
          <p:nvPr/>
        </p:nvSpPr>
        <p:spPr>
          <a:xfrm>
            <a:off x="731520" y="5303520"/>
            <a:ext cx="1051560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5. Explainable</a:t>
            </a:r>
          </a:p>
          <a:p>
            <a:pPr>
              <a:defRPr sz="1200">
                <a:solidFill>
                  <a:srgbClr val="1C2A3A"/>
                </a:solidFill>
                <a:latin typeface="Calibri"/>
              </a:defRPr>
            </a:pPr>
            <a:r>
              <a:t>Users see which documents were retrieved and why.</a:t>
            </a:r>
          </a:p>
        </p:txBody>
      </p:sp>
      <p:sp>
        <p:nvSpPr>
          <p:cNvPr id="8" name="TextBox 7"/>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7/55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RAG: Limitations</a:t>
            </a:r>
          </a:p>
          <a:p>
            <a:pPr>
              <a:defRPr sz="1600">
                <a:solidFill>
                  <a:srgbClr val="ECEFF1"/>
                </a:solidFill>
                <a:latin typeface="Calibri"/>
              </a:defRPr>
            </a:pPr>
            <a:r>
              <a:t>Why RAG may not fully address all use cases</a:t>
            </a:r>
          </a:p>
        </p:txBody>
      </p:sp>
      <p:sp>
        <p:nvSpPr>
          <p:cNvPr id="3" name="Rectangle 2"/>
          <p:cNvSpPr/>
          <p:nvPr/>
        </p:nvSpPr>
        <p:spPr>
          <a:xfrm>
            <a:off x="457200" y="1280160"/>
            <a:ext cx="5303520" cy="1097280"/>
          </a:xfrm>
          <a:prstGeom prst="rect">
            <a:avLst/>
          </a:prstGeom>
          <a:solidFill>
            <a:srgbClr val="FCCECE"/>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1. Cannot Teach New Skills</a:t>
            </a:r>
          </a:p>
          <a:p>
            <a:pPr>
              <a:defRPr sz="1200">
                <a:solidFill>
                  <a:srgbClr val="1C2A3A"/>
                </a:solidFill>
                <a:latin typeface="Calibri"/>
              </a:defRPr>
            </a:pPr>
            <a:r>
              <a:t>RAG adds information but doesn't teach new reasoning patterns.</a:t>
            </a:r>
          </a:p>
        </p:txBody>
      </p:sp>
      <p:sp>
        <p:nvSpPr>
          <p:cNvPr id="4" name="Rectangle 3"/>
          <p:cNvSpPr/>
          <p:nvPr/>
        </p:nvSpPr>
        <p:spPr>
          <a:xfrm>
            <a:off x="457200" y="2560320"/>
            <a:ext cx="5303520" cy="1097280"/>
          </a:xfrm>
          <a:prstGeom prst="rect">
            <a:avLst/>
          </a:prstGeom>
          <a:solidFill>
            <a:srgbClr val="FCCECE"/>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2. Struggles with Calculations</a:t>
            </a:r>
          </a:p>
          <a:p>
            <a:pPr>
              <a:defRPr sz="1200">
                <a:solidFill>
                  <a:srgbClr val="1C2A3A"/>
                </a:solidFill>
                <a:latin typeface="Calibri"/>
              </a:defRPr>
            </a:pPr>
            <a:r>
              <a:t>Retrieving a formula doesn't mean the model can apply it.</a:t>
            </a:r>
          </a:p>
        </p:txBody>
      </p:sp>
      <p:sp>
        <p:nvSpPr>
          <p:cNvPr id="5" name="Rectangle 4"/>
          <p:cNvSpPr/>
          <p:nvPr/>
        </p:nvSpPr>
        <p:spPr>
          <a:xfrm>
            <a:off x="457200" y="3840479"/>
            <a:ext cx="5303520" cy="1097280"/>
          </a:xfrm>
          <a:prstGeom prst="rect">
            <a:avLst/>
          </a:prstGeom>
          <a:solidFill>
            <a:srgbClr val="FCCECE"/>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3. Inconsistent Output</a:t>
            </a:r>
          </a:p>
          <a:p>
            <a:pPr>
              <a:defRPr sz="1200">
                <a:solidFill>
                  <a:srgbClr val="1C2A3A"/>
                </a:solidFill>
                <a:latin typeface="Calibri"/>
              </a:defRPr>
            </a:pPr>
            <a:r>
              <a:t>Without trained behavior, output format varies.</a:t>
            </a:r>
          </a:p>
        </p:txBody>
      </p:sp>
      <p:sp>
        <p:nvSpPr>
          <p:cNvPr id="6" name="Rectangle 5"/>
          <p:cNvSpPr/>
          <p:nvPr/>
        </p:nvSpPr>
        <p:spPr>
          <a:xfrm>
            <a:off x="6217920" y="1280160"/>
            <a:ext cx="5303520" cy="1097280"/>
          </a:xfrm>
          <a:prstGeom prst="rect">
            <a:avLst/>
          </a:prstGeom>
          <a:solidFill>
            <a:srgbClr val="FCCECE"/>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4. Retrieval Quality Bottleneck</a:t>
            </a:r>
          </a:p>
          <a:p>
            <a:pPr>
              <a:defRPr sz="1200">
                <a:solidFill>
                  <a:srgbClr val="1C2A3A"/>
                </a:solidFill>
                <a:latin typeface="Calibri"/>
              </a:defRPr>
            </a:pPr>
            <a:r>
              <a:t>Answers only as good as retrieved documents.</a:t>
            </a:r>
          </a:p>
        </p:txBody>
      </p:sp>
      <p:sp>
        <p:nvSpPr>
          <p:cNvPr id="7" name="Rectangle 6"/>
          <p:cNvSpPr/>
          <p:nvPr/>
        </p:nvSpPr>
        <p:spPr>
          <a:xfrm>
            <a:off x="6217920" y="2560320"/>
            <a:ext cx="5303520" cy="1097280"/>
          </a:xfrm>
          <a:prstGeom prst="rect">
            <a:avLst/>
          </a:prstGeom>
          <a:solidFill>
            <a:srgbClr val="FCCECE"/>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5. Higher Latency</a:t>
            </a:r>
          </a:p>
          <a:p>
            <a:pPr>
              <a:defRPr sz="1200">
                <a:solidFill>
                  <a:srgbClr val="1C2A3A"/>
                </a:solidFill>
                <a:latin typeface="Calibri"/>
              </a:defRPr>
            </a:pPr>
            <a:r>
              <a:t>Embedding + retrieval + generation: 3-5x slower than fine-tuned.</a:t>
            </a:r>
          </a:p>
        </p:txBody>
      </p:sp>
      <p:sp>
        <p:nvSpPr>
          <p:cNvPr id="8" name="Rectangle 7"/>
          <p:cNvSpPr/>
          <p:nvPr/>
        </p:nvSpPr>
        <p:spPr>
          <a:xfrm>
            <a:off x="6217920" y="3840479"/>
            <a:ext cx="5303520" cy="1097280"/>
          </a:xfrm>
          <a:prstGeom prst="rect">
            <a:avLst/>
          </a:prstGeom>
          <a:solidFill>
            <a:srgbClr val="FCCECE"/>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6. Context Window Limits</a:t>
            </a:r>
          </a:p>
          <a:p>
            <a:pPr>
              <a:defRPr sz="1200">
                <a:solidFill>
                  <a:srgbClr val="1C2A3A"/>
                </a:solidFill>
                <a:latin typeface="Calibri"/>
              </a:defRPr>
            </a:pPr>
            <a:r>
              <a:t>Retrieved docs compete for context space.</a:t>
            </a:r>
          </a:p>
        </p:txBody>
      </p:sp>
      <p:sp>
        <p:nvSpPr>
          <p:cNvPr id="9" name="Rectangle 8"/>
          <p:cNvSpPr/>
          <p:nvPr/>
        </p:nvSpPr>
        <p:spPr>
          <a:xfrm>
            <a:off x="457200" y="5303520"/>
            <a:ext cx="11064240" cy="731520"/>
          </a:xfrm>
          <a:prstGeom prst="rect">
            <a:avLst/>
          </a:prstGeom>
          <a:solidFill>
            <a:srgbClr val="FCCECE"/>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Bottom line:</a:t>
            </a:r>
          </a:p>
          <a:p>
            <a:pPr>
              <a:defRPr sz="1200">
                <a:solidFill>
                  <a:srgbClr val="1C2A3A"/>
                </a:solidFill>
                <a:latin typeface="Calibri"/>
              </a:defRPr>
            </a:pPr>
            <a:r>
              <a:t>RAG is great for knowledge lookup but insufficient for specialized reasoning, computation, or consistent behavior.</a:t>
            </a:r>
          </a:p>
        </p:txBody>
      </p:sp>
      <p:sp>
        <p:nvSpPr>
          <p:cNvPr id="10" name="TextBox 9"/>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8/55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Fine-Tuning: Teaching Models New Skills</a:t>
            </a:r>
          </a:p>
        </p:txBody>
      </p:sp>
      <p:pic>
        <p:nvPicPr>
          <p:cNvPr id="3" name="Picture 2" descr="finetuning_flow.png"/>
          <p:cNvPicPr>
            <a:picLocks noChangeAspect="1"/>
          </p:cNvPicPr>
          <p:nvPr/>
        </p:nvPicPr>
        <p:blipFill>
          <a:blip r:embed="rId2"/>
          <a:stretch>
            <a:fillRect/>
          </a:stretch>
        </p:blipFill>
        <p:spPr>
          <a:xfrm>
            <a:off x="457200" y="1188720"/>
            <a:ext cx="5943600" cy="3200400"/>
          </a:xfrm>
          <a:prstGeom prst="rect">
            <a:avLst/>
          </a:prstGeom>
        </p:spPr>
      </p:pic>
      <p:sp>
        <p:nvSpPr>
          <p:cNvPr id="4" name="Rectangle 3"/>
          <p:cNvSpPr/>
          <p:nvPr/>
        </p:nvSpPr>
        <p:spPr>
          <a:xfrm>
            <a:off x="731520" y="4572000"/>
            <a:ext cx="5029200" cy="10972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RAG = Same model + external info at query time</a:t>
            </a:r>
          </a:p>
        </p:txBody>
      </p:sp>
      <p:sp>
        <p:nvSpPr>
          <p:cNvPr id="5" name="Rectangle 4"/>
          <p:cNvSpPr/>
          <p:nvPr/>
        </p:nvSpPr>
        <p:spPr>
          <a:xfrm>
            <a:off x="6217920" y="4572000"/>
            <a:ext cx="5303520" cy="10972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Fine-Tuning = Different model with learned expertise in weights</a:t>
            </a:r>
          </a:p>
          <a:p>
            <a:pPr>
              <a:defRPr sz="1200">
                <a:solidFill>
                  <a:srgbClr val="1C2A3A"/>
                </a:solidFill>
                <a:latin typeface="Calibri"/>
              </a:defRPr>
            </a:pPr>
            <a:r>
              <a:t>The model doesn't just look up answers - it has learned how to reason.</a:t>
            </a:r>
          </a:p>
        </p:txBody>
      </p:sp>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9/55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Fine-Tuning Methods</a:t>
            </a:r>
          </a:p>
          <a:p>
            <a:pPr>
              <a:defRPr sz="1600">
                <a:solidFill>
                  <a:srgbClr val="ECEFF1"/>
                </a:solidFill>
                <a:latin typeface="Calibri"/>
              </a:defRPr>
            </a:pPr>
            <a:r>
              <a:t>Full vs LoRA vs QLoRA</a:t>
            </a:r>
          </a:p>
        </p:txBody>
      </p:sp>
      <p:sp>
        <p:nvSpPr>
          <p:cNvPr id="3" name="Rectangle 2"/>
          <p:cNvSpPr/>
          <p:nvPr/>
        </p:nvSpPr>
        <p:spPr>
          <a:xfrm>
            <a:off x="457200" y="1371600"/>
            <a:ext cx="3474720" cy="365760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Full Fine-Tuning</a:t>
            </a:r>
          </a:p>
          <a:p>
            <a:pPr>
              <a:defRPr sz="1200">
                <a:solidFill>
                  <a:srgbClr val="1C2A3A"/>
                </a:solidFill>
                <a:latin typeface="Calibri"/>
              </a:defRPr>
            </a:pPr>
            <a:r>
              <a:t>Updates ALL parameters</a:t>
            </a:r>
            <a:br/>
            <a:r>
              <a:t>Maximum learning capacity</a:t>
            </a:r>
            <a:br/>
            <a:r>
              <a:t>Requires significant GPU memory</a:t>
            </a:r>
            <a:br/>
            <a:r>
              <a:t>Best accuracy potential</a:t>
            </a:r>
            <a:br/>
            <a:br/>
            <a:r>
              <a:t>Cost: $$$</a:t>
            </a:r>
          </a:p>
        </p:txBody>
      </p:sp>
      <p:sp>
        <p:nvSpPr>
          <p:cNvPr id="4" name="Rectangle 3"/>
          <p:cNvSpPr/>
          <p:nvPr/>
        </p:nvSpPr>
        <p:spPr>
          <a:xfrm>
            <a:off x="4297680" y="1371600"/>
            <a:ext cx="3474720" cy="365760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LoRA (Low-Rank Adaptation)</a:t>
            </a:r>
          </a:p>
          <a:p>
            <a:pPr>
              <a:defRPr sz="1200">
                <a:solidFill>
                  <a:srgbClr val="1C2A3A"/>
                </a:solidFill>
                <a:latin typeface="Calibri"/>
              </a:defRPr>
            </a:pPr>
            <a:r>
              <a:t>Adds small adapter layers</a:t>
            </a:r>
            <a:br/>
            <a:r>
              <a:t>Freezes original weights</a:t>
            </a:r>
            <a:br/>
            <a:r>
              <a:t>10-100x less memory</a:t>
            </a:r>
            <a:br/>
            <a:r>
              <a:t>Near full FT quality</a:t>
            </a:r>
            <a:br/>
            <a:br/>
            <a:r>
              <a:t>Cost: $$</a:t>
            </a:r>
          </a:p>
        </p:txBody>
      </p:sp>
      <p:sp>
        <p:nvSpPr>
          <p:cNvPr id="5" name="Rectangle 4"/>
          <p:cNvSpPr/>
          <p:nvPr/>
        </p:nvSpPr>
        <p:spPr>
          <a:xfrm>
            <a:off x="8138160" y="1371600"/>
            <a:ext cx="3474720" cy="36576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QLoRA (Quantized LoRA)</a:t>
            </a:r>
          </a:p>
          <a:p>
            <a:pPr>
              <a:defRPr sz="1200">
                <a:solidFill>
                  <a:srgbClr val="1C2A3A"/>
                </a:solidFill>
                <a:latin typeface="Calibri"/>
              </a:defRPr>
            </a:pPr>
            <a:r>
              <a:t>LoRA + 4-bit quantization</a:t>
            </a:r>
            <a:br/>
            <a:r>
              <a:t>Runs on consumer GPUs</a:t>
            </a:r>
            <a:br/>
            <a:r>
              <a:t>Minimal quality loss</a:t>
            </a:r>
            <a:br/>
            <a:r>
              <a:t>Most accessible method</a:t>
            </a:r>
            <a:br/>
            <a:br/>
            <a:r>
              <a:t>Cost: $</a:t>
            </a:r>
          </a:p>
        </p:txBody>
      </p:sp>
      <p:sp>
        <p:nvSpPr>
          <p:cNvPr id="6" name="Rectangle 5"/>
          <p:cNvSpPr/>
          <p:nvPr/>
        </p:nvSpPr>
        <p:spPr>
          <a:xfrm>
            <a:off x="457200" y="5303520"/>
            <a:ext cx="11064240" cy="73152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Practical tip:</a:t>
            </a:r>
          </a:p>
          <a:p>
            <a:pPr>
              <a:defRPr sz="1200">
                <a:solidFill>
                  <a:srgbClr val="1C2A3A"/>
                </a:solidFill>
                <a:latin typeface="Calibri"/>
              </a:defRPr>
            </a:pPr>
            <a:r>
              <a:t>Start with QLoRA for rapid experimentation, then scale to LoRA or full fine-tuning when validated.</a:t>
            </a:r>
          </a:p>
        </p:txBody>
      </p:sp>
      <p:sp>
        <p:nvSpPr>
          <p:cNvPr id="7" name="TextBox 6"/>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10/55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Fine-Tuning: Key Benefits</a:t>
            </a:r>
          </a:p>
        </p:txBody>
      </p:sp>
      <p:sp>
        <p:nvSpPr>
          <p:cNvPr id="3" name="Rectangle 2"/>
          <p:cNvSpPr/>
          <p:nvPr/>
        </p:nvSpPr>
        <p:spPr>
          <a:xfrm>
            <a:off x="457200" y="1371600"/>
            <a:ext cx="5303520" cy="11887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Improved Accuracy</a:t>
            </a:r>
          </a:p>
          <a:p>
            <a:pPr>
              <a:defRPr sz="1200">
                <a:solidFill>
                  <a:srgbClr val="1C2A3A"/>
                </a:solidFill>
                <a:latin typeface="Calibri"/>
              </a:defRPr>
            </a:pPr>
            <a:r>
              <a:t>61.2% on FinQA vs 15.3% for RAG</a:t>
            </a:r>
          </a:p>
        </p:txBody>
      </p:sp>
      <p:sp>
        <p:nvSpPr>
          <p:cNvPr id="4" name="Rectangle 3"/>
          <p:cNvSpPr/>
          <p:nvPr/>
        </p:nvSpPr>
        <p:spPr>
          <a:xfrm>
            <a:off x="6217920" y="1371600"/>
            <a:ext cx="5303520" cy="11887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Learned Computation</a:t>
            </a:r>
          </a:p>
          <a:p>
            <a:pPr>
              <a:defRPr sz="1200">
                <a:solidFill>
                  <a:srgbClr val="1C2A3A"/>
                </a:solidFill>
                <a:latin typeface="Calibri"/>
              </a:defRPr>
            </a:pPr>
            <a:r>
              <a:t>Multi-step calculations, not just formula retrieval</a:t>
            </a:r>
          </a:p>
        </p:txBody>
      </p:sp>
      <p:sp>
        <p:nvSpPr>
          <p:cNvPr id="5" name="Rectangle 4"/>
          <p:cNvSpPr/>
          <p:nvPr/>
        </p:nvSpPr>
        <p:spPr>
          <a:xfrm>
            <a:off x="457200" y="2834640"/>
            <a:ext cx="5303520" cy="11887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Consistent Output</a:t>
            </a:r>
          </a:p>
          <a:p>
            <a:pPr>
              <a:defRPr sz="1200">
                <a:solidFill>
                  <a:srgbClr val="1C2A3A"/>
                </a:solidFill>
                <a:latin typeface="Calibri"/>
              </a:defRPr>
            </a:pPr>
            <a:r>
              <a:t>98% consistency vs 65% for RAG</a:t>
            </a:r>
          </a:p>
        </p:txBody>
      </p:sp>
      <p:sp>
        <p:nvSpPr>
          <p:cNvPr id="6" name="Rectangle 5"/>
          <p:cNvSpPr/>
          <p:nvPr/>
        </p:nvSpPr>
        <p:spPr>
          <a:xfrm>
            <a:off x="6217920" y="2834640"/>
            <a:ext cx="5303520" cy="11887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Lower Latency</a:t>
            </a:r>
          </a:p>
          <a:p>
            <a:pPr>
              <a:defRPr sz="1200">
                <a:solidFill>
                  <a:srgbClr val="1C2A3A"/>
                </a:solidFill>
                <a:latin typeface="Calibri"/>
              </a:defRPr>
            </a:pPr>
            <a:r>
              <a:t>~200ms vs ~800ms for RAG</a:t>
            </a:r>
          </a:p>
        </p:txBody>
      </p:sp>
      <p:sp>
        <p:nvSpPr>
          <p:cNvPr id="7" name="Rectangle 6"/>
          <p:cNvSpPr/>
          <p:nvPr/>
        </p:nvSpPr>
        <p:spPr>
          <a:xfrm>
            <a:off x="457200" y="4297680"/>
            <a:ext cx="5303520" cy="11887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Customizable Behavior</a:t>
            </a:r>
          </a:p>
          <a:p>
            <a:pPr>
              <a:defRPr sz="1200">
                <a:solidFill>
                  <a:srgbClr val="1C2A3A"/>
                </a:solidFill>
                <a:latin typeface="Calibri"/>
              </a:defRPr>
            </a:pPr>
            <a:r>
              <a:t>Control tone, format, reasoning style</a:t>
            </a:r>
          </a:p>
        </p:txBody>
      </p:sp>
      <p:sp>
        <p:nvSpPr>
          <p:cNvPr id="8" name="Rectangle 7"/>
          <p:cNvSpPr/>
          <p:nvPr/>
        </p:nvSpPr>
        <p:spPr>
          <a:xfrm>
            <a:off x="6217920" y="4297680"/>
            <a:ext cx="5303520" cy="11887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Adapts to Unique Data</a:t>
            </a:r>
          </a:p>
          <a:p>
            <a:pPr>
              <a:defRPr sz="1200">
                <a:solidFill>
                  <a:srgbClr val="1C2A3A"/>
                </a:solidFill>
                <a:latin typeface="Calibri"/>
              </a:defRPr>
            </a:pPr>
            <a:r>
              <a:t>Learns YOUR domain's patterns and edge cases</a:t>
            </a:r>
          </a:p>
        </p:txBody>
      </p:sp>
      <p:sp>
        <p:nvSpPr>
          <p:cNvPr id="9" name="TextBox 8"/>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11/55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Our Fine-Tuned Models: Under the Hood</a:t>
            </a:r>
          </a:p>
          <a:p>
            <a:pPr>
              <a:defRPr sz="1600">
                <a:solidFill>
                  <a:srgbClr val="ECEFF1"/>
                </a:solidFill>
                <a:latin typeface="Calibri"/>
              </a:defRPr>
            </a:pPr>
            <a:r>
              <a:t>Real models, real training data, published research</a:t>
            </a:r>
          </a:p>
        </p:txBody>
      </p:sp>
      <p:sp>
        <p:nvSpPr>
          <p:cNvPr id="3" name="Rectangle 2"/>
          <p:cNvSpPr/>
          <p:nvPr/>
        </p:nvSpPr>
        <p:spPr>
          <a:xfrm>
            <a:off x="457200" y="1371600"/>
            <a:ext cx="5303520" cy="22860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FinBERT - Financial Sentiment</a:t>
            </a:r>
          </a:p>
          <a:p>
            <a:pPr>
              <a:defRPr sz="1200">
                <a:solidFill>
                  <a:srgbClr val="1C2A3A"/>
                </a:solidFill>
                <a:latin typeface="Calibri"/>
              </a:defRPr>
            </a:pPr>
            <a:r>
              <a:t>Base: BERT-base-uncased (110M params)</a:t>
            </a:r>
            <a:br/>
            <a:r>
              <a:t>By: Prosus AI (Araci, 2019)</a:t>
            </a:r>
            <a:br/>
            <a:r>
              <a:t>HF: ProsusAI/finbert</a:t>
            </a:r>
            <a:br/>
            <a:r>
              <a:t>Task: 3-class sentiment (pos/neg/neutral)</a:t>
            </a:r>
            <a:br/>
            <a:r>
              <a:t>Training: Financial PhraseBank (4,840 sentences)</a:t>
            </a:r>
          </a:p>
        </p:txBody>
      </p:sp>
      <p:sp>
        <p:nvSpPr>
          <p:cNvPr id="4" name="Rectangle 3"/>
          <p:cNvSpPr/>
          <p:nvPr/>
        </p:nvSpPr>
        <p:spPr>
          <a:xfrm>
            <a:off x="6217920" y="1371600"/>
            <a:ext cx="5303520" cy="22860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FinQA-7B - Numerical Reasoning</a:t>
            </a:r>
          </a:p>
          <a:p>
            <a:pPr>
              <a:defRPr sz="1200">
                <a:solidFill>
                  <a:srgbClr val="1C2A3A"/>
                </a:solidFill>
                <a:latin typeface="Calibri"/>
              </a:defRPr>
            </a:pPr>
            <a:r>
              <a:t>Base: Llama2-7B (Meta, 7B params)</a:t>
            </a:r>
            <a:br/>
            <a:r>
              <a:t>By: truocpham (community)</a:t>
            </a:r>
            <a:br/>
            <a:r>
              <a:t>HF: truocpham/FinQA-7B-Instruct-v0.1</a:t>
            </a:r>
            <a:br/>
            <a:r>
              <a:t>Method: QLoRA on FinQA dataset</a:t>
            </a:r>
            <a:br/>
            <a:r>
              <a:t>Training: 8,281 Q&amp;A pairs from SEC filings</a:t>
            </a:r>
          </a:p>
        </p:txBody>
      </p:sp>
      <p:sp>
        <p:nvSpPr>
          <p:cNvPr id="5" name="Rectangle 4"/>
          <p:cNvSpPr/>
          <p:nvPr/>
        </p:nvSpPr>
        <p:spPr>
          <a:xfrm>
            <a:off x="457200" y="3931920"/>
            <a:ext cx="5303520" cy="2011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FinBERT Training Data</a:t>
            </a:r>
          </a:p>
          <a:p>
            <a:pPr>
              <a:defRPr sz="1200">
                <a:solidFill>
                  <a:srgbClr val="1C2A3A"/>
                </a:solidFill>
                <a:latin typeface="Calibri"/>
              </a:defRPr>
            </a:pPr>
            <a:r>
              <a:t>Pre-training: Reuters TRC2 (46,143 articles)</a:t>
            </a:r>
            <a:br/>
            <a:r>
              <a:t>Fine-tuning: Financial PhraseBank</a:t>
            </a:r>
            <a:br/>
            <a:r>
              <a:t>  - 4,840 sentences, 16 expert annotators</a:t>
            </a:r>
            <a:br/>
            <a:r>
              <a:t>  - Source: Aalto University (Malo et al., 2014)</a:t>
            </a:r>
          </a:p>
        </p:txBody>
      </p:sp>
      <p:sp>
        <p:nvSpPr>
          <p:cNvPr id="6" name="Rectangle 5"/>
          <p:cNvSpPr/>
          <p:nvPr/>
        </p:nvSpPr>
        <p:spPr>
          <a:xfrm>
            <a:off x="6217920" y="3931920"/>
            <a:ext cx="5303520" cy="2011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FinQA Training Data</a:t>
            </a:r>
          </a:p>
          <a:p>
            <a:pPr>
              <a:defRPr sz="1200">
                <a:solidFill>
                  <a:srgbClr val="1C2A3A"/>
                </a:solidFill>
                <a:latin typeface="Calibri"/>
              </a:defRPr>
            </a:pPr>
            <a:r>
              <a:t>Dataset: FinQA (IBM Research, EMNLP 2021)</a:t>
            </a:r>
            <a:br/>
            <a:r>
              <a:t>  - 8,281 Q&amp;A pairs from S&amp;P 500 SEC filings</a:t>
            </a:r>
            <a:br/>
            <a:r>
              <a:t>  - Each: financial table + context + question</a:t>
            </a:r>
            <a:br/>
            <a:r>
              <a:t>  - Includes step-by-step reasoning programs</a:t>
            </a:r>
          </a:p>
        </p:txBody>
      </p:sp>
      <p:sp>
        <p:nvSpPr>
          <p:cNvPr id="7" name="TextBox 6"/>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12/55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Our Fine-Tuned Models: Spam Detection</a:t>
            </a:r>
          </a:p>
          <a:p>
            <a:pPr>
              <a:defRPr sz="1600">
                <a:solidFill>
                  <a:srgbClr val="ECEFF1"/>
                </a:solidFill>
                <a:latin typeface="Calibri"/>
              </a:defRPr>
            </a:pPr>
            <a:r>
              <a:t>DistilBERT fine-tuned for phishing &amp; spam classification</a:t>
            </a:r>
          </a:p>
        </p:txBody>
      </p:sp>
      <p:sp>
        <p:nvSpPr>
          <p:cNvPr id="3" name="Rectangle 2"/>
          <p:cNvSpPr/>
          <p:nvPr/>
        </p:nvSpPr>
        <p:spPr>
          <a:xfrm>
            <a:off x="457200" y="1371600"/>
            <a:ext cx="5303520" cy="22860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DistilBERT Spam Detector</a:t>
            </a:r>
          </a:p>
          <a:p>
            <a:pPr>
              <a:defRPr sz="1200">
                <a:solidFill>
                  <a:srgbClr val="1C2A3A"/>
                </a:solidFill>
                <a:latin typeface="Calibri"/>
              </a:defRPr>
            </a:pPr>
            <a:r>
              <a:t>Base: DistilBERT-base-uncased (66M params)</a:t>
            </a:r>
            <a:br/>
            <a:r>
              <a:t>Task: Binary classification (spam vs ham)</a:t>
            </a:r>
            <a:br/>
            <a:r>
              <a:t>40% smaller &amp; 60% faster than BERT-base</a:t>
            </a:r>
            <a:br/>
            <a:r>
              <a:t>Retains 97% of BERT's language understanding</a:t>
            </a:r>
            <a:br/>
            <a:r>
              <a:t>Learned: urgency cues, suspicious URLs, phishing patterns</a:t>
            </a:r>
          </a:p>
        </p:txBody>
      </p:sp>
      <p:sp>
        <p:nvSpPr>
          <p:cNvPr id="4" name="Rectangle 3"/>
          <p:cNvSpPr/>
          <p:nvPr/>
        </p:nvSpPr>
        <p:spPr>
          <a:xfrm>
            <a:off x="6217920" y="1371600"/>
            <a:ext cx="5303520" cy="228600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Spam Detection Training Data</a:t>
            </a:r>
          </a:p>
          <a:p>
            <a:pPr>
              <a:defRPr sz="1200">
                <a:solidFill>
                  <a:srgbClr val="1C2A3A"/>
                </a:solidFill>
                <a:latin typeface="Calibri"/>
              </a:defRPr>
            </a:pPr>
            <a:r>
              <a:t>Curated phishing &amp; spam corpus:</a:t>
            </a:r>
            <a:br/>
            <a:r>
              <a:t>  - Phishing emails (account compromise, verification)</a:t>
            </a:r>
            <a:br/>
            <a:r>
              <a:t>  - Lottery / Nigerian prince scams</a:t>
            </a:r>
            <a:br/>
            <a:r>
              <a:t>  - Get-rich-quick &amp; work-from-home spam</a:t>
            </a:r>
            <a:br/>
            <a:r>
              <a:t>  - Legitimate business, notification, newsletter emails</a:t>
            </a:r>
          </a:p>
        </p:txBody>
      </p:sp>
      <p:sp>
        <p:nvSpPr>
          <p:cNvPr id="5" name="Rectangle 4"/>
          <p:cNvSpPr/>
          <p:nvPr/>
        </p:nvSpPr>
        <p:spPr>
          <a:xfrm>
            <a:off x="457200" y="3931920"/>
            <a:ext cx="11064240" cy="2011680"/>
          </a:xfrm>
          <a:prstGeom prst="rect">
            <a:avLst/>
          </a:prstGeom>
          <a:solidFill>
            <a:srgbClr val="FFF1C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Why DistilBERT for Spam?</a:t>
            </a:r>
          </a:p>
          <a:p>
            <a:pPr>
              <a:defRPr sz="1200">
                <a:solidFill>
                  <a:srgbClr val="1C2A3A"/>
                </a:solidFill>
                <a:latin typeface="Calibri"/>
              </a:defRPr>
            </a:pPr>
            <a:r>
              <a:t>Ideal for high-throughput email filtering: small model (66M) runs fast on CPU.</a:t>
            </a:r>
            <a:br/>
            <a:r>
              <a:t>Fine-tuning teaches the model that urgency + verification + deadline = phishing,</a:t>
            </a:r>
            <a:br/>
            <a:r>
              <a:t>while RAG can only retrieve similar-looking emails and may confuse a pharmacy</a:t>
            </a:r>
            <a:br/>
            <a:r>
              <a:t>notification with medication spam.</a:t>
            </a:r>
            <a:br/>
            <a:br/>
            <a:r>
              <a:t>Result: 95% accuracy (fine-tuned) vs 90% (RAG) vs 85% (base)</a:t>
            </a:r>
          </a:p>
        </p:txBody>
      </p:sp>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13/55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What the Training Data Looks Like</a:t>
            </a:r>
          </a:p>
        </p:txBody>
      </p:sp>
      <p:sp>
        <p:nvSpPr>
          <p:cNvPr id="3" name="TextBox 2"/>
          <p:cNvSpPr txBox="1"/>
          <p:nvPr/>
        </p:nvSpPr>
        <p:spPr>
          <a:xfrm>
            <a:off x="457200" y="1188720"/>
            <a:ext cx="5486400" cy="365760"/>
          </a:xfrm>
          <a:prstGeom prst="rect">
            <a:avLst/>
          </a:prstGeom>
          <a:noFill/>
        </p:spPr>
        <p:txBody>
          <a:bodyPr wrap="square">
            <a:spAutoFit/>
          </a:bodyPr>
          <a:lstStyle/>
          <a:p>
            <a:pPr algn="l">
              <a:defRPr sz="1600" b="1">
                <a:solidFill>
                  <a:srgbClr val="1C2A3A"/>
                </a:solidFill>
                <a:latin typeface="Calibri"/>
              </a:defRPr>
            </a:pPr>
            <a:r>
              <a:t>FinQA Training Example (Numerical Reasoning)</a:t>
            </a:r>
          </a:p>
        </p:txBody>
      </p:sp>
      <p:sp>
        <p:nvSpPr>
          <p:cNvPr id="4" name="Rectangle 3"/>
          <p:cNvSpPr/>
          <p:nvPr/>
        </p:nvSpPr>
        <p:spPr>
          <a:xfrm>
            <a:off x="457200" y="1645920"/>
            <a:ext cx="5029200" cy="228600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Input (table + question):</a:t>
            </a:r>
          </a:p>
          <a:p>
            <a:pPr>
              <a:defRPr sz="1200">
                <a:solidFill>
                  <a:srgbClr val="1C2A3A"/>
                </a:solidFill>
                <a:latin typeface="Calibri"/>
              </a:defRPr>
            </a:pPr>
            <a:r>
              <a:t>Table:</a:t>
            </a:r>
            <a:br/>
            <a:r>
              <a:t>| Segment  | 2019   | 2018   |</a:t>
            </a:r>
            <a:br/>
            <a:r>
              <a:t>| Products | $4,231 | $3,891 |</a:t>
            </a:r>
            <a:br/>
            <a:r>
              <a:t>| Services | $2,107 | $1,988 |</a:t>
            </a:r>
            <a:br/>
            <a:br/>
            <a:r>
              <a:t>Q: "What was the total revenue</a:t>
            </a:r>
            <a:br/>
            <a:r>
              <a:t>    growth rate from 2018 to 2019?"</a:t>
            </a:r>
          </a:p>
        </p:txBody>
      </p:sp>
      <p:sp>
        <p:nvSpPr>
          <p:cNvPr id="5" name="Rectangle 4"/>
          <p:cNvSpPr/>
          <p:nvPr/>
        </p:nvSpPr>
        <p:spPr>
          <a:xfrm>
            <a:off x="5943600" y="1645920"/>
            <a:ext cx="5669280" cy="22860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Training label (reasoning + answer):</a:t>
            </a:r>
          </a:p>
          <a:p>
            <a:pPr>
              <a:defRPr sz="1200">
                <a:solidFill>
                  <a:srgbClr val="1C2A3A"/>
                </a:solidFill>
                <a:latin typeface="Calibri"/>
              </a:defRPr>
            </a:pPr>
            <a:r>
              <a:t>add(3891, 1988) -&gt; 5879  [2018 total]</a:t>
            </a:r>
            <a:br/>
            <a:r>
              <a:t>add(4231, 2107) -&gt; 6338  [2019 total]</a:t>
            </a:r>
            <a:br/>
            <a:r>
              <a:t>subtract(6338, 5879) -&gt; 459</a:t>
            </a:r>
            <a:br/>
            <a:r>
              <a:t>divide(459, 5879) -&gt; 0.0781</a:t>
            </a:r>
            <a:br/>
            <a:r>
              <a:t>Answer: 7.81%</a:t>
            </a:r>
            <a:br/>
            <a:br/>
            <a:r>
              <a:t>Model learns the STEPS, not just the number.</a:t>
            </a:r>
          </a:p>
        </p:txBody>
      </p:sp>
      <p:sp>
        <p:nvSpPr>
          <p:cNvPr id="6" name="TextBox 5"/>
          <p:cNvSpPr txBox="1"/>
          <p:nvPr/>
        </p:nvSpPr>
        <p:spPr>
          <a:xfrm>
            <a:off x="457200" y="4114800"/>
            <a:ext cx="5486400" cy="365760"/>
          </a:xfrm>
          <a:prstGeom prst="rect">
            <a:avLst/>
          </a:prstGeom>
          <a:noFill/>
        </p:spPr>
        <p:txBody>
          <a:bodyPr wrap="square">
            <a:spAutoFit/>
          </a:bodyPr>
          <a:lstStyle/>
          <a:p>
            <a:pPr algn="l">
              <a:defRPr sz="1600" b="1">
                <a:solidFill>
                  <a:srgbClr val="1C2A3A"/>
                </a:solidFill>
                <a:latin typeface="Calibri"/>
              </a:defRPr>
            </a:pPr>
            <a:r>
              <a:t>Financial PhraseBank Examples (Sentiment)</a:t>
            </a:r>
          </a:p>
        </p:txBody>
      </p:sp>
      <p:graphicFrame>
        <p:nvGraphicFramePr>
          <p:cNvPr id="7" name="Table 6"/>
          <p:cNvGraphicFramePr>
            <a:graphicFrameLocks noGrp="1"/>
          </p:cNvGraphicFramePr>
          <p:nvPr/>
        </p:nvGraphicFramePr>
        <p:xfrm>
          <a:off x="457200" y="4572000"/>
          <a:ext cx="11247120" cy="1645920"/>
        </p:xfrm>
        <a:graphic>
          <a:graphicData uri="http://schemas.openxmlformats.org/drawingml/2006/table">
            <a:tbl>
              <a:tblPr firstRow="1" bandRow="1">
                <a:tableStyleId>{5C22544A-7EE6-4342-B048-85BDC9FD1C3A}</a:tableStyleId>
              </a:tblPr>
              <a:tblGrid>
                <a:gridCol w="3749040"/>
                <a:gridCol w="3749040"/>
                <a:gridCol w="3749040"/>
              </a:tblGrid>
              <a:tr h="329184">
                <a:tc>
                  <a:txBody>
                    <a:bodyPr/>
                    <a:lstStyle/>
                    <a:p>
                      <a:pPr algn="ctr">
                        <a:defRPr sz="1200" b="1">
                          <a:solidFill>
                            <a:srgbClr val="FFFFFF"/>
                          </a:solidFill>
                          <a:latin typeface="Calibri"/>
                        </a:defRPr>
                      </a:pPr>
                      <a:r>
                        <a:t>Sentence</a:t>
                      </a:r>
                    </a:p>
                  </a:txBody>
                  <a:tcPr>
                    <a:solidFill>
                      <a:srgbClr val="2E86C1"/>
                    </a:solidFill>
                  </a:tcPr>
                </a:tc>
                <a:tc>
                  <a:txBody>
                    <a:bodyPr/>
                    <a:lstStyle/>
                    <a:p>
                      <a:pPr algn="ctr">
                        <a:defRPr sz="1200" b="1">
                          <a:solidFill>
                            <a:srgbClr val="FFFFFF"/>
                          </a:solidFill>
                          <a:latin typeface="Calibri"/>
                        </a:defRPr>
                      </a:pPr>
                      <a:r>
                        <a:t>Label</a:t>
                      </a:r>
                    </a:p>
                  </a:txBody>
                  <a:tcPr>
                    <a:solidFill>
                      <a:srgbClr val="2E86C1"/>
                    </a:solidFill>
                  </a:tcPr>
                </a:tc>
                <a:tc>
                  <a:txBody>
                    <a:bodyPr/>
                    <a:lstStyle/>
                    <a:p>
                      <a:pPr algn="ctr">
                        <a:defRPr sz="1200" b="1">
                          <a:solidFill>
                            <a:srgbClr val="FFFFFF"/>
                          </a:solidFill>
                          <a:latin typeface="Calibri"/>
                        </a:defRPr>
                      </a:pPr>
                      <a:r>
                        <a:t>What FinBERT Learned</a:t>
                      </a:r>
                    </a:p>
                  </a:txBody>
                  <a:tcPr>
                    <a:solidFill>
                      <a:srgbClr val="2E86C1"/>
                    </a:solidFill>
                  </a:tcPr>
                </a:tc>
              </a:tr>
              <a:tr h="329184">
                <a:tc>
                  <a:txBody>
                    <a:bodyPr/>
                    <a:lstStyle/>
                    <a:p>
                      <a:pPr>
                        <a:defRPr sz="1100">
                          <a:solidFill>
                            <a:srgbClr val="1C2A3A"/>
                          </a:solidFill>
                          <a:latin typeface="Calibri"/>
                        </a:defRPr>
                      </a:pPr>
                      <a:r>
                        <a:t>Operating profit rose to EUR 13.1M from EUR 8.7M</a:t>
                      </a:r>
                    </a:p>
                  </a:txBody>
                  <a:tcPr>
                    <a:solidFill>
                      <a:srgbClr val="E0E3E8"/>
                    </a:solidFill>
                  </a:tcPr>
                </a:tc>
                <a:tc>
                  <a:txBody>
                    <a:bodyPr/>
                    <a:lstStyle/>
                    <a:p>
                      <a:pPr>
                        <a:defRPr sz="1100">
                          <a:solidFill>
                            <a:srgbClr val="1C2A3A"/>
                          </a:solidFill>
                          <a:latin typeface="Calibri"/>
                        </a:defRPr>
                      </a:pPr>
                      <a:r>
                        <a:t>POSITIVE</a:t>
                      </a:r>
                    </a:p>
                  </a:txBody>
                  <a:tcPr>
                    <a:solidFill>
                      <a:srgbClr val="E0E3E8"/>
                    </a:solidFill>
                  </a:tcPr>
                </a:tc>
                <a:tc>
                  <a:txBody>
                    <a:bodyPr/>
                    <a:lstStyle/>
                    <a:p>
                      <a:pPr>
                        <a:defRPr sz="1100">
                          <a:solidFill>
                            <a:srgbClr val="1C2A3A"/>
                          </a:solidFill>
                          <a:latin typeface="Calibri"/>
                        </a:defRPr>
                      </a:pPr>
                      <a:r>
                        <a:t>'Rose' + growth numbers = positive</a:t>
                      </a:r>
                    </a:p>
                  </a:txBody>
                  <a:tcPr>
                    <a:solidFill>
                      <a:srgbClr val="E0E3E8"/>
                    </a:solidFill>
                  </a:tcPr>
                </a:tc>
              </a:tr>
              <a:tr h="329184">
                <a:tc>
                  <a:txBody>
                    <a:bodyPr/>
                    <a:lstStyle/>
                    <a:p>
                      <a:pPr>
                        <a:defRPr sz="1100">
                          <a:solidFill>
                            <a:srgbClr val="1C2A3A"/>
                          </a:solidFill>
                          <a:latin typeface="Calibri"/>
                        </a:defRPr>
                      </a:pPr>
                      <a:r>
                        <a:t>Management expects headwinds to persist</a:t>
                      </a:r>
                    </a:p>
                  </a:txBody>
                  <a:tcPr/>
                </a:tc>
                <a:tc>
                  <a:txBody>
                    <a:bodyPr/>
                    <a:lstStyle/>
                    <a:p>
                      <a:pPr>
                        <a:defRPr sz="1100">
                          <a:solidFill>
                            <a:srgbClr val="1C2A3A"/>
                          </a:solidFill>
                          <a:latin typeface="Calibri"/>
                        </a:defRPr>
                      </a:pPr>
                      <a:r>
                        <a:t>NEGATIVE</a:t>
                      </a:r>
                    </a:p>
                  </a:txBody>
                  <a:tcPr/>
                </a:tc>
                <a:tc>
                  <a:txBody>
                    <a:bodyPr/>
                    <a:lstStyle/>
                    <a:p>
                      <a:pPr>
                        <a:defRPr sz="1100">
                          <a:solidFill>
                            <a:srgbClr val="1C2A3A"/>
                          </a:solidFill>
                          <a:latin typeface="Calibri"/>
                        </a:defRPr>
                      </a:pPr>
                      <a:r>
                        <a:t>'Headwinds' + 'persist' = negative (jargon)</a:t>
                      </a:r>
                    </a:p>
                  </a:txBody>
                  <a:tcPr/>
                </a:tc>
              </a:tr>
              <a:tr h="329184">
                <a:tc>
                  <a:txBody>
                    <a:bodyPr/>
                    <a:lstStyle/>
                    <a:p>
                      <a:pPr>
                        <a:defRPr sz="1100">
                          <a:solidFill>
                            <a:srgbClr val="1C2A3A"/>
                          </a:solidFill>
                          <a:latin typeface="Calibri"/>
                        </a:defRPr>
                      </a:pPr>
                      <a:r>
                        <a:t>Maintained quarterly dividend at $0.50</a:t>
                      </a:r>
                    </a:p>
                  </a:txBody>
                  <a:tcPr>
                    <a:solidFill>
                      <a:srgbClr val="E0E3E8"/>
                    </a:solidFill>
                  </a:tcPr>
                </a:tc>
                <a:tc>
                  <a:txBody>
                    <a:bodyPr/>
                    <a:lstStyle/>
                    <a:p>
                      <a:pPr>
                        <a:defRPr sz="1100">
                          <a:solidFill>
                            <a:srgbClr val="1C2A3A"/>
                          </a:solidFill>
                          <a:latin typeface="Calibri"/>
                        </a:defRPr>
                      </a:pPr>
                      <a:r>
                        <a:t>NEUTRAL</a:t>
                      </a:r>
                    </a:p>
                  </a:txBody>
                  <a:tcPr>
                    <a:solidFill>
                      <a:srgbClr val="E0E3E8"/>
                    </a:solidFill>
                  </a:tcPr>
                </a:tc>
                <a:tc>
                  <a:txBody>
                    <a:bodyPr/>
                    <a:lstStyle/>
                    <a:p>
                      <a:pPr>
                        <a:defRPr sz="1100">
                          <a:solidFill>
                            <a:srgbClr val="1C2A3A"/>
                          </a:solidFill>
                          <a:latin typeface="Calibri"/>
                        </a:defRPr>
                      </a:pPr>
                      <a:r>
                        <a:t>'Maintained' = no change = neutral</a:t>
                      </a:r>
                    </a:p>
                  </a:txBody>
                  <a:tcPr>
                    <a:solidFill>
                      <a:srgbClr val="E0E3E8"/>
                    </a:solidFill>
                  </a:tcPr>
                </a:tc>
              </a:tr>
              <a:tr h="329184">
                <a:tc>
                  <a:txBody>
                    <a:bodyPr/>
                    <a:lstStyle/>
                    <a:p>
                      <a:pPr>
                        <a:defRPr sz="1100">
                          <a:solidFill>
                            <a:srgbClr val="1C2A3A"/>
                          </a:solidFill>
                          <a:latin typeface="Calibri"/>
                        </a:defRPr>
                      </a:pPr>
                      <a:r>
                        <a:t>Restructuring charges totaled $450M</a:t>
                      </a:r>
                    </a:p>
                  </a:txBody>
                  <a:tcPr/>
                </a:tc>
                <a:tc>
                  <a:txBody>
                    <a:bodyPr/>
                    <a:lstStyle/>
                    <a:p>
                      <a:pPr>
                        <a:defRPr sz="1100">
                          <a:solidFill>
                            <a:srgbClr val="1C2A3A"/>
                          </a:solidFill>
                          <a:latin typeface="Calibri"/>
                        </a:defRPr>
                      </a:pPr>
                      <a:r>
                        <a:t>NEGATIVE</a:t>
                      </a:r>
                    </a:p>
                  </a:txBody>
                  <a:tcPr/>
                </a:tc>
                <a:tc>
                  <a:txBody>
                    <a:bodyPr/>
                    <a:lstStyle/>
                    <a:p>
                      <a:pPr>
                        <a:defRPr sz="1100">
                          <a:solidFill>
                            <a:srgbClr val="1C2A3A"/>
                          </a:solidFill>
                          <a:latin typeface="Calibri"/>
                        </a:defRPr>
                      </a:pPr>
                      <a:r>
                        <a:t>'Restructuring charges' + 'write-downs' = negative</a:t>
                      </a:r>
                    </a:p>
                  </a:txBody>
                  <a:tcPr/>
                </a:tc>
              </a:tr>
            </a:tbl>
          </a:graphicData>
        </a:graphic>
      </p:graphicFrame>
      <p:sp>
        <p:nvSpPr>
          <p:cNvPr id="8" name="TextBox 7"/>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14/55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Head-to-Head: RAG vs Fine-Tuning vs Hybrid</a:t>
            </a:r>
          </a:p>
        </p:txBody>
      </p:sp>
      <p:graphicFrame>
        <p:nvGraphicFramePr>
          <p:cNvPr id="3" name="Table 2"/>
          <p:cNvGraphicFramePr>
            <a:graphicFrameLocks noGrp="1"/>
          </p:cNvGraphicFramePr>
          <p:nvPr/>
        </p:nvGraphicFramePr>
        <p:xfrm>
          <a:off x="457200" y="1371600"/>
          <a:ext cx="11247120" cy="4114800"/>
        </p:xfrm>
        <a:graphic>
          <a:graphicData uri="http://schemas.openxmlformats.org/drawingml/2006/table">
            <a:tbl>
              <a:tblPr firstRow="1" bandRow="1">
                <a:tableStyleId>{5C22544A-7EE6-4342-B048-85BDC9FD1C3A}</a:tableStyleId>
              </a:tblPr>
              <a:tblGrid>
                <a:gridCol w="2811780"/>
                <a:gridCol w="2811780"/>
                <a:gridCol w="2811780"/>
                <a:gridCol w="2811780"/>
              </a:tblGrid>
              <a:tr h="457200">
                <a:tc>
                  <a:txBody>
                    <a:bodyPr/>
                    <a:lstStyle/>
                    <a:p>
                      <a:pPr algn="ctr">
                        <a:defRPr sz="1200" b="1">
                          <a:solidFill>
                            <a:srgbClr val="FFFFFF"/>
                          </a:solidFill>
                          <a:latin typeface="Calibri"/>
                        </a:defRPr>
                      </a:pPr>
                      <a:r>
                        <a:t>Dimension</a:t>
                      </a:r>
                    </a:p>
                  </a:txBody>
                  <a:tcPr>
                    <a:solidFill>
                      <a:srgbClr val="2E86C1"/>
                    </a:solidFill>
                  </a:tcPr>
                </a:tc>
                <a:tc>
                  <a:txBody>
                    <a:bodyPr/>
                    <a:lstStyle/>
                    <a:p>
                      <a:pPr algn="ctr">
                        <a:defRPr sz="1200" b="1">
                          <a:solidFill>
                            <a:srgbClr val="FFFFFF"/>
                          </a:solidFill>
                          <a:latin typeface="Calibri"/>
                        </a:defRPr>
                      </a:pPr>
                      <a:r>
                        <a:t>RAG</a:t>
                      </a:r>
                    </a:p>
                  </a:txBody>
                  <a:tcPr>
                    <a:solidFill>
                      <a:srgbClr val="2E86C1"/>
                    </a:solidFill>
                  </a:tcPr>
                </a:tc>
                <a:tc>
                  <a:txBody>
                    <a:bodyPr/>
                    <a:lstStyle/>
                    <a:p>
                      <a:pPr algn="ctr">
                        <a:defRPr sz="1200" b="1">
                          <a:solidFill>
                            <a:srgbClr val="FFFFFF"/>
                          </a:solidFill>
                          <a:latin typeface="Calibri"/>
                        </a:defRPr>
                      </a:pPr>
                      <a:r>
                        <a:t>Fine-Tuning</a:t>
                      </a:r>
                    </a:p>
                  </a:txBody>
                  <a:tcPr>
                    <a:solidFill>
                      <a:srgbClr val="2E86C1"/>
                    </a:solidFill>
                  </a:tcPr>
                </a:tc>
                <a:tc>
                  <a:txBody>
                    <a:bodyPr/>
                    <a:lstStyle/>
                    <a:p>
                      <a:pPr algn="ctr">
                        <a:defRPr sz="1200" b="1">
                          <a:solidFill>
                            <a:srgbClr val="FFFFFF"/>
                          </a:solidFill>
                          <a:latin typeface="Calibri"/>
                        </a:defRPr>
                      </a:pPr>
                      <a:r>
                        <a:t>Hybrid</a:t>
                      </a:r>
                    </a:p>
                  </a:txBody>
                  <a:tcPr>
                    <a:solidFill>
                      <a:srgbClr val="2E86C1"/>
                    </a:solidFill>
                  </a:tcPr>
                </a:tc>
              </a:tr>
              <a:tr h="457200">
                <a:tc>
                  <a:txBody>
                    <a:bodyPr/>
                    <a:lstStyle/>
                    <a:p>
                      <a:pPr>
                        <a:defRPr sz="1100">
                          <a:solidFill>
                            <a:srgbClr val="1C2A3A"/>
                          </a:solidFill>
                          <a:latin typeface="Calibri"/>
                        </a:defRPr>
                      </a:pPr>
                      <a:r>
                        <a:t>Knowledge Type</a:t>
                      </a:r>
                    </a:p>
                  </a:txBody>
                  <a:tcPr>
                    <a:solidFill>
                      <a:srgbClr val="E0E3E8"/>
                    </a:solidFill>
                  </a:tcPr>
                </a:tc>
                <a:tc>
                  <a:txBody>
                    <a:bodyPr/>
                    <a:lstStyle/>
                    <a:p>
                      <a:pPr>
                        <a:defRPr sz="1100">
                          <a:solidFill>
                            <a:srgbClr val="1C2A3A"/>
                          </a:solidFill>
                          <a:latin typeface="Calibri"/>
                        </a:defRPr>
                      </a:pPr>
                      <a:r>
                        <a:t>External (retrieved)</a:t>
                      </a:r>
                    </a:p>
                  </a:txBody>
                  <a:tcPr>
                    <a:solidFill>
                      <a:srgbClr val="E0E3E8"/>
                    </a:solidFill>
                  </a:tcPr>
                </a:tc>
                <a:tc>
                  <a:txBody>
                    <a:bodyPr/>
                    <a:lstStyle/>
                    <a:p>
                      <a:pPr>
                        <a:defRPr sz="1100">
                          <a:solidFill>
                            <a:srgbClr val="1C2A3A"/>
                          </a:solidFill>
                          <a:latin typeface="Calibri"/>
                        </a:defRPr>
                      </a:pPr>
                      <a:r>
                        <a:t>Internal (learned)</a:t>
                      </a:r>
                    </a:p>
                  </a:txBody>
                  <a:tcPr>
                    <a:solidFill>
                      <a:srgbClr val="E0E3E8"/>
                    </a:solidFill>
                  </a:tcPr>
                </a:tc>
                <a:tc>
                  <a:txBody>
                    <a:bodyPr/>
                    <a:lstStyle/>
                    <a:p>
                      <a:pPr>
                        <a:defRPr sz="1100">
                          <a:solidFill>
                            <a:srgbClr val="1C2A3A"/>
                          </a:solidFill>
                          <a:latin typeface="Calibri"/>
                        </a:defRPr>
                      </a:pPr>
                      <a:r>
                        <a:t>Both</a:t>
                      </a:r>
                    </a:p>
                  </a:txBody>
                  <a:tcPr>
                    <a:solidFill>
                      <a:srgbClr val="E0E3E8"/>
                    </a:solidFill>
                  </a:tcPr>
                </a:tc>
              </a:tr>
              <a:tr h="457200">
                <a:tc>
                  <a:txBody>
                    <a:bodyPr/>
                    <a:lstStyle/>
                    <a:p>
                      <a:pPr>
                        <a:defRPr sz="1100">
                          <a:solidFill>
                            <a:srgbClr val="1C2A3A"/>
                          </a:solidFill>
                          <a:latin typeface="Calibri"/>
                        </a:defRPr>
                      </a:pPr>
                      <a:r>
                        <a:t>Teaches New Skills</a:t>
                      </a:r>
                    </a:p>
                  </a:txBody>
                  <a:tcPr/>
                </a:tc>
                <a:tc>
                  <a:txBody>
                    <a:bodyPr/>
                    <a:lstStyle/>
                    <a:p>
                      <a:pPr>
                        <a:defRPr sz="1100">
                          <a:solidFill>
                            <a:srgbClr val="1C2A3A"/>
                          </a:solidFill>
                          <a:latin typeface="Calibri"/>
                        </a:defRPr>
                      </a:pPr>
                      <a:r>
                        <a:t>No</a:t>
                      </a:r>
                    </a:p>
                  </a:txBody>
                  <a:tcPr/>
                </a:tc>
                <a:tc>
                  <a:txBody>
                    <a:bodyPr/>
                    <a:lstStyle/>
                    <a:p>
                      <a:pPr>
                        <a:defRPr sz="1100">
                          <a:solidFill>
                            <a:srgbClr val="1C2A3A"/>
                          </a:solidFill>
                          <a:latin typeface="Calibri"/>
                        </a:defRPr>
                      </a:pPr>
                      <a:r>
                        <a:t>Yes</a:t>
                      </a:r>
                    </a:p>
                  </a:txBody>
                  <a:tcPr/>
                </a:tc>
                <a:tc>
                  <a:txBody>
                    <a:bodyPr/>
                    <a:lstStyle/>
                    <a:p>
                      <a:pPr>
                        <a:defRPr sz="1100">
                          <a:solidFill>
                            <a:srgbClr val="1C2A3A"/>
                          </a:solidFill>
                          <a:latin typeface="Calibri"/>
                        </a:defRPr>
                      </a:pPr>
                      <a:r>
                        <a:t>Yes</a:t>
                      </a:r>
                    </a:p>
                  </a:txBody>
                  <a:tcPr/>
                </a:tc>
              </a:tr>
              <a:tr h="457200">
                <a:tc>
                  <a:txBody>
                    <a:bodyPr/>
                    <a:lstStyle/>
                    <a:p>
                      <a:pPr>
                        <a:defRPr sz="1100">
                          <a:solidFill>
                            <a:srgbClr val="1C2A3A"/>
                          </a:solidFill>
                          <a:latin typeface="Calibri"/>
                        </a:defRPr>
                      </a:pPr>
                      <a:r>
                        <a:t>Setup Cost</a:t>
                      </a:r>
                    </a:p>
                  </a:txBody>
                  <a:tcPr>
                    <a:solidFill>
                      <a:srgbClr val="E0E3E8"/>
                    </a:solidFill>
                  </a:tcPr>
                </a:tc>
                <a:tc>
                  <a:txBody>
                    <a:bodyPr/>
                    <a:lstStyle/>
                    <a:p>
                      <a:pPr>
                        <a:defRPr sz="1100">
                          <a:solidFill>
                            <a:srgbClr val="1C2A3A"/>
                          </a:solidFill>
                          <a:latin typeface="Calibri"/>
                        </a:defRPr>
                      </a:pPr>
                      <a:r>
                        <a:t>Low ($)</a:t>
                      </a:r>
                    </a:p>
                  </a:txBody>
                  <a:tcPr>
                    <a:solidFill>
                      <a:srgbClr val="E0E3E8"/>
                    </a:solidFill>
                  </a:tcPr>
                </a:tc>
                <a:tc>
                  <a:txBody>
                    <a:bodyPr/>
                    <a:lstStyle/>
                    <a:p>
                      <a:pPr>
                        <a:defRPr sz="1100">
                          <a:solidFill>
                            <a:srgbClr val="1C2A3A"/>
                          </a:solidFill>
                          <a:latin typeface="Calibri"/>
                        </a:defRPr>
                      </a:pPr>
                      <a:r>
                        <a:t>Higher ($$$)</a:t>
                      </a:r>
                    </a:p>
                  </a:txBody>
                  <a:tcPr>
                    <a:solidFill>
                      <a:srgbClr val="E0E3E8"/>
                    </a:solidFill>
                  </a:tcPr>
                </a:tc>
                <a:tc>
                  <a:txBody>
                    <a:bodyPr/>
                    <a:lstStyle/>
                    <a:p>
                      <a:pPr>
                        <a:defRPr sz="1100">
                          <a:solidFill>
                            <a:srgbClr val="1C2A3A"/>
                          </a:solidFill>
                          <a:latin typeface="Calibri"/>
                        </a:defRPr>
                      </a:pPr>
                      <a:r>
                        <a:t>Highest</a:t>
                      </a:r>
                    </a:p>
                  </a:txBody>
                  <a:tcPr>
                    <a:solidFill>
                      <a:srgbClr val="E0E3E8"/>
                    </a:solidFill>
                  </a:tcPr>
                </a:tc>
              </a:tr>
              <a:tr h="457200">
                <a:tc>
                  <a:txBody>
                    <a:bodyPr/>
                    <a:lstStyle/>
                    <a:p>
                      <a:pPr>
                        <a:defRPr sz="1100">
                          <a:solidFill>
                            <a:srgbClr val="1C2A3A"/>
                          </a:solidFill>
                          <a:latin typeface="Calibri"/>
                        </a:defRPr>
                      </a:pPr>
                      <a:r>
                        <a:t>Inference Latency</a:t>
                      </a:r>
                    </a:p>
                  </a:txBody>
                  <a:tcPr/>
                </a:tc>
                <a:tc>
                  <a:txBody>
                    <a:bodyPr/>
                    <a:lstStyle/>
                    <a:p>
                      <a:pPr>
                        <a:defRPr sz="1100">
                          <a:solidFill>
                            <a:srgbClr val="1C2A3A"/>
                          </a:solidFill>
                          <a:latin typeface="Calibri"/>
                        </a:defRPr>
                      </a:pPr>
                      <a:r>
                        <a:t>Higher (~800ms)</a:t>
                      </a:r>
                    </a:p>
                  </a:txBody>
                  <a:tcPr/>
                </a:tc>
                <a:tc>
                  <a:txBody>
                    <a:bodyPr/>
                    <a:lstStyle/>
                    <a:p>
                      <a:pPr>
                        <a:defRPr sz="1100">
                          <a:solidFill>
                            <a:srgbClr val="1C2A3A"/>
                          </a:solidFill>
                          <a:latin typeface="Calibri"/>
                        </a:defRPr>
                      </a:pPr>
                      <a:r>
                        <a:t>Lower (~200ms)</a:t>
                      </a:r>
                    </a:p>
                  </a:txBody>
                  <a:tcPr/>
                </a:tc>
                <a:tc>
                  <a:txBody>
                    <a:bodyPr/>
                    <a:lstStyle/>
                    <a:p>
                      <a:pPr>
                        <a:defRPr sz="1100">
                          <a:solidFill>
                            <a:srgbClr val="1C2A3A"/>
                          </a:solidFill>
                          <a:latin typeface="Calibri"/>
                        </a:defRPr>
                      </a:pPr>
                      <a:r>
                        <a:t>Medium (~450ms)</a:t>
                      </a:r>
                    </a:p>
                  </a:txBody>
                  <a:tcPr/>
                </a:tc>
              </a:tr>
              <a:tr h="457200">
                <a:tc>
                  <a:txBody>
                    <a:bodyPr/>
                    <a:lstStyle/>
                    <a:p>
                      <a:pPr>
                        <a:defRPr sz="1100">
                          <a:solidFill>
                            <a:srgbClr val="1C2A3A"/>
                          </a:solidFill>
                          <a:latin typeface="Calibri"/>
                        </a:defRPr>
                      </a:pPr>
                      <a:r>
                        <a:t>Accuracy (Domain)</a:t>
                      </a:r>
                    </a:p>
                  </a:txBody>
                  <a:tcPr>
                    <a:solidFill>
                      <a:srgbClr val="E0E3E8"/>
                    </a:solidFill>
                  </a:tcPr>
                </a:tc>
                <a:tc>
                  <a:txBody>
                    <a:bodyPr/>
                    <a:lstStyle/>
                    <a:p>
                      <a:pPr>
                        <a:defRPr sz="1100">
                          <a:solidFill>
                            <a:srgbClr val="1C2A3A"/>
                          </a:solidFill>
                          <a:latin typeface="Calibri"/>
                        </a:defRPr>
                      </a:pPr>
                      <a:r>
                        <a:t>Lower (15-40%)</a:t>
                      </a:r>
                    </a:p>
                  </a:txBody>
                  <a:tcPr>
                    <a:solidFill>
                      <a:srgbClr val="E0E3E8"/>
                    </a:solidFill>
                  </a:tcPr>
                </a:tc>
                <a:tc>
                  <a:txBody>
                    <a:bodyPr/>
                    <a:lstStyle/>
                    <a:p>
                      <a:pPr>
                        <a:defRPr sz="1100">
                          <a:solidFill>
                            <a:srgbClr val="1C2A3A"/>
                          </a:solidFill>
                          <a:latin typeface="Calibri"/>
                        </a:defRPr>
                      </a:pPr>
                      <a:r>
                        <a:t>Higher (60-95%)</a:t>
                      </a:r>
                    </a:p>
                  </a:txBody>
                  <a:tcPr>
                    <a:solidFill>
                      <a:srgbClr val="E0E3E8"/>
                    </a:solidFill>
                  </a:tcPr>
                </a:tc>
                <a:tc>
                  <a:txBody>
                    <a:bodyPr/>
                    <a:lstStyle/>
                    <a:p>
                      <a:pPr>
                        <a:defRPr sz="1100">
                          <a:solidFill>
                            <a:srgbClr val="1C2A3A"/>
                          </a:solidFill>
                          <a:latin typeface="Calibri"/>
                        </a:defRPr>
                      </a:pPr>
                      <a:r>
                        <a:t>Highest (65%+)</a:t>
                      </a:r>
                    </a:p>
                  </a:txBody>
                  <a:tcPr>
                    <a:solidFill>
                      <a:srgbClr val="E0E3E8"/>
                    </a:solidFill>
                  </a:tcPr>
                </a:tc>
              </a:tr>
              <a:tr h="457200">
                <a:tc>
                  <a:txBody>
                    <a:bodyPr/>
                    <a:lstStyle/>
                    <a:p>
                      <a:pPr>
                        <a:defRPr sz="1100">
                          <a:solidFill>
                            <a:srgbClr val="1C2A3A"/>
                          </a:solidFill>
                          <a:latin typeface="Calibri"/>
                        </a:defRPr>
                      </a:pPr>
                      <a:r>
                        <a:t>Output Consistency</a:t>
                      </a:r>
                    </a:p>
                  </a:txBody>
                  <a:tcPr/>
                </a:tc>
                <a:tc>
                  <a:txBody>
                    <a:bodyPr/>
                    <a:lstStyle/>
                    <a:p>
                      <a:pPr>
                        <a:defRPr sz="1100">
                          <a:solidFill>
                            <a:srgbClr val="1C2A3A"/>
                          </a:solidFill>
                          <a:latin typeface="Calibri"/>
                        </a:defRPr>
                      </a:pPr>
                      <a:r>
                        <a:t>Variable (65%)</a:t>
                      </a:r>
                    </a:p>
                  </a:txBody>
                  <a:tcPr/>
                </a:tc>
                <a:tc>
                  <a:txBody>
                    <a:bodyPr/>
                    <a:lstStyle/>
                    <a:p>
                      <a:pPr>
                        <a:defRPr sz="1100">
                          <a:solidFill>
                            <a:srgbClr val="1C2A3A"/>
                          </a:solidFill>
                          <a:latin typeface="Calibri"/>
                        </a:defRPr>
                      </a:pPr>
                      <a:r>
                        <a:t>High (98%)</a:t>
                      </a:r>
                    </a:p>
                  </a:txBody>
                  <a:tcPr/>
                </a:tc>
                <a:tc>
                  <a:txBody>
                    <a:bodyPr/>
                    <a:lstStyle/>
                    <a:p>
                      <a:pPr>
                        <a:defRPr sz="1100">
                          <a:solidFill>
                            <a:srgbClr val="1C2A3A"/>
                          </a:solidFill>
                          <a:latin typeface="Calibri"/>
                        </a:defRPr>
                      </a:pPr>
                      <a:r>
                        <a:t>High (95%)</a:t>
                      </a:r>
                    </a:p>
                  </a:txBody>
                  <a:tcPr/>
                </a:tc>
              </a:tr>
              <a:tr h="457200">
                <a:tc>
                  <a:txBody>
                    <a:bodyPr/>
                    <a:lstStyle/>
                    <a:p>
                      <a:pPr>
                        <a:defRPr sz="1100">
                          <a:solidFill>
                            <a:srgbClr val="1C2A3A"/>
                          </a:solidFill>
                          <a:latin typeface="Calibri"/>
                        </a:defRPr>
                      </a:pPr>
                      <a:r>
                        <a:t>Source Citations</a:t>
                      </a:r>
                    </a:p>
                  </a:txBody>
                  <a:tcPr>
                    <a:solidFill>
                      <a:srgbClr val="E0E3E8"/>
                    </a:solidFill>
                  </a:tcPr>
                </a:tc>
                <a:tc>
                  <a:txBody>
                    <a:bodyPr/>
                    <a:lstStyle/>
                    <a:p>
                      <a:pPr>
                        <a:defRPr sz="1100">
                          <a:solidFill>
                            <a:srgbClr val="1C2A3A"/>
                          </a:solidFill>
                          <a:latin typeface="Calibri"/>
                        </a:defRPr>
                      </a:pPr>
                      <a:r>
                        <a:t>Yes</a:t>
                      </a:r>
                    </a:p>
                  </a:txBody>
                  <a:tcPr>
                    <a:solidFill>
                      <a:srgbClr val="E0E3E8"/>
                    </a:solidFill>
                  </a:tcPr>
                </a:tc>
                <a:tc>
                  <a:txBody>
                    <a:bodyPr/>
                    <a:lstStyle/>
                    <a:p>
                      <a:pPr>
                        <a:defRPr sz="1100">
                          <a:solidFill>
                            <a:srgbClr val="1C2A3A"/>
                          </a:solidFill>
                          <a:latin typeface="Calibri"/>
                        </a:defRPr>
                      </a:pPr>
                      <a:r>
                        <a:t>No</a:t>
                      </a:r>
                    </a:p>
                  </a:txBody>
                  <a:tcPr>
                    <a:solidFill>
                      <a:srgbClr val="E0E3E8"/>
                    </a:solidFill>
                  </a:tcPr>
                </a:tc>
                <a:tc>
                  <a:txBody>
                    <a:bodyPr/>
                    <a:lstStyle/>
                    <a:p>
                      <a:pPr>
                        <a:defRPr sz="1100">
                          <a:solidFill>
                            <a:srgbClr val="1C2A3A"/>
                          </a:solidFill>
                          <a:latin typeface="Calibri"/>
                        </a:defRPr>
                      </a:pPr>
                      <a:r>
                        <a:t>Yes</a:t>
                      </a:r>
                    </a:p>
                  </a:txBody>
                  <a:tcPr>
                    <a:solidFill>
                      <a:srgbClr val="E0E3E8"/>
                    </a:solidFill>
                  </a:tcPr>
                </a:tc>
              </a:tr>
              <a:tr h="457200">
                <a:tc>
                  <a:txBody>
                    <a:bodyPr/>
                    <a:lstStyle/>
                    <a:p>
                      <a:pPr>
                        <a:defRPr sz="1100">
                          <a:solidFill>
                            <a:srgbClr val="1C2A3A"/>
                          </a:solidFill>
                          <a:latin typeface="Calibri"/>
                        </a:defRPr>
                      </a:pPr>
                      <a:r>
                        <a:t>Handles Fresh Data</a:t>
                      </a:r>
                    </a:p>
                  </a:txBody>
                  <a:tcPr/>
                </a:tc>
                <a:tc>
                  <a:txBody>
                    <a:bodyPr/>
                    <a:lstStyle/>
                    <a:p>
                      <a:pPr>
                        <a:defRPr sz="1100">
                          <a:solidFill>
                            <a:srgbClr val="1C2A3A"/>
                          </a:solidFill>
                          <a:latin typeface="Calibri"/>
                        </a:defRPr>
                      </a:pPr>
                      <a:r>
                        <a:t>Yes</a:t>
                      </a:r>
                    </a:p>
                  </a:txBody>
                  <a:tcPr/>
                </a:tc>
                <a:tc>
                  <a:txBody>
                    <a:bodyPr/>
                    <a:lstStyle/>
                    <a:p>
                      <a:pPr>
                        <a:defRPr sz="1100">
                          <a:solidFill>
                            <a:srgbClr val="1C2A3A"/>
                          </a:solidFill>
                          <a:latin typeface="Calibri"/>
                        </a:defRPr>
                      </a:pPr>
                      <a:r>
                        <a:t>No (static)</a:t>
                      </a:r>
                    </a:p>
                  </a:txBody>
                  <a:tcPr/>
                </a:tc>
                <a:tc>
                  <a:txBody>
                    <a:bodyPr/>
                    <a:lstStyle/>
                    <a:p>
                      <a:pPr>
                        <a:defRPr sz="1100">
                          <a:solidFill>
                            <a:srgbClr val="1C2A3A"/>
                          </a:solidFill>
                          <a:latin typeface="Calibri"/>
                        </a:defRPr>
                      </a:pPr>
                      <a:r>
                        <a:t>Yes</a:t>
                      </a:r>
                    </a:p>
                  </a:txBody>
                  <a:tcPr/>
                </a:tc>
              </a:tr>
            </a:tbl>
          </a:graphicData>
        </a:graphic>
      </p:graphicFrame>
      <p:sp>
        <p:nvSpPr>
          <p:cNvPr id="4" name="Rectangle 3"/>
          <p:cNvSpPr/>
          <p:nvPr/>
        </p:nvSpPr>
        <p:spPr>
          <a:xfrm>
            <a:off x="457200" y="5669280"/>
            <a:ext cx="11247120" cy="6400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Key insight:</a:t>
            </a:r>
          </a:p>
          <a:p>
            <a:pPr>
              <a:defRPr sz="1200">
                <a:solidFill>
                  <a:srgbClr val="1C2A3A"/>
                </a:solidFill>
                <a:latin typeface="Calibri"/>
              </a:defRPr>
            </a:pPr>
            <a:r>
              <a:t>RAG and Fine-Tuning are complementary, not competing. The best solution often combines both.</a:t>
            </a:r>
          </a:p>
        </p:txBody>
      </p:sp>
      <p:sp>
        <p:nvSpPr>
          <p:cNvPr id="5" name="TextBox 4"/>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15/55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When RAG Falls Short: Real Examples</a:t>
            </a:r>
          </a:p>
        </p:txBody>
      </p:sp>
      <p:sp>
        <p:nvSpPr>
          <p:cNvPr id="3" name="TextBox 2"/>
          <p:cNvSpPr txBox="1"/>
          <p:nvPr/>
        </p:nvSpPr>
        <p:spPr>
          <a:xfrm>
            <a:off x="457200" y="1188720"/>
            <a:ext cx="10972800" cy="365760"/>
          </a:xfrm>
          <a:prstGeom prst="rect">
            <a:avLst/>
          </a:prstGeom>
          <a:noFill/>
        </p:spPr>
        <p:txBody>
          <a:bodyPr wrap="square">
            <a:spAutoFit/>
          </a:bodyPr>
          <a:lstStyle/>
          <a:p>
            <a:pPr algn="l">
              <a:defRPr sz="1800" b="1">
                <a:solidFill>
                  <a:srgbClr val="1C2A3A"/>
                </a:solidFill>
                <a:latin typeface="Calibri"/>
              </a:defRPr>
            </a:pPr>
            <a:r>
              <a:t>Example 1: Financial Calculation</a:t>
            </a:r>
          </a:p>
        </p:txBody>
      </p:sp>
      <p:sp>
        <p:nvSpPr>
          <p:cNvPr id="4" name="Rectangle 3"/>
          <p:cNvSpPr/>
          <p:nvPr/>
        </p:nvSpPr>
        <p:spPr>
          <a:xfrm>
            <a:off x="457200" y="1645920"/>
            <a:ext cx="5303520" cy="1828800"/>
          </a:xfrm>
          <a:prstGeom prst="rect">
            <a:avLst/>
          </a:prstGeom>
          <a:solidFill>
            <a:srgbClr val="FCCECE"/>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RAG Response:</a:t>
            </a:r>
          </a:p>
          <a:p>
            <a:pPr>
              <a:defRPr sz="1200">
                <a:solidFill>
                  <a:srgbClr val="1C2A3A"/>
                </a:solidFill>
                <a:latin typeface="Calibri"/>
              </a:defRPr>
            </a:pPr>
            <a:r>
              <a:t>"Retrieved: Revenue growth formula = (Current - Prior) / Prior..."</a:t>
            </a:r>
            <a:br/>
            <a:r>
              <a:t>"The revenue appears to have grown."</a:t>
            </a:r>
            <a:br/>
            <a:br/>
            <a:r>
              <a:t>Result: Vague, no actual calculation</a:t>
            </a:r>
          </a:p>
        </p:txBody>
      </p:sp>
      <p:sp>
        <p:nvSpPr>
          <p:cNvPr id="5" name="Rectangle 4"/>
          <p:cNvSpPr/>
          <p:nvPr/>
        </p:nvSpPr>
        <p:spPr>
          <a:xfrm>
            <a:off x="6217920" y="1645920"/>
            <a:ext cx="5303520" cy="18288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Fine-Tuned Response:</a:t>
            </a:r>
          </a:p>
          <a:p>
            <a:pPr>
              <a:defRPr sz="1200">
                <a:solidFill>
                  <a:srgbClr val="1C2A3A"/>
                </a:solidFill>
                <a:latin typeface="Calibri"/>
              </a:defRPr>
            </a:pPr>
            <a:r>
              <a:t>Step 1: 2022 total = $25,330M</a:t>
            </a:r>
            <a:br/>
            <a:r>
              <a:t>Step 2: 2023 total = $25,950M</a:t>
            </a:r>
            <a:br/>
            <a:r>
              <a:t>Step 3: Growth = (25,950-25,330)/25,330 = 2.45%</a:t>
            </a:r>
            <a:br/>
            <a:br/>
            <a:r>
              <a:t>Result: Precise answer with reasoning</a:t>
            </a:r>
          </a:p>
        </p:txBody>
      </p:sp>
      <p:sp>
        <p:nvSpPr>
          <p:cNvPr id="6" name="TextBox 5"/>
          <p:cNvSpPr txBox="1"/>
          <p:nvPr/>
        </p:nvSpPr>
        <p:spPr>
          <a:xfrm>
            <a:off x="457200" y="3840480"/>
            <a:ext cx="10972800" cy="365760"/>
          </a:xfrm>
          <a:prstGeom prst="rect">
            <a:avLst/>
          </a:prstGeom>
          <a:noFill/>
        </p:spPr>
        <p:txBody>
          <a:bodyPr wrap="square">
            <a:spAutoFit/>
          </a:bodyPr>
          <a:lstStyle/>
          <a:p>
            <a:pPr algn="l">
              <a:defRPr sz="1800" b="1">
                <a:solidFill>
                  <a:srgbClr val="1C2A3A"/>
                </a:solidFill>
                <a:latin typeface="Calibri"/>
              </a:defRPr>
            </a:pPr>
            <a:r>
              <a:t>Example 2: Sentiment Analysis</a:t>
            </a:r>
          </a:p>
        </p:txBody>
      </p:sp>
      <p:sp>
        <p:nvSpPr>
          <p:cNvPr id="7" name="Rectangle 6"/>
          <p:cNvSpPr/>
          <p:nvPr/>
        </p:nvSpPr>
        <p:spPr>
          <a:xfrm>
            <a:off x="457200" y="4297680"/>
            <a:ext cx="5303520" cy="1371600"/>
          </a:xfrm>
          <a:prstGeom prst="rect">
            <a:avLst/>
          </a:prstGeom>
          <a:solidFill>
            <a:srgbClr val="FCCECE"/>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RAG: "Management expects headwinds to persist"</a:t>
            </a:r>
          </a:p>
          <a:p>
            <a:pPr>
              <a:defRPr sz="1200">
                <a:solidFill>
                  <a:srgbClr val="1C2A3A"/>
                </a:solidFill>
                <a:latin typeface="Calibri"/>
              </a:defRPr>
            </a:pPr>
            <a:r>
              <a:t>"Based on retrieved definitions... unclear/neutral"</a:t>
            </a:r>
            <a:br/>
            <a:r>
              <a:t>Missed the nuance of 'headwinds'</a:t>
            </a:r>
          </a:p>
        </p:txBody>
      </p:sp>
      <p:sp>
        <p:nvSpPr>
          <p:cNvPr id="8" name="Rectangle 7"/>
          <p:cNvSpPr/>
          <p:nvPr/>
        </p:nvSpPr>
        <p:spPr>
          <a:xfrm>
            <a:off x="6217920" y="4297680"/>
            <a:ext cx="5303520" cy="13716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FinBERT: "Management expects headwinds to persist"</a:t>
            </a:r>
          </a:p>
          <a:p>
            <a:pPr>
              <a:defRPr sz="1200">
                <a:solidFill>
                  <a:srgbClr val="1C2A3A"/>
                </a:solidFill>
                <a:latin typeface="Calibri"/>
              </a:defRPr>
            </a:pPr>
            <a:r>
              <a:t>NEGATIVE (confidence: 91%)</a:t>
            </a:r>
            <a:br/>
            <a:r>
              <a:t>Correctly identifies domain-specific vocabulary</a:t>
            </a:r>
          </a:p>
        </p:txBody>
      </p:sp>
      <p:sp>
        <p:nvSpPr>
          <p:cNvPr id="9" name="TextBox 8"/>
          <p:cNvSpPr txBox="1"/>
          <p:nvPr/>
        </p:nvSpPr>
        <p:spPr>
          <a:xfrm>
            <a:off x="457200" y="5943600"/>
            <a:ext cx="10972800" cy="365760"/>
          </a:xfrm>
          <a:prstGeom prst="rect">
            <a:avLst/>
          </a:prstGeom>
          <a:noFill/>
        </p:spPr>
        <p:txBody>
          <a:bodyPr wrap="square">
            <a:spAutoFit/>
          </a:bodyPr>
          <a:lstStyle/>
          <a:p>
            <a:pPr algn="l">
              <a:defRPr sz="1800" b="1">
                <a:solidFill>
                  <a:srgbClr val="1C2A3A"/>
                </a:solidFill>
                <a:latin typeface="Calibri"/>
              </a:defRPr>
            </a:pPr>
            <a:r>
              <a:t>Example 3: Spam Detection</a:t>
            </a:r>
          </a:p>
        </p:txBody>
      </p:sp>
      <p:sp>
        <p:nvSpPr>
          <p:cNvPr id="10" name="Rectangle 9"/>
          <p:cNvSpPr/>
          <p:nvPr/>
        </p:nvSpPr>
        <p:spPr>
          <a:xfrm>
            <a:off x="457200" y="6309360"/>
            <a:ext cx="5303520" cy="1188720"/>
          </a:xfrm>
          <a:prstGeom prst="rect">
            <a:avLst/>
          </a:prstGeom>
          <a:solidFill>
            <a:srgbClr val="FCCECE"/>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RAG: "Your prescription is ready for pickup at Walgreens"</a:t>
            </a:r>
          </a:p>
          <a:p>
            <a:pPr>
              <a:defRPr sz="1200">
                <a:solidFill>
                  <a:srgbClr val="1C2A3A"/>
                </a:solidFill>
                <a:latin typeface="Calibri"/>
              </a:defRPr>
            </a:pPr>
            <a:r>
              <a:t>Retrieved medication-spam examples with similar vocabulary.</a:t>
            </a:r>
            <a:br/>
            <a:r>
              <a:t>Voted SPAM -- misclassified a legitimate notification.</a:t>
            </a:r>
          </a:p>
        </p:txBody>
      </p:sp>
      <p:sp>
        <p:nvSpPr>
          <p:cNvPr id="11" name="Rectangle 10"/>
          <p:cNvSpPr/>
          <p:nvPr/>
        </p:nvSpPr>
        <p:spPr>
          <a:xfrm>
            <a:off x="6217920" y="6309360"/>
            <a:ext cx="5303520" cy="11887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Fine-Tuned DistilBERT: same email</a:t>
            </a:r>
          </a:p>
          <a:p>
            <a:pPr>
              <a:defRPr sz="1200">
                <a:solidFill>
                  <a:srgbClr val="1C2A3A"/>
                </a:solidFill>
                <a:latin typeface="Calibri"/>
              </a:defRPr>
            </a:pPr>
            <a:r>
              <a:t>HAM (confidence: 99%)</a:t>
            </a:r>
            <a:br/>
            <a:r>
              <a:t>Learned that pharmacy pickups lack phishing cues.</a:t>
            </a:r>
          </a:p>
        </p:txBody>
      </p:sp>
      <p:sp>
        <p:nvSpPr>
          <p:cNvPr id="12" name="TextBox 11"/>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16/55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Decision Framework: When to Use What</a:t>
            </a:r>
          </a:p>
        </p:txBody>
      </p:sp>
      <p:pic>
        <p:nvPicPr>
          <p:cNvPr id="3" name="Picture 2" descr="decision_framework.png"/>
          <p:cNvPicPr>
            <a:picLocks noChangeAspect="1"/>
          </p:cNvPicPr>
          <p:nvPr/>
        </p:nvPicPr>
        <p:blipFill>
          <a:blip r:embed="rId2"/>
          <a:stretch>
            <a:fillRect/>
          </a:stretch>
        </p:blipFill>
        <p:spPr>
          <a:xfrm>
            <a:off x="1371600" y="1097280"/>
            <a:ext cx="9144000" cy="3200400"/>
          </a:xfrm>
          <a:prstGeom prst="rect">
            <a:avLst/>
          </a:prstGeom>
        </p:spPr>
      </p:pic>
      <p:sp>
        <p:nvSpPr>
          <p:cNvPr id="4" name="Rectangle 3"/>
          <p:cNvSpPr/>
          <p:nvPr/>
        </p:nvSpPr>
        <p:spPr>
          <a:xfrm>
            <a:off x="457200" y="4389120"/>
            <a:ext cx="3474720" cy="2011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Choose RAG when:</a:t>
            </a:r>
          </a:p>
          <a:p>
            <a:pPr>
              <a:defRPr sz="1200">
                <a:solidFill>
                  <a:srgbClr val="1C2A3A"/>
                </a:solidFill>
                <a:latin typeface="Calibri"/>
              </a:defRPr>
            </a:pPr>
            <a:r>
              <a:t>- Data changes frequently</a:t>
            </a:r>
            <a:br/>
            <a:r>
              <a:t>- Need source citations</a:t>
            </a:r>
            <a:br/>
            <a:r>
              <a:t>- No training data</a:t>
            </a:r>
            <a:br/>
            <a:r>
              <a:t>- Quick deployment</a:t>
            </a:r>
          </a:p>
        </p:txBody>
      </p:sp>
      <p:sp>
        <p:nvSpPr>
          <p:cNvPr id="5" name="Rectangle 4"/>
          <p:cNvSpPr/>
          <p:nvPr/>
        </p:nvSpPr>
        <p:spPr>
          <a:xfrm>
            <a:off x="4297680" y="4389120"/>
            <a:ext cx="3474720" cy="2011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Choose Fine-Tuning when:</a:t>
            </a:r>
          </a:p>
          <a:p>
            <a:pPr>
              <a:defRPr sz="1200">
                <a:solidFill>
                  <a:srgbClr val="1C2A3A"/>
                </a:solidFill>
                <a:latin typeface="Calibri"/>
              </a:defRPr>
            </a:pPr>
            <a:r>
              <a:t>- Specialized skills needed</a:t>
            </a:r>
            <a:br/>
            <a:r>
              <a:t>- High accuracy critical</a:t>
            </a:r>
            <a:br/>
            <a:r>
              <a:t>- Consistent output required</a:t>
            </a:r>
            <a:br/>
            <a:r>
              <a:t>- Low latency matters</a:t>
            </a:r>
          </a:p>
        </p:txBody>
      </p:sp>
      <p:sp>
        <p:nvSpPr>
          <p:cNvPr id="6" name="Rectangle 5"/>
          <p:cNvSpPr/>
          <p:nvPr/>
        </p:nvSpPr>
        <p:spPr>
          <a:xfrm>
            <a:off x="8138160" y="4389120"/>
            <a:ext cx="3474720" cy="2011680"/>
          </a:xfrm>
          <a:prstGeom prst="rect">
            <a:avLst/>
          </a:prstGeom>
          <a:solidFill>
            <a:srgbClr val="D7C8F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Choose Hybrid when:</a:t>
            </a:r>
          </a:p>
          <a:p>
            <a:pPr>
              <a:defRPr sz="1200">
                <a:solidFill>
                  <a:srgbClr val="1C2A3A"/>
                </a:solidFill>
                <a:latin typeface="Calibri"/>
              </a:defRPr>
            </a:pPr>
            <a:r>
              <a:t>- Maximum accuracy needed</a:t>
            </a:r>
            <a:br/>
            <a:r>
              <a:t>- Complex domain analysis</a:t>
            </a:r>
            <a:br/>
            <a:r>
              <a:t>- Both skills AND fresh data</a:t>
            </a:r>
            <a:br/>
            <a:r>
              <a:t>- Production systems</a:t>
            </a:r>
          </a:p>
        </p:txBody>
      </p:sp>
      <p:sp>
        <p:nvSpPr>
          <p:cNvPr id="7" name="TextBox 6"/>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17/55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Fine-Tuning: The Essential Toolkit</a:t>
            </a:r>
          </a:p>
          <a:p>
            <a:pPr>
              <a:defRPr sz="1600">
                <a:solidFill>
                  <a:srgbClr val="ECEFF1"/>
                </a:solidFill>
                <a:latin typeface="Calibri"/>
              </a:defRPr>
            </a:pPr>
            <a:r>
              <a:t>Everything you need from data prep to production deployment</a:t>
            </a:r>
          </a:p>
        </p:txBody>
      </p:sp>
      <p:sp>
        <p:nvSpPr>
          <p:cNvPr id="3" name="TextBox 2"/>
          <p:cNvSpPr txBox="1"/>
          <p:nvPr/>
        </p:nvSpPr>
        <p:spPr>
          <a:xfrm>
            <a:off x="274320" y="1188720"/>
            <a:ext cx="3749039" cy="365760"/>
          </a:xfrm>
          <a:prstGeom prst="rect">
            <a:avLst/>
          </a:prstGeom>
          <a:noFill/>
        </p:spPr>
        <p:txBody>
          <a:bodyPr wrap="square">
            <a:spAutoFit/>
          </a:bodyPr>
          <a:lstStyle/>
          <a:p>
            <a:pPr algn="l">
              <a:defRPr sz="1500" b="1">
                <a:solidFill>
                  <a:srgbClr val="1C2A3A"/>
                </a:solidFill>
                <a:latin typeface="Calibri"/>
              </a:defRPr>
            </a:pPr>
            <a:r>
              <a:t>Training Frameworks</a:t>
            </a:r>
          </a:p>
        </p:txBody>
      </p:sp>
      <p:sp>
        <p:nvSpPr>
          <p:cNvPr id="4" name="Rectangle 3"/>
          <p:cNvSpPr/>
          <p:nvPr/>
        </p:nvSpPr>
        <p:spPr>
          <a:xfrm>
            <a:off x="274320" y="1645920"/>
            <a:ext cx="3749039"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HuggingFace Transformers + PEFT</a:t>
            </a:r>
          </a:p>
          <a:p>
            <a:pPr>
              <a:defRPr sz="1200">
                <a:solidFill>
                  <a:srgbClr val="1C2A3A"/>
                </a:solidFill>
                <a:latin typeface="Calibri"/>
              </a:defRPr>
            </a:pPr>
            <a:r>
              <a:t>Industry standard. Full/LoRA/QLoRA. Custom training loops.</a:t>
            </a:r>
            <a:br/>
            <a:r>
              <a:t>Use when: You want maximum flexibility and control.</a:t>
            </a:r>
          </a:p>
        </p:txBody>
      </p:sp>
      <p:sp>
        <p:nvSpPr>
          <p:cNvPr id="5" name="Rectangle 4"/>
          <p:cNvSpPr/>
          <p:nvPr/>
        </p:nvSpPr>
        <p:spPr>
          <a:xfrm>
            <a:off x="274320" y="2606040"/>
            <a:ext cx="3749039"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Unsloth</a:t>
            </a:r>
          </a:p>
          <a:p>
            <a:pPr>
              <a:defRPr sz="1200">
                <a:solidFill>
                  <a:srgbClr val="1C2A3A"/>
                </a:solidFill>
                <a:latin typeface="Calibri"/>
              </a:defRPr>
            </a:pPr>
            <a:r>
              <a:t>2-5x faster training, 70% less VRAM. Optimized CUDA kernels.</a:t>
            </a:r>
            <a:br/>
            <a:r>
              <a:t>Use when: Consumer GPU (RTX 3060+), fast iteration.</a:t>
            </a:r>
          </a:p>
        </p:txBody>
      </p:sp>
      <p:sp>
        <p:nvSpPr>
          <p:cNvPr id="6" name="Rectangle 5"/>
          <p:cNvSpPr/>
          <p:nvPr/>
        </p:nvSpPr>
        <p:spPr>
          <a:xfrm>
            <a:off x="274320" y="3566160"/>
            <a:ext cx="3749039"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Axolotl</a:t>
            </a:r>
          </a:p>
          <a:p>
            <a:pPr>
              <a:defRPr sz="1200">
                <a:solidFill>
                  <a:srgbClr val="1C2A3A"/>
                </a:solidFill>
                <a:latin typeface="Calibri"/>
              </a:defRPr>
            </a:pPr>
            <a:r>
              <a:t>YAML config-driven. Reproducible runs. Multi-model support.</a:t>
            </a:r>
            <a:br/>
            <a:r>
              <a:t>Use when: Team workflows, experiment reproducibility.</a:t>
            </a:r>
          </a:p>
        </p:txBody>
      </p:sp>
      <p:sp>
        <p:nvSpPr>
          <p:cNvPr id="7" name="Rectangle 6"/>
          <p:cNvSpPr/>
          <p:nvPr/>
        </p:nvSpPr>
        <p:spPr>
          <a:xfrm>
            <a:off x="274320" y="4526280"/>
            <a:ext cx="3749039"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LLaMA-Factory</a:t>
            </a:r>
          </a:p>
          <a:p>
            <a:pPr>
              <a:defRPr sz="1200">
                <a:solidFill>
                  <a:srgbClr val="1C2A3A"/>
                </a:solidFill>
                <a:latin typeface="Calibri"/>
              </a:defRPr>
            </a:pPr>
            <a:r>
              <a:t>Web UI dashboard. 100+ LLMs. No-code fine-tuning.</a:t>
            </a:r>
            <a:br/>
            <a:r>
              <a:t>Use when: Non-ML engineers, rapid prototyping.</a:t>
            </a:r>
          </a:p>
        </p:txBody>
      </p:sp>
      <p:sp>
        <p:nvSpPr>
          <p:cNvPr id="8" name="Rectangle 7"/>
          <p:cNvSpPr/>
          <p:nvPr/>
        </p:nvSpPr>
        <p:spPr>
          <a:xfrm>
            <a:off x="274320" y="5486400"/>
            <a:ext cx="3749039"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TRL (Transformer RL)</a:t>
            </a:r>
          </a:p>
          <a:p>
            <a:pPr>
              <a:defRPr sz="1200">
                <a:solidFill>
                  <a:srgbClr val="1C2A3A"/>
                </a:solidFill>
                <a:latin typeface="Calibri"/>
              </a:defRPr>
            </a:pPr>
            <a:r>
              <a:t>SFT, DPO, RLHF trainers. Integrates with PEFT.</a:t>
            </a:r>
            <a:br/>
            <a:r>
              <a:t>Use when: Alignment tuning, RLHF, preference learning.</a:t>
            </a:r>
          </a:p>
        </p:txBody>
      </p:sp>
      <p:sp>
        <p:nvSpPr>
          <p:cNvPr id="9" name="TextBox 8"/>
          <p:cNvSpPr txBox="1"/>
          <p:nvPr/>
        </p:nvSpPr>
        <p:spPr>
          <a:xfrm>
            <a:off x="4206240" y="1188720"/>
            <a:ext cx="3749039" cy="365760"/>
          </a:xfrm>
          <a:prstGeom prst="rect">
            <a:avLst/>
          </a:prstGeom>
          <a:noFill/>
        </p:spPr>
        <p:txBody>
          <a:bodyPr wrap="square">
            <a:spAutoFit/>
          </a:bodyPr>
          <a:lstStyle/>
          <a:p>
            <a:pPr algn="l">
              <a:defRPr sz="1500" b="1">
                <a:solidFill>
                  <a:srgbClr val="1C2A3A"/>
                </a:solidFill>
                <a:latin typeface="Calibri"/>
              </a:defRPr>
            </a:pPr>
            <a:r>
              <a:t>Cloud Platforms</a:t>
            </a:r>
          </a:p>
        </p:txBody>
      </p:sp>
      <p:sp>
        <p:nvSpPr>
          <p:cNvPr id="10" name="Rectangle 9"/>
          <p:cNvSpPr/>
          <p:nvPr/>
        </p:nvSpPr>
        <p:spPr>
          <a:xfrm>
            <a:off x="4206240" y="1645920"/>
            <a:ext cx="3749039"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AWS SageMaker JumpStart</a:t>
            </a:r>
          </a:p>
          <a:p>
            <a:pPr>
              <a:defRPr sz="1200">
                <a:solidFill>
                  <a:srgbClr val="1C2A3A"/>
                </a:solidFill>
                <a:latin typeface="Calibri"/>
              </a:defRPr>
            </a:pPr>
            <a:r>
              <a:t>One-click fine-tune 400+ models. Managed infra, S3 data.</a:t>
            </a:r>
            <a:br/>
            <a:r>
              <a:t>Use when: AWS shop, enterprise, need managed GPUs.</a:t>
            </a:r>
          </a:p>
        </p:txBody>
      </p:sp>
      <p:sp>
        <p:nvSpPr>
          <p:cNvPr id="11" name="Rectangle 10"/>
          <p:cNvSpPr/>
          <p:nvPr/>
        </p:nvSpPr>
        <p:spPr>
          <a:xfrm>
            <a:off x="4206240" y="2606040"/>
            <a:ext cx="3749039"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Amazon Bedrock Custom Models</a:t>
            </a:r>
          </a:p>
          <a:p>
            <a:pPr>
              <a:defRPr sz="1200">
                <a:solidFill>
                  <a:srgbClr val="1C2A3A"/>
                </a:solidFill>
                <a:latin typeface="Calibri"/>
              </a:defRPr>
            </a:pPr>
            <a:r>
              <a:t>Fully managed, no-code. Llama/Titan/Cohere fine-tuning.</a:t>
            </a:r>
            <a:br/>
            <a:r>
              <a:t>Use when: Simplest path, no ML ops team.</a:t>
            </a:r>
          </a:p>
        </p:txBody>
      </p:sp>
      <p:sp>
        <p:nvSpPr>
          <p:cNvPr id="12" name="Rectangle 11"/>
          <p:cNvSpPr/>
          <p:nvPr/>
        </p:nvSpPr>
        <p:spPr>
          <a:xfrm>
            <a:off x="4206240" y="3566160"/>
            <a:ext cx="3749039"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OpenAI Fine-Tuning API</a:t>
            </a:r>
          </a:p>
          <a:p>
            <a:pPr>
              <a:defRPr sz="1200">
                <a:solidFill>
                  <a:srgbClr val="1C2A3A"/>
                </a:solidFill>
                <a:latin typeface="Calibri"/>
              </a:defRPr>
            </a:pPr>
            <a:r>
              <a:t>Upload JSONL, fine-tune GPT-4o/4o-mini. Hosted inference.</a:t>
            </a:r>
            <a:br/>
            <a:r>
              <a:t>Use when: Already on OpenAI, closed-source is acceptable.</a:t>
            </a:r>
          </a:p>
        </p:txBody>
      </p:sp>
      <p:sp>
        <p:nvSpPr>
          <p:cNvPr id="13" name="Rectangle 12"/>
          <p:cNvSpPr/>
          <p:nvPr/>
        </p:nvSpPr>
        <p:spPr>
          <a:xfrm>
            <a:off x="4206240" y="4526280"/>
            <a:ext cx="3749039"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Google Vertex AI</a:t>
            </a:r>
          </a:p>
          <a:p>
            <a:pPr>
              <a:defRPr sz="1200">
                <a:solidFill>
                  <a:srgbClr val="1C2A3A"/>
                </a:solidFill>
                <a:latin typeface="Calibri"/>
              </a:defRPr>
            </a:pPr>
            <a:r>
              <a:t>Fine-tune Gemini or open-source. TPU/GPU options.</a:t>
            </a:r>
            <a:br/>
            <a:r>
              <a:t>Use when: GCP ecosystem, Gemini models.</a:t>
            </a:r>
          </a:p>
        </p:txBody>
      </p:sp>
      <p:sp>
        <p:nvSpPr>
          <p:cNvPr id="14" name="Rectangle 13"/>
          <p:cNvSpPr/>
          <p:nvPr/>
        </p:nvSpPr>
        <p:spPr>
          <a:xfrm>
            <a:off x="4206240" y="5486400"/>
            <a:ext cx="3749039"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Together AI / Fireworks / Anyscale</a:t>
            </a:r>
          </a:p>
          <a:p>
            <a:pPr>
              <a:defRPr sz="1200">
                <a:solidFill>
                  <a:srgbClr val="1C2A3A"/>
                </a:solidFill>
                <a:latin typeface="Calibri"/>
              </a:defRPr>
            </a:pPr>
            <a:r>
              <a:t>Serverless fine-tuning. Pay per GPU-hour. API inference.</a:t>
            </a:r>
            <a:br/>
            <a:r>
              <a:t>Use when: No infra team, cost-sensitive, quick start.</a:t>
            </a:r>
          </a:p>
        </p:txBody>
      </p:sp>
      <p:sp>
        <p:nvSpPr>
          <p:cNvPr id="15" name="TextBox 14"/>
          <p:cNvSpPr txBox="1"/>
          <p:nvPr/>
        </p:nvSpPr>
        <p:spPr>
          <a:xfrm>
            <a:off x="8138160" y="1188720"/>
            <a:ext cx="3749039" cy="365760"/>
          </a:xfrm>
          <a:prstGeom prst="rect">
            <a:avLst/>
          </a:prstGeom>
          <a:noFill/>
        </p:spPr>
        <p:txBody>
          <a:bodyPr wrap="square">
            <a:spAutoFit/>
          </a:bodyPr>
          <a:lstStyle/>
          <a:p>
            <a:pPr algn="l">
              <a:defRPr sz="1500" b="1">
                <a:solidFill>
                  <a:srgbClr val="1C2A3A"/>
                </a:solidFill>
                <a:latin typeface="Calibri"/>
              </a:defRPr>
            </a:pPr>
            <a:r>
              <a:t>Data, Eval &amp; Monitoring</a:t>
            </a:r>
          </a:p>
        </p:txBody>
      </p:sp>
      <p:sp>
        <p:nvSpPr>
          <p:cNvPr id="16" name="Rectangle 15"/>
          <p:cNvSpPr/>
          <p:nvPr/>
        </p:nvSpPr>
        <p:spPr>
          <a:xfrm>
            <a:off x="8138160" y="1645920"/>
            <a:ext cx="3749039"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Weights &amp; Biases (W&amp;B)</a:t>
            </a:r>
          </a:p>
          <a:p>
            <a:pPr>
              <a:defRPr sz="1200">
                <a:solidFill>
                  <a:srgbClr val="1C2A3A"/>
                </a:solidFill>
                <a:latin typeface="Calibri"/>
              </a:defRPr>
            </a:pPr>
            <a:r>
              <a:t>Experiment tracking, run comparison, model registry.</a:t>
            </a:r>
            <a:br/>
            <a:r>
              <a:t>Use when: Tracking multiple training runs.</a:t>
            </a:r>
          </a:p>
        </p:txBody>
      </p:sp>
      <p:sp>
        <p:nvSpPr>
          <p:cNvPr id="17" name="Rectangle 16"/>
          <p:cNvSpPr/>
          <p:nvPr/>
        </p:nvSpPr>
        <p:spPr>
          <a:xfrm>
            <a:off x="8138160" y="2606040"/>
            <a:ext cx="3749039"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MLflow</a:t>
            </a:r>
          </a:p>
          <a:p>
            <a:pPr>
              <a:defRPr sz="1200">
                <a:solidFill>
                  <a:srgbClr val="1C2A3A"/>
                </a:solidFill>
                <a:latin typeface="Calibri"/>
              </a:defRPr>
            </a:pPr>
            <a:r>
              <a:t>Open-source ML lifecycle. Model versioning, deployment.</a:t>
            </a:r>
            <a:br/>
            <a:r>
              <a:t>Use when: Self-hosted, open-source preference.</a:t>
            </a:r>
          </a:p>
        </p:txBody>
      </p:sp>
      <p:sp>
        <p:nvSpPr>
          <p:cNvPr id="18" name="Rectangle 17"/>
          <p:cNvSpPr/>
          <p:nvPr/>
        </p:nvSpPr>
        <p:spPr>
          <a:xfrm>
            <a:off x="8138160" y="3566160"/>
            <a:ext cx="3749039"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Argilla / Label Studio</a:t>
            </a:r>
          </a:p>
          <a:p>
            <a:pPr>
              <a:defRPr sz="1200">
                <a:solidFill>
                  <a:srgbClr val="1C2A3A"/>
                </a:solidFill>
                <a:latin typeface="Calibri"/>
              </a:defRPr>
            </a:pPr>
            <a:r>
              <a:t>Data labeling and annotation. Human-in-the-loop.</a:t>
            </a:r>
            <a:br/>
            <a:r>
              <a:t>Use when: Building custom training datasets.</a:t>
            </a:r>
          </a:p>
        </p:txBody>
      </p:sp>
      <p:sp>
        <p:nvSpPr>
          <p:cNvPr id="19" name="Rectangle 18"/>
          <p:cNvSpPr/>
          <p:nvPr/>
        </p:nvSpPr>
        <p:spPr>
          <a:xfrm>
            <a:off x="8138160" y="4526280"/>
            <a:ext cx="3749039"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LM Eval Harness (EleutherAI)</a:t>
            </a:r>
          </a:p>
          <a:p>
            <a:pPr>
              <a:defRPr sz="1200">
                <a:solidFill>
                  <a:srgbClr val="1C2A3A"/>
                </a:solidFill>
                <a:latin typeface="Calibri"/>
              </a:defRPr>
            </a:pPr>
            <a:r>
              <a:t>Standard benchmark suite for LLMs. Pre/post comparison.</a:t>
            </a:r>
            <a:br/>
            <a:r>
              <a:t>Use when: Measuring fine-tuning impact rigorously.</a:t>
            </a:r>
          </a:p>
        </p:txBody>
      </p:sp>
      <p:sp>
        <p:nvSpPr>
          <p:cNvPr id="20" name="Rectangle 19"/>
          <p:cNvSpPr/>
          <p:nvPr/>
        </p:nvSpPr>
        <p:spPr>
          <a:xfrm>
            <a:off x="8138160" y="5486400"/>
            <a:ext cx="3749039"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Ollama / vLLM / TGI</a:t>
            </a:r>
          </a:p>
          <a:p>
            <a:pPr>
              <a:defRPr sz="1200">
                <a:solidFill>
                  <a:srgbClr val="1C2A3A"/>
                </a:solidFill>
                <a:latin typeface="Calibri"/>
              </a:defRPr>
            </a:pPr>
            <a:r>
              <a:t>Local inference servers. GGUF, AWQ, GPTQ quantization.</a:t>
            </a:r>
            <a:br/>
            <a:r>
              <a:t>Use when: Deploying fine-tuned model for serving.</a:t>
            </a:r>
          </a:p>
        </p:txBody>
      </p:sp>
      <p:sp>
        <p:nvSpPr>
          <p:cNvPr id="21" name="TextBox 20"/>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18/55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How to Fine-Tune: Local Setup</a:t>
            </a:r>
          </a:p>
          <a:p>
            <a:pPr>
              <a:defRPr sz="1600">
                <a:solidFill>
                  <a:srgbClr val="ECEFF1"/>
                </a:solidFill>
                <a:latin typeface="Calibri"/>
              </a:defRPr>
            </a:pPr>
            <a:r>
              <a:t>Step-by-step with Unsloth + QLoRA on a single GPU</a:t>
            </a:r>
          </a:p>
        </p:txBody>
      </p:sp>
      <p:sp>
        <p:nvSpPr>
          <p:cNvPr id="3" name="Rectangle 2"/>
          <p:cNvSpPr/>
          <p:nvPr/>
        </p:nvSpPr>
        <p:spPr>
          <a:xfrm>
            <a:off x="457200" y="1280160"/>
            <a:ext cx="5303520" cy="128016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Prerequisites</a:t>
            </a:r>
          </a:p>
          <a:p>
            <a:pPr>
              <a:defRPr sz="1200">
                <a:solidFill>
                  <a:srgbClr val="1C2A3A"/>
                </a:solidFill>
                <a:latin typeface="Calibri"/>
              </a:defRPr>
            </a:pPr>
            <a:r>
              <a:t>- NVIDIA GPU with 8+ GB VRAM (RTX 3060/4060 or better)</a:t>
            </a:r>
            <a:br/>
            <a:r>
              <a:t>- CUDA 11.8+ and Python 3.10+</a:t>
            </a:r>
            <a:br/>
            <a:r>
              <a:t>- 20-50 GB free disk space for model weights</a:t>
            </a:r>
            <a:br/>
            <a:r>
              <a:t>- pip install unsloth transformers peft trl datasets</a:t>
            </a:r>
          </a:p>
        </p:txBody>
      </p:sp>
      <p:sp>
        <p:nvSpPr>
          <p:cNvPr id="4" name="TextBox 3"/>
          <p:cNvSpPr txBox="1"/>
          <p:nvPr/>
        </p:nvSpPr>
        <p:spPr>
          <a:xfrm>
            <a:off x="457200" y="2743200"/>
            <a:ext cx="5943600" cy="3840480"/>
          </a:xfrm>
          <a:prstGeom prst="rect">
            <a:avLst/>
          </a:prstGeom>
          <a:noFill/>
        </p:spPr>
        <p:txBody>
          <a:bodyPr wrap="square">
            <a:spAutoFit/>
          </a:bodyPr>
          <a:lstStyle/>
          <a:p>
            <a:pPr algn="l">
              <a:defRPr sz="1000" b="0">
                <a:solidFill>
                  <a:srgbClr val="1C2A3A"/>
                </a:solidFill>
                <a:latin typeface="Consolas"/>
              </a:defRPr>
            </a:pPr>
            <a:r>
              <a:t># 1. Load base model in 4-bit (QLoRA)</a:t>
            </a:r>
            <a:br/>
            <a:r>
              <a:t>from unsloth import FastLanguageModel</a:t>
            </a:r>
            <a:br/>
            <a:r>
              <a:t>model, tokenizer = FastLanguageModel.from_pretrained(</a:t>
            </a:r>
            <a:br/>
            <a:r>
              <a:t>    "meta-llama/Llama-2-7b-hf",</a:t>
            </a:r>
            <a:br/>
            <a:r>
              <a:t>    load_in_4bit=True,</a:t>
            </a:r>
            <a:br/>
            <a:r>
              <a:t>    max_seq_length=2048,</a:t>
            </a:r>
            <a:br/>
            <a:r>
              <a:t>)</a:t>
            </a:r>
            <a:br/>
            <a:br/>
            <a:r>
              <a:t># 2. Add LoRA adapters (only ~1-5% of params trained)</a:t>
            </a:r>
            <a:br/>
            <a:r>
              <a:t>model = FastLanguageModel.get_peft_model(</a:t>
            </a:r>
            <a:br/>
            <a:r>
              <a:t>    model, r=16, lora_alpha=16,</a:t>
            </a:r>
            <a:br/>
            <a:r>
              <a:t>    target_modules=["q_proj","k_proj","v_proj","o_proj"],</a:t>
            </a:r>
            <a:br/>
            <a:r>
              <a:t>)</a:t>
            </a:r>
            <a:br/>
            <a:br/>
            <a:r>
              <a:t># 3. Train with SFTTrainer</a:t>
            </a:r>
            <a:br/>
            <a:r>
              <a:t>from trl import SFTTrainer</a:t>
            </a:r>
            <a:br/>
            <a:r>
              <a:t>trainer = SFTTrainer(</a:t>
            </a:r>
            <a:br/>
            <a:r>
              <a:t>    model=model, train_dataset=dataset,</a:t>
            </a:r>
            <a:br/>
            <a:r>
              <a:t>    args=TrainingArguments(</a:t>
            </a:r>
            <a:br/>
            <a:r>
              <a:t>        num_train_epochs=3, per_device_train_batch_size=4,</a:t>
            </a:r>
            <a:br/>
            <a:r>
              <a:t>        output_dir="./output", learning_rate=2e-4,</a:t>
            </a:r>
            <a:br/>
            <a:r>
              <a:t>    ),</a:t>
            </a:r>
            <a:br/>
            <a:r>
              <a:t>)</a:t>
            </a:r>
            <a:br/>
            <a:r>
              <a:t>trainer.train()</a:t>
            </a:r>
            <a:br/>
            <a:br/>
            <a:r>
              <a:t># 4. Save &amp; merge adapter into base model</a:t>
            </a:r>
            <a:br/>
            <a:r>
              <a:t>model.save_pretrained_merged("./my-finetuned-model")</a:t>
            </a:r>
          </a:p>
        </p:txBody>
      </p:sp>
      <p:sp>
        <p:nvSpPr>
          <p:cNvPr id="5" name="Rectangle 4"/>
          <p:cNvSpPr/>
          <p:nvPr/>
        </p:nvSpPr>
        <p:spPr>
          <a:xfrm>
            <a:off x="6583680" y="1280160"/>
            <a:ext cx="5029200" cy="1645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What Happens During Training</a:t>
            </a:r>
          </a:p>
          <a:p>
            <a:pPr>
              <a:defRPr sz="1200">
                <a:solidFill>
                  <a:srgbClr val="1C2A3A"/>
                </a:solidFill>
                <a:latin typeface="Calibri"/>
              </a:defRPr>
            </a:pPr>
            <a:r>
              <a:t>- Base model weights are FROZEN (unchanged)</a:t>
            </a:r>
            <a:br/>
            <a:r>
              <a:t>- Small adapter matrices (~50-200 MB) are trained</a:t>
            </a:r>
            <a:br/>
            <a:r>
              <a:t>- Training takes 30 min - 4 hours for 7B model</a:t>
            </a:r>
            <a:br/>
            <a:r>
              <a:t>- GPU memory: ~6 GB (QLoRA) vs ~28 GB (full FT)</a:t>
            </a:r>
            <a:br/>
            <a:r>
              <a:t>- Result: base model + adapter = specialized model</a:t>
            </a:r>
          </a:p>
        </p:txBody>
      </p:sp>
      <p:sp>
        <p:nvSpPr>
          <p:cNvPr id="6" name="Rectangle 5"/>
          <p:cNvSpPr/>
          <p:nvPr/>
        </p:nvSpPr>
        <p:spPr>
          <a:xfrm>
            <a:off x="6583680" y="3200400"/>
            <a:ext cx="5029200" cy="146304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Training Data Format (JSONL)</a:t>
            </a:r>
          </a:p>
          <a:p>
            <a:pPr>
              <a:defRPr sz="1200">
                <a:solidFill>
                  <a:srgbClr val="1C2A3A"/>
                </a:solidFill>
                <a:latin typeface="Calibri"/>
              </a:defRPr>
            </a:pPr>
            <a:r>
              <a:t>{"instruction": "Calculate revenue growth",</a:t>
            </a:r>
            <a:br/>
            <a:r>
              <a:t> "input": "2022: $500M, 2023: $580M",</a:t>
            </a:r>
            <a:br/>
            <a:r>
              <a:t> "output": "Growth = (580-500)/500 = 16%"}</a:t>
            </a:r>
            <a:br/>
            <a:br/>
            <a:r>
              <a:t>Typically 1,000 - 10,000 examples needed.</a:t>
            </a:r>
          </a:p>
        </p:txBody>
      </p:sp>
      <p:sp>
        <p:nvSpPr>
          <p:cNvPr id="7" name="Rectangle 6"/>
          <p:cNvSpPr/>
          <p:nvPr/>
        </p:nvSpPr>
        <p:spPr>
          <a:xfrm>
            <a:off x="6583680" y="4846320"/>
            <a:ext cx="5029200" cy="1280160"/>
          </a:xfrm>
          <a:prstGeom prst="rect">
            <a:avLst/>
          </a:prstGeom>
          <a:solidFill>
            <a:srgbClr val="FFF1C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Tips</a:t>
            </a:r>
          </a:p>
          <a:p>
            <a:pPr>
              <a:defRPr sz="1200">
                <a:solidFill>
                  <a:srgbClr val="1C2A3A"/>
                </a:solidFill>
                <a:latin typeface="Calibri"/>
              </a:defRPr>
            </a:pPr>
            <a:r>
              <a:t>- Start with QLoRA + Unsloth for fastest iteration</a:t>
            </a:r>
            <a:br/>
            <a:r>
              <a:t>- Use Llama-2/3 7B or Mistral 7B as base model</a:t>
            </a:r>
            <a:br/>
            <a:r>
              <a:t>- Evaluate on held-out test set after each epoch</a:t>
            </a:r>
            <a:br/>
            <a:r>
              <a:t>- Export to GGUF for Ollama / llama.cpp deployment</a:t>
            </a:r>
          </a:p>
        </p:txBody>
      </p:sp>
      <p:sp>
        <p:nvSpPr>
          <p:cNvPr id="8" name="TextBox 7"/>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19/55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How to Fine-Tune: AWS</a:t>
            </a:r>
          </a:p>
          <a:p>
            <a:pPr>
              <a:defRPr sz="1600">
                <a:solidFill>
                  <a:srgbClr val="ECEFF1"/>
                </a:solidFill>
                <a:latin typeface="Calibri"/>
              </a:defRPr>
            </a:pPr>
            <a:r>
              <a:t>SageMaker JumpStart + Bedrock Custom Models</a:t>
            </a:r>
          </a:p>
        </p:txBody>
      </p:sp>
      <p:sp>
        <p:nvSpPr>
          <p:cNvPr id="3" name="TextBox 2"/>
          <p:cNvSpPr txBox="1"/>
          <p:nvPr/>
        </p:nvSpPr>
        <p:spPr>
          <a:xfrm>
            <a:off x="457200" y="1188720"/>
            <a:ext cx="5486400" cy="365760"/>
          </a:xfrm>
          <a:prstGeom prst="rect">
            <a:avLst/>
          </a:prstGeom>
          <a:noFill/>
        </p:spPr>
        <p:txBody>
          <a:bodyPr wrap="square">
            <a:spAutoFit/>
          </a:bodyPr>
          <a:lstStyle/>
          <a:p>
            <a:pPr algn="l">
              <a:defRPr sz="1600" b="1">
                <a:solidFill>
                  <a:srgbClr val="1C2A3A"/>
                </a:solidFill>
                <a:latin typeface="Calibri"/>
              </a:defRPr>
            </a:pPr>
            <a:r>
              <a:t>Option A: Amazon SageMaker JumpStart</a:t>
            </a:r>
          </a:p>
        </p:txBody>
      </p:sp>
      <p:sp>
        <p:nvSpPr>
          <p:cNvPr id="4" name="TextBox 3"/>
          <p:cNvSpPr txBox="1"/>
          <p:nvPr/>
        </p:nvSpPr>
        <p:spPr>
          <a:xfrm>
            <a:off x="457200" y="1645920"/>
            <a:ext cx="5760720" cy="3657600"/>
          </a:xfrm>
          <a:prstGeom prst="rect">
            <a:avLst/>
          </a:prstGeom>
          <a:noFill/>
        </p:spPr>
        <p:txBody>
          <a:bodyPr wrap="square">
            <a:spAutoFit/>
          </a:bodyPr>
          <a:lstStyle/>
          <a:p>
            <a:pPr algn="l">
              <a:defRPr sz="1000" b="0">
                <a:solidFill>
                  <a:srgbClr val="1C2A3A"/>
                </a:solidFill>
                <a:latin typeface="Consolas"/>
              </a:defRPr>
            </a:pPr>
            <a:r>
              <a:t># 1. Select foundation model from JumpStart hub</a:t>
            </a:r>
            <a:br/>
            <a:r>
              <a:t>#    (Llama 2/3, Mistral, Falcon, etc.)</a:t>
            </a:r>
            <a:br/>
            <a:br/>
            <a:r>
              <a:t>import sagemaker</a:t>
            </a:r>
            <a:br/>
            <a:r>
              <a:t>from sagemaker.jumpstart.estimator import JumpStartEstimator</a:t>
            </a:r>
            <a:br/>
            <a:br/>
            <a:r>
              <a:t>estimator = JumpStartEstimator(</a:t>
            </a:r>
            <a:br/>
            <a:r>
              <a:t>    model_id="meta-textgeneration-llama-2-7b",</a:t>
            </a:r>
            <a:br/>
            <a:r>
              <a:t>    instance_type="ml.g5.2xlarge",  # 1x A10G 24GB</a:t>
            </a:r>
            <a:br/>
            <a:r>
              <a:t>    environment={</a:t>
            </a:r>
            <a:br/>
            <a:r>
              <a:t>        "instruction_tuned": "True",</a:t>
            </a:r>
            <a:br/>
            <a:r>
              <a:t>        "epoch": "3",</a:t>
            </a:r>
            <a:br/>
            <a:r>
              <a:t>        "per_device_train_batch_size": "4",</a:t>
            </a:r>
            <a:br/>
            <a:r>
              <a:t>        "lora_r": "16",</a:t>
            </a:r>
            <a:br/>
            <a:r>
              <a:t>    },</a:t>
            </a:r>
            <a:br/>
            <a:r>
              <a:t>)</a:t>
            </a:r>
            <a:br/>
            <a:br/>
            <a:r>
              <a:t># 2. Point to training data in S3</a:t>
            </a:r>
            <a:br/>
            <a:r>
              <a:t>estimator.fit({</a:t>
            </a:r>
            <a:br/>
            <a:r>
              <a:t>    "training": "s3://my-bucket/training-data/"</a:t>
            </a:r>
            <a:br/>
            <a:r>
              <a:t>})</a:t>
            </a:r>
            <a:br/>
            <a:br/>
            <a:r>
              <a:t># 3. Deploy endpoint</a:t>
            </a:r>
            <a:br/>
            <a:r>
              <a:t>predictor = estimator.deploy(</a:t>
            </a:r>
            <a:br/>
            <a:r>
              <a:t>    instance_type="ml.g5.xlarge"</a:t>
            </a:r>
            <a:br/>
            <a:r>
              <a:t>)</a:t>
            </a:r>
          </a:p>
        </p:txBody>
      </p:sp>
      <p:sp>
        <p:nvSpPr>
          <p:cNvPr id="5" name="TextBox 4"/>
          <p:cNvSpPr txBox="1"/>
          <p:nvPr/>
        </p:nvSpPr>
        <p:spPr>
          <a:xfrm>
            <a:off x="6400800" y="1188720"/>
            <a:ext cx="5303520" cy="365760"/>
          </a:xfrm>
          <a:prstGeom prst="rect">
            <a:avLst/>
          </a:prstGeom>
          <a:noFill/>
        </p:spPr>
        <p:txBody>
          <a:bodyPr wrap="square">
            <a:spAutoFit/>
          </a:bodyPr>
          <a:lstStyle/>
          <a:p>
            <a:pPr algn="l">
              <a:defRPr sz="1600" b="1">
                <a:solidFill>
                  <a:srgbClr val="1C2A3A"/>
                </a:solidFill>
                <a:latin typeface="Calibri"/>
              </a:defRPr>
            </a:pPr>
            <a:r>
              <a:t>Option B: Amazon Bedrock Custom Models</a:t>
            </a:r>
          </a:p>
        </p:txBody>
      </p:sp>
      <p:sp>
        <p:nvSpPr>
          <p:cNvPr id="6" name="Rectangle 5"/>
          <p:cNvSpPr/>
          <p:nvPr/>
        </p:nvSpPr>
        <p:spPr>
          <a:xfrm>
            <a:off x="6400800" y="1645920"/>
            <a:ext cx="5303520" cy="2011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Fully Managed (No-Code / Low-Code)</a:t>
            </a:r>
          </a:p>
          <a:p>
            <a:pPr>
              <a:defRPr sz="1200">
                <a:solidFill>
                  <a:srgbClr val="1C2A3A"/>
                </a:solidFill>
                <a:latin typeface="Calibri"/>
              </a:defRPr>
            </a:pPr>
            <a:r>
              <a:t>1. Upload training data (JSONL) to S3</a:t>
            </a:r>
            <a:br/>
            <a:r>
              <a:t>2. Console: Bedrock &gt; Custom models &gt; Create</a:t>
            </a:r>
            <a:br/>
            <a:r>
              <a:t>3. Select base model (Llama, Titan, Cohere, etc.)</a:t>
            </a:r>
            <a:br/>
            <a:r>
              <a:t>4. Configure hyperparameters (epochs, lr, batch)</a:t>
            </a:r>
            <a:br/>
            <a:r>
              <a:t>5. Submit job - AWS handles GPU provisioning</a:t>
            </a:r>
            <a:br/>
            <a:r>
              <a:t>6. Deploy as Provisioned Throughput endpoint</a:t>
            </a:r>
            <a:br/>
            <a:br/>
            <a:r>
              <a:t>No ML infrastructure to manage.</a:t>
            </a:r>
          </a:p>
        </p:txBody>
      </p:sp>
      <p:sp>
        <p:nvSpPr>
          <p:cNvPr id="7" name="Rectangle 6"/>
          <p:cNvSpPr/>
          <p:nvPr/>
        </p:nvSpPr>
        <p:spPr>
          <a:xfrm>
            <a:off x="6400800" y="3840480"/>
            <a:ext cx="5303520" cy="10972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SageMaker vs Bedrock</a:t>
            </a:r>
          </a:p>
          <a:p>
            <a:pPr>
              <a:defRPr sz="1200">
                <a:solidFill>
                  <a:srgbClr val="1C2A3A"/>
                </a:solidFill>
                <a:latin typeface="Calibri"/>
              </a:defRPr>
            </a:pPr>
            <a:r>
              <a:t>SageMaker: Full control, custom code, any model, BYO container</a:t>
            </a:r>
            <a:br/>
            <a:r>
              <a:t>Bedrock: Managed, simpler, limited to supported models</a:t>
            </a:r>
            <a:br/>
            <a:r>
              <a:t>Both: LoRA/QLoRA, S3 data, IAM security, VPC isolation</a:t>
            </a:r>
          </a:p>
        </p:txBody>
      </p:sp>
      <p:sp>
        <p:nvSpPr>
          <p:cNvPr id="8" name="Rectangle 7"/>
          <p:cNvSpPr/>
          <p:nvPr/>
        </p:nvSpPr>
        <p:spPr>
          <a:xfrm>
            <a:off x="457200" y="5486400"/>
            <a:ext cx="11064240" cy="731520"/>
          </a:xfrm>
          <a:prstGeom prst="rect">
            <a:avLst/>
          </a:prstGeom>
          <a:solidFill>
            <a:srgbClr val="FFF1C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Typical AWS Costs</a:t>
            </a:r>
          </a:p>
          <a:p>
            <a:pPr>
              <a:defRPr sz="1200">
                <a:solidFill>
                  <a:srgbClr val="1C2A3A"/>
                </a:solidFill>
                <a:latin typeface="Calibri"/>
              </a:defRPr>
            </a:pPr>
            <a:r>
              <a:t>Training: $2-50/hr (ml.g5.2xlarge ~$5/hr). A 7B QLoRA job: ~$5-25 total.  Inference: ml.g5.xlarge ~$1.50/hr, or Bedrock per-token pricing.</a:t>
            </a:r>
          </a:p>
        </p:txBody>
      </p:sp>
      <p:sp>
        <p:nvSpPr>
          <p:cNvPr id="9" name="TextBox 8"/>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20/55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RAG: The Essential Toolkit</a:t>
            </a:r>
          </a:p>
          <a:p>
            <a:pPr>
              <a:defRPr sz="1600">
                <a:solidFill>
                  <a:srgbClr val="ECEFF1"/>
                </a:solidFill>
                <a:latin typeface="Calibri"/>
              </a:defRPr>
            </a:pPr>
            <a:r>
              <a:t>Everything you need from document ingestion to production serving</a:t>
            </a:r>
          </a:p>
        </p:txBody>
      </p:sp>
      <p:sp>
        <p:nvSpPr>
          <p:cNvPr id="3" name="TextBox 2"/>
          <p:cNvSpPr txBox="1"/>
          <p:nvPr/>
        </p:nvSpPr>
        <p:spPr>
          <a:xfrm>
            <a:off x="274320" y="1188720"/>
            <a:ext cx="3749039" cy="365760"/>
          </a:xfrm>
          <a:prstGeom prst="rect">
            <a:avLst/>
          </a:prstGeom>
          <a:noFill/>
        </p:spPr>
        <p:txBody>
          <a:bodyPr wrap="square">
            <a:spAutoFit/>
          </a:bodyPr>
          <a:lstStyle/>
          <a:p>
            <a:pPr algn="l">
              <a:defRPr sz="1500" b="1">
                <a:solidFill>
                  <a:srgbClr val="1C2A3A"/>
                </a:solidFill>
                <a:latin typeface="Calibri"/>
              </a:defRPr>
            </a:pPr>
            <a:r>
              <a:t>Vector Databases</a:t>
            </a:r>
          </a:p>
        </p:txBody>
      </p:sp>
      <p:sp>
        <p:nvSpPr>
          <p:cNvPr id="4" name="Rectangle 3"/>
          <p:cNvSpPr/>
          <p:nvPr/>
        </p:nvSpPr>
        <p:spPr>
          <a:xfrm>
            <a:off x="274320" y="1645920"/>
            <a:ext cx="3749039"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ChromaDB</a:t>
            </a:r>
          </a:p>
          <a:p>
            <a:pPr>
              <a:defRPr sz="1200">
                <a:solidFill>
                  <a:srgbClr val="1C2A3A"/>
                </a:solidFill>
                <a:latin typeface="Calibri"/>
              </a:defRPr>
            </a:pPr>
            <a:r>
              <a:t>Open-source, embedded, in-process. Zero config.</a:t>
            </a:r>
            <a:br/>
            <a:r>
              <a:t>Use when: Prototyping, local dev, small datasets (&lt;1M docs).</a:t>
            </a:r>
          </a:p>
        </p:txBody>
      </p:sp>
      <p:sp>
        <p:nvSpPr>
          <p:cNvPr id="5" name="Rectangle 4"/>
          <p:cNvSpPr/>
          <p:nvPr/>
        </p:nvSpPr>
        <p:spPr>
          <a:xfrm>
            <a:off x="274320" y="2606040"/>
            <a:ext cx="3749039"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Pinecone</a:t>
            </a:r>
          </a:p>
          <a:p>
            <a:pPr>
              <a:defRPr sz="1200">
                <a:solidFill>
                  <a:srgbClr val="1C2A3A"/>
                </a:solidFill>
                <a:latin typeface="Calibri"/>
              </a:defRPr>
            </a:pPr>
            <a:r>
              <a:t>Fully managed serverless. Auto-scaling, zero-ops.</a:t>
            </a:r>
            <a:br/>
            <a:r>
              <a:t>Use when: Production SaaS, no DB ops team, fast start.</a:t>
            </a:r>
          </a:p>
        </p:txBody>
      </p:sp>
      <p:sp>
        <p:nvSpPr>
          <p:cNvPr id="6" name="Rectangle 5"/>
          <p:cNvSpPr/>
          <p:nvPr/>
        </p:nvSpPr>
        <p:spPr>
          <a:xfrm>
            <a:off x="274320" y="3566160"/>
            <a:ext cx="3749039"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Weaviate</a:t>
            </a:r>
          </a:p>
          <a:p>
            <a:pPr>
              <a:defRPr sz="1200">
                <a:solidFill>
                  <a:srgbClr val="1C2A3A"/>
                </a:solidFill>
                <a:latin typeface="Calibri"/>
              </a:defRPr>
            </a:pPr>
            <a:r>
              <a:t>Open-source. Hybrid search (vector + BM25 keyword).</a:t>
            </a:r>
            <a:br/>
            <a:r>
              <a:t>Use when: Need keyword+semantic combined, self-hosted.</a:t>
            </a:r>
          </a:p>
        </p:txBody>
      </p:sp>
      <p:sp>
        <p:nvSpPr>
          <p:cNvPr id="7" name="Rectangle 6"/>
          <p:cNvSpPr/>
          <p:nvPr/>
        </p:nvSpPr>
        <p:spPr>
          <a:xfrm>
            <a:off x="274320" y="4526280"/>
            <a:ext cx="3749039"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Qdrant</a:t>
            </a:r>
          </a:p>
          <a:p>
            <a:pPr>
              <a:defRPr sz="1200">
                <a:solidFill>
                  <a:srgbClr val="1C2A3A"/>
                </a:solidFill>
                <a:latin typeface="Calibri"/>
              </a:defRPr>
            </a:pPr>
            <a:r>
              <a:t>Rust-based, fast. Rich filtering, payload storage.</a:t>
            </a:r>
            <a:br/>
            <a:r>
              <a:t>Use when: High-performance, complex metadata filters.</a:t>
            </a:r>
          </a:p>
        </p:txBody>
      </p:sp>
      <p:sp>
        <p:nvSpPr>
          <p:cNvPr id="8" name="Rectangle 7"/>
          <p:cNvSpPr/>
          <p:nvPr/>
        </p:nvSpPr>
        <p:spPr>
          <a:xfrm>
            <a:off x="274320" y="5486400"/>
            <a:ext cx="3749039"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pgvector (PostgreSQL)</a:t>
            </a:r>
          </a:p>
          <a:p>
            <a:pPr>
              <a:defRPr sz="1200">
                <a:solidFill>
                  <a:srgbClr val="1C2A3A"/>
                </a:solidFill>
                <a:latin typeface="Calibri"/>
              </a:defRPr>
            </a:pPr>
            <a:r>
              <a:t>Vector extension for Postgres. SQL + vector in one DB.</a:t>
            </a:r>
            <a:br/>
            <a:r>
              <a:t>Use when: Already on Postgres, want single database.</a:t>
            </a:r>
          </a:p>
        </p:txBody>
      </p:sp>
      <p:sp>
        <p:nvSpPr>
          <p:cNvPr id="9" name="TextBox 8"/>
          <p:cNvSpPr txBox="1"/>
          <p:nvPr/>
        </p:nvSpPr>
        <p:spPr>
          <a:xfrm>
            <a:off x="4206240" y="1188720"/>
            <a:ext cx="3749039" cy="365760"/>
          </a:xfrm>
          <a:prstGeom prst="rect">
            <a:avLst/>
          </a:prstGeom>
          <a:noFill/>
        </p:spPr>
        <p:txBody>
          <a:bodyPr wrap="square">
            <a:spAutoFit/>
          </a:bodyPr>
          <a:lstStyle/>
          <a:p>
            <a:pPr algn="l">
              <a:defRPr sz="1500" b="1">
                <a:solidFill>
                  <a:srgbClr val="1C2A3A"/>
                </a:solidFill>
                <a:latin typeface="Calibri"/>
              </a:defRPr>
            </a:pPr>
            <a:r>
              <a:t>Orchestration Frameworks</a:t>
            </a:r>
          </a:p>
        </p:txBody>
      </p:sp>
      <p:sp>
        <p:nvSpPr>
          <p:cNvPr id="10" name="Rectangle 9"/>
          <p:cNvSpPr/>
          <p:nvPr/>
        </p:nvSpPr>
        <p:spPr>
          <a:xfrm>
            <a:off x="4206240" y="1645920"/>
            <a:ext cx="3749039"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LangChain</a:t>
            </a:r>
          </a:p>
          <a:p>
            <a:pPr>
              <a:defRPr sz="1200">
                <a:solidFill>
                  <a:srgbClr val="1C2A3A"/>
                </a:solidFill>
                <a:latin typeface="Calibri"/>
              </a:defRPr>
            </a:pPr>
            <a:r>
              <a:t>Most popular. Chains, agents, 700+ integrations.</a:t>
            </a:r>
            <a:br/>
            <a:r>
              <a:t>Use when: Rapid prototyping, broad ecosystem needs.</a:t>
            </a:r>
          </a:p>
        </p:txBody>
      </p:sp>
      <p:sp>
        <p:nvSpPr>
          <p:cNvPr id="11" name="Rectangle 10"/>
          <p:cNvSpPr/>
          <p:nvPr/>
        </p:nvSpPr>
        <p:spPr>
          <a:xfrm>
            <a:off x="4206240" y="2606040"/>
            <a:ext cx="3749039"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LlamaIndex</a:t>
            </a:r>
          </a:p>
          <a:p>
            <a:pPr>
              <a:defRPr sz="1200">
                <a:solidFill>
                  <a:srgbClr val="1C2A3A"/>
                </a:solidFill>
                <a:latin typeface="Calibri"/>
              </a:defRPr>
            </a:pPr>
            <a:r>
              <a:t>Specialized for data ingestion &amp; indexing. Advanced RAG.</a:t>
            </a:r>
            <a:br/>
            <a:r>
              <a:t>Use when: Complex documents, multi-step retrieval.</a:t>
            </a:r>
          </a:p>
        </p:txBody>
      </p:sp>
      <p:sp>
        <p:nvSpPr>
          <p:cNvPr id="12" name="Rectangle 11"/>
          <p:cNvSpPr/>
          <p:nvPr/>
        </p:nvSpPr>
        <p:spPr>
          <a:xfrm>
            <a:off x="4206240" y="3566160"/>
            <a:ext cx="3749039"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Haystack (deepset)</a:t>
            </a:r>
          </a:p>
          <a:p>
            <a:pPr>
              <a:defRPr sz="1200">
                <a:solidFill>
                  <a:srgbClr val="1C2A3A"/>
                </a:solidFill>
                <a:latin typeface="Calibri"/>
              </a:defRPr>
            </a:pPr>
            <a:r>
              <a:t>Production NLP pipelines. Modular, type-safe.</a:t>
            </a:r>
            <a:br/>
            <a:r>
              <a:t>Use when: Enterprise, need robust pipeline abstraction.</a:t>
            </a:r>
          </a:p>
        </p:txBody>
      </p:sp>
      <p:sp>
        <p:nvSpPr>
          <p:cNvPr id="13" name="Rectangle 12"/>
          <p:cNvSpPr/>
          <p:nvPr/>
        </p:nvSpPr>
        <p:spPr>
          <a:xfrm>
            <a:off x="4206240" y="4526280"/>
            <a:ext cx="3749039"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Semantic Kernel (Microsoft)</a:t>
            </a:r>
          </a:p>
          <a:p>
            <a:pPr>
              <a:defRPr sz="1200">
                <a:solidFill>
                  <a:srgbClr val="1C2A3A"/>
                </a:solidFill>
                <a:latin typeface="Calibri"/>
              </a:defRPr>
            </a:pPr>
            <a:r>
              <a:t>LLM orchestration for .NET / Python. Plugin-based.</a:t>
            </a:r>
            <a:br/>
            <a:r>
              <a:t>Use when: Microsoft / Azure ecosystem, C# teams.</a:t>
            </a:r>
          </a:p>
        </p:txBody>
      </p:sp>
      <p:sp>
        <p:nvSpPr>
          <p:cNvPr id="14" name="Rectangle 13"/>
          <p:cNvSpPr/>
          <p:nvPr/>
        </p:nvSpPr>
        <p:spPr>
          <a:xfrm>
            <a:off x="4206240" y="5486400"/>
            <a:ext cx="3749039"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CrewAI / AutoGen</a:t>
            </a:r>
          </a:p>
          <a:p>
            <a:pPr>
              <a:defRPr sz="1200">
                <a:solidFill>
                  <a:srgbClr val="1C2A3A"/>
                </a:solidFill>
                <a:latin typeface="Calibri"/>
              </a:defRPr>
            </a:pPr>
            <a:r>
              <a:t>Multi-agent frameworks with built-in RAG support.</a:t>
            </a:r>
            <a:br/>
            <a:r>
              <a:t>Use when: Agentic RAG, multi-step reasoning tasks.</a:t>
            </a:r>
          </a:p>
        </p:txBody>
      </p:sp>
      <p:sp>
        <p:nvSpPr>
          <p:cNvPr id="15" name="TextBox 14"/>
          <p:cNvSpPr txBox="1"/>
          <p:nvPr/>
        </p:nvSpPr>
        <p:spPr>
          <a:xfrm>
            <a:off x="8138160" y="1188720"/>
            <a:ext cx="3749039" cy="365760"/>
          </a:xfrm>
          <a:prstGeom prst="rect">
            <a:avLst/>
          </a:prstGeom>
          <a:noFill/>
        </p:spPr>
        <p:txBody>
          <a:bodyPr wrap="square">
            <a:spAutoFit/>
          </a:bodyPr>
          <a:lstStyle/>
          <a:p>
            <a:pPr algn="l">
              <a:defRPr sz="1500" b="1">
                <a:solidFill>
                  <a:srgbClr val="1C2A3A"/>
                </a:solidFill>
                <a:latin typeface="Calibri"/>
              </a:defRPr>
            </a:pPr>
            <a:r>
              <a:t>Embeddings, Eval &amp; Cloud RAG</a:t>
            </a:r>
          </a:p>
        </p:txBody>
      </p:sp>
      <p:sp>
        <p:nvSpPr>
          <p:cNvPr id="16" name="Rectangle 15"/>
          <p:cNvSpPr/>
          <p:nvPr/>
        </p:nvSpPr>
        <p:spPr>
          <a:xfrm>
            <a:off x="8138160" y="1645920"/>
            <a:ext cx="3749039"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sentence-transformers</a:t>
            </a:r>
          </a:p>
          <a:p>
            <a:pPr>
              <a:defRPr sz="1200">
                <a:solidFill>
                  <a:srgbClr val="1C2A3A"/>
                </a:solidFill>
                <a:latin typeface="Calibri"/>
              </a:defRPr>
            </a:pPr>
            <a:r>
              <a:t>Open-source embeddings (MiniLM, E5, BGE). Free, local.</a:t>
            </a:r>
            <a:br/>
            <a:r>
              <a:t>Use when: Self-hosted, cost-sensitive, privacy.</a:t>
            </a:r>
          </a:p>
        </p:txBody>
      </p:sp>
      <p:sp>
        <p:nvSpPr>
          <p:cNvPr id="17" name="Rectangle 16"/>
          <p:cNvSpPr/>
          <p:nvPr/>
        </p:nvSpPr>
        <p:spPr>
          <a:xfrm>
            <a:off x="8138160" y="2606040"/>
            <a:ext cx="3749039"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OpenAI / Cohere / Voyage Embeddings</a:t>
            </a:r>
          </a:p>
          <a:p>
            <a:pPr>
              <a:defRPr sz="1200">
                <a:solidFill>
                  <a:srgbClr val="1C2A3A"/>
                </a:solidFill>
                <a:latin typeface="Calibri"/>
              </a:defRPr>
            </a:pPr>
            <a:r>
              <a:t>API-based. High quality. text-embedding-3-large etc.</a:t>
            </a:r>
            <a:br/>
            <a:r>
              <a:t>Use when: Best quality, API cost is acceptable.</a:t>
            </a:r>
          </a:p>
        </p:txBody>
      </p:sp>
      <p:sp>
        <p:nvSpPr>
          <p:cNvPr id="18" name="Rectangle 17"/>
          <p:cNvSpPr/>
          <p:nvPr/>
        </p:nvSpPr>
        <p:spPr>
          <a:xfrm>
            <a:off x="8138160" y="3566160"/>
            <a:ext cx="3749039"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RAGAS</a:t>
            </a:r>
          </a:p>
          <a:p>
            <a:pPr>
              <a:defRPr sz="1200">
                <a:solidFill>
                  <a:srgbClr val="1C2A3A"/>
                </a:solidFill>
                <a:latin typeface="Calibri"/>
              </a:defRPr>
            </a:pPr>
            <a:r>
              <a:t>Evaluate RAG: faithfulness, relevancy, context recall.</a:t>
            </a:r>
            <a:br/>
            <a:r>
              <a:t>Use when: Measuring and improving RAG quality.</a:t>
            </a:r>
          </a:p>
        </p:txBody>
      </p:sp>
      <p:sp>
        <p:nvSpPr>
          <p:cNvPr id="19" name="Rectangle 18"/>
          <p:cNvSpPr/>
          <p:nvPr/>
        </p:nvSpPr>
        <p:spPr>
          <a:xfrm>
            <a:off x="8138160" y="4526280"/>
            <a:ext cx="3749039"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AWS Bedrock Knowledge Bases</a:t>
            </a:r>
          </a:p>
          <a:p>
            <a:pPr>
              <a:defRPr sz="1200">
                <a:solidFill>
                  <a:srgbClr val="1C2A3A"/>
                </a:solidFill>
                <a:latin typeface="Calibri"/>
              </a:defRPr>
            </a:pPr>
            <a:r>
              <a:t>Managed RAG. Auto-chunking, OpenSearch, Bedrock LLMs.</a:t>
            </a:r>
            <a:br/>
            <a:r>
              <a:t>Use when: AWS shop, zero-infra RAG.</a:t>
            </a:r>
          </a:p>
        </p:txBody>
      </p:sp>
      <p:sp>
        <p:nvSpPr>
          <p:cNvPr id="20" name="Rectangle 19"/>
          <p:cNvSpPr/>
          <p:nvPr/>
        </p:nvSpPr>
        <p:spPr>
          <a:xfrm>
            <a:off x="8138160" y="5486400"/>
            <a:ext cx="3749039"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Azure AI Search + OpenAI</a:t>
            </a:r>
          </a:p>
          <a:p>
            <a:pPr>
              <a:defRPr sz="1200">
                <a:solidFill>
                  <a:srgbClr val="1C2A3A"/>
                </a:solidFill>
                <a:latin typeface="Calibri"/>
              </a:defRPr>
            </a:pPr>
            <a:r>
              <a:t>Enterprise search + GPT. Hybrid retrieval, RBAC.</a:t>
            </a:r>
            <a:br/>
            <a:r>
              <a:t>Use when: Azure/Microsoft ecosystem.</a:t>
            </a:r>
          </a:p>
        </p:txBody>
      </p:sp>
      <p:sp>
        <p:nvSpPr>
          <p:cNvPr id="21" name="TextBox 20"/>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21/55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How to Build RAG: Local Setup</a:t>
            </a:r>
          </a:p>
          <a:p>
            <a:pPr>
              <a:defRPr sz="1600">
                <a:solidFill>
                  <a:srgbClr val="ECEFF1"/>
                </a:solidFill>
                <a:latin typeface="Calibri"/>
              </a:defRPr>
            </a:pPr>
            <a:r>
              <a:t>Python + ChromaDB + sentence-transformers + any LLM</a:t>
            </a:r>
          </a:p>
        </p:txBody>
      </p:sp>
      <p:sp>
        <p:nvSpPr>
          <p:cNvPr id="3" name="TextBox 2"/>
          <p:cNvSpPr txBox="1"/>
          <p:nvPr/>
        </p:nvSpPr>
        <p:spPr>
          <a:xfrm>
            <a:off x="457200" y="1371600"/>
            <a:ext cx="5943600" cy="4754880"/>
          </a:xfrm>
          <a:prstGeom prst="rect">
            <a:avLst/>
          </a:prstGeom>
          <a:noFill/>
        </p:spPr>
        <p:txBody>
          <a:bodyPr wrap="square">
            <a:spAutoFit/>
          </a:bodyPr>
          <a:lstStyle/>
          <a:p>
            <a:pPr algn="l">
              <a:defRPr sz="1000" b="0">
                <a:solidFill>
                  <a:srgbClr val="1C2A3A"/>
                </a:solidFill>
                <a:latin typeface="Consolas"/>
              </a:defRPr>
            </a:pPr>
            <a:r>
              <a:t># 1. Install dependencies</a:t>
            </a:r>
            <a:br/>
            <a:r>
              <a:t># pip install chromadb sentence-transformers langchain</a:t>
            </a:r>
            <a:br/>
            <a:br/>
            <a:r>
              <a:t># 2. Load &amp; chunk your documents</a:t>
            </a:r>
            <a:br/>
            <a:r>
              <a:t>from langchain.text_splitter import (</a:t>
            </a:r>
            <a:br/>
            <a:r>
              <a:t>    RecursiveCharacterTextSplitter</a:t>
            </a:r>
            <a:br/>
            <a:r>
              <a:t>)</a:t>
            </a:r>
            <a:br/>
            <a:r>
              <a:t>splitter = RecursiveCharacterTextSplitter(</a:t>
            </a:r>
            <a:br/>
            <a:r>
              <a:t>    chunk_size=500, chunk_overlap=50</a:t>
            </a:r>
            <a:br/>
            <a:r>
              <a:t>)</a:t>
            </a:r>
            <a:br/>
            <a:r>
              <a:t>chunks = splitter.split_documents(docs)</a:t>
            </a:r>
            <a:br/>
            <a:br/>
            <a:r>
              <a:t># 3. Create embeddings &amp; vector store</a:t>
            </a:r>
            <a:br/>
            <a:r>
              <a:t>from langchain.embeddings import (</a:t>
            </a:r>
            <a:br/>
            <a:r>
              <a:t>    HuggingFaceEmbeddings</a:t>
            </a:r>
            <a:br/>
            <a:r>
              <a:t>)</a:t>
            </a:r>
            <a:br/>
            <a:r>
              <a:t>from langchain.vectorstores import Chroma</a:t>
            </a:r>
            <a:br/>
            <a:br/>
            <a:r>
              <a:t>embeddings = HuggingFaceEmbeddings(</a:t>
            </a:r>
            <a:br/>
            <a:r>
              <a:t>    model_name="all-MiniLM-L6-v2"  # 384-dim</a:t>
            </a:r>
            <a:br/>
            <a:r>
              <a:t>)</a:t>
            </a:r>
            <a:br/>
            <a:r>
              <a:t>vectorstore = Chroma.from_documents(</a:t>
            </a:r>
            <a:br/>
            <a:r>
              <a:t>    chunks, embeddings, persist_directory="./db"</a:t>
            </a:r>
            <a:br/>
            <a:r>
              <a:t>)</a:t>
            </a:r>
            <a:br/>
            <a:br/>
            <a:r>
              <a:t># 4. Query: embed question -&gt; retrieve -&gt; generate</a:t>
            </a:r>
            <a:br/>
            <a:r>
              <a:t>results = vectorstore.similarity_search(</a:t>
            </a:r>
            <a:br/>
            <a:r>
              <a:t>    "What was revenue growth?", k=5</a:t>
            </a:r>
            <a:br/>
            <a:r>
              <a:t>)</a:t>
            </a:r>
            <a:br/>
            <a:r>
              <a:t>context = "\n".join(r.page_content for r in results)</a:t>
            </a:r>
            <a:br/>
            <a:r>
              <a:t>answer = llm(f"{context}\n\nQ: {question}")</a:t>
            </a:r>
          </a:p>
        </p:txBody>
      </p:sp>
      <p:sp>
        <p:nvSpPr>
          <p:cNvPr id="4" name="Rectangle 3"/>
          <p:cNvSpPr/>
          <p:nvPr/>
        </p:nvSpPr>
        <p:spPr>
          <a:xfrm>
            <a:off x="6583680" y="1280160"/>
            <a:ext cx="5029200" cy="146304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Architecture</a:t>
            </a:r>
          </a:p>
          <a:p>
            <a:pPr>
              <a:defRPr sz="1200">
                <a:solidFill>
                  <a:srgbClr val="1C2A3A"/>
                </a:solidFill>
                <a:latin typeface="Calibri"/>
              </a:defRPr>
            </a:pPr>
            <a:r>
              <a:t>Documents -&gt; Chunking (500 chars) -&gt; Embedding</a:t>
            </a:r>
            <a:br/>
            <a:r>
              <a:t>  -&gt; ChromaDB (cosine similarity) -&gt; Top-K retrieval</a:t>
            </a:r>
            <a:br/>
            <a:r>
              <a:t>  -&gt; LLM prompt = question + retrieved chunks</a:t>
            </a:r>
            <a:br/>
            <a:r>
              <a:t>  -&gt; Answer with source references</a:t>
            </a:r>
          </a:p>
        </p:txBody>
      </p:sp>
      <p:sp>
        <p:nvSpPr>
          <p:cNvPr id="5" name="Rectangle 4"/>
          <p:cNvSpPr/>
          <p:nvPr/>
        </p:nvSpPr>
        <p:spPr>
          <a:xfrm>
            <a:off x="6583680" y="2926080"/>
            <a:ext cx="5029200" cy="137160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Prerequisites</a:t>
            </a:r>
          </a:p>
          <a:p>
            <a:pPr>
              <a:defRPr sz="1200">
                <a:solidFill>
                  <a:srgbClr val="1C2A3A"/>
                </a:solidFill>
                <a:latin typeface="Calibri"/>
              </a:defRPr>
            </a:pPr>
            <a:r>
              <a:t>- Python 3.10+, no GPU required for retrieval</a:t>
            </a:r>
            <a:br/>
            <a:r>
              <a:t>- GPU optional (for local LLM via Ollama/vLLM)</a:t>
            </a:r>
            <a:br/>
            <a:r>
              <a:t>- Or use API: OpenAI / Anthropic / Groq for generation</a:t>
            </a:r>
            <a:br/>
            <a:r>
              <a:t>- Storage: ~1 GB per 100K document chunks</a:t>
            </a:r>
          </a:p>
        </p:txBody>
      </p:sp>
      <p:sp>
        <p:nvSpPr>
          <p:cNvPr id="6" name="Rectangle 5"/>
          <p:cNvSpPr/>
          <p:nvPr/>
        </p:nvSpPr>
        <p:spPr>
          <a:xfrm>
            <a:off x="6583680" y="4480560"/>
            <a:ext cx="5029200" cy="1645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Tuning Tips</a:t>
            </a:r>
          </a:p>
          <a:p>
            <a:pPr>
              <a:defRPr sz="1200">
                <a:solidFill>
                  <a:srgbClr val="1C2A3A"/>
                </a:solidFill>
                <a:latin typeface="Calibri"/>
              </a:defRPr>
            </a:pPr>
            <a:r>
              <a:t>- Chunk size: 300-1000 chars (test what works best)</a:t>
            </a:r>
            <a:br/>
            <a:r>
              <a:t>- Overlap: 10-20% of chunk size avoids split entities</a:t>
            </a:r>
            <a:br/>
            <a:r>
              <a:t>- Top-K: 3-5 docs balances context vs noise</a:t>
            </a:r>
            <a:br/>
            <a:r>
              <a:t>- Embedding model matters: try domain-specific ones</a:t>
            </a:r>
            <a:br/>
            <a:r>
              <a:t>- Re-ranking (cross-encoder) boosts precision</a:t>
            </a:r>
          </a:p>
        </p:txBody>
      </p:sp>
      <p:sp>
        <p:nvSpPr>
          <p:cNvPr id="7" name="TextBox 6"/>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22/55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How to Build RAG: AWS</a:t>
            </a:r>
          </a:p>
          <a:p>
            <a:pPr>
              <a:defRPr sz="1600">
                <a:solidFill>
                  <a:srgbClr val="ECEFF1"/>
                </a:solidFill>
                <a:latin typeface="Calibri"/>
              </a:defRPr>
            </a:pPr>
            <a:r>
              <a:t>Bedrock Knowledge Bases + OpenSearch Serverless</a:t>
            </a:r>
          </a:p>
        </p:txBody>
      </p:sp>
      <p:sp>
        <p:nvSpPr>
          <p:cNvPr id="3" name="TextBox 2"/>
          <p:cNvSpPr txBox="1"/>
          <p:nvPr/>
        </p:nvSpPr>
        <p:spPr>
          <a:xfrm>
            <a:off x="457200" y="1188720"/>
            <a:ext cx="5486400" cy="365760"/>
          </a:xfrm>
          <a:prstGeom prst="rect">
            <a:avLst/>
          </a:prstGeom>
          <a:noFill/>
        </p:spPr>
        <p:txBody>
          <a:bodyPr wrap="square">
            <a:spAutoFit/>
          </a:bodyPr>
          <a:lstStyle/>
          <a:p>
            <a:pPr algn="l">
              <a:defRPr sz="1600" b="1">
                <a:solidFill>
                  <a:srgbClr val="1C2A3A"/>
                </a:solidFill>
                <a:latin typeface="Calibri"/>
              </a:defRPr>
            </a:pPr>
            <a:r>
              <a:t>Option A: Amazon Bedrock Knowledge Bases (Managed)</a:t>
            </a:r>
          </a:p>
        </p:txBody>
      </p:sp>
      <p:sp>
        <p:nvSpPr>
          <p:cNvPr id="4" name="Rectangle 3"/>
          <p:cNvSpPr/>
          <p:nvPr/>
        </p:nvSpPr>
        <p:spPr>
          <a:xfrm>
            <a:off x="457200" y="1645920"/>
            <a:ext cx="5486400" cy="320040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Fully Managed RAG in 5 Steps</a:t>
            </a:r>
          </a:p>
          <a:p>
            <a:pPr>
              <a:defRPr sz="1200">
                <a:solidFill>
                  <a:srgbClr val="1C2A3A"/>
                </a:solidFill>
                <a:latin typeface="Calibri"/>
              </a:defRPr>
            </a:pPr>
            <a:r>
              <a:t>1. Create S3 bucket with your documents</a:t>
            </a:r>
            <a:br/>
            <a:r>
              <a:t>   (PDF, TXT, CSV, HTML, DOCX supported)</a:t>
            </a:r>
            <a:br/>
            <a:br/>
            <a:r>
              <a:t>2. Console: Bedrock &gt; Knowledge bases &gt; Create</a:t>
            </a:r>
            <a:br/>
            <a:r>
              <a:t>   - Select embedding model (Titan, Cohere)</a:t>
            </a:r>
            <a:br/>
            <a:r>
              <a:t>   - Select vector store (auto-creates OpenSearch)</a:t>
            </a:r>
            <a:br/>
            <a:br/>
            <a:r>
              <a:t>3. Sync data source (automatic chunking &amp; embedding)</a:t>
            </a:r>
            <a:br/>
            <a:br/>
            <a:r>
              <a:t>4. Query via RetrieveAndGenerate API:</a:t>
            </a:r>
            <a:br/>
            <a:r>
              <a:t>   response = bedrock.retrieve_and_generate(</a:t>
            </a:r>
            <a:br/>
            <a:r>
              <a:t>       input={'text': 'What was revenue growth?'},</a:t>
            </a:r>
            <a:br/>
            <a:r>
              <a:t>       knowledgeBaseId='KB_ID',</a:t>
            </a:r>
            <a:br/>
            <a:r>
              <a:t>       modelArn='anthropic.claude-3-sonnet'</a:t>
            </a:r>
            <a:br/>
            <a:r>
              <a:t>   )</a:t>
            </a:r>
            <a:br/>
            <a:br/>
            <a:r>
              <a:t>5. Response includes answer + source citations</a:t>
            </a:r>
          </a:p>
        </p:txBody>
      </p:sp>
      <p:sp>
        <p:nvSpPr>
          <p:cNvPr id="5" name="TextBox 4"/>
          <p:cNvSpPr txBox="1"/>
          <p:nvPr/>
        </p:nvSpPr>
        <p:spPr>
          <a:xfrm>
            <a:off x="6217920" y="1188720"/>
            <a:ext cx="5303520" cy="365760"/>
          </a:xfrm>
          <a:prstGeom prst="rect">
            <a:avLst/>
          </a:prstGeom>
          <a:noFill/>
        </p:spPr>
        <p:txBody>
          <a:bodyPr wrap="square">
            <a:spAutoFit/>
          </a:bodyPr>
          <a:lstStyle/>
          <a:p>
            <a:pPr algn="l">
              <a:defRPr sz="1600" b="1">
                <a:solidFill>
                  <a:srgbClr val="1C2A3A"/>
                </a:solidFill>
                <a:latin typeface="Calibri"/>
              </a:defRPr>
            </a:pPr>
            <a:r>
              <a:t>Option B: Custom RAG on AWS</a:t>
            </a:r>
          </a:p>
        </p:txBody>
      </p:sp>
      <p:sp>
        <p:nvSpPr>
          <p:cNvPr id="6" name="Rectangle 5"/>
          <p:cNvSpPr/>
          <p:nvPr/>
        </p:nvSpPr>
        <p:spPr>
          <a:xfrm>
            <a:off x="6217920" y="1645920"/>
            <a:ext cx="5303520" cy="18288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Build Your Own with AWS Services</a:t>
            </a:r>
          </a:p>
          <a:p>
            <a:pPr>
              <a:defRPr sz="1200">
                <a:solidFill>
                  <a:srgbClr val="1C2A3A"/>
                </a:solidFill>
                <a:latin typeface="Calibri"/>
              </a:defRPr>
            </a:pPr>
            <a:r>
              <a:t>Embedding:   Bedrock Embeddings API or SageMaker</a:t>
            </a:r>
            <a:br/>
            <a:r>
              <a:t>Vector DB:   OpenSearch Serverless (vector engine)</a:t>
            </a:r>
            <a:br/>
            <a:r>
              <a:t>             or Amazon Aurora pgvector</a:t>
            </a:r>
            <a:br/>
            <a:r>
              <a:t>             or self-hosted Qdrant on ECS/EKS</a:t>
            </a:r>
            <a:br/>
            <a:r>
              <a:t>Orchestration: Lambda + Step Functions</a:t>
            </a:r>
            <a:br/>
            <a:r>
              <a:t>             or LangChain on ECS/Fargate</a:t>
            </a:r>
            <a:br/>
            <a:r>
              <a:t>Generation:  Bedrock (Claude, Llama, Titan)</a:t>
            </a:r>
            <a:br/>
            <a:r>
              <a:t>             or SageMaker endpoint</a:t>
            </a:r>
          </a:p>
        </p:txBody>
      </p:sp>
      <p:sp>
        <p:nvSpPr>
          <p:cNvPr id="7" name="Rectangle 6"/>
          <p:cNvSpPr/>
          <p:nvPr/>
        </p:nvSpPr>
        <p:spPr>
          <a:xfrm>
            <a:off x="6217920" y="3657600"/>
            <a:ext cx="5303520" cy="118872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Managed vs Custom</a:t>
            </a:r>
          </a:p>
          <a:p>
            <a:pPr>
              <a:defRPr sz="1200">
                <a:solidFill>
                  <a:srgbClr val="1C2A3A"/>
                </a:solidFill>
                <a:latin typeface="Calibri"/>
              </a:defRPr>
            </a:pPr>
            <a:r>
              <a:t>Bedrock KB: Zero infra, auto-sync, simple API, fast start</a:t>
            </a:r>
            <a:br/>
            <a:r>
              <a:t>Custom: Full control, any vector DB, custom chunking,</a:t>
            </a:r>
            <a:br/>
            <a:r>
              <a:t>  advanced retrieval (hybrid search, re-ranking, filters)</a:t>
            </a:r>
          </a:p>
        </p:txBody>
      </p:sp>
      <p:sp>
        <p:nvSpPr>
          <p:cNvPr id="8" name="Rectangle 7"/>
          <p:cNvSpPr/>
          <p:nvPr/>
        </p:nvSpPr>
        <p:spPr>
          <a:xfrm>
            <a:off x="457200" y="5120640"/>
            <a:ext cx="11064240" cy="1005840"/>
          </a:xfrm>
          <a:prstGeom prst="rect">
            <a:avLst/>
          </a:prstGeom>
          <a:solidFill>
            <a:srgbClr val="FFF1C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Typical AWS Costs</a:t>
            </a:r>
          </a:p>
          <a:p>
            <a:pPr>
              <a:defRPr sz="1200">
                <a:solidFill>
                  <a:srgbClr val="1C2A3A"/>
                </a:solidFill>
                <a:latin typeface="Calibri"/>
              </a:defRPr>
            </a:pPr>
            <a:r>
              <a:t>Bedrock KB: Embedding ~$0.10/1M tokens, generation per-token, OpenSearch from $0.24/hr (serverless OCU)</a:t>
            </a:r>
            <a:br/>
            <a:r>
              <a:t>Custom: OpenSearch serverless from $0.24/hr per OCU. Aurora pgvector from ~$0.10/hr (db.t4g.medium)</a:t>
            </a:r>
            <a:br/>
            <a:r>
              <a:t>Storage: S3 ~$0.023/GB/month. Estimated total for small RAG system: $50-200/month</a:t>
            </a:r>
          </a:p>
        </p:txBody>
      </p:sp>
      <p:sp>
        <p:nvSpPr>
          <p:cNvPr id="9" name="TextBox 8"/>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23/55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Data Preparation &amp; Evaluation Tools</a:t>
            </a:r>
          </a:p>
        </p:txBody>
      </p:sp>
      <p:sp>
        <p:nvSpPr>
          <p:cNvPr id="3" name="TextBox 2"/>
          <p:cNvSpPr txBox="1"/>
          <p:nvPr/>
        </p:nvSpPr>
        <p:spPr>
          <a:xfrm>
            <a:off x="457200" y="1188720"/>
            <a:ext cx="5029200" cy="365760"/>
          </a:xfrm>
          <a:prstGeom prst="rect">
            <a:avLst/>
          </a:prstGeom>
          <a:noFill/>
        </p:spPr>
        <p:txBody>
          <a:bodyPr wrap="square">
            <a:spAutoFit/>
          </a:bodyPr>
          <a:lstStyle/>
          <a:p>
            <a:pPr algn="l">
              <a:defRPr sz="1600" b="1">
                <a:solidFill>
                  <a:srgbClr val="1C2A3A"/>
                </a:solidFill>
                <a:latin typeface="Calibri"/>
              </a:defRPr>
            </a:pPr>
            <a:r>
              <a:t>Data Preparation</a:t>
            </a:r>
          </a:p>
        </p:txBody>
      </p:sp>
      <p:sp>
        <p:nvSpPr>
          <p:cNvPr id="4" name="Rectangle 3"/>
          <p:cNvSpPr/>
          <p:nvPr/>
        </p:nvSpPr>
        <p:spPr>
          <a:xfrm>
            <a:off x="457200" y="1645920"/>
            <a:ext cx="5303520"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Argilla</a:t>
            </a:r>
          </a:p>
          <a:p>
            <a:pPr>
              <a:defRPr sz="1200">
                <a:solidFill>
                  <a:srgbClr val="1C2A3A"/>
                </a:solidFill>
                <a:latin typeface="Calibri"/>
              </a:defRPr>
            </a:pPr>
            <a:r>
              <a:t>Open-source data labeling for LLMs.</a:t>
            </a:r>
          </a:p>
        </p:txBody>
      </p:sp>
      <p:sp>
        <p:nvSpPr>
          <p:cNvPr id="5" name="Rectangle 4"/>
          <p:cNvSpPr/>
          <p:nvPr/>
        </p:nvSpPr>
        <p:spPr>
          <a:xfrm>
            <a:off x="457200" y="2697480"/>
            <a:ext cx="5303520"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Label Studio</a:t>
            </a:r>
          </a:p>
          <a:p>
            <a:pPr>
              <a:defRPr sz="1200">
                <a:solidFill>
                  <a:srgbClr val="1C2A3A"/>
                </a:solidFill>
                <a:latin typeface="Calibri"/>
              </a:defRPr>
            </a:pPr>
            <a:r>
              <a:t>Multi-purpose labeling tool.</a:t>
            </a:r>
          </a:p>
        </p:txBody>
      </p:sp>
      <p:sp>
        <p:nvSpPr>
          <p:cNvPr id="6" name="Rectangle 5"/>
          <p:cNvSpPr/>
          <p:nvPr/>
        </p:nvSpPr>
        <p:spPr>
          <a:xfrm>
            <a:off x="457200" y="3749039"/>
            <a:ext cx="5303520"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HuggingFace Datasets</a:t>
            </a:r>
          </a:p>
          <a:p>
            <a:pPr>
              <a:defRPr sz="1200">
                <a:solidFill>
                  <a:srgbClr val="1C2A3A"/>
                </a:solidFill>
                <a:latin typeface="Calibri"/>
              </a:defRPr>
            </a:pPr>
            <a:r>
              <a:t>Library + hub. 100K+ public datasets.</a:t>
            </a:r>
          </a:p>
        </p:txBody>
      </p:sp>
      <p:sp>
        <p:nvSpPr>
          <p:cNvPr id="7" name="Rectangle 6"/>
          <p:cNvSpPr/>
          <p:nvPr/>
        </p:nvSpPr>
        <p:spPr>
          <a:xfrm>
            <a:off x="457200" y="4800600"/>
            <a:ext cx="5303520"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Synthetic Data Generation</a:t>
            </a:r>
          </a:p>
          <a:p>
            <a:pPr>
              <a:defRPr sz="1200">
                <a:solidFill>
                  <a:srgbClr val="1C2A3A"/>
                </a:solidFill>
                <a:latin typeface="Calibri"/>
              </a:defRPr>
            </a:pPr>
            <a:r>
              <a:t>Use GPT-4/Claude to bootstrap training data.</a:t>
            </a:r>
          </a:p>
        </p:txBody>
      </p:sp>
      <p:sp>
        <p:nvSpPr>
          <p:cNvPr id="8" name="TextBox 7"/>
          <p:cNvSpPr txBox="1"/>
          <p:nvPr/>
        </p:nvSpPr>
        <p:spPr>
          <a:xfrm>
            <a:off x="6217920" y="1188720"/>
            <a:ext cx="5029200" cy="365760"/>
          </a:xfrm>
          <a:prstGeom prst="rect">
            <a:avLst/>
          </a:prstGeom>
          <a:noFill/>
        </p:spPr>
        <p:txBody>
          <a:bodyPr wrap="square">
            <a:spAutoFit/>
          </a:bodyPr>
          <a:lstStyle/>
          <a:p>
            <a:pPr algn="l">
              <a:defRPr sz="1600" b="1">
                <a:solidFill>
                  <a:srgbClr val="1C2A3A"/>
                </a:solidFill>
                <a:latin typeface="Calibri"/>
              </a:defRPr>
            </a:pPr>
            <a:r>
              <a:t>Evaluation &amp; Benchmarking</a:t>
            </a:r>
          </a:p>
        </p:txBody>
      </p:sp>
      <p:sp>
        <p:nvSpPr>
          <p:cNvPr id="9" name="Rectangle 8"/>
          <p:cNvSpPr/>
          <p:nvPr/>
        </p:nvSpPr>
        <p:spPr>
          <a:xfrm>
            <a:off x="6217920" y="1645920"/>
            <a:ext cx="5303520"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LM Evaluation Harness</a:t>
            </a:r>
          </a:p>
          <a:p>
            <a:pPr>
              <a:defRPr sz="1200">
                <a:solidFill>
                  <a:srgbClr val="1C2A3A"/>
                </a:solidFill>
                <a:latin typeface="Calibri"/>
              </a:defRPr>
            </a:pPr>
            <a:r>
              <a:t>Standard LLM benchmark framework.</a:t>
            </a:r>
          </a:p>
        </p:txBody>
      </p:sp>
      <p:sp>
        <p:nvSpPr>
          <p:cNvPr id="10" name="Rectangle 9"/>
          <p:cNvSpPr/>
          <p:nvPr/>
        </p:nvSpPr>
        <p:spPr>
          <a:xfrm>
            <a:off x="6217920" y="2697480"/>
            <a:ext cx="5303520"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RAGAS</a:t>
            </a:r>
          </a:p>
          <a:p>
            <a:pPr>
              <a:defRPr sz="1200">
                <a:solidFill>
                  <a:srgbClr val="1C2A3A"/>
                </a:solidFill>
                <a:latin typeface="Calibri"/>
              </a:defRPr>
            </a:pPr>
            <a:r>
              <a:t>Evaluate RAG: faithfulness, relevancy.</a:t>
            </a:r>
          </a:p>
        </p:txBody>
      </p:sp>
      <p:sp>
        <p:nvSpPr>
          <p:cNvPr id="11" name="Rectangle 10"/>
          <p:cNvSpPr/>
          <p:nvPr/>
        </p:nvSpPr>
        <p:spPr>
          <a:xfrm>
            <a:off x="6217920" y="3749039"/>
            <a:ext cx="5303520"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DeepEval</a:t>
            </a:r>
          </a:p>
          <a:p>
            <a:pPr>
              <a:defRPr sz="1200">
                <a:solidFill>
                  <a:srgbClr val="1C2A3A"/>
                </a:solidFill>
                <a:latin typeface="Calibri"/>
              </a:defRPr>
            </a:pPr>
            <a:r>
              <a:t>Unit testing for LLMs. CI/CD integration.</a:t>
            </a:r>
          </a:p>
        </p:txBody>
      </p:sp>
      <p:sp>
        <p:nvSpPr>
          <p:cNvPr id="12" name="Rectangle 11"/>
          <p:cNvSpPr/>
          <p:nvPr/>
        </p:nvSpPr>
        <p:spPr>
          <a:xfrm>
            <a:off x="6217920" y="4800600"/>
            <a:ext cx="5303520"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Phoenix (Arize AI)</a:t>
            </a:r>
          </a:p>
          <a:p>
            <a:pPr>
              <a:defRPr sz="1200">
                <a:solidFill>
                  <a:srgbClr val="1C2A3A"/>
                </a:solidFill>
                <a:latin typeface="Calibri"/>
              </a:defRPr>
            </a:pPr>
            <a:r>
              <a:t>LLM observability. Trace &amp; debug in prod.</a:t>
            </a:r>
          </a:p>
        </p:txBody>
      </p:sp>
      <p:sp>
        <p:nvSpPr>
          <p:cNvPr id="13" name="TextBox 12"/>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24/55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Real-World Use Cases</a:t>
            </a:r>
          </a:p>
        </p:txBody>
      </p:sp>
      <p:sp>
        <p:nvSpPr>
          <p:cNvPr id="3" name="Rectangle 2"/>
          <p:cNvSpPr/>
          <p:nvPr/>
        </p:nvSpPr>
        <p:spPr>
          <a:xfrm>
            <a:off x="457200" y="1371600"/>
            <a:ext cx="5303520" cy="2011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Financial Services</a:t>
            </a:r>
          </a:p>
          <a:p>
            <a:pPr>
              <a:defRPr sz="1200">
                <a:solidFill>
                  <a:srgbClr val="1C2A3A"/>
                </a:solidFill>
                <a:latin typeface="Calibri"/>
              </a:defRPr>
            </a:pPr>
            <a:r>
              <a:t>- Risk assessment with domain accuracy</a:t>
            </a:r>
            <a:br/>
            <a:r>
              <a:t>- Compliance checking for regulations</a:t>
            </a:r>
            <a:br/>
            <a:r>
              <a:t>- Financial analysis: ratios, tables, metrics</a:t>
            </a:r>
            <a:br/>
            <a:r>
              <a:t>- Sentiment: FinBERT knows 'headwinds' = negative</a:t>
            </a:r>
          </a:p>
        </p:txBody>
      </p:sp>
      <p:sp>
        <p:nvSpPr>
          <p:cNvPr id="4" name="Rectangle 3"/>
          <p:cNvSpPr/>
          <p:nvPr/>
        </p:nvSpPr>
        <p:spPr>
          <a:xfrm>
            <a:off x="6217920" y="1371600"/>
            <a:ext cx="5303520" cy="2011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Healthcare</a:t>
            </a:r>
          </a:p>
          <a:p>
            <a:pPr>
              <a:defRPr sz="1200">
                <a:solidFill>
                  <a:srgbClr val="1C2A3A"/>
                </a:solidFill>
                <a:latin typeface="Calibri"/>
              </a:defRPr>
            </a:pPr>
            <a:r>
              <a:t>- Clinical notes: extract diagnoses, meds</a:t>
            </a:r>
            <a:br/>
            <a:r>
              <a:t>- Medical coding: ICD-10 from clinical text</a:t>
            </a:r>
            <a:br/>
            <a:r>
              <a:t>- Drug interactions from pharma databases</a:t>
            </a:r>
          </a:p>
        </p:txBody>
      </p:sp>
      <p:sp>
        <p:nvSpPr>
          <p:cNvPr id="5" name="Rectangle 4"/>
          <p:cNvSpPr/>
          <p:nvPr/>
        </p:nvSpPr>
        <p:spPr>
          <a:xfrm>
            <a:off x="457200" y="3657600"/>
            <a:ext cx="5303520" cy="2011680"/>
          </a:xfrm>
          <a:prstGeom prst="rect">
            <a:avLst/>
          </a:prstGeom>
          <a:solidFill>
            <a:srgbClr val="D7C8F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Legal</a:t>
            </a:r>
          </a:p>
          <a:p>
            <a:pPr>
              <a:defRPr sz="1200">
                <a:solidFill>
                  <a:srgbClr val="1C2A3A"/>
                </a:solidFill>
                <a:latin typeface="Calibri"/>
              </a:defRPr>
            </a:pPr>
            <a:r>
              <a:t>- Contract review: clauses, obligations, risks</a:t>
            </a:r>
            <a:br/>
            <a:r>
              <a:t>- Case law research: precedent &amp; citations</a:t>
            </a:r>
            <a:br/>
            <a:r>
              <a:t>- Due diligence: extract terms from 1000s of docs</a:t>
            </a:r>
          </a:p>
        </p:txBody>
      </p:sp>
      <p:sp>
        <p:nvSpPr>
          <p:cNvPr id="6" name="Rectangle 5"/>
          <p:cNvSpPr/>
          <p:nvPr/>
        </p:nvSpPr>
        <p:spPr>
          <a:xfrm>
            <a:off x="6217920" y="3657600"/>
            <a:ext cx="5303520" cy="2011680"/>
          </a:xfrm>
          <a:prstGeom prst="rect">
            <a:avLst/>
          </a:prstGeom>
          <a:solidFill>
            <a:srgbClr val="FFF1C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Cybersecurity &amp; Email Filtering</a:t>
            </a:r>
          </a:p>
          <a:p>
            <a:pPr>
              <a:defRPr sz="1200">
                <a:solidFill>
                  <a:srgbClr val="1C2A3A"/>
                </a:solidFill>
                <a:latin typeface="Calibri"/>
              </a:defRPr>
            </a:pPr>
            <a:r>
              <a:t>- Spam/phishing detection (95% with fine-tuned DistilBERT)</a:t>
            </a:r>
            <a:br/>
            <a:r>
              <a:t>- Threat classification: phishing vs scam vs legitimate</a:t>
            </a:r>
            <a:br/>
            <a:r>
              <a:t>- High-throughput email triage with calibrated confidence</a:t>
            </a:r>
          </a:p>
        </p:txBody>
      </p:sp>
      <p:sp>
        <p:nvSpPr>
          <p:cNvPr id="7" name="Rectangle 6"/>
          <p:cNvSpPr/>
          <p:nvPr/>
        </p:nvSpPr>
        <p:spPr>
          <a:xfrm>
            <a:off x="457200" y="5943600"/>
            <a:ext cx="11064240" cy="54864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Common pattern:</a:t>
            </a:r>
          </a:p>
          <a:p>
            <a:pPr>
              <a:defRPr sz="1200">
                <a:solidFill>
                  <a:srgbClr val="1C2A3A"/>
                </a:solidFill>
                <a:latin typeface="Calibri"/>
              </a:defRPr>
            </a:pPr>
            <a:r>
              <a:t>Start with RAG for quick wins, then add fine-tuning where accuracy gaps appear.</a:t>
            </a:r>
          </a:p>
        </p:txBody>
      </p:sp>
      <p:sp>
        <p:nvSpPr>
          <p:cNvPr id="8" name="TextBox 7"/>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25/55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The Hybrid Approach: Best of Both Worlds</a:t>
            </a:r>
          </a:p>
        </p:txBody>
      </p:sp>
      <p:pic>
        <p:nvPicPr>
          <p:cNvPr id="3" name="Picture 2" descr="hybrid_architecture.png"/>
          <p:cNvPicPr>
            <a:picLocks noChangeAspect="1"/>
          </p:cNvPicPr>
          <p:nvPr/>
        </p:nvPicPr>
        <p:blipFill>
          <a:blip r:embed="rId2"/>
          <a:stretch>
            <a:fillRect/>
          </a:stretch>
        </p:blipFill>
        <p:spPr>
          <a:xfrm>
            <a:off x="457200" y="1188720"/>
            <a:ext cx="5943600" cy="4114800"/>
          </a:xfrm>
          <a:prstGeom prst="rect">
            <a:avLst/>
          </a:prstGeom>
        </p:spPr>
      </p:pic>
      <p:sp>
        <p:nvSpPr>
          <p:cNvPr id="4" name="Rectangle 3"/>
          <p:cNvSpPr/>
          <p:nvPr/>
        </p:nvSpPr>
        <p:spPr>
          <a:xfrm>
            <a:off x="6858000" y="1371600"/>
            <a:ext cx="4846320" cy="1645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What Fine-Tuning Contributes</a:t>
            </a:r>
          </a:p>
          <a:p>
            <a:pPr>
              <a:defRPr sz="1200">
                <a:solidFill>
                  <a:srgbClr val="1C2A3A"/>
                </a:solidFill>
                <a:latin typeface="Calibri"/>
              </a:defRPr>
            </a:pPr>
            <a:r>
              <a:t>- Numerical reasoning ability</a:t>
            </a:r>
            <a:br/>
            <a:r>
              <a:t>- Domain-specific patterns</a:t>
            </a:r>
            <a:br/>
            <a:r>
              <a:t>- Consistent output format</a:t>
            </a:r>
            <a:br/>
            <a:r>
              <a:t>- Lower error rate</a:t>
            </a:r>
          </a:p>
        </p:txBody>
      </p:sp>
      <p:sp>
        <p:nvSpPr>
          <p:cNvPr id="5" name="Rectangle 4"/>
          <p:cNvSpPr/>
          <p:nvPr/>
        </p:nvSpPr>
        <p:spPr>
          <a:xfrm>
            <a:off x="6858000" y="3291840"/>
            <a:ext cx="4846320" cy="164592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What RAG Contributes</a:t>
            </a:r>
          </a:p>
          <a:p>
            <a:pPr>
              <a:defRPr sz="1200">
                <a:solidFill>
                  <a:srgbClr val="1C2A3A"/>
                </a:solidFill>
                <a:latin typeface="Calibri"/>
              </a:defRPr>
            </a:pPr>
            <a:r>
              <a:t>- Fresh, updatable knowledge</a:t>
            </a:r>
            <a:br/>
            <a:r>
              <a:t>- Source citations for audit</a:t>
            </a:r>
            <a:br/>
            <a:r>
              <a:t>- Broader context coverage</a:t>
            </a:r>
            <a:br/>
            <a:r>
              <a:t>- Reduced hallucination</a:t>
            </a:r>
          </a:p>
        </p:txBody>
      </p:sp>
      <p:sp>
        <p:nvSpPr>
          <p:cNvPr id="6" name="Rectangle 5"/>
          <p:cNvSpPr/>
          <p:nvPr/>
        </p:nvSpPr>
        <p:spPr>
          <a:xfrm>
            <a:off x="457200" y="5303520"/>
            <a:ext cx="1106424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Result:</a:t>
            </a:r>
          </a:p>
          <a:p>
            <a:pPr>
              <a:defRPr sz="1200">
                <a:solidFill>
                  <a:srgbClr val="1C2A3A"/>
                </a:solidFill>
                <a:latin typeface="Calibri"/>
              </a:defRPr>
            </a:pPr>
            <a:r>
              <a:t>Hybrid achieves 65.8% on FinQA vs 61.2% FT-only vs 15.3% RAG-only. 75% on sentiment vs 70% FT-only vs 65% RAG-only.</a:t>
            </a:r>
          </a:p>
        </p:txBody>
      </p:sp>
      <p:sp>
        <p:nvSpPr>
          <p:cNvPr id="7" name="TextBox 6"/>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26/55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Cost &amp; ROI Considerations</a:t>
            </a:r>
          </a:p>
        </p:txBody>
      </p:sp>
      <p:graphicFrame>
        <p:nvGraphicFramePr>
          <p:cNvPr id="3" name="Table 2"/>
          <p:cNvGraphicFramePr>
            <a:graphicFrameLocks noGrp="1"/>
          </p:cNvGraphicFramePr>
          <p:nvPr/>
        </p:nvGraphicFramePr>
        <p:xfrm>
          <a:off x="457200" y="1371600"/>
          <a:ext cx="11247120" cy="2743200"/>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457200">
                <a:tc>
                  <a:txBody>
                    <a:bodyPr/>
                    <a:lstStyle/>
                    <a:p>
                      <a:pPr algn="ctr">
                        <a:defRPr sz="1200" b="1">
                          <a:solidFill>
                            <a:srgbClr val="FFFFFF"/>
                          </a:solidFill>
                          <a:latin typeface="Calibri"/>
                        </a:defRPr>
                      </a:pPr>
                    </a:p>
                  </a:txBody>
                  <a:tcPr>
                    <a:solidFill>
                      <a:srgbClr val="2E86C1"/>
                    </a:solidFill>
                  </a:tcPr>
                </a:tc>
                <a:tc>
                  <a:txBody>
                    <a:bodyPr/>
                    <a:lstStyle/>
                    <a:p>
                      <a:pPr algn="ctr">
                        <a:defRPr sz="1200" b="1">
                          <a:solidFill>
                            <a:srgbClr val="FFFFFF"/>
                          </a:solidFill>
                          <a:latin typeface="Calibri"/>
                        </a:defRPr>
                      </a:pPr>
                      <a:r>
                        <a:t>Prompt Eng.</a:t>
                      </a:r>
                    </a:p>
                  </a:txBody>
                  <a:tcPr>
                    <a:solidFill>
                      <a:srgbClr val="2E86C1"/>
                    </a:solidFill>
                  </a:tcPr>
                </a:tc>
                <a:tc>
                  <a:txBody>
                    <a:bodyPr/>
                    <a:lstStyle/>
                    <a:p>
                      <a:pPr algn="ctr">
                        <a:defRPr sz="1200" b="1">
                          <a:solidFill>
                            <a:srgbClr val="FFFFFF"/>
                          </a:solidFill>
                          <a:latin typeface="Calibri"/>
                        </a:defRPr>
                      </a:pPr>
                      <a:r>
                        <a:t>RAG</a:t>
                      </a:r>
                    </a:p>
                  </a:txBody>
                  <a:tcPr>
                    <a:solidFill>
                      <a:srgbClr val="2E86C1"/>
                    </a:solidFill>
                  </a:tcPr>
                </a:tc>
                <a:tc>
                  <a:txBody>
                    <a:bodyPr/>
                    <a:lstStyle/>
                    <a:p>
                      <a:pPr algn="ctr">
                        <a:defRPr sz="1200" b="1">
                          <a:solidFill>
                            <a:srgbClr val="FFFFFF"/>
                          </a:solidFill>
                          <a:latin typeface="Calibri"/>
                        </a:defRPr>
                      </a:pPr>
                      <a:r>
                        <a:t>Fine-Tuning</a:t>
                      </a:r>
                    </a:p>
                  </a:txBody>
                  <a:tcPr>
                    <a:solidFill>
                      <a:srgbClr val="2E86C1"/>
                    </a:solidFill>
                  </a:tcPr>
                </a:tc>
                <a:tc>
                  <a:txBody>
                    <a:bodyPr/>
                    <a:lstStyle/>
                    <a:p>
                      <a:pPr algn="ctr">
                        <a:defRPr sz="1200" b="1">
                          <a:solidFill>
                            <a:srgbClr val="FFFFFF"/>
                          </a:solidFill>
                          <a:latin typeface="Calibri"/>
                        </a:defRPr>
                      </a:pPr>
                      <a:r>
                        <a:t>Hybrid</a:t>
                      </a:r>
                    </a:p>
                  </a:txBody>
                  <a:tcPr>
                    <a:solidFill>
                      <a:srgbClr val="2E86C1"/>
                    </a:solidFill>
                  </a:tcPr>
                </a:tc>
              </a:tr>
              <a:tr h="457200">
                <a:tc>
                  <a:txBody>
                    <a:bodyPr/>
                    <a:lstStyle/>
                    <a:p>
                      <a:pPr>
                        <a:defRPr sz="1100">
                          <a:solidFill>
                            <a:srgbClr val="1C2A3A"/>
                          </a:solidFill>
                          <a:latin typeface="Calibri"/>
                        </a:defRPr>
                      </a:pPr>
                      <a:r>
                        <a:t>Setup Cost</a:t>
                      </a:r>
                    </a:p>
                  </a:txBody>
                  <a:tcPr>
                    <a:solidFill>
                      <a:srgbClr val="E0E3E8"/>
                    </a:solidFill>
                  </a:tcPr>
                </a:tc>
                <a:tc>
                  <a:txBody>
                    <a:bodyPr/>
                    <a:lstStyle/>
                    <a:p>
                      <a:pPr>
                        <a:defRPr sz="1100">
                          <a:solidFill>
                            <a:srgbClr val="1C2A3A"/>
                          </a:solidFill>
                          <a:latin typeface="Calibri"/>
                        </a:defRPr>
                      </a:pPr>
                      <a:r>
                        <a:t>Free</a:t>
                      </a:r>
                    </a:p>
                  </a:txBody>
                  <a:tcPr>
                    <a:solidFill>
                      <a:srgbClr val="E0E3E8"/>
                    </a:solidFill>
                  </a:tcPr>
                </a:tc>
                <a:tc>
                  <a:txBody>
                    <a:bodyPr/>
                    <a:lstStyle/>
                    <a:p>
                      <a:pPr>
                        <a:defRPr sz="1100">
                          <a:solidFill>
                            <a:srgbClr val="1C2A3A"/>
                          </a:solidFill>
                          <a:latin typeface="Calibri"/>
                        </a:defRPr>
                      </a:pPr>
                      <a:r>
                        <a:t>$100-$1K</a:t>
                      </a:r>
                    </a:p>
                  </a:txBody>
                  <a:tcPr>
                    <a:solidFill>
                      <a:srgbClr val="E0E3E8"/>
                    </a:solidFill>
                  </a:tcPr>
                </a:tc>
                <a:tc>
                  <a:txBody>
                    <a:bodyPr/>
                    <a:lstStyle/>
                    <a:p>
                      <a:pPr>
                        <a:defRPr sz="1100">
                          <a:solidFill>
                            <a:srgbClr val="1C2A3A"/>
                          </a:solidFill>
                          <a:latin typeface="Calibri"/>
                        </a:defRPr>
                      </a:pPr>
                      <a:r>
                        <a:t>$500-$50K+</a:t>
                      </a:r>
                    </a:p>
                  </a:txBody>
                  <a:tcPr>
                    <a:solidFill>
                      <a:srgbClr val="E0E3E8"/>
                    </a:solidFill>
                  </a:tcPr>
                </a:tc>
                <a:tc>
                  <a:txBody>
                    <a:bodyPr/>
                    <a:lstStyle/>
                    <a:p>
                      <a:pPr>
                        <a:defRPr sz="1100">
                          <a:solidFill>
                            <a:srgbClr val="1C2A3A"/>
                          </a:solidFill>
                          <a:latin typeface="Calibri"/>
                        </a:defRPr>
                      </a:pPr>
                      <a:r>
                        <a:t>$1K-$100K+</a:t>
                      </a:r>
                    </a:p>
                  </a:txBody>
                  <a:tcPr>
                    <a:solidFill>
                      <a:srgbClr val="E0E3E8"/>
                    </a:solidFill>
                  </a:tcPr>
                </a:tc>
              </a:tr>
              <a:tr h="457200">
                <a:tc>
                  <a:txBody>
                    <a:bodyPr/>
                    <a:lstStyle/>
                    <a:p>
                      <a:pPr>
                        <a:defRPr sz="1100">
                          <a:solidFill>
                            <a:srgbClr val="1C2A3A"/>
                          </a:solidFill>
                          <a:latin typeface="Calibri"/>
                        </a:defRPr>
                      </a:pPr>
                      <a:r>
                        <a:t>Per-Query</a:t>
                      </a:r>
                    </a:p>
                  </a:txBody>
                  <a:tcPr/>
                </a:tc>
                <a:tc>
                  <a:txBody>
                    <a:bodyPr/>
                    <a:lstStyle/>
                    <a:p>
                      <a:pPr>
                        <a:defRPr sz="1100">
                          <a:solidFill>
                            <a:srgbClr val="1C2A3A"/>
                          </a:solidFill>
                          <a:latin typeface="Calibri"/>
                        </a:defRPr>
                      </a:pPr>
                      <a:r>
                        <a:t>API only</a:t>
                      </a:r>
                    </a:p>
                  </a:txBody>
                  <a:tcPr/>
                </a:tc>
                <a:tc>
                  <a:txBody>
                    <a:bodyPr/>
                    <a:lstStyle/>
                    <a:p>
                      <a:pPr>
                        <a:defRPr sz="1100">
                          <a:solidFill>
                            <a:srgbClr val="1C2A3A"/>
                          </a:solidFill>
                          <a:latin typeface="Calibri"/>
                        </a:defRPr>
                      </a:pPr>
                      <a:r>
                        <a:t>API + retrieval</a:t>
                      </a:r>
                    </a:p>
                  </a:txBody>
                  <a:tcPr/>
                </a:tc>
                <a:tc>
                  <a:txBody>
                    <a:bodyPr/>
                    <a:lstStyle/>
                    <a:p>
                      <a:pPr>
                        <a:defRPr sz="1100">
                          <a:solidFill>
                            <a:srgbClr val="1C2A3A"/>
                          </a:solidFill>
                          <a:latin typeface="Calibri"/>
                        </a:defRPr>
                      </a:pPr>
                      <a:r>
                        <a:t>Lower inference</a:t>
                      </a:r>
                    </a:p>
                  </a:txBody>
                  <a:tcPr/>
                </a:tc>
                <a:tc>
                  <a:txBody>
                    <a:bodyPr/>
                    <a:lstStyle/>
                    <a:p>
                      <a:pPr>
                        <a:defRPr sz="1100">
                          <a:solidFill>
                            <a:srgbClr val="1C2A3A"/>
                          </a:solidFill>
                          <a:latin typeface="Calibri"/>
                        </a:defRPr>
                      </a:pPr>
                      <a:r>
                        <a:t>Medium</a:t>
                      </a:r>
                    </a:p>
                  </a:txBody>
                  <a:tcPr/>
                </a:tc>
              </a:tr>
              <a:tr h="457200">
                <a:tc>
                  <a:txBody>
                    <a:bodyPr/>
                    <a:lstStyle/>
                    <a:p>
                      <a:pPr>
                        <a:defRPr sz="1100">
                          <a:solidFill>
                            <a:srgbClr val="1C2A3A"/>
                          </a:solidFill>
                          <a:latin typeface="Calibri"/>
                        </a:defRPr>
                      </a:pPr>
                      <a:r>
                        <a:t>Maintenance</a:t>
                      </a:r>
                    </a:p>
                  </a:txBody>
                  <a:tcPr>
                    <a:solidFill>
                      <a:srgbClr val="E0E3E8"/>
                    </a:solidFill>
                  </a:tcPr>
                </a:tc>
                <a:tc>
                  <a:txBody>
                    <a:bodyPr/>
                    <a:lstStyle/>
                    <a:p>
                      <a:pPr>
                        <a:defRPr sz="1100">
                          <a:solidFill>
                            <a:srgbClr val="1C2A3A"/>
                          </a:solidFill>
                          <a:latin typeface="Calibri"/>
                        </a:defRPr>
                      </a:pPr>
                      <a:r>
                        <a:t>Manual prompts</a:t>
                      </a:r>
                    </a:p>
                  </a:txBody>
                  <a:tcPr>
                    <a:solidFill>
                      <a:srgbClr val="E0E3E8"/>
                    </a:solidFill>
                  </a:tcPr>
                </a:tc>
                <a:tc>
                  <a:txBody>
                    <a:bodyPr/>
                    <a:lstStyle/>
                    <a:p>
                      <a:pPr>
                        <a:defRPr sz="1100">
                          <a:solidFill>
                            <a:srgbClr val="1C2A3A"/>
                          </a:solidFill>
                          <a:latin typeface="Calibri"/>
                        </a:defRPr>
                      </a:pPr>
                      <a:r>
                        <a:t>Doc updates</a:t>
                      </a:r>
                    </a:p>
                  </a:txBody>
                  <a:tcPr>
                    <a:solidFill>
                      <a:srgbClr val="E0E3E8"/>
                    </a:solidFill>
                  </a:tcPr>
                </a:tc>
                <a:tc>
                  <a:txBody>
                    <a:bodyPr/>
                    <a:lstStyle/>
                    <a:p>
                      <a:pPr>
                        <a:defRPr sz="1100">
                          <a:solidFill>
                            <a:srgbClr val="1C2A3A"/>
                          </a:solidFill>
                          <a:latin typeface="Calibri"/>
                        </a:defRPr>
                      </a:pPr>
                      <a:r>
                        <a:t>Periodic retrain</a:t>
                      </a:r>
                    </a:p>
                  </a:txBody>
                  <a:tcPr>
                    <a:solidFill>
                      <a:srgbClr val="E0E3E8"/>
                    </a:solidFill>
                  </a:tcPr>
                </a:tc>
                <a:tc>
                  <a:txBody>
                    <a:bodyPr/>
                    <a:lstStyle/>
                    <a:p>
                      <a:pPr>
                        <a:defRPr sz="1100">
                          <a:solidFill>
                            <a:srgbClr val="1C2A3A"/>
                          </a:solidFill>
                          <a:latin typeface="Calibri"/>
                        </a:defRPr>
                      </a:pPr>
                      <a:r>
                        <a:t>Both</a:t>
                      </a:r>
                    </a:p>
                  </a:txBody>
                  <a:tcPr>
                    <a:solidFill>
                      <a:srgbClr val="E0E3E8"/>
                    </a:solidFill>
                  </a:tcPr>
                </a:tc>
              </a:tr>
              <a:tr h="457200">
                <a:tc>
                  <a:txBody>
                    <a:bodyPr/>
                    <a:lstStyle/>
                    <a:p>
                      <a:pPr>
                        <a:defRPr sz="1100">
                          <a:solidFill>
                            <a:srgbClr val="1C2A3A"/>
                          </a:solidFill>
                          <a:latin typeface="Calibri"/>
                        </a:defRPr>
                      </a:pPr>
                      <a:r>
                        <a:t>Time to Deploy</a:t>
                      </a:r>
                    </a:p>
                  </a:txBody>
                  <a:tcPr/>
                </a:tc>
                <a:tc>
                  <a:txBody>
                    <a:bodyPr/>
                    <a:lstStyle/>
                    <a:p>
                      <a:pPr>
                        <a:defRPr sz="1100">
                          <a:solidFill>
                            <a:srgbClr val="1C2A3A"/>
                          </a:solidFill>
                          <a:latin typeface="Calibri"/>
                        </a:defRPr>
                      </a:pPr>
                      <a:r>
                        <a:t>Hours</a:t>
                      </a:r>
                    </a:p>
                  </a:txBody>
                  <a:tcPr/>
                </a:tc>
                <a:tc>
                  <a:txBody>
                    <a:bodyPr/>
                    <a:lstStyle/>
                    <a:p>
                      <a:pPr>
                        <a:defRPr sz="1100">
                          <a:solidFill>
                            <a:srgbClr val="1C2A3A"/>
                          </a:solidFill>
                          <a:latin typeface="Calibri"/>
                        </a:defRPr>
                      </a:pPr>
                      <a:r>
                        <a:t>Days</a:t>
                      </a:r>
                    </a:p>
                  </a:txBody>
                  <a:tcPr/>
                </a:tc>
                <a:tc>
                  <a:txBody>
                    <a:bodyPr/>
                    <a:lstStyle/>
                    <a:p>
                      <a:pPr>
                        <a:defRPr sz="1100">
                          <a:solidFill>
                            <a:srgbClr val="1C2A3A"/>
                          </a:solidFill>
                          <a:latin typeface="Calibri"/>
                        </a:defRPr>
                      </a:pPr>
                      <a:r>
                        <a:t>Days-Weeks</a:t>
                      </a:r>
                    </a:p>
                  </a:txBody>
                  <a:tcPr/>
                </a:tc>
                <a:tc>
                  <a:txBody>
                    <a:bodyPr/>
                    <a:lstStyle/>
                    <a:p>
                      <a:pPr>
                        <a:defRPr sz="1100">
                          <a:solidFill>
                            <a:srgbClr val="1C2A3A"/>
                          </a:solidFill>
                          <a:latin typeface="Calibri"/>
                        </a:defRPr>
                      </a:pPr>
                      <a:r>
                        <a:t>Weeks</a:t>
                      </a:r>
                    </a:p>
                  </a:txBody>
                  <a:tcPr/>
                </a:tc>
              </a:tr>
              <a:tr h="457200">
                <a:tc>
                  <a:txBody>
                    <a:bodyPr/>
                    <a:lstStyle/>
                    <a:p>
                      <a:pPr>
                        <a:defRPr sz="1100">
                          <a:solidFill>
                            <a:srgbClr val="1C2A3A"/>
                          </a:solidFill>
                          <a:latin typeface="Calibri"/>
                        </a:defRPr>
                      </a:pPr>
                      <a:r>
                        <a:t>Accuracy ROI</a:t>
                      </a:r>
                    </a:p>
                  </a:txBody>
                  <a:tcPr>
                    <a:solidFill>
                      <a:srgbClr val="E0E3E8"/>
                    </a:solidFill>
                  </a:tcPr>
                </a:tc>
                <a:tc>
                  <a:txBody>
                    <a:bodyPr/>
                    <a:lstStyle/>
                    <a:p>
                      <a:pPr>
                        <a:defRPr sz="1100">
                          <a:solidFill>
                            <a:srgbClr val="1C2A3A"/>
                          </a:solidFill>
                          <a:latin typeface="Calibri"/>
                        </a:defRPr>
                      </a:pPr>
                      <a:r>
                        <a:t>Low</a:t>
                      </a:r>
                    </a:p>
                  </a:txBody>
                  <a:tcPr>
                    <a:solidFill>
                      <a:srgbClr val="E0E3E8"/>
                    </a:solidFill>
                  </a:tcPr>
                </a:tc>
                <a:tc>
                  <a:txBody>
                    <a:bodyPr/>
                    <a:lstStyle/>
                    <a:p>
                      <a:pPr>
                        <a:defRPr sz="1100">
                          <a:solidFill>
                            <a:srgbClr val="1C2A3A"/>
                          </a:solidFill>
                          <a:latin typeface="Calibri"/>
                        </a:defRPr>
                      </a:pPr>
                      <a:r>
                        <a:t>Medium</a:t>
                      </a:r>
                    </a:p>
                  </a:txBody>
                  <a:tcPr>
                    <a:solidFill>
                      <a:srgbClr val="E0E3E8"/>
                    </a:solidFill>
                  </a:tcPr>
                </a:tc>
                <a:tc>
                  <a:txBody>
                    <a:bodyPr/>
                    <a:lstStyle/>
                    <a:p>
                      <a:pPr>
                        <a:defRPr sz="1100">
                          <a:solidFill>
                            <a:srgbClr val="1C2A3A"/>
                          </a:solidFill>
                          <a:latin typeface="Calibri"/>
                        </a:defRPr>
                      </a:pPr>
                      <a:r>
                        <a:t>High</a:t>
                      </a:r>
                    </a:p>
                  </a:txBody>
                  <a:tcPr>
                    <a:solidFill>
                      <a:srgbClr val="E0E3E8"/>
                    </a:solidFill>
                  </a:tcPr>
                </a:tc>
                <a:tc>
                  <a:txBody>
                    <a:bodyPr/>
                    <a:lstStyle/>
                    <a:p>
                      <a:pPr>
                        <a:defRPr sz="1100">
                          <a:solidFill>
                            <a:srgbClr val="1C2A3A"/>
                          </a:solidFill>
                          <a:latin typeface="Calibri"/>
                        </a:defRPr>
                      </a:pPr>
                      <a:r>
                        <a:t>Highest</a:t>
                      </a:r>
                    </a:p>
                  </a:txBody>
                  <a:tcPr>
                    <a:solidFill>
                      <a:srgbClr val="E0E3E8"/>
                    </a:solidFill>
                  </a:tcPr>
                </a:tc>
              </a:tr>
            </a:tbl>
          </a:graphicData>
        </a:graphic>
      </p:graphicFrame>
      <p:sp>
        <p:nvSpPr>
          <p:cNvPr id="4" name="Rectangle 3"/>
          <p:cNvSpPr/>
          <p:nvPr/>
        </p:nvSpPr>
        <p:spPr>
          <a:xfrm>
            <a:off x="457200" y="4389120"/>
            <a:ext cx="5303520" cy="18288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ROI Argument for Fine-Tuning</a:t>
            </a:r>
          </a:p>
          <a:p>
            <a:pPr>
              <a:defRPr sz="1200">
                <a:solidFill>
                  <a:srgbClr val="1C2A3A"/>
                </a:solidFill>
                <a:latin typeface="Calibri"/>
              </a:defRPr>
            </a:pPr>
            <a:r>
              <a:t>- One-time training investment</a:t>
            </a:r>
            <a:br/>
            <a:r>
              <a:t>- Lower per-query cost (no retrieval)</a:t>
            </a:r>
            <a:br/>
            <a:r>
              <a:t>- Higher accuracy = fewer errors = less human review</a:t>
            </a:r>
            <a:br/>
            <a:r>
              <a:t>- Break-even: often within weeks for high-volume</a:t>
            </a:r>
          </a:p>
        </p:txBody>
      </p:sp>
      <p:sp>
        <p:nvSpPr>
          <p:cNvPr id="5" name="Rectangle 4"/>
          <p:cNvSpPr/>
          <p:nvPr/>
        </p:nvSpPr>
        <p:spPr>
          <a:xfrm>
            <a:off x="6217920" y="4389120"/>
            <a:ext cx="5303520" cy="182880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When RAG Has Better ROI</a:t>
            </a:r>
          </a:p>
          <a:p>
            <a:pPr>
              <a:defRPr sz="1200">
                <a:solidFill>
                  <a:srgbClr val="1C2A3A"/>
                </a:solidFill>
                <a:latin typeface="Calibri"/>
              </a:defRPr>
            </a:pPr>
            <a:r>
              <a:t>- Low query volume (&lt; 1K/day)</a:t>
            </a:r>
            <a:br/>
            <a:r>
              <a:t>- Rapidly changing knowledge base</a:t>
            </a:r>
            <a:br/>
            <a:r>
              <a:t>- No training data available</a:t>
            </a:r>
            <a:br/>
            <a:r>
              <a:t>- Need to launch in &lt; 1 week</a:t>
            </a:r>
          </a:p>
        </p:txBody>
      </p:sp>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27/55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Key Takeaways</a:t>
            </a:r>
          </a:p>
        </p:txBody>
      </p:sp>
      <p:sp>
        <p:nvSpPr>
          <p:cNvPr id="3" name="Rectangle 2"/>
          <p:cNvSpPr/>
          <p:nvPr/>
        </p:nvSpPr>
        <p:spPr>
          <a:xfrm>
            <a:off x="914400" y="1371600"/>
            <a:ext cx="10332720" cy="1371600"/>
          </a:xfrm>
          <a:prstGeom prst="rect">
            <a:avLst/>
          </a:prstGeom>
          <a:solidFill>
            <a:srgbClr val="1C2A3A"/>
          </a:solidFill>
          <a:ln>
            <a:noFill/>
          </a:ln>
        </p:spPr>
        <p:style>
          <a:lnRef idx="1">
            <a:schemeClr val="accent1"/>
          </a:lnRef>
          <a:fillRef idx="3">
            <a:schemeClr val="accent1"/>
          </a:fillRef>
          <a:effectRef idx="2">
            <a:schemeClr val="accent1"/>
          </a:effectRef>
          <a:fontRef idx="minor">
            <a:schemeClr val="lt1"/>
          </a:fontRef>
        </p:style>
        <p:txBody>
          <a:bodyPr rtlCol="0" anchor="ctr" wrap="square" lIns="254000"/>
          <a:lstStyle/>
          <a:p>
            <a:pPr algn="ctr">
              <a:defRPr sz="2200" b="1">
                <a:solidFill>
                  <a:srgbClr val="FFFFFF"/>
                </a:solidFill>
                <a:latin typeface="Calibri"/>
              </a:defRPr>
            </a:pPr>
            <a:r>
              <a:t>Fine-tuning teaches a model new SKILLS.  RAG gives a model new INFORMATION.  The hybrid approach provides BOTH.</a:t>
            </a:r>
          </a:p>
        </p:txBody>
      </p:sp>
      <p:sp>
        <p:nvSpPr>
          <p:cNvPr id="4" name="Rectangle 3"/>
          <p:cNvSpPr/>
          <p:nvPr/>
        </p:nvSpPr>
        <p:spPr>
          <a:xfrm>
            <a:off x="731520" y="3017520"/>
            <a:ext cx="1051560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1. Fine-tuning is essential for specialized reasoning, calculations, and consistent behavior</a:t>
            </a:r>
          </a:p>
        </p:txBody>
      </p:sp>
      <p:sp>
        <p:nvSpPr>
          <p:cNvPr id="5" name="Rectangle 4"/>
          <p:cNvSpPr/>
          <p:nvPr/>
        </p:nvSpPr>
        <p:spPr>
          <a:xfrm>
            <a:off x="731520" y="3611879"/>
            <a:ext cx="1051560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2. RAG is valuable for dynamic knowledge, source citations, and quick deployment</a:t>
            </a:r>
          </a:p>
        </p:txBody>
      </p:sp>
      <p:sp>
        <p:nvSpPr>
          <p:cNvPr id="6" name="Rectangle 5"/>
          <p:cNvSpPr/>
          <p:nvPr/>
        </p:nvSpPr>
        <p:spPr>
          <a:xfrm>
            <a:off x="731520" y="4206240"/>
            <a:ext cx="1051560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3. The best production systems often combine both approaches (hybrid)</a:t>
            </a:r>
          </a:p>
        </p:txBody>
      </p:sp>
      <p:sp>
        <p:nvSpPr>
          <p:cNvPr id="7" name="Rectangle 6"/>
          <p:cNvSpPr/>
          <p:nvPr/>
        </p:nvSpPr>
        <p:spPr>
          <a:xfrm>
            <a:off x="731520" y="4800600"/>
            <a:ext cx="1051560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4. Modern tools (Unsloth, LoRA, QLoRA) make fine-tuning accessible</a:t>
            </a:r>
          </a:p>
        </p:txBody>
      </p:sp>
      <p:sp>
        <p:nvSpPr>
          <p:cNvPr id="8" name="Rectangle 7"/>
          <p:cNvSpPr/>
          <p:nvPr/>
        </p:nvSpPr>
        <p:spPr>
          <a:xfrm>
            <a:off x="731520" y="5394960"/>
            <a:ext cx="1051560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5. Start with RAG for quick wins, add fine-tuning where accuracy gaps appear</a:t>
            </a:r>
          </a:p>
        </p:txBody>
      </p:sp>
      <p:sp>
        <p:nvSpPr>
          <p:cNvPr id="9" name="Rectangle 8"/>
          <p:cNvSpPr/>
          <p:nvPr/>
        </p:nvSpPr>
        <p:spPr>
          <a:xfrm>
            <a:off x="731520" y="5989320"/>
            <a:ext cx="1051560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6. The cost of fine-tuning is an investment - higher accuracy means fewer costly errors</a:t>
            </a:r>
          </a:p>
        </p:txBody>
      </p:sp>
      <p:sp>
        <p:nvSpPr>
          <p:cNvPr id="10" name="TextBox 9"/>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28/55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C2A3A"/>
        </a:solidFill>
        <a:effectLst/>
      </p:bgPr>
    </p:bg>
    <p:spTree>
      <p:nvGrpSpPr>
        <p:cNvPr id="1" name=""/>
        <p:cNvGrpSpPr/>
        <p:nvPr/>
      </p:nvGrpSpPr>
      <p:grpSpPr/>
      <p:sp>
        <p:nvSpPr>
          <p:cNvPr id="2" name="TextBox 1"/>
          <p:cNvSpPr txBox="1"/>
          <p:nvPr/>
        </p:nvSpPr>
        <p:spPr>
          <a:xfrm>
            <a:off x="914400" y="1828800"/>
            <a:ext cx="10058400" cy="1371600"/>
          </a:xfrm>
          <a:prstGeom prst="rect">
            <a:avLst/>
          </a:prstGeom>
          <a:noFill/>
        </p:spPr>
        <p:txBody>
          <a:bodyPr wrap="square">
            <a:spAutoFit/>
          </a:bodyPr>
          <a:lstStyle/>
          <a:p>
            <a:pPr algn="ctr">
              <a:defRPr sz="4800" b="1">
                <a:solidFill>
                  <a:srgbClr val="5DAEF2"/>
                </a:solidFill>
                <a:latin typeface="Calibri"/>
              </a:defRPr>
            </a:pPr>
            <a:r>
              <a:t>Benchmark Results</a:t>
            </a:r>
          </a:p>
        </p:txBody>
      </p:sp>
      <p:sp>
        <p:nvSpPr>
          <p:cNvPr id="3" name="TextBox 2"/>
          <p:cNvSpPr txBox="1"/>
          <p:nvPr/>
        </p:nvSpPr>
        <p:spPr>
          <a:xfrm>
            <a:off x="914400" y="3200400"/>
            <a:ext cx="10058400" cy="914400"/>
          </a:xfrm>
          <a:prstGeom prst="rect">
            <a:avLst/>
          </a:prstGeom>
          <a:noFill/>
        </p:spPr>
        <p:txBody>
          <a:bodyPr wrap="square">
            <a:spAutoFit/>
          </a:bodyPr>
          <a:lstStyle/>
          <a:p>
            <a:pPr algn="ctr">
              <a:defRPr sz="2800" b="0">
                <a:solidFill>
                  <a:srgbClr val="ECEFF1"/>
                </a:solidFill>
                <a:latin typeface="Calibri"/>
              </a:defRPr>
            </a:pPr>
            <a:r>
              <a:t>Insights from Our Experiments</a:t>
            </a:r>
          </a:p>
        </p:txBody>
      </p:sp>
      <p:sp>
        <p:nvSpPr>
          <p:cNvPr id="4" name="TextBox 3"/>
          <p:cNvSpPr txBox="1"/>
          <p:nvPr/>
        </p:nvSpPr>
        <p:spPr>
          <a:xfrm>
            <a:off x="914400" y="4572000"/>
            <a:ext cx="10058400" cy="914400"/>
          </a:xfrm>
          <a:prstGeom prst="rect">
            <a:avLst/>
          </a:prstGeom>
          <a:noFill/>
        </p:spPr>
        <p:txBody>
          <a:bodyPr wrap="square">
            <a:spAutoFit/>
          </a:bodyPr>
          <a:lstStyle/>
          <a:p>
            <a:pPr algn="ctr">
              <a:defRPr sz="1600" b="0">
                <a:solidFill>
                  <a:srgbClr val="A8C7E8"/>
                </a:solidFill>
                <a:latin typeface="Calibri"/>
              </a:defRPr>
            </a:pPr>
            <a:r>
              <a:t>Four controlled experiments comparing Base vs Fine-Tuned vs RAG vs Hybrid</a:t>
            </a:r>
            <a:br/>
            <a:r>
              <a:t>Same architecture and parameter count -- the only variable is the approach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Benchmark Experiments Overview</a:t>
            </a:r>
          </a:p>
          <a:p>
            <a:pPr>
              <a:defRPr sz="1600">
                <a:solidFill>
                  <a:srgbClr val="ECEFF1"/>
                </a:solidFill>
                <a:latin typeface="Calibri"/>
              </a:defRPr>
            </a:pPr>
            <a:r>
              <a:t>Every number measured by running our actual models</a:t>
            </a:r>
          </a:p>
        </p:txBody>
      </p:sp>
      <p:graphicFrame>
        <p:nvGraphicFramePr>
          <p:cNvPr id="3" name="Table 2"/>
          <p:cNvGraphicFramePr>
            <a:graphicFrameLocks noGrp="1"/>
          </p:cNvGraphicFramePr>
          <p:nvPr/>
        </p:nvGraphicFramePr>
        <p:xfrm>
          <a:off x="457200" y="1371600"/>
          <a:ext cx="11247120" cy="2286000"/>
        </p:xfrm>
        <a:graphic>
          <a:graphicData uri="http://schemas.openxmlformats.org/drawingml/2006/table">
            <a:tbl>
              <a:tblPr firstRow="1" bandRow="1">
                <a:tableStyleId>{5C22544A-7EE6-4342-B048-85BDC9FD1C3A}</a:tableStyleId>
              </a:tblPr>
              <a:tblGrid>
                <a:gridCol w="2811780"/>
                <a:gridCol w="2811780"/>
                <a:gridCol w="2811780"/>
                <a:gridCol w="2811780"/>
              </a:tblGrid>
              <a:tr h="457200">
                <a:tc>
                  <a:txBody>
                    <a:bodyPr/>
                    <a:lstStyle/>
                    <a:p>
                      <a:pPr algn="ctr">
                        <a:defRPr sz="1200" b="1">
                          <a:solidFill>
                            <a:srgbClr val="FFFFFF"/>
                          </a:solidFill>
                          <a:latin typeface="Calibri"/>
                        </a:defRPr>
                      </a:pPr>
                      <a:r>
                        <a:t>Experiment</a:t>
                      </a:r>
                    </a:p>
                  </a:txBody>
                  <a:tcPr>
                    <a:solidFill>
                      <a:srgbClr val="2E86C1"/>
                    </a:solidFill>
                  </a:tcPr>
                </a:tc>
                <a:tc>
                  <a:txBody>
                    <a:bodyPr/>
                    <a:lstStyle/>
                    <a:p>
                      <a:pPr algn="ctr">
                        <a:defRPr sz="1200" b="1">
                          <a:solidFill>
                            <a:srgbClr val="FFFFFF"/>
                          </a:solidFill>
                          <a:latin typeface="Calibri"/>
                        </a:defRPr>
                      </a:pPr>
                      <a:r>
                        <a:t>Architecture</a:t>
                      </a:r>
                    </a:p>
                  </a:txBody>
                  <a:tcPr>
                    <a:solidFill>
                      <a:srgbClr val="2E86C1"/>
                    </a:solidFill>
                  </a:tcPr>
                </a:tc>
                <a:tc>
                  <a:txBody>
                    <a:bodyPr/>
                    <a:lstStyle/>
                    <a:p>
                      <a:pPr algn="ctr">
                        <a:defRPr sz="1200" b="1">
                          <a:solidFill>
                            <a:srgbClr val="FFFFFF"/>
                          </a:solidFill>
                          <a:latin typeface="Calibri"/>
                        </a:defRPr>
                      </a:pPr>
                      <a:r>
                        <a:t>Approaches</a:t>
                      </a:r>
                    </a:p>
                  </a:txBody>
                  <a:tcPr>
                    <a:solidFill>
                      <a:srgbClr val="2E86C1"/>
                    </a:solidFill>
                  </a:tcPr>
                </a:tc>
                <a:tc>
                  <a:txBody>
                    <a:bodyPr/>
                    <a:lstStyle/>
                    <a:p>
                      <a:pPr algn="ctr">
                        <a:defRPr sz="1200" b="1">
                          <a:solidFill>
                            <a:srgbClr val="FFFFFF"/>
                          </a:solidFill>
                          <a:latin typeface="Calibri"/>
                        </a:defRPr>
                      </a:pPr>
                      <a:r>
                        <a:t>Task</a:t>
                      </a:r>
                    </a:p>
                  </a:txBody>
                  <a:tcPr>
                    <a:solidFill>
                      <a:srgbClr val="2E86C1"/>
                    </a:solidFill>
                  </a:tcPr>
                </a:tc>
              </a:tr>
              <a:tr h="457200">
                <a:tc>
                  <a:txBody>
                    <a:bodyPr/>
                    <a:lstStyle/>
                    <a:p>
                      <a:pPr>
                        <a:defRPr sz="1100">
                          <a:solidFill>
                            <a:srgbClr val="1C2A3A"/>
                          </a:solidFill>
                          <a:latin typeface="Calibri"/>
                        </a:defRPr>
                      </a:pPr>
                      <a:r>
                        <a:t>Section 1</a:t>
                      </a:r>
                    </a:p>
                  </a:txBody>
                  <a:tcPr>
                    <a:solidFill>
                      <a:srgbClr val="E0E3E8"/>
                    </a:solidFill>
                  </a:tcPr>
                </a:tc>
                <a:tc>
                  <a:txBody>
                    <a:bodyPr/>
                    <a:lstStyle/>
                    <a:p>
                      <a:pPr>
                        <a:defRPr sz="1100">
                          <a:solidFill>
                            <a:srgbClr val="1C2A3A"/>
                          </a:solidFill>
                          <a:latin typeface="Calibri"/>
                        </a:defRPr>
                      </a:pPr>
                      <a:r>
                        <a:t>BERT-base (110M)</a:t>
                      </a:r>
                    </a:p>
                  </a:txBody>
                  <a:tcPr>
                    <a:solidFill>
                      <a:srgbClr val="E0E3E8"/>
                    </a:solidFill>
                  </a:tcPr>
                </a:tc>
                <a:tc>
                  <a:txBody>
                    <a:bodyPr/>
                    <a:lstStyle/>
                    <a:p>
                      <a:pPr>
                        <a:defRPr sz="1100">
                          <a:solidFill>
                            <a:srgbClr val="1C2A3A"/>
                          </a:solidFill>
                          <a:latin typeface="Calibri"/>
                        </a:defRPr>
                      </a:pPr>
                      <a:r>
                        <a:t>Base, FinBERT, RAG, Hybrid</a:t>
                      </a:r>
                    </a:p>
                  </a:txBody>
                  <a:tcPr>
                    <a:solidFill>
                      <a:srgbClr val="E0E3E8"/>
                    </a:solidFill>
                  </a:tcPr>
                </a:tc>
                <a:tc>
                  <a:txBody>
                    <a:bodyPr/>
                    <a:lstStyle/>
                    <a:p>
                      <a:pPr>
                        <a:defRPr sz="1100">
                          <a:solidFill>
                            <a:srgbClr val="1C2A3A"/>
                          </a:solidFill>
                          <a:latin typeface="Calibri"/>
                        </a:defRPr>
                      </a:pPr>
                      <a:r>
                        <a:t>Sentiment classification</a:t>
                      </a:r>
                    </a:p>
                  </a:txBody>
                  <a:tcPr>
                    <a:solidFill>
                      <a:srgbClr val="E0E3E8"/>
                    </a:solidFill>
                  </a:tcPr>
                </a:tc>
              </a:tr>
              <a:tr h="457200">
                <a:tc>
                  <a:txBody>
                    <a:bodyPr/>
                    <a:lstStyle/>
                    <a:p>
                      <a:pPr>
                        <a:defRPr sz="1100">
                          <a:solidFill>
                            <a:srgbClr val="1C2A3A"/>
                          </a:solidFill>
                          <a:latin typeface="Calibri"/>
                        </a:defRPr>
                      </a:pPr>
                      <a:r>
                        <a:t>Section 2</a:t>
                      </a:r>
                    </a:p>
                  </a:txBody>
                  <a:tcPr/>
                </a:tc>
                <a:tc>
                  <a:txBody>
                    <a:bodyPr/>
                    <a:lstStyle/>
                    <a:p>
                      <a:pPr>
                        <a:defRPr sz="1100">
                          <a:solidFill>
                            <a:srgbClr val="1C2A3A"/>
                          </a:solidFill>
                          <a:latin typeface="Calibri"/>
                        </a:defRPr>
                      </a:pPr>
                      <a:r>
                        <a:t>Llama2-7B (7B)</a:t>
                      </a:r>
                    </a:p>
                  </a:txBody>
                  <a:tcPr/>
                </a:tc>
                <a:tc>
                  <a:txBody>
                    <a:bodyPr/>
                    <a:lstStyle/>
                    <a:p>
                      <a:pPr>
                        <a:defRPr sz="1100">
                          <a:solidFill>
                            <a:srgbClr val="1C2A3A"/>
                          </a:solidFill>
                          <a:latin typeface="Calibri"/>
                        </a:defRPr>
                      </a:pPr>
                      <a:r>
                        <a:t>Base, FinQA-7B, RAG, Hybrid</a:t>
                      </a:r>
                    </a:p>
                  </a:txBody>
                  <a:tcPr/>
                </a:tc>
                <a:tc>
                  <a:txBody>
                    <a:bodyPr/>
                    <a:lstStyle/>
                    <a:p>
                      <a:pPr>
                        <a:defRPr sz="1100">
                          <a:solidFill>
                            <a:srgbClr val="1C2A3A"/>
                          </a:solidFill>
                          <a:latin typeface="Calibri"/>
                        </a:defRPr>
                      </a:pPr>
                      <a:r>
                        <a:t>Numerical reasoning</a:t>
                      </a:r>
                    </a:p>
                  </a:txBody>
                  <a:tcPr/>
                </a:tc>
              </a:tr>
              <a:tr h="457200">
                <a:tc>
                  <a:txBody>
                    <a:bodyPr/>
                    <a:lstStyle/>
                    <a:p>
                      <a:pPr>
                        <a:defRPr sz="1100">
                          <a:solidFill>
                            <a:srgbClr val="1C2A3A"/>
                          </a:solidFill>
                          <a:latin typeface="Calibri"/>
                        </a:defRPr>
                      </a:pPr>
                      <a:r>
                        <a:t>Section 3</a:t>
                      </a:r>
                    </a:p>
                  </a:txBody>
                  <a:tcPr>
                    <a:solidFill>
                      <a:srgbClr val="E0E3E8"/>
                    </a:solidFill>
                  </a:tcPr>
                </a:tc>
                <a:tc>
                  <a:txBody>
                    <a:bodyPr/>
                    <a:lstStyle/>
                    <a:p>
                      <a:pPr>
                        <a:defRPr sz="1100">
                          <a:solidFill>
                            <a:srgbClr val="1C2A3A"/>
                          </a:solidFill>
                          <a:latin typeface="Calibri"/>
                        </a:defRPr>
                      </a:pPr>
                      <a:r>
                        <a:t>Llama2-7B (7B)</a:t>
                      </a:r>
                    </a:p>
                  </a:txBody>
                  <a:tcPr>
                    <a:solidFill>
                      <a:srgbClr val="E0E3E8"/>
                    </a:solidFill>
                  </a:tcPr>
                </a:tc>
                <a:tc>
                  <a:txBody>
                    <a:bodyPr/>
                    <a:lstStyle/>
                    <a:p>
                      <a:pPr>
                        <a:defRPr sz="1100">
                          <a:solidFill>
                            <a:srgbClr val="1C2A3A"/>
                          </a:solidFill>
                          <a:latin typeface="Calibri"/>
                        </a:defRPr>
                      </a:pPr>
                      <a:r>
                        <a:t>Base, FinQA-7B, RAG, Hybrid</a:t>
                      </a:r>
                    </a:p>
                  </a:txBody>
                  <a:tcPr>
                    <a:solidFill>
                      <a:srgbClr val="E0E3E8"/>
                    </a:solidFill>
                  </a:tcPr>
                </a:tc>
                <a:tc>
                  <a:txBody>
                    <a:bodyPr/>
                    <a:lstStyle/>
                    <a:p>
                      <a:pPr>
                        <a:defRPr sz="1100">
                          <a:solidFill>
                            <a:srgbClr val="1C2A3A"/>
                          </a:solidFill>
                          <a:latin typeface="Calibri"/>
                        </a:defRPr>
                      </a:pPr>
                      <a:r>
                        <a:t>Financial ratio calculation</a:t>
                      </a:r>
                    </a:p>
                  </a:txBody>
                  <a:tcPr>
                    <a:solidFill>
                      <a:srgbClr val="E0E3E8"/>
                    </a:solidFill>
                  </a:tcPr>
                </a:tc>
              </a:tr>
              <a:tr h="457200">
                <a:tc>
                  <a:txBody>
                    <a:bodyPr/>
                    <a:lstStyle/>
                    <a:p>
                      <a:pPr>
                        <a:defRPr sz="1100">
                          <a:solidFill>
                            <a:srgbClr val="1C2A3A"/>
                          </a:solidFill>
                          <a:latin typeface="Calibri"/>
                        </a:defRPr>
                      </a:pPr>
                      <a:r>
                        <a:t>Section 4</a:t>
                      </a:r>
                    </a:p>
                  </a:txBody>
                  <a:tcPr/>
                </a:tc>
                <a:tc>
                  <a:txBody>
                    <a:bodyPr/>
                    <a:lstStyle/>
                    <a:p>
                      <a:pPr>
                        <a:defRPr sz="1100">
                          <a:solidFill>
                            <a:srgbClr val="1C2A3A"/>
                          </a:solidFill>
                          <a:latin typeface="Calibri"/>
                        </a:defRPr>
                      </a:pPr>
                      <a:r>
                        <a:t>DistilBERT (66M)</a:t>
                      </a:r>
                    </a:p>
                  </a:txBody>
                  <a:tcPr/>
                </a:tc>
                <a:tc>
                  <a:txBody>
                    <a:bodyPr/>
                    <a:lstStyle/>
                    <a:p>
                      <a:pPr>
                        <a:defRPr sz="1100">
                          <a:solidFill>
                            <a:srgbClr val="1C2A3A"/>
                          </a:solidFill>
                          <a:latin typeface="Calibri"/>
                        </a:defRPr>
                      </a:pPr>
                      <a:r>
                        <a:t>Base, Fine-tuned, RAG, Hybrid</a:t>
                      </a:r>
                    </a:p>
                  </a:txBody>
                  <a:tcPr/>
                </a:tc>
                <a:tc>
                  <a:txBody>
                    <a:bodyPr/>
                    <a:lstStyle/>
                    <a:p>
                      <a:pPr>
                        <a:defRPr sz="1100">
                          <a:solidFill>
                            <a:srgbClr val="1C2A3A"/>
                          </a:solidFill>
                          <a:latin typeface="Calibri"/>
                        </a:defRPr>
                      </a:pPr>
                      <a:r>
                        <a:t>Spam / phishing detection</a:t>
                      </a:r>
                    </a:p>
                  </a:txBody>
                  <a:tcPr/>
                </a:tc>
              </a:tr>
            </a:tbl>
          </a:graphicData>
        </a:graphic>
      </p:graphicFrame>
      <p:sp>
        <p:nvSpPr>
          <p:cNvPr id="4" name="Rectangle 3"/>
          <p:cNvSpPr/>
          <p:nvPr/>
        </p:nvSpPr>
        <p:spPr>
          <a:xfrm>
            <a:off x="457200" y="4114800"/>
            <a:ext cx="11247120" cy="91440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Methodology:</a:t>
            </a:r>
          </a:p>
          <a:p>
            <a:pPr>
              <a:defRPr sz="1200">
                <a:solidFill>
                  <a:srgbClr val="1C2A3A"/>
                </a:solidFill>
                <a:latin typeface="Calibri"/>
              </a:defRPr>
            </a:pPr>
            <a:r>
              <a:t>Each experiment uses the SAME architecture and parameter count. The only variable is the approach (base, fine-tuned, RAG, or hybrid). All results measured in our environment with our models.</a:t>
            </a:r>
          </a:p>
        </p:txBody>
      </p:sp>
      <p:sp>
        <p:nvSpPr>
          <p:cNvPr id="5" name="TextBox 4"/>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30/55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1: BERT 110M - Sentiment Classification</a:t>
            </a:r>
          </a:p>
          <a:p>
            <a:pPr>
              <a:defRPr sz="1600">
                <a:solidFill>
                  <a:srgbClr val="ECEFF1"/>
                </a:solidFill>
                <a:latin typeface="Calibri"/>
              </a:defRPr>
            </a:pPr>
            <a:r>
              <a:t>Architecture: BERT-base-uncased (110M parameters)</a:t>
            </a:r>
          </a:p>
        </p:txBody>
      </p:sp>
      <p:sp>
        <p:nvSpPr>
          <p:cNvPr id="3" name="Rectangle 2"/>
          <p:cNvSpPr/>
          <p:nvPr/>
        </p:nvSpPr>
        <p:spPr>
          <a:xfrm>
            <a:off x="457200" y="1280160"/>
            <a:ext cx="2651760" cy="10972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Base BERT</a:t>
            </a:r>
          </a:p>
          <a:p>
            <a:pPr>
              <a:defRPr sz="1200">
                <a:solidFill>
                  <a:srgbClr val="1C2A3A"/>
                </a:solidFill>
                <a:latin typeface="Calibri"/>
              </a:defRPr>
            </a:pPr>
            <a:r>
              <a:t>Accuracy: 45.0%  (9/20)</a:t>
            </a:r>
          </a:p>
        </p:txBody>
      </p:sp>
      <p:sp>
        <p:nvSpPr>
          <p:cNvPr id="4" name="Rectangle 3"/>
          <p:cNvSpPr/>
          <p:nvPr/>
        </p:nvSpPr>
        <p:spPr>
          <a:xfrm>
            <a:off x="3291840" y="1280160"/>
            <a:ext cx="2651760" cy="10972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FinBERT (fine-tuned)</a:t>
            </a:r>
          </a:p>
          <a:p>
            <a:pPr>
              <a:defRPr sz="1200">
                <a:solidFill>
                  <a:srgbClr val="1C2A3A"/>
                </a:solidFill>
                <a:latin typeface="Calibri"/>
              </a:defRPr>
            </a:pPr>
            <a:r>
              <a:t>Accuracy: 70.0%  (14/20)</a:t>
            </a:r>
          </a:p>
        </p:txBody>
      </p:sp>
      <p:sp>
        <p:nvSpPr>
          <p:cNvPr id="5" name="Rectangle 4"/>
          <p:cNvSpPr/>
          <p:nvPr/>
        </p:nvSpPr>
        <p:spPr>
          <a:xfrm>
            <a:off x="6126480" y="1280160"/>
            <a:ext cx="2651760" cy="10972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BERT + RAG</a:t>
            </a:r>
          </a:p>
          <a:p>
            <a:pPr>
              <a:defRPr sz="1200">
                <a:solidFill>
                  <a:srgbClr val="1C2A3A"/>
                </a:solidFill>
                <a:latin typeface="Calibri"/>
              </a:defRPr>
            </a:pPr>
            <a:r>
              <a:t>Accuracy: 65.0%  (13/20)</a:t>
            </a:r>
          </a:p>
        </p:txBody>
      </p:sp>
      <p:sp>
        <p:nvSpPr>
          <p:cNvPr id="6" name="Rectangle 5"/>
          <p:cNvSpPr/>
          <p:nvPr/>
        </p:nvSpPr>
        <p:spPr>
          <a:xfrm>
            <a:off x="8961120" y="1280160"/>
            <a:ext cx="2651760" cy="1097280"/>
          </a:xfrm>
          <a:prstGeom prst="rect">
            <a:avLst/>
          </a:prstGeom>
          <a:solidFill>
            <a:srgbClr val="FFF1C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FinBERT + RAG (hybrid)</a:t>
            </a:r>
          </a:p>
          <a:p>
            <a:pPr>
              <a:defRPr sz="1200">
                <a:solidFill>
                  <a:srgbClr val="1C2A3A"/>
                </a:solidFill>
                <a:latin typeface="Calibri"/>
              </a:defRPr>
            </a:pPr>
            <a:r>
              <a:t>Accuracy: 70.0%  (14/20)</a:t>
            </a:r>
          </a:p>
        </p:txBody>
      </p:sp>
      <p:graphicFrame>
        <p:nvGraphicFramePr>
          <p:cNvPr id="7" name="Chart 6"/>
          <p:cNvGraphicFramePr>
            <a:graphicFrameLocks noGrp="1"/>
          </p:cNvGraphicFramePr>
          <p:nvPr/>
        </p:nvGraphicFramePr>
        <p:xfrm>
          <a:off x="457200" y="2560320"/>
          <a:ext cx="5303520" cy="3200400"/>
        </p:xfrm>
        <a:graphic>
          <a:graphicData uri="http://schemas.openxmlformats.org/drawingml/2006/chart">
            <c:chart xmlns:c="http://schemas.openxmlformats.org/drawingml/2006/chart" r:id="rId2"/>
          </a:graphicData>
        </a:graphic>
      </p:graphicFrame>
      <p:graphicFrame>
        <p:nvGraphicFramePr>
          <p:cNvPr id="8" name="Chart 7"/>
          <p:cNvGraphicFramePr>
            <a:graphicFrameLocks noGrp="1"/>
          </p:cNvGraphicFramePr>
          <p:nvPr/>
        </p:nvGraphicFramePr>
        <p:xfrm>
          <a:off x="6217920" y="2560320"/>
          <a:ext cx="5303520" cy="3200400"/>
        </p:xfrm>
        <a:graphic>
          <a:graphicData uri="http://schemas.openxmlformats.org/drawingml/2006/chart">
            <c:chart xmlns:c="http://schemas.openxmlformats.org/drawingml/2006/chart" r:id="rId3"/>
          </a:graphicData>
        </a:graphic>
      </p:graphicFrame>
      <p:sp>
        <p:nvSpPr>
          <p:cNvPr id="9" name="TextBox 8"/>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31/55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1: BERT 110M - Sentiment Classification - Token Usage &amp; Cost</a:t>
            </a:r>
          </a:p>
        </p:txBody>
      </p:sp>
      <p:graphicFrame>
        <p:nvGraphicFramePr>
          <p:cNvPr id="3" name="Table 2"/>
          <p:cNvGraphicFramePr>
            <a:graphicFrameLocks noGrp="1"/>
          </p:cNvGraphicFramePr>
          <p:nvPr/>
        </p:nvGraphicFramePr>
        <p:xfrm>
          <a:off x="457200" y="1371600"/>
          <a:ext cx="11247120" cy="3200400"/>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400050">
                <a:tc>
                  <a:txBody>
                    <a:bodyPr/>
                    <a:lstStyle/>
                    <a:p>
                      <a:pPr algn="ctr">
                        <a:defRPr sz="1200" b="1">
                          <a:solidFill>
                            <a:srgbClr val="FFFFFF"/>
                          </a:solidFill>
                          <a:latin typeface="Calibri"/>
                        </a:defRPr>
                      </a:pPr>
                      <a:r>
                        <a:t>Metric</a:t>
                      </a:r>
                    </a:p>
                  </a:txBody>
                  <a:tcPr>
                    <a:solidFill>
                      <a:srgbClr val="2E86C1"/>
                    </a:solidFill>
                  </a:tcPr>
                </a:tc>
                <a:tc>
                  <a:txBody>
                    <a:bodyPr/>
                    <a:lstStyle/>
                    <a:p>
                      <a:pPr algn="ctr">
                        <a:defRPr sz="1200" b="1">
                          <a:solidFill>
                            <a:srgbClr val="FFFFFF"/>
                          </a:solidFill>
                          <a:latin typeface="Calibri"/>
                        </a:defRPr>
                      </a:pPr>
                      <a:r>
                        <a:t>Base BERT</a:t>
                      </a:r>
                    </a:p>
                  </a:txBody>
                  <a:tcPr>
                    <a:solidFill>
                      <a:srgbClr val="2E86C1"/>
                    </a:solidFill>
                  </a:tcPr>
                </a:tc>
                <a:tc>
                  <a:txBody>
                    <a:bodyPr/>
                    <a:lstStyle/>
                    <a:p>
                      <a:pPr algn="ctr">
                        <a:defRPr sz="1200" b="1">
                          <a:solidFill>
                            <a:srgbClr val="FFFFFF"/>
                          </a:solidFill>
                          <a:latin typeface="Calibri"/>
                        </a:defRPr>
                      </a:pPr>
                      <a:r>
                        <a:t>FinBERT</a:t>
                      </a:r>
                    </a:p>
                  </a:txBody>
                  <a:tcPr>
                    <a:solidFill>
                      <a:srgbClr val="2E86C1"/>
                    </a:solidFill>
                  </a:tcPr>
                </a:tc>
                <a:tc>
                  <a:txBody>
                    <a:bodyPr/>
                    <a:lstStyle/>
                    <a:p>
                      <a:pPr algn="ctr">
                        <a:defRPr sz="1200" b="1">
                          <a:solidFill>
                            <a:srgbClr val="FFFFFF"/>
                          </a:solidFill>
                          <a:latin typeface="Calibri"/>
                        </a:defRPr>
                      </a:pPr>
                      <a:r>
                        <a:t>BERT + RAG</a:t>
                      </a:r>
                    </a:p>
                  </a:txBody>
                  <a:tcPr>
                    <a:solidFill>
                      <a:srgbClr val="2E86C1"/>
                    </a:solidFill>
                  </a:tcPr>
                </a:tc>
                <a:tc>
                  <a:txBody>
                    <a:bodyPr/>
                    <a:lstStyle/>
                    <a:p>
                      <a:pPr algn="ctr">
                        <a:defRPr sz="1200" b="1">
                          <a:solidFill>
                            <a:srgbClr val="FFFFFF"/>
                          </a:solidFill>
                          <a:latin typeface="Calibri"/>
                        </a:defRPr>
                      </a:pPr>
                      <a:r>
                        <a:t>FinBERT + RAG</a:t>
                      </a:r>
                    </a:p>
                  </a:txBody>
                  <a:tcPr>
                    <a:solidFill>
                      <a:srgbClr val="2E86C1"/>
                    </a:solidFill>
                  </a:tcPr>
                </a:tc>
              </a:tr>
              <a:tr h="400050">
                <a:tc>
                  <a:txBody>
                    <a:bodyPr/>
                    <a:lstStyle/>
                    <a:p>
                      <a:pPr>
                        <a:defRPr sz="1100">
                          <a:solidFill>
                            <a:srgbClr val="1C2A3A"/>
                          </a:solidFill>
                          <a:latin typeface="Calibri"/>
                        </a:defRPr>
                      </a:pPr>
                      <a:r>
                        <a:t>Avg Tokens / Query</a:t>
                      </a:r>
                    </a:p>
                  </a:txBody>
                  <a:tcPr>
                    <a:solidFill>
                      <a:srgbClr val="E0E3E8"/>
                    </a:solidFill>
                  </a:tcPr>
                </a:tc>
                <a:tc>
                  <a:txBody>
                    <a:bodyPr/>
                    <a:lstStyle/>
                    <a:p>
                      <a:pPr>
                        <a:defRPr sz="1100">
                          <a:solidFill>
                            <a:srgbClr val="1C2A3A"/>
                          </a:solidFill>
                          <a:latin typeface="Calibri"/>
                        </a:defRPr>
                      </a:pPr>
                      <a:r>
                        <a:t>16</a:t>
                      </a:r>
                    </a:p>
                  </a:txBody>
                  <a:tcPr>
                    <a:solidFill>
                      <a:srgbClr val="E0E3E8"/>
                    </a:solidFill>
                  </a:tcPr>
                </a:tc>
                <a:tc>
                  <a:txBody>
                    <a:bodyPr/>
                    <a:lstStyle/>
                    <a:p>
                      <a:pPr>
                        <a:defRPr sz="1100">
                          <a:solidFill>
                            <a:srgbClr val="1C2A3A"/>
                          </a:solidFill>
                          <a:latin typeface="Calibri"/>
                        </a:defRPr>
                      </a:pPr>
                      <a:r>
                        <a:t>16</a:t>
                      </a:r>
                    </a:p>
                  </a:txBody>
                  <a:tcPr>
                    <a:solidFill>
                      <a:srgbClr val="E0E3E8"/>
                    </a:solidFill>
                  </a:tcPr>
                </a:tc>
                <a:tc>
                  <a:txBody>
                    <a:bodyPr/>
                    <a:lstStyle/>
                    <a:p>
                      <a:pPr>
                        <a:defRPr sz="1100">
                          <a:solidFill>
                            <a:srgbClr val="1C2A3A"/>
                          </a:solidFill>
                          <a:latin typeface="Calibri"/>
                        </a:defRPr>
                      </a:pPr>
                      <a:r>
                        <a:t>76</a:t>
                      </a:r>
                    </a:p>
                  </a:txBody>
                  <a:tcPr>
                    <a:solidFill>
                      <a:srgbClr val="E0E3E8"/>
                    </a:solidFill>
                  </a:tcPr>
                </a:tc>
                <a:tc>
                  <a:txBody>
                    <a:bodyPr/>
                    <a:lstStyle/>
                    <a:p>
                      <a:pPr>
                        <a:defRPr sz="1100">
                          <a:solidFill>
                            <a:srgbClr val="1C2A3A"/>
                          </a:solidFill>
                          <a:latin typeface="Calibri"/>
                        </a:defRPr>
                      </a:pPr>
                      <a:r>
                        <a:t>92</a:t>
                      </a:r>
                    </a:p>
                  </a:txBody>
                  <a:tcPr>
                    <a:solidFill>
                      <a:srgbClr val="E0E3E8"/>
                    </a:solidFill>
                  </a:tcPr>
                </a:tc>
              </a:tr>
              <a:tr h="400050">
                <a:tc>
                  <a:txBody>
                    <a:bodyPr/>
                    <a:lstStyle/>
                    <a:p>
                      <a:pPr>
                        <a:defRPr sz="1100">
                          <a:solidFill>
                            <a:srgbClr val="1C2A3A"/>
                          </a:solidFill>
                          <a:latin typeface="Calibri"/>
                        </a:defRPr>
                      </a:pPr>
                      <a:r>
                        <a:t>Total Tokens</a:t>
                      </a:r>
                    </a:p>
                  </a:txBody>
                  <a:tcPr/>
                </a:tc>
                <a:tc>
                  <a:txBody>
                    <a:bodyPr/>
                    <a:lstStyle/>
                    <a:p>
                      <a:pPr>
                        <a:defRPr sz="1100">
                          <a:solidFill>
                            <a:srgbClr val="1C2A3A"/>
                          </a:solidFill>
                          <a:latin typeface="Calibri"/>
                        </a:defRPr>
                      </a:pPr>
                      <a:r>
                        <a:t>327</a:t>
                      </a:r>
                    </a:p>
                  </a:txBody>
                  <a:tcPr/>
                </a:tc>
                <a:tc>
                  <a:txBody>
                    <a:bodyPr/>
                    <a:lstStyle/>
                    <a:p>
                      <a:pPr>
                        <a:defRPr sz="1100">
                          <a:solidFill>
                            <a:srgbClr val="1C2A3A"/>
                          </a:solidFill>
                          <a:latin typeface="Calibri"/>
                        </a:defRPr>
                      </a:pPr>
                      <a:r>
                        <a:t>327</a:t>
                      </a:r>
                    </a:p>
                  </a:txBody>
                  <a:tcPr/>
                </a:tc>
                <a:tc>
                  <a:txBody>
                    <a:bodyPr/>
                    <a:lstStyle/>
                    <a:p>
                      <a:pPr>
                        <a:defRPr sz="1100">
                          <a:solidFill>
                            <a:srgbClr val="1C2A3A"/>
                          </a:solidFill>
                          <a:latin typeface="Calibri"/>
                        </a:defRPr>
                      </a:pPr>
                      <a:r>
                        <a:t>1,516</a:t>
                      </a:r>
                    </a:p>
                  </a:txBody>
                  <a:tcPr/>
                </a:tc>
                <a:tc>
                  <a:txBody>
                    <a:bodyPr/>
                    <a:lstStyle/>
                    <a:p>
                      <a:pPr>
                        <a:defRPr sz="1100">
                          <a:solidFill>
                            <a:srgbClr val="1C2A3A"/>
                          </a:solidFill>
                          <a:latin typeface="Calibri"/>
                        </a:defRPr>
                      </a:pPr>
                      <a:r>
                        <a:t>1,843</a:t>
                      </a:r>
                    </a:p>
                  </a:txBody>
                  <a:tcPr/>
                </a:tc>
              </a:tr>
              <a:tr h="400050">
                <a:tc>
                  <a:txBody>
                    <a:bodyPr/>
                    <a:lstStyle/>
                    <a:p>
                      <a:pPr>
                        <a:defRPr sz="1100">
                          <a:solidFill>
                            <a:srgbClr val="1C2A3A"/>
                          </a:solidFill>
                          <a:latin typeface="Calibri"/>
                        </a:defRPr>
                      </a:pPr>
                      <a:r>
                        <a:t>Prompt Tokens (total)</a:t>
                      </a:r>
                    </a:p>
                  </a:txBody>
                  <a:tcPr>
                    <a:solidFill>
                      <a:srgbClr val="E0E3E8"/>
                    </a:solidFill>
                  </a:tcPr>
                </a:tc>
                <a:tc>
                  <a:txBody>
                    <a:bodyPr/>
                    <a:lstStyle/>
                    <a:p>
                      <a:pPr>
                        <a:defRPr sz="1100">
                          <a:solidFill>
                            <a:srgbClr val="1C2A3A"/>
                          </a:solidFill>
                          <a:latin typeface="Calibri"/>
                        </a:defRPr>
                      </a:pPr>
                      <a:r>
                        <a:t>327</a:t>
                      </a:r>
                    </a:p>
                  </a:txBody>
                  <a:tcPr>
                    <a:solidFill>
                      <a:srgbClr val="E0E3E8"/>
                    </a:solidFill>
                  </a:tcPr>
                </a:tc>
                <a:tc>
                  <a:txBody>
                    <a:bodyPr/>
                    <a:lstStyle/>
                    <a:p>
                      <a:pPr>
                        <a:defRPr sz="1100">
                          <a:solidFill>
                            <a:srgbClr val="1C2A3A"/>
                          </a:solidFill>
                          <a:latin typeface="Calibri"/>
                        </a:defRPr>
                      </a:pPr>
                      <a:r>
                        <a:t>327</a:t>
                      </a:r>
                    </a:p>
                  </a:txBody>
                  <a:tcPr>
                    <a:solidFill>
                      <a:srgbClr val="E0E3E8"/>
                    </a:solidFill>
                  </a:tcPr>
                </a:tc>
                <a:tc>
                  <a:txBody>
                    <a:bodyPr/>
                    <a:lstStyle/>
                    <a:p>
                      <a:pPr>
                        <a:defRPr sz="1100">
                          <a:solidFill>
                            <a:srgbClr val="1C2A3A"/>
                          </a:solidFill>
                          <a:latin typeface="Calibri"/>
                        </a:defRPr>
                      </a:pPr>
                      <a:r>
                        <a:t>1,516</a:t>
                      </a:r>
                    </a:p>
                  </a:txBody>
                  <a:tcPr>
                    <a:solidFill>
                      <a:srgbClr val="E0E3E8"/>
                    </a:solidFill>
                  </a:tcPr>
                </a:tc>
                <a:tc>
                  <a:txBody>
                    <a:bodyPr/>
                    <a:lstStyle/>
                    <a:p>
                      <a:pPr>
                        <a:defRPr sz="1100">
                          <a:solidFill>
                            <a:srgbClr val="1C2A3A"/>
                          </a:solidFill>
                          <a:latin typeface="Calibri"/>
                        </a:defRPr>
                      </a:pPr>
                      <a:r>
                        <a:t>1,843</a:t>
                      </a:r>
                    </a:p>
                  </a:txBody>
                  <a:tcPr>
                    <a:solidFill>
                      <a:srgbClr val="E0E3E8"/>
                    </a:solidFill>
                  </a:tcPr>
                </a:tc>
              </a:tr>
              <a:tr h="400050">
                <a:tc>
                  <a:txBody>
                    <a:bodyPr/>
                    <a:lstStyle/>
                    <a:p>
                      <a:pPr>
                        <a:defRPr sz="1100">
                          <a:solidFill>
                            <a:srgbClr val="1C2A3A"/>
                          </a:solidFill>
                          <a:latin typeface="Calibri"/>
                        </a:defRPr>
                      </a:pPr>
                      <a:r>
                        <a:t>Completion Tokens (total)</a:t>
                      </a:r>
                    </a:p>
                  </a:txBody>
                  <a:tcPr/>
                </a:tc>
                <a:tc>
                  <a:txBody>
                    <a:bodyPr/>
                    <a:lstStyle/>
                    <a:p>
                      <a:pPr>
                        <a:defRPr sz="1100">
                          <a:solidFill>
                            <a:srgbClr val="1C2A3A"/>
                          </a:solidFill>
                          <a:latin typeface="Calibri"/>
                        </a:defRPr>
                      </a:pPr>
                      <a:r>
                        <a:t>0</a:t>
                      </a:r>
                    </a:p>
                  </a:txBody>
                  <a:tcPr/>
                </a:tc>
                <a:tc>
                  <a:txBody>
                    <a:bodyPr/>
                    <a:lstStyle/>
                    <a:p>
                      <a:pPr>
                        <a:defRPr sz="1100">
                          <a:solidFill>
                            <a:srgbClr val="1C2A3A"/>
                          </a:solidFill>
                          <a:latin typeface="Calibri"/>
                        </a:defRPr>
                      </a:pPr>
                      <a:r>
                        <a:t>0</a:t>
                      </a:r>
                    </a:p>
                  </a:txBody>
                  <a:tcPr/>
                </a:tc>
                <a:tc>
                  <a:txBody>
                    <a:bodyPr/>
                    <a:lstStyle/>
                    <a:p>
                      <a:pPr>
                        <a:defRPr sz="1100">
                          <a:solidFill>
                            <a:srgbClr val="1C2A3A"/>
                          </a:solidFill>
                          <a:latin typeface="Calibri"/>
                        </a:defRPr>
                      </a:pPr>
                      <a:r>
                        <a:t>0</a:t>
                      </a:r>
                    </a:p>
                  </a:txBody>
                  <a:tcPr/>
                </a:tc>
                <a:tc>
                  <a:txBody>
                    <a:bodyPr/>
                    <a:lstStyle/>
                    <a:p>
                      <a:pPr>
                        <a:defRPr sz="1100">
                          <a:solidFill>
                            <a:srgbClr val="1C2A3A"/>
                          </a:solidFill>
                          <a:latin typeface="Calibri"/>
                        </a:defRPr>
                      </a:pPr>
                      <a:r>
                        <a:t>0</a:t>
                      </a:r>
                    </a:p>
                  </a:txBody>
                  <a:tcPr/>
                </a:tc>
              </a:tr>
              <a:tr h="400050">
                <a:tc>
                  <a:txBody>
                    <a:bodyPr/>
                    <a:lstStyle/>
                    <a:p>
                      <a:pPr>
                        <a:defRPr sz="1100">
                          <a:solidFill>
                            <a:srgbClr val="1C2A3A"/>
                          </a:solidFill>
                          <a:latin typeface="Calibri"/>
                        </a:defRPr>
                      </a:pPr>
                      <a:r>
                        <a:t>Throughput (tokens/sec)</a:t>
                      </a:r>
                    </a:p>
                  </a:txBody>
                  <a:tcPr>
                    <a:solidFill>
                      <a:srgbClr val="E0E3E8"/>
                    </a:solidFill>
                  </a:tcPr>
                </a:tc>
                <a:tc>
                  <a:txBody>
                    <a:bodyPr/>
                    <a:lstStyle/>
                    <a:p>
                      <a:pPr>
                        <a:defRPr sz="1100">
                          <a:solidFill>
                            <a:srgbClr val="1C2A3A"/>
                          </a:solidFill>
                          <a:latin typeface="Calibri"/>
                        </a:defRPr>
                      </a:pPr>
                      <a:r>
                        <a:t>249</a:t>
                      </a:r>
                    </a:p>
                  </a:txBody>
                  <a:tcPr>
                    <a:solidFill>
                      <a:srgbClr val="E0E3E8"/>
                    </a:solidFill>
                  </a:tcPr>
                </a:tc>
                <a:tc>
                  <a:txBody>
                    <a:bodyPr/>
                    <a:lstStyle/>
                    <a:p>
                      <a:pPr>
                        <a:defRPr sz="1100">
                          <a:solidFill>
                            <a:srgbClr val="1C2A3A"/>
                          </a:solidFill>
                          <a:latin typeface="Calibri"/>
                        </a:defRPr>
                      </a:pPr>
                      <a:r>
                        <a:t>239</a:t>
                      </a:r>
                    </a:p>
                  </a:txBody>
                  <a:tcPr>
                    <a:solidFill>
                      <a:srgbClr val="E0E3E8"/>
                    </a:solidFill>
                  </a:tcPr>
                </a:tc>
                <a:tc>
                  <a:txBody>
                    <a:bodyPr/>
                    <a:lstStyle/>
                    <a:p>
                      <a:pPr>
                        <a:defRPr sz="1100">
                          <a:solidFill>
                            <a:srgbClr val="1C2A3A"/>
                          </a:solidFill>
                          <a:latin typeface="Calibri"/>
                        </a:defRPr>
                      </a:pPr>
                      <a:r>
                        <a:t>1,183</a:t>
                      </a:r>
                    </a:p>
                  </a:txBody>
                  <a:tcPr>
                    <a:solidFill>
                      <a:srgbClr val="E0E3E8"/>
                    </a:solidFill>
                  </a:tcPr>
                </a:tc>
                <a:tc>
                  <a:txBody>
                    <a:bodyPr/>
                    <a:lstStyle/>
                    <a:p>
                      <a:pPr>
                        <a:defRPr sz="1100">
                          <a:solidFill>
                            <a:srgbClr val="1C2A3A"/>
                          </a:solidFill>
                          <a:latin typeface="Calibri"/>
                        </a:defRPr>
                      </a:pPr>
                      <a:r>
                        <a:t>730</a:t>
                      </a:r>
                    </a:p>
                  </a:txBody>
                  <a:tcPr>
                    <a:solidFill>
                      <a:srgbClr val="E0E3E8"/>
                    </a:solidFill>
                  </a:tcPr>
                </a:tc>
              </a:tr>
              <a:tr h="400050">
                <a:tc>
                  <a:txBody>
                    <a:bodyPr/>
                    <a:lstStyle/>
                    <a:p>
                      <a:pPr>
                        <a:defRPr sz="1100">
                          <a:solidFill>
                            <a:srgbClr val="1C2A3A"/>
                          </a:solidFill>
                          <a:latin typeface="Calibri"/>
                        </a:defRPr>
                      </a:pPr>
                      <a:r>
                        <a:t>Cost / 1K Queries</a:t>
                      </a:r>
                    </a:p>
                  </a:txBody>
                  <a:tcPr/>
                </a:tc>
                <a:tc>
                  <a:txBody>
                    <a:bodyPr/>
                    <a:lstStyle/>
                    <a:p>
                      <a:pPr>
                        <a:defRPr sz="1100">
                          <a:solidFill>
                            <a:srgbClr val="1C2A3A"/>
                          </a:solidFill>
                          <a:latin typeface="Calibri"/>
                        </a:defRPr>
                      </a:pPr>
                      <a:r>
                        <a:t>$0.000200</a:t>
                      </a:r>
                    </a:p>
                  </a:txBody>
                  <a:tcPr/>
                </a:tc>
                <a:tc>
                  <a:txBody>
                    <a:bodyPr/>
                    <a:lstStyle/>
                    <a:p>
                      <a:pPr>
                        <a:defRPr sz="1100">
                          <a:solidFill>
                            <a:srgbClr val="1C2A3A"/>
                          </a:solidFill>
                          <a:latin typeface="Calibri"/>
                        </a:defRPr>
                      </a:pPr>
                      <a:r>
                        <a:t>$0.000200</a:t>
                      </a:r>
                    </a:p>
                  </a:txBody>
                  <a:tcPr/>
                </a:tc>
                <a:tc>
                  <a:txBody>
                    <a:bodyPr/>
                    <a:lstStyle/>
                    <a:p>
                      <a:pPr>
                        <a:defRPr sz="1100">
                          <a:solidFill>
                            <a:srgbClr val="1C2A3A"/>
                          </a:solidFill>
                          <a:latin typeface="Calibri"/>
                        </a:defRPr>
                      </a:pPr>
                      <a:r>
                        <a:t>$0.000800</a:t>
                      </a:r>
                    </a:p>
                  </a:txBody>
                  <a:tcPr/>
                </a:tc>
                <a:tc>
                  <a:txBody>
                    <a:bodyPr/>
                    <a:lstStyle/>
                    <a:p>
                      <a:pPr>
                        <a:defRPr sz="1100">
                          <a:solidFill>
                            <a:srgbClr val="1C2A3A"/>
                          </a:solidFill>
                          <a:latin typeface="Calibri"/>
                        </a:defRPr>
                      </a:pPr>
                      <a:r>
                        <a:t>$0.000900</a:t>
                      </a:r>
                    </a:p>
                  </a:txBody>
                  <a:tcPr/>
                </a:tc>
              </a:tr>
              <a:tr h="400050">
                <a:tc>
                  <a:txBody>
                    <a:bodyPr/>
                    <a:lstStyle/>
                    <a:p>
                      <a:pPr>
                        <a:defRPr sz="1100">
                          <a:solidFill>
                            <a:srgbClr val="1C2A3A"/>
                          </a:solidFill>
                          <a:latin typeface="Calibri"/>
                        </a:defRPr>
                      </a:pPr>
                      <a:r>
                        <a:t>Total Benchmark Cost</a:t>
                      </a:r>
                    </a:p>
                  </a:txBody>
                  <a:tcPr>
                    <a:solidFill>
                      <a:srgbClr val="E0E3E8"/>
                    </a:solidFill>
                  </a:tcPr>
                </a:tc>
                <a:tc>
                  <a:txBody>
                    <a:bodyPr/>
                    <a:lstStyle/>
                    <a:p>
                      <a:pPr>
                        <a:defRPr sz="1100">
                          <a:solidFill>
                            <a:srgbClr val="1C2A3A"/>
                          </a:solidFill>
                          <a:latin typeface="Calibri"/>
                        </a:defRPr>
                      </a:pPr>
                      <a:r>
                        <a:t>$0.000003</a:t>
                      </a:r>
                    </a:p>
                  </a:txBody>
                  <a:tcPr>
                    <a:solidFill>
                      <a:srgbClr val="E0E3E8"/>
                    </a:solidFill>
                  </a:tcPr>
                </a:tc>
                <a:tc>
                  <a:txBody>
                    <a:bodyPr/>
                    <a:lstStyle/>
                    <a:p>
                      <a:pPr>
                        <a:defRPr sz="1100">
                          <a:solidFill>
                            <a:srgbClr val="1C2A3A"/>
                          </a:solidFill>
                          <a:latin typeface="Calibri"/>
                        </a:defRPr>
                      </a:pPr>
                      <a:r>
                        <a:t>$0.000003</a:t>
                      </a:r>
                    </a:p>
                  </a:txBody>
                  <a:tcPr>
                    <a:solidFill>
                      <a:srgbClr val="E0E3E8"/>
                    </a:solidFill>
                  </a:tcPr>
                </a:tc>
                <a:tc>
                  <a:txBody>
                    <a:bodyPr/>
                    <a:lstStyle/>
                    <a:p>
                      <a:pPr>
                        <a:defRPr sz="1100">
                          <a:solidFill>
                            <a:srgbClr val="1C2A3A"/>
                          </a:solidFill>
                          <a:latin typeface="Calibri"/>
                        </a:defRPr>
                      </a:pPr>
                      <a:r>
                        <a:t>$0.000015</a:t>
                      </a:r>
                    </a:p>
                  </a:txBody>
                  <a:tcPr>
                    <a:solidFill>
                      <a:srgbClr val="E0E3E8"/>
                    </a:solidFill>
                  </a:tcPr>
                </a:tc>
                <a:tc>
                  <a:txBody>
                    <a:bodyPr/>
                    <a:lstStyle/>
                    <a:p>
                      <a:pPr>
                        <a:defRPr sz="1100">
                          <a:solidFill>
                            <a:srgbClr val="1C2A3A"/>
                          </a:solidFill>
                          <a:latin typeface="Calibri"/>
                        </a:defRPr>
                      </a:pPr>
                      <a:r>
                        <a:t>$0.000018</a:t>
                      </a:r>
                    </a:p>
                  </a:txBody>
                  <a:tcPr>
                    <a:solidFill>
                      <a:srgbClr val="E0E3E8"/>
                    </a:solidFill>
                  </a:tcPr>
                </a:tc>
              </a:tr>
            </a:tbl>
          </a:graphicData>
        </a:graphic>
      </p:graphicFrame>
      <p:graphicFrame>
        <p:nvGraphicFramePr>
          <p:cNvPr id="4" name="Chart 3"/>
          <p:cNvGraphicFramePr>
            <a:graphicFrameLocks noGrp="1"/>
          </p:cNvGraphicFramePr>
          <p:nvPr/>
        </p:nvGraphicFramePr>
        <p:xfrm>
          <a:off x="457200" y="4754880"/>
          <a:ext cx="5303520" cy="1828800"/>
        </p:xfrm>
        <a:graphic>
          <a:graphicData uri="http://schemas.openxmlformats.org/drawingml/2006/chart">
            <c:chart xmlns:c="http://schemas.openxmlformats.org/drawingml/2006/chart" r:id="rId2"/>
          </a:graphicData>
        </a:graphic>
      </p:graphicFrame>
      <p:graphicFrame>
        <p:nvGraphicFramePr>
          <p:cNvPr id="5" name="Chart 4"/>
          <p:cNvGraphicFramePr>
            <a:graphicFrameLocks noGrp="1"/>
          </p:cNvGraphicFramePr>
          <p:nvPr/>
        </p:nvGraphicFramePr>
        <p:xfrm>
          <a:off x="6217920" y="4754880"/>
          <a:ext cx="5303520" cy="1828800"/>
        </p:xfrm>
        <a:graphic>
          <a:graphicData uri="http://schemas.openxmlformats.org/drawingml/2006/chart">
            <c:chart xmlns:c="http://schemas.openxmlformats.org/drawingml/2006/chart" r:id="rId3"/>
          </a:graphicData>
        </a:graphic>
      </p:graphicFrame>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32/55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1: BERT 110M - Sentiment Classification - Quality Metrics</a:t>
            </a:r>
          </a:p>
        </p:txBody>
      </p:sp>
      <p:graphicFrame>
        <p:nvGraphicFramePr>
          <p:cNvPr id="3" name="Table 2"/>
          <p:cNvGraphicFramePr>
            <a:graphicFrameLocks noGrp="1"/>
          </p:cNvGraphicFramePr>
          <p:nvPr/>
        </p:nvGraphicFramePr>
        <p:xfrm>
          <a:off x="457200" y="1371600"/>
          <a:ext cx="11247120" cy="3200400"/>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457200">
                <a:tc>
                  <a:txBody>
                    <a:bodyPr/>
                    <a:lstStyle/>
                    <a:p>
                      <a:pPr algn="ctr">
                        <a:defRPr sz="1200" b="1">
                          <a:solidFill>
                            <a:srgbClr val="FFFFFF"/>
                          </a:solidFill>
                          <a:latin typeface="Calibri"/>
                        </a:defRPr>
                      </a:pPr>
                      <a:r>
                        <a:t>Metric</a:t>
                      </a:r>
                    </a:p>
                  </a:txBody>
                  <a:tcPr>
                    <a:solidFill>
                      <a:srgbClr val="2E86C1"/>
                    </a:solidFill>
                  </a:tcPr>
                </a:tc>
                <a:tc>
                  <a:txBody>
                    <a:bodyPr/>
                    <a:lstStyle/>
                    <a:p>
                      <a:pPr algn="ctr">
                        <a:defRPr sz="1200" b="1">
                          <a:solidFill>
                            <a:srgbClr val="FFFFFF"/>
                          </a:solidFill>
                          <a:latin typeface="Calibri"/>
                        </a:defRPr>
                      </a:pPr>
                      <a:r>
                        <a:t>Base BERT</a:t>
                      </a:r>
                    </a:p>
                  </a:txBody>
                  <a:tcPr>
                    <a:solidFill>
                      <a:srgbClr val="2E86C1"/>
                    </a:solidFill>
                  </a:tcPr>
                </a:tc>
                <a:tc>
                  <a:txBody>
                    <a:bodyPr/>
                    <a:lstStyle/>
                    <a:p>
                      <a:pPr algn="ctr">
                        <a:defRPr sz="1200" b="1">
                          <a:solidFill>
                            <a:srgbClr val="FFFFFF"/>
                          </a:solidFill>
                          <a:latin typeface="Calibri"/>
                        </a:defRPr>
                      </a:pPr>
                      <a:r>
                        <a:t>FinBERT</a:t>
                      </a:r>
                    </a:p>
                  </a:txBody>
                  <a:tcPr>
                    <a:solidFill>
                      <a:srgbClr val="2E86C1"/>
                    </a:solidFill>
                  </a:tcPr>
                </a:tc>
                <a:tc>
                  <a:txBody>
                    <a:bodyPr/>
                    <a:lstStyle/>
                    <a:p>
                      <a:pPr algn="ctr">
                        <a:defRPr sz="1200" b="1">
                          <a:solidFill>
                            <a:srgbClr val="FFFFFF"/>
                          </a:solidFill>
                          <a:latin typeface="Calibri"/>
                        </a:defRPr>
                      </a:pPr>
                      <a:r>
                        <a:t>BERT + RAG</a:t>
                      </a:r>
                    </a:p>
                  </a:txBody>
                  <a:tcPr>
                    <a:solidFill>
                      <a:srgbClr val="2E86C1"/>
                    </a:solidFill>
                  </a:tcPr>
                </a:tc>
                <a:tc>
                  <a:txBody>
                    <a:bodyPr/>
                    <a:lstStyle/>
                    <a:p>
                      <a:pPr algn="ctr">
                        <a:defRPr sz="1200" b="1">
                          <a:solidFill>
                            <a:srgbClr val="FFFFFF"/>
                          </a:solidFill>
                          <a:latin typeface="Calibri"/>
                        </a:defRPr>
                      </a:pPr>
                      <a:r>
                        <a:t>FinBERT + RAG</a:t>
                      </a:r>
                    </a:p>
                  </a:txBody>
                  <a:tcPr>
                    <a:solidFill>
                      <a:srgbClr val="2E86C1"/>
                    </a:solidFill>
                  </a:tcPr>
                </a:tc>
              </a:tr>
              <a:tr h="457200">
                <a:tc>
                  <a:txBody>
                    <a:bodyPr/>
                    <a:lstStyle/>
                    <a:p>
                      <a:pPr>
                        <a:defRPr sz="1100">
                          <a:solidFill>
                            <a:srgbClr val="1C2A3A"/>
                          </a:solidFill>
                          <a:latin typeface="Calibri"/>
                        </a:defRPr>
                      </a:pPr>
                      <a:r>
                        <a:t>F1 Score (macro)</a:t>
                      </a:r>
                    </a:p>
                  </a:txBody>
                  <a:tcPr>
                    <a:solidFill>
                      <a:srgbClr val="E0E3E8"/>
                    </a:solidFill>
                  </a:tcPr>
                </a:tc>
                <a:tc>
                  <a:txBody>
                    <a:bodyPr/>
                    <a:lstStyle/>
                    <a:p>
                      <a:pPr>
                        <a:defRPr sz="1100">
                          <a:solidFill>
                            <a:srgbClr val="1C2A3A"/>
                          </a:solidFill>
                          <a:latin typeface="Calibri"/>
                        </a:defRPr>
                      </a:pPr>
                      <a:r>
                        <a:t>0.347</a:t>
                      </a:r>
                    </a:p>
                  </a:txBody>
                  <a:tcPr>
                    <a:solidFill>
                      <a:srgbClr val="E0E3E8"/>
                    </a:solidFill>
                  </a:tcPr>
                </a:tc>
                <a:tc>
                  <a:txBody>
                    <a:bodyPr/>
                    <a:lstStyle/>
                    <a:p>
                      <a:pPr>
                        <a:defRPr sz="1100">
                          <a:solidFill>
                            <a:srgbClr val="1C2A3A"/>
                          </a:solidFill>
                          <a:latin typeface="Calibri"/>
                        </a:defRPr>
                      </a:pPr>
                      <a:r>
                        <a:t>0.669</a:t>
                      </a:r>
                    </a:p>
                  </a:txBody>
                  <a:tcPr>
                    <a:solidFill>
                      <a:srgbClr val="E0E3E8"/>
                    </a:solidFill>
                  </a:tcPr>
                </a:tc>
                <a:tc>
                  <a:txBody>
                    <a:bodyPr/>
                    <a:lstStyle/>
                    <a:p>
                      <a:pPr>
                        <a:defRPr sz="1100">
                          <a:solidFill>
                            <a:srgbClr val="1C2A3A"/>
                          </a:solidFill>
                          <a:latin typeface="Calibri"/>
                        </a:defRPr>
                      </a:pPr>
                      <a:r>
                        <a:t>0.604</a:t>
                      </a:r>
                    </a:p>
                  </a:txBody>
                  <a:tcPr>
                    <a:solidFill>
                      <a:srgbClr val="E0E3E8"/>
                    </a:solidFill>
                  </a:tcPr>
                </a:tc>
                <a:tc>
                  <a:txBody>
                    <a:bodyPr/>
                    <a:lstStyle/>
                    <a:p>
                      <a:pPr>
                        <a:defRPr sz="1100">
                          <a:solidFill>
                            <a:srgbClr val="1C2A3A"/>
                          </a:solidFill>
                          <a:latin typeface="Calibri"/>
                        </a:defRPr>
                      </a:pPr>
                      <a:r>
                        <a:t>0.669</a:t>
                      </a:r>
                    </a:p>
                  </a:txBody>
                  <a:tcPr>
                    <a:solidFill>
                      <a:srgbClr val="E0E3E8"/>
                    </a:solidFill>
                  </a:tcPr>
                </a:tc>
              </a:tr>
              <a:tr h="457200">
                <a:tc>
                  <a:txBody>
                    <a:bodyPr/>
                    <a:lstStyle/>
                    <a:p>
                      <a:pPr>
                        <a:defRPr sz="1100">
                          <a:solidFill>
                            <a:srgbClr val="1C2A3A"/>
                          </a:solidFill>
                          <a:latin typeface="Calibri"/>
                        </a:defRPr>
                      </a:pPr>
                      <a:r>
                        <a:t>Precision (macro)</a:t>
                      </a:r>
                    </a:p>
                  </a:txBody>
                  <a:tcPr/>
                </a:tc>
                <a:tc>
                  <a:txBody>
                    <a:bodyPr/>
                    <a:lstStyle/>
                    <a:p>
                      <a:pPr>
                        <a:defRPr sz="1100">
                          <a:solidFill>
                            <a:srgbClr val="1C2A3A"/>
                          </a:solidFill>
                          <a:latin typeface="Calibri"/>
                        </a:defRPr>
                      </a:pPr>
                      <a:r>
                        <a:t>0.292</a:t>
                      </a:r>
                    </a:p>
                  </a:txBody>
                  <a:tcPr/>
                </a:tc>
                <a:tc>
                  <a:txBody>
                    <a:bodyPr/>
                    <a:lstStyle/>
                    <a:p>
                      <a:pPr>
                        <a:defRPr sz="1100">
                          <a:solidFill>
                            <a:srgbClr val="1C2A3A"/>
                          </a:solidFill>
                          <a:latin typeface="Calibri"/>
                        </a:defRPr>
                      </a:pPr>
                      <a:r>
                        <a:t>0.801</a:t>
                      </a:r>
                    </a:p>
                  </a:txBody>
                  <a:tcPr/>
                </a:tc>
                <a:tc>
                  <a:txBody>
                    <a:bodyPr/>
                    <a:lstStyle/>
                    <a:p>
                      <a:pPr>
                        <a:defRPr sz="1100">
                          <a:solidFill>
                            <a:srgbClr val="1C2A3A"/>
                          </a:solidFill>
                          <a:latin typeface="Calibri"/>
                        </a:defRPr>
                      </a:pPr>
                      <a:r>
                        <a:t>0.786</a:t>
                      </a:r>
                    </a:p>
                  </a:txBody>
                  <a:tcPr/>
                </a:tc>
                <a:tc>
                  <a:txBody>
                    <a:bodyPr/>
                    <a:lstStyle/>
                    <a:p>
                      <a:pPr>
                        <a:defRPr sz="1100">
                          <a:solidFill>
                            <a:srgbClr val="1C2A3A"/>
                          </a:solidFill>
                          <a:latin typeface="Calibri"/>
                        </a:defRPr>
                      </a:pPr>
                      <a:r>
                        <a:t>0.801</a:t>
                      </a:r>
                    </a:p>
                  </a:txBody>
                  <a:tcPr/>
                </a:tc>
              </a:tr>
              <a:tr h="457200">
                <a:tc>
                  <a:txBody>
                    <a:bodyPr/>
                    <a:lstStyle/>
                    <a:p>
                      <a:pPr>
                        <a:defRPr sz="1100">
                          <a:solidFill>
                            <a:srgbClr val="1C2A3A"/>
                          </a:solidFill>
                          <a:latin typeface="Calibri"/>
                        </a:defRPr>
                      </a:pPr>
                      <a:r>
                        <a:t>Recall (macro)</a:t>
                      </a:r>
                    </a:p>
                  </a:txBody>
                  <a:tcPr>
                    <a:solidFill>
                      <a:srgbClr val="E0E3E8"/>
                    </a:solidFill>
                  </a:tcPr>
                </a:tc>
                <a:tc>
                  <a:txBody>
                    <a:bodyPr/>
                    <a:lstStyle/>
                    <a:p>
                      <a:pPr>
                        <a:defRPr sz="1100">
                          <a:solidFill>
                            <a:srgbClr val="1C2A3A"/>
                          </a:solidFill>
                          <a:latin typeface="Calibri"/>
                        </a:defRPr>
                      </a:pPr>
                      <a:r>
                        <a:t>0.458</a:t>
                      </a:r>
                    </a:p>
                  </a:txBody>
                  <a:tcPr>
                    <a:solidFill>
                      <a:srgbClr val="E0E3E8"/>
                    </a:solidFill>
                  </a:tcPr>
                </a:tc>
                <a:tc>
                  <a:txBody>
                    <a:bodyPr/>
                    <a:lstStyle/>
                    <a:p>
                      <a:pPr>
                        <a:defRPr sz="1100">
                          <a:solidFill>
                            <a:srgbClr val="1C2A3A"/>
                          </a:solidFill>
                          <a:latin typeface="Calibri"/>
                        </a:defRPr>
                      </a:pPr>
                      <a:r>
                        <a:t>0.694</a:t>
                      </a:r>
                    </a:p>
                  </a:txBody>
                  <a:tcPr>
                    <a:solidFill>
                      <a:srgbClr val="E0E3E8"/>
                    </a:solidFill>
                  </a:tcPr>
                </a:tc>
                <a:tc>
                  <a:txBody>
                    <a:bodyPr/>
                    <a:lstStyle/>
                    <a:p>
                      <a:pPr>
                        <a:defRPr sz="1100">
                          <a:solidFill>
                            <a:srgbClr val="1C2A3A"/>
                          </a:solidFill>
                          <a:latin typeface="Calibri"/>
                        </a:defRPr>
                      </a:pPr>
                      <a:r>
                        <a:t>0.708</a:t>
                      </a:r>
                    </a:p>
                  </a:txBody>
                  <a:tcPr>
                    <a:solidFill>
                      <a:srgbClr val="E0E3E8"/>
                    </a:solidFill>
                  </a:tcPr>
                </a:tc>
                <a:tc>
                  <a:txBody>
                    <a:bodyPr/>
                    <a:lstStyle/>
                    <a:p>
                      <a:pPr>
                        <a:defRPr sz="1100">
                          <a:solidFill>
                            <a:srgbClr val="1C2A3A"/>
                          </a:solidFill>
                          <a:latin typeface="Calibri"/>
                        </a:defRPr>
                      </a:pPr>
                      <a:r>
                        <a:t>0.694</a:t>
                      </a:r>
                    </a:p>
                  </a:txBody>
                  <a:tcPr>
                    <a:solidFill>
                      <a:srgbClr val="E0E3E8"/>
                    </a:solidFill>
                  </a:tcPr>
                </a:tc>
              </a:tr>
              <a:tr h="457200">
                <a:tc>
                  <a:txBody>
                    <a:bodyPr/>
                    <a:lstStyle/>
                    <a:p>
                      <a:pPr>
                        <a:defRPr sz="1100">
                          <a:solidFill>
                            <a:srgbClr val="1C2A3A"/>
                          </a:solidFill>
                          <a:latin typeface="Calibri"/>
                        </a:defRPr>
                      </a:pPr>
                      <a:r>
                        <a:t>F1 (negative)</a:t>
                      </a:r>
                    </a:p>
                  </a:txBody>
                  <a:tcPr/>
                </a:tc>
                <a:tc>
                  <a:txBody>
                    <a:bodyPr/>
                    <a:lstStyle/>
                    <a:p>
                      <a:pPr>
                        <a:defRPr sz="1100">
                          <a:solidFill>
                            <a:srgbClr val="1C2A3A"/>
                          </a:solidFill>
                          <a:latin typeface="Calibri"/>
                        </a:defRPr>
                      </a:pPr>
                      <a:r>
                        <a:t>0.375</a:t>
                      </a:r>
                    </a:p>
                  </a:txBody>
                  <a:tcPr/>
                </a:tc>
                <a:tc>
                  <a:txBody>
                    <a:bodyPr/>
                    <a:lstStyle/>
                    <a:p>
                      <a:pPr>
                        <a:defRPr sz="1100">
                          <a:solidFill>
                            <a:srgbClr val="1C2A3A"/>
                          </a:solidFill>
                          <a:latin typeface="Calibri"/>
                        </a:defRPr>
                      </a:pPr>
                      <a:r>
                        <a:t>0.800</a:t>
                      </a:r>
                    </a:p>
                  </a:txBody>
                  <a:tcPr/>
                </a:tc>
                <a:tc>
                  <a:txBody>
                    <a:bodyPr/>
                    <a:lstStyle/>
                    <a:p>
                      <a:pPr>
                        <a:defRPr sz="1100">
                          <a:solidFill>
                            <a:srgbClr val="1C2A3A"/>
                          </a:solidFill>
                          <a:latin typeface="Calibri"/>
                        </a:defRPr>
                      </a:pPr>
                      <a:r>
                        <a:t>0.222</a:t>
                      </a:r>
                    </a:p>
                  </a:txBody>
                  <a:tcPr/>
                </a:tc>
                <a:tc>
                  <a:txBody>
                    <a:bodyPr/>
                    <a:lstStyle/>
                    <a:p>
                      <a:pPr>
                        <a:defRPr sz="1100">
                          <a:solidFill>
                            <a:srgbClr val="1C2A3A"/>
                          </a:solidFill>
                          <a:latin typeface="Calibri"/>
                        </a:defRPr>
                      </a:pPr>
                      <a:r>
                        <a:t>0.800</a:t>
                      </a:r>
                    </a:p>
                  </a:txBody>
                  <a:tcPr/>
                </a:tc>
              </a:tr>
              <a:tr h="457200">
                <a:tc>
                  <a:txBody>
                    <a:bodyPr/>
                    <a:lstStyle/>
                    <a:p>
                      <a:pPr>
                        <a:defRPr sz="1100">
                          <a:solidFill>
                            <a:srgbClr val="1C2A3A"/>
                          </a:solidFill>
                          <a:latin typeface="Calibri"/>
                        </a:defRPr>
                      </a:pPr>
                      <a:r>
                        <a:t>F1 (neutral)</a:t>
                      </a:r>
                    </a:p>
                  </a:txBody>
                  <a:tcPr>
                    <a:solidFill>
                      <a:srgbClr val="E0E3E8"/>
                    </a:solidFill>
                  </a:tcPr>
                </a:tc>
                <a:tc>
                  <a:txBody>
                    <a:bodyPr/>
                    <a:lstStyle/>
                    <a:p>
                      <a:pPr>
                        <a:defRPr sz="1100">
                          <a:solidFill>
                            <a:srgbClr val="1C2A3A"/>
                          </a:solidFill>
                          <a:latin typeface="Calibri"/>
                        </a:defRPr>
                      </a:pPr>
                      <a:r>
                        <a:t>0.000</a:t>
                      </a:r>
                    </a:p>
                  </a:txBody>
                  <a:tcPr>
                    <a:solidFill>
                      <a:srgbClr val="E0E3E8"/>
                    </a:solidFill>
                  </a:tcPr>
                </a:tc>
                <a:tc>
                  <a:txBody>
                    <a:bodyPr/>
                    <a:lstStyle/>
                    <a:p>
                      <a:pPr>
                        <a:defRPr sz="1100">
                          <a:solidFill>
                            <a:srgbClr val="1C2A3A"/>
                          </a:solidFill>
                          <a:latin typeface="Calibri"/>
                        </a:defRPr>
                      </a:pPr>
                      <a:r>
                        <a:t>0.500</a:t>
                      </a:r>
                    </a:p>
                  </a:txBody>
                  <a:tcPr>
                    <a:solidFill>
                      <a:srgbClr val="E0E3E8"/>
                    </a:solidFill>
                  </a:tcPr>
                </a:tc>
                <a:tc>
                  <a:txBody>
                    <a:bodyPr/>
                    <a:lstStyle/>
                    <a:p>
                      <a:pPr>
                        <a:defRPr sz="1100">
                          <a:solidFill>
                            <a:srgbClr val="1C2A3A"/>
                          </a:solidFill>
                          <a:latin typeface="Calibri"/>
                        </a:defRPr>
                      </a:pPr>
                      <a:r>
                        <a:t>0.923</a:t>
                      </a:r>
                    </a:p>
                  </a:txBody>
                  <a:tcPr>
                    <a:solidFill>
                      <a:srgbClr val="E0E3E8"/>
                    </a:solidFill>
                  </a:tcPr>
                </a:tc>
                <a:tc>
                  <a:txBody>
                    <a:bodyPr/>
                    <a:lstStyle/>
                    <a:p>
                      <a:pPr>
                        <a:defRPr sz="1100">
                          <a:solidFill>
                            <a:srgbClr val="1C2A3A"/>
                          </a:solidFill>
                          <a:latin typeface="Calibri"/>
                        </a:defRPr>
                      </a:pPr>
                      <a:r>
                        <a:t>0.500</a:t>
                      </a:r>
                    </a:p>
                  </a:txBody>
                  <a:tcPr>
                    <a:solidFill>
                      <a:srgbClr val="E0E3E8"/>
                    </a:solidFill>
                  </a:tcPr>
                </a:tc>
              </a:tr>
              <a:tr h="457200">
                <a:tc>
                  <a:txBody>
                    <a:bodyPr/>
                    <a:lstStyle/>
                    <a:p>
                      <a:pPr>
                        <a:defRPr sz="1100">
                          <a:solidFill>
                            <a:srgbClr val="1C2A3A"/>
                          </a:solidFill>
                          <a:latin typeface="Calibri"/>
                        </a:defRPr>
                      </a:pPr>
                      <a:r>
                        <a:t>F1 (positive)</a:t>
                      </a:r>
                    </a:p>
                  </a:txBody>
                  <a:tcPr/>
                </a:tc>
                <a:tc>
                  <a:txBody>
                    <a:bodyPr/>
                    <a:lstStyle/>
                    <a:p>
                      <a:pPr>
                        <a:defRPr sz="1100">
                          <a:solidFill>
                            <a:srgbClr val="1C2A3A"/>
                          </a:solidFill>
                          <a:latin typeface="Calibri"/>
                        </a:defRPr>
                      </a:pPr>
                      <a:r>
                        <a:t>0.667</a:t>
                      </a:r>
                    </a:p>
                  </a:txBody>
                  <a:tcPr/>
                </a:tc>
                <a:tc>
                  <a:txBody>
                    <a:bodyPr/>
                    <a:lstStyle/>
                    <a:p>
                      <a:pPr>
                        <a:defRPr sz="1100">
                          <a:solidFill>
                            <a:srgbClr val="1C2A3A"/>
                          </a:solidFill>
                          <a:latin typeface="Calibri"/>
                        </a:defRPr>
                      </a:pPr>
                      <a:r>
                        <a:t>0.706</a:t>
                      </a:r>
                    </a:p>
                  </a:txBody>
                  <a:tcPr/>
                </a:tc>
                <a:tc>
                  <a:txBody>
                    <a:bodyPr/>
                    <a:lstStyle/>
                    <a:p>
                      <a:pPr>
                        <a:defRPr sz="1100">
                          <a:solidFill>
                            <a:srgbClr val="1C2A3A"/>
                          </a:solidFill>
                          <a:latin typeface="Calibri"/>
                        </a:defRPr>
                      </a:pPr>
                      <a:r>
                        <a:t>0.667</a:t>
                      </a:r>
                    </a:p>
                  </a:txBody>
                  <a:tcPr/>
                </a:tc>
                <a:tc>
                  <a:txBody>
                    <a:bodyPr/>
                    <a:lstStyle/>
                    <a:p>
                      <a:pPr>
                        <a:defRPr sz="1100">
                          <a:solidFill>
                            <a:srgbClr val="1C2A3A"/>
                          </a:solidFill>
                          <a:latin typeface="Calibri"/>
                        </a:defRPr>
                      </a:pPr>
                      <a:r>
                        <a:t>0.706</a:t>
                      </a:r>
                    </a:p>
                  </a:txBody>
                  <a:tcPr/>
                </a:tc>
              </a:tr>
            </a:tbl>
          </a:graphicData>
        </a:graphic>
      </p:graphicFrame>
      <p:graphicFrame>
        <p:nvGraphicFramePr>
          <p:cNvPr id="4" name="Chart 3"/>
          <p:cNvGraphicFramePr>
            <a:graphicFrameLocks noGrp="1"/>
          </p:cNvGraphicFramePr>
          <p:nvPr/>
        </p:nvGraphicFramePr>
        <p:xfrm>
          <a:off x="457200" y="4754880"/>
          <a:ext cx="5303520" cy="1828800"/>
        </p:xfrm>
        <a:graphic>
          <a:graphicData uri="http://schemas.openxmlformats.org/drawingml/2006/chart">
            <c:chart xmlns:c="http://schemas.openxmlformats.org/drawingml/2006/chart" r:id="rId2"/>
          </a:graphicData>
        </a:graphic>
      </p:graphicFrame>
      <p:sp>
        <p:nvSpPr>
          <p:cNvPr id="5" name="Rectangle 4"/>
          <p:cNvSpPr/>
          <p:nvPr/>
        </p:nvSpPr>
        <p:spPr>
          <a:xfrm>
            <a:off x="6217920" y="4754880"/>
            <a:ext cx="5303520" cy="18288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Insight</a:t>
            </a:r>
          </a:p>
          <a:p>
            <a:pPr>
              <a:defRPr sz="1200">
                <a:solidFill>
                  <a:srgbClr val="1C2A3A"/>
                </a:solidFill>
                <a:latin typeface="Calibri"/>
              </a:defRPr>
            </a:pPr>
            <a:r>
              <a:t>FinBERT (fine-tuned) achieves F1=0.669, showing balanced performance across all sentiment classes.</a:t>
            </a:r>
          </a:p>
        </p:txBody>
      </p:sp>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33/55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1: BERT 110M - Sentiment Classification - Confidence Scores</a:t>
            </a:r>
          </a:p>
        </p:txBody>
      </p:sp>
      <p:graphicFrame>
        <p:nvGraphicFramePr>
          <p:cNvPr id="3" name="Chart 2"/>
          <p:cNvGraphicFramePr>
            <a:graphicFrameLocks noGrp="1"/>
          </p:cNvGraphicFramePr>
          <p:nvPr/>
        </p:nvGraphicFramePr>
        <p:xfrm>
          <a:off x="1828800" y="1371600"/>
          <a:ext cx="8229600" cy="3657600"/>
        </p:xfrm>
        <a:graphic>
          <a:graphicData uri="http://schemas.openxmlformats.org/drawingml/2006/chart">
            <c:chart xmlns:c="http://schemas.openxmlformats.org/drawingml/2006/chart" r:id="rId2"/>
          </a:graphicData>
        </a:graphic>
      </p:graphicFrame>
      <p:sp>
        <p:nvSpPr>
          <p:cNvPr id="4" name="Rectangle 3"/>
          <p:cNvSpPr/>
          <p:nvPr/>
        </p:nvSpPr>
        <p:spPr>
          <a:xfrm>
            <a:off x="457200" y="5303520"/>
            <a:ext cx="1106424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Insight:</a:t>
            </a:r>
          </a:p>
          <a:p>
            <a:pPr>
              <a:defRPr sz="1200">
                <a:solidFill>
                  <a:srgbClr val="1C2A3A"/>
                </a:solidFill>
                <a:latin typeface="Calibri"/>
              </a:defRPr>
            </a:pPr>
            <a:r>
              <a:t>FinBERT (fine-tuned): 0.845 confidence vs Base: 0.375. Fine-tuning produces more decisive, confident predictions.</a:t>
            </a:r>
          </a:p>
        </p:txBody>
      </p:sp>
      <p:sp>
        <p:nvSpPr>
          <p:cNvPr id="5" name="TextBox 4"/>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34/55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1: BERT 110M - Sentiment Classification - Category Breakdown</a:t>
            </a:r>
          </a:p>
        </p:txBody>
      </p:sp>
      <p:graphicFrame>
        <p:nvGraphicFramePr>
          <p:cNvPr id="3" name="Table 2"/>
          <p:cNvGraphicFramePr>
            <a:graphicFrameLocks noGrp="1"/>
          </p:cNvGraphicFramePr>
          <p:nvPr/>
        </p:nvGraphicFramePr>
        <p:xfrm>
          <a:off x="457200" y="1371600"/>
          <a:ext cx="11247120" cy="228600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6571">
                <a:tc>
                  <a:txBody>
                    <a:bodyPr/>
                    <a:lstStyle/>
                    <a:p>
                      <a:pPr algn="ctr">
                        <a:defRPr sz="1200" b="1">
                          <a:solidFill>
                            <a:srgbClr val="FFFFFF"/>
                          </a:solidFill>
                          <a:latin typeface="Calibri"/>
                        </a:defRPr>
                      </a:pPr>
                      <a:r>
                        <a:t>Category</a:t>
                      </a:r>
                    </a:p>
                  </a:txBody>
                  <a:tcPr>
                    <a:solidFill>
                      <a:srgbClr val="2E86C1"/>
                    </a:solidFill>
                  </a:tcPr>
                </a:tc>
                <a:tc>
                  <a:txBody>
                    <a:bodyPr/>
                    <a:lstStyle/>
                    <a:p>
                      <a:pPr algn="ctr">
                        <a:defRPr sz="1200" b="1">
                          <a:solidFill>
                            <a:srgbClr val="FFFFFF"/>
                          </a:solidFill>
                          <a:latin typeface="Calibri"/>
                        </a:defRPr>
                      </a:pPr>
                      <a:r>
                        <a:t>Cases</a:t>
                      </a:r>
                    </a:p>
                  </a:txBody>
                  <a:tcPr>
                    <a:solidFill>
                      <a:srgbClr val="2E86C1"/>
                    </a:solidFill>
                  </a:tcPr>
                </a:tc>
                <a:tc>
                  <a:txBody>
                    <a:bodyPr/>
                    <a:lstStyle/>
                    <a:p>
                      <a:pPr algn="ctr">
                        <a:defRPr sz="1200" b="1">
                          <a:solidFill>
                            <a:srgbClr val="FFFFFF"/>
                          </a:solidFill>
                          <a:latin typeface="Calibri"/>
                        </a:defRPr>
                      </a:pPr>
                      <a:r>
                        <a:t>Base BERT</a:t>
                      </a:r>
                    </a:p>
                  </a:txBody>
                  <a:tcPr>
                    <a:solidFill>
                      <a:srgbClr val="2E86C1"/>
                    </a:solidFill>
                  </a:tcPr>
                </a:tc>
                <a:tc>
                  <a:txBody>
                    <a:bodyPr/>
                    <a:lstStyle/>
                    <a:p>
                      <a:pPr algn="ctr">
                        <a:defRPr sz="1200" b="1">
                          <a:solidFill>
                            <a:srgbClr val="FFFFFF"/>
                          </a:solidFill>
                          <a:latin typeface="Calibri"/>
                        </a:defRPr>
                      </a:pPr>
                      <a:r>
                        <a:t>FinBERT</a:t>
                      </a:r>
                    </a:p>
                  </a:txBody>
                  <a:tcPr>
                    <a:solidFill>
                      <a:srgbClr val="2E86C1"/>
                    </a:solidFill>
                  </a:tcPr>
                </a:tc>
                <a:tc>
                  <a:txBody>
                    <a:bodyPr/>
                    <a:lstStyle/>
                    <a:p>
                      <a:pPr algn="ctr">
                        <a:defRPr sz="1200" b="1">
                          <a:solidFill>
                            <a:srgbClr val="FFFFFF"/>
                          </a:solidFill>
                          <a:latin typeface="Calibri"/>
                        </a:defRPr>
                      </a:pPr>
                      <a:r>
                        <a:t>BERT + RAG</a:t>
                      </a:r>
                    </a:p>
                  </a:txBody>
                  <a:tcPr>
                    <a:solidFill>
                      <a:srgbClr val="2E86C1"/>
                    </a:solidFill>
                  </a:tcPr>
                </a:tc>
                <a:tc>
                  <a:txBody>
                    <a:bodyPr/>
                    <a:lstStyle/>
                    <a:p>
                      <a:pPr algn="ctr">
                        <a:defRPr sz="1200" b="1">
                          <a:solidFill>
                            <a:srgbClr val="FFFFFF"/>
                          </a:solidFill>
                          <a:latin typeface="Calibri"/>
                        </a:defRPr>
                      </a:pPr>
                      <a:r>
                        <a:t>FinBERT + RAG</a:t>
                      </a:r>
                    </a:p>
                  </a:txBody>
                  <a:tcPr>
                    <a:solidFill>
                      <a:srgbClr val="2E86C1"/>
                    </a:solidFill>
                  </a:tcPr>
                </a:tc>
              </a:tr>
              <a:tr h="326571">
                <a:tc>
                  <a:txBody>
                    <a:bodyPr/>
                    <a:lstStyle/>
                    <a:p>
                      <a:pPr>
                        <a:defRPr sz="1100">
                          <a:solidFill>
                            <a:srgbClr val="1C2A3A"/>
                          </a:solidFill>
                          <a:latin typeface="Calibri"/>
                        </a:defRPr>
                      </a:pPr>
                      <a:r>
                        <a:t>Domain Jargon</a:t>
                      </a:r>
                    </a:p>
                  </a:txBody>
                  <a:tcPr>
                    <a:solidFill>
                      <a:srgbClr val="E0E3E8"/>
                    </a:solidFill>
                  </a:tcPr>
                </a:tc>
                <a:tc>
                  <a:txBody>
                    <a:bodyPr/>
                    <a:lstStyle/>
                    <a:p>
                      <a:pPr>
                        <a:defRPr sz="1100">
                          <a:solidFill>
                            <a:srgbClr val="1C2A3A"/>
                          </a:solidFill>
                          <a:latin typeface="Calibri"/>
                        </a:defRPr>
                      </a:pPr>
                      <a:r>
                        <a:t>3</a:t>
                      </a:r>
                    </a:p>
                  </a:txBody>
                  <a:tcPr>
                    <a:solidFill>
                      <a:srgbClr val="E0E3E8"/>
                    </a:solidFill>
                  </a:tcPr>
                </a:tc>
                <a:tc>
                  <a:txBody>
                    <a:bodyPr/>
                    <a:lstStyle/>
                    <a:p>
                      <a:pPr>
                        <a:defRPr sz="1100">
                          <a:solidFill>
                            <a:srgbClr val="1C2A3A"/>
                          </a:solidFill>
                          <a:latin typeface="Calibri"/>
                        </a:defRPr>
                      </a:pPr>
                      <a:r>
                        <a:t>33.3%</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r>
              <a:tr h="326571">
                <a:tc>
                  <a:txBody>
                    <a:bodyPr/>
                    <a:lstStyle/>
                    <a:p>
                      <a:pPr>
                        <a:defRPr sz="1100">
                          <a:solidFill>
                            <a:srgbClr val="1C2A3A"/>
                          </a:solidFill>
                          <a:latin typeface="Calibri"/>
                        </a:defRPr>
                      </a:pPr>
                      <a:r>
                        <a:t>Domain Specific</a:t>
                      </a:r>
                    </a:p>
                  </a:txBody>
                  <a:tcPr/>
                </a:tc>
                <a:tc>
                  <a:txBody>
                    <a:bodyPr/>
                    <a:lstStyle/>
                    <a:p>
                      <a:pPr>
                        <a:defRPr sz="1100">
                          <a:solidFill>
                            <a:srgbClr val="1C2A3A"/>
                          </a:solidFill>
                          <a:latin typeface="Calibri"/>
                        </a:defRPr>
                      </a:pPr>
                      <a:r>
                        <a:t>5</a:t>
                      </a:r>
                    </a:p>
                  </a:txBody>
                  <a:tcPr/>
                </a:tc>
                <a:tc>
                  <a:txBody>
                    <a:bodyPr/>
                    <a:lstStyle/>
                    <a:p>
                      <a:pPr>
                        <a:defRPr sz="1100">
                          <a:solidFill>
                            <a:srgbClr val="1C2A3A"/>
                          </a:solidFill>
                          <a:latin typeface="Calibri"/>
                        </a:defRPr>
                      </a:pPr>
                      <a:r>
                        <a:t>60.0%</a:t>
                      </a:r>
                    </a:p>
                  </a:txBody>
                  <a:tcPr/>
                </a:tc>
                <a:tc>
                  <a:txBody>
                    <a:bodyPr/>
                    <a:lstStyle/>
                    <a:p>
                      <a:pPr>
                        <a:defRPr sz="1100">
                          <a:solidFill>
                            <a:srgbClr val="1C2A3A"/>
                          </a:solidFill>
                          <a:latin typeface="Calibri"/>
                        </a:defRPr>
                      </a:pPr>
                      <a:r>
                        <a:t>60.0%</a:t>
                      </a:r>
                    </a:p>
                  </a:txBody>
                  <a:tcPr/>
                </a:tc>
                <a:tc>
                  <a:txBody>
                    <a:bodyPr/>
                    <a:lstStyle/>
                    <a:p>
                      <a:pPr>
                        <a:defRPr sz="1100">
                          <a:solidFill>
                            <a:srgbClr val="1C2A3A"/>
                          </a:solidFill>
                          <a:latin typeface="Calibri"/>
                        </a:defRPr>
                      </a:pPr>
                      <a:r>
                        <a:t>40.0%</a:t>
                      </a:r>
                    </a:p>
                  </a:txBody>
                  <a:tcPr/>
                </a:tc>
                <a:tc>
                  <a:txBody>
                    <a:bodyPr/>
                    <a:lstStyle/>
                    <a:p>
                      <a:pPr>
                        <a:defRPr sz="1100">
                          <a:solidFill>
                            <a:srgbClr val="1C2A3A"/>
                          </a:solidFill>
                          <a:latin typeface="Calibri"/>
                        </a:defRPr>
                      </a:pPr>
                      <a:r>
                        <a:t>60.0%</a:t>
                      </a:r>
                    </a:p>
                  </a:txBody>
                  <a:tcPr/>
                </a:tc>
              </a:tr>
              <a:tr h="326571">
                <a:tc>
                  <a:txBody>
                    <a:bodyPr/>
                    <a:lstStyle/>
                    <a:p>
                      <a:pPr>
                        <a:defRPr sz="1100">
                          <a:solidFill>
                            <a:srgbClr val="1C2A3A"/>
                          </a:solidFill>
                          <a:latin typeface="Calibri"/>
                        </a:defRPr>
                      </a:pPr>
                      <a:r>
                        <a:t>Straightforward</a:t>
                      </a:r>
                    </a:p>
                  </a:txBody>
                  <a:tcPr>
                    <a:solidFill>
                      <a:srgbClr val="E0E3E8"/>
                    </a:solidFill>
                  </a:tcPr>
                </a:tc>
                <a:tc>
                  <a:txBody>
                    <a:bodyPr/>
                    <a:lstStyle/>
                    <a:p>
                      <a:pPr>
                        <a:defRPr sz="1100">
                          <a:solidFill>
                            <a:srgbClr val="1C2A3A"/>
                          </a:solidFill>
                          <a:latin typeface="Calibri"/>
                        </a:defRPr>
                      </a:pPr>
                      <a:r>
                        <a:t>5</a:t>
                      </a:r>
                    </a:p>
                  </a:txBody>
                  <a:tcPr>
                    <a:solidFill>
                      <a:srgbClr val="E0E3E8"/>
                    </a:solidFill>
                  </a:tcPr>
                </a:tc>
                <a:tc>
                  <a:txBody>
                    <a:bodyPr/>
                    <a:lstStyle/>
                    <a:p>
                      <a:pPr>
                        <a:defRPr sz="1100">
                          <a:solidFill>
                            <a:srgbClr val="1C2A3A"/>
                          </a:solidFill>
                          <a:latin typeface="Calibri"/>
                        </a:defRPr>
                      </a:pPr>
                      <a:r>
                        <a:t>80.0%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c>
                  <a:txBody>
                    <a:bodyPr/>
                    <a:lstStyle/>
                    <a:p>
                      <a:pPr>
                        <a:defRPr sz="1100">
                          <a:solidFill>
                            <a:srgbClr val="1C2A3A"/>
                          </a:solidFill>
                          <a:latin typeface="Calibri"/>
                        </a:defRPr>
                      </a:pPr>
                      <a:r>
                        <a:t>80.0%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r>
              <a:tr h="326571">
                <a:tc>
                  <a:txBody>
                    <a:bodyPr/>
                    <a:lstStyle/>
                    <a:p>
                      <a:pPr>
                        <a:defRPr sz="1100">
                          <a:solidFill>
                            <a:srgbClr val="1C2A3A"/>
                          </a:solidFill>
                          <a:latin typeface="Calibri"/>
                        </a:defRPr>
                      </a:pPr>
                      <a:r>
                        <a:t>Subtle Neutral</a:t>
                      </a:r>
                    </a:p>
                  </a:txBody>
                  <a:tcPr/>
                </a:tc>
                <a:tc>
                  <a:txBody>
                    <a:bodyPr/>
                    <a:lstStyle/>
                    <a:p>
                      <a:pPr>
                        <a:defRPr sz="1100">
                          <a:solidFill>
                            <a:srgbClr val="1C2A3A"/>
                          </a:solidFill>
                          <a:latin typeface="Calibri"/>
                        </a:defRPr>
                      </a:pPr>
                      <a:r>
                        <a:t>5</a:t>
                      </a:r>
                    </a:p>
                  </a:txBody>
                  <a:tcPr/>
                </a:tc>
                <a:tc>
                  <a:txBody>
                    <a:bodyPr/>
                    <a:lstStyle/>
                    <a:p>
                      <a:pPr>
                        <a:defRPr sz="1100">
                          <a:solidFill>
                            <a:srgbClr val="1C2A3A"/>
                          </a:solidFill>
                          <a:latin typeface="Calibri"/>
                        </a:defRPr>
                      </a:pPr>
                      <a:r>
                        <a:t>0.0%</a:t>
                      </a:r>
                    </a:p>
                  </a:txBody>
                  <a:tcPr/>
                </a:tc>
                <a:tc>
                  <a:txBody>
                    <a:bodyPr/>
                    <a:lstStyle/>
                    <a:p>
                      <a:pPr>
                        <a:defRPr sz="1100">
                          <a:solidFill>
                            <a:srgbClr val="1C2A3A"/>
                          </a:solidFill>
                          <a:latin typeface="Calibri"/>
                        </a:defRPr>
                      </a:pPr>
                      <a:r>
                        <a:t>40.0%</a:t>
                      </a:r>
                    </a:p>
                  </a:txBody>
                  <a:tcPr/>
                </a:tc>
                <a:tc>
                  <a:txBody>
                    <a:bodyPr/>
                    <a:lstStyle/>
                    <a:p>
                      <a:pPr>
                        <a:defRPr sz="1100">
                          <a:solidFill>
                            <a:srgbClr val="1C2A3A"/>
                          </a:solidFill>
                          <a:latin typeface="Calibri"/>
                        </a:defRPr>
                      </a:pPr>
                      <a:r>
                        <a:t>100.0%</a:t>
                      </a:r>
                    </a:p>
                  </a:txBody>
                  <a:tcPr/>
                </a:tc>
                <a:tc>
                  <a:txBody>
                    <a:bodyPr/>
                    <a:lstStyle/>
                    <a:p>
                      <a:pPr>
                        <a:defRPr sz="1100">
                          <a:solidFill>
                            <a:srgbClr val="1C2A3A"/>
                          </a:solidFill>
                          <a:latin typeface="Calibri"/>
                        </a:defRPr>
                      </a:pPr>
                      <a:r>
                        <a:t>40.0%</a:t>
                      </a:r>
                    </a:p>
                  </a:txBody>
                  <a:tcPr/>
                </a:tc>
              </a:tr>
              <a:tr h="326571">
                <a:tc>
                  <a:txBody>
                    <a:bodyPr/>
                    <a:lstStyle/>
                    <a:p>
                      <a:pPr>
                        <a:defRPr sz="1100">
                          <a:solidFill>
                            <a:srgbClr val="1C2A3A"/>
                          </a:solidFill>
                          <a:latin typeface="Calibri"/>
                        </a:defRPr>
                      </a:pPr>
                      <a:r>
                        <a:t>Tricky Mixed</a:t>
                      </a:r>
                    </a:p>
                  </a:txBody>
                  <a:tcPr>
                    <a:solidFill>
                      <a:srgbClr val="E0E3E8"/>
                    </a:solidFill>
                  </a:tcPr>
                </a:tc>
                <a:tc>
                  <a:txBody>
                    <a:bodyPr/>
                    <a:lstStyle/>
                    <a:p>
                      <a:pPr>
                        <a:defRPr sz="1100">
                          <a:solidFill>
                            <a:srgbClr val="1C2A3A"/>
                          </a:solidFill>
                          <a:latin typeface="Calibri"/>
                        </a:defRPr>
                      </a:pPr>
                      <a:r>
                        <a:t>1</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r>
              <a:tr h="326574">
                <a:tc>
                  <a:txBody>
                    <a:bodyPr/>
                    <a:lstStyle/>
                    <a:p>
                      <a:pPr>
                        <a:defRPr sz="1100">
                          <a:solidFill>
                            <a:srgbClr val="1C2A3A"/>
                          </a:solidFill>
                          <a:latin typeface="Calibri"/>
                        </a:defRPr>
                      </a:pPr>
                      <a:r>
                        <a:t>Tricky Positive</a:t>
                      </a:r>
                    </a:p>
                  </a:txBody>
                  <a:tcPr/>
                </a:tc>
                <a:tc>
                  <a:txBody>
                    <a:bodyPr/>
                    <a:lstStyle/>
                    <a:p>
                      <a:pPr>
                        <a:defRPr sz="1100">
                          <a:solidFill>
                            <a:srgbClr val="1C2A3A"/>
                          </a:solidFill>
                          <a:latin typeface="Calibri"/>
                        </a:defRPr>
                      </a:pPr>
                      <a:r>
                        <a:t>1</a:t>
                      </a:r>
                    </a:p>
                  </a:txBody>
                  <a:tcPr/>
                </a:tc>
                <a:tc>
                  <a:txBody>
                    <a:bodyPr/>
                    <a:lstStyle/>
                    <a:p>
                      <a:pPr>
                        <a:defRPr sz="1100">
                          <a:solidFill>
                            <a:srgbClr val="1C2A3A"/>
                          </a:solidFill>
                          <a:latin typeface="Calibri"/>
                        </a:defRPr>
                      </a:pPr>
                      <a:r>
                        <a:t>100.0%</a:t>
                      </a:r>
                    </a:p>
                  </a:txBody>
                  <a:tcPr/>
                </a:tc>
                <a:tc>
                  <a:txBody>
                    <a:bodyPr/>
                    <a:lstStyle/>
                    <a:p>
                      <a:pPr>
                        <a:defRPr sz="1100">
                          <a:solidFill>
                            <a:srgbClr val="1C2A3A"/>
                          </a:solidFill>
                          <a:latin typeface="Calibri"/>
                        </a:defRPr>
                      </a:pPr>
                      <a:r>
                        <a:t>100.0%</a:t>
                      </a:r>
                    </a:p>
                  </a:txBody>
                  <a:tcPr/>
                </a:tc>
                <a:tc>
                  <a:txBody>
                    <a:bodyPr/>
                    <a:lstStyle/>
                    <a:p>
                      <a:pPr>
                        <a:defRPr sz="1100">
                          <a:solidFill>
                            <a:srgbClr val="1C2A3A"/>
                          </a:solidFill>
                          <a:latin typeface="Calibri"/>
                        </a:defRPr>
                      </a:pPr>
                      <a:r>
                        <a:t>100.0%</a:t>
                      </a:r>
                    </a:p>
                  </a:txBody>
                  <a:tcPr/>
                </a:tc>
                <a:tc>
                  <a:txBody>
                    <a:bodyPr/>
                    <a:lstStyle/>
                    <a:p>
                      <a:pPr>
                        <a:defRPr sz="1100">
                          <a:solidFill>
                            <a:srgbClr val="1C2A3A"/>
                          </a:solidFill>
                          <a:latin typeface="Calibri"/>
                        </a:defRPr>
                      </a:pPr>
                      <a:r>
                        <a:t>100.0%</a:t>
                      </a:r>
                    </a:p>
                  </a:txBody>
                  <a:tcPr/>
                </a:tc>
              </a:tr>
            </a:tbl>
          </a:graphicData>
        </a:graphic>
      </p:graphicFrame>
      <p:graphicFrame>
        <p:nvGraphicFramePr>
          <p:cNvPr id="4" name="Chart 3"/>
          <p:cNvGraphicFramePr>
            <a:graphicFrameLocks noGrp="1"/>
          </p:cNvGraphicFramePr>
          <p:nvPr/>
        </p:nvGraphicFramePr>
        <p:xfrm>
          <a:off x="457200" y="3840480"/>
          <a:ext cx="11247120" cy="2560320"/>
        </p:xfrm>
        <a:graphic>
          <a:graphicData uri="http://schemas.openxmlformats.org/drawingml/2006/chart">
            <c:chart xmlns:c="http://schemas.openxmlformats.org/drawingml/2006/chart" r:id="rId2"/>
          </a:graphicData>
        </a:graphic>
      </p:graphicFrame>
      <p:sp>
        <p:nvSpPr>
          <p:cNvPr id="5" name="TextBox 4"/>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35/55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1: BERT 110M - Sentiment Classification - Per-Example Results</a:t>
            </a:r>
          </a:p>
        </p:txBody>
      </p:sp>
      <p:graphicFrame>
        <p:nvGraphicFramePr>
          <p:cNvPr id="3" name="Table 2"/>
          <p:cNvGraphicFramePr>
            <a:graphicFrameLocks noGrp="1"/>
          </p:cNvGraphicFramePr>
          <p:nvPr/>
        </p:nvGraphicFramePr>
        <p:xfrm>
          <a:off x="274320" y="1280160"/>
          <a:ext cx="11612880" cy="4754880"/>
        </p:xfrm>
        <a:graphic>
          <a:graphicData uri="http://schemas.openxmlformats.org/drawingml/2006/table">
            <a:tbl>
              <a:tblPr firstRow="1" bandRow="1">
                <a:tableStyleId>{5C22544A-7EE6-4342-B048-85BDC9FD1C3A}</a:tableStyleId>
              </a:tblPr>
              <a:tblGrid>
                <a:gridCol w="1658982"/>
                <a:gridCol w="1658982"/>
                <a:gridCol w="1658982"/>
                <a:gridCol w="1658982"/>
                <a:gridCol w="1658982"/>
                <a:gridCol w="1658982"/>
                <a:gridCol w="1658988"/>
              </a:tblGrid>
              <a:tr h="365760">
                <a:tc>
                  <a:txBody>
                    <a:bodyPr/>
                    <a:lstStyle/>
                    <a:p>
                      <a:pPr algn="ctr">
                        <a:defRPr sz="1200" b="1">
                          <a:solidFill>
                            <a:srgbClr val="FFFFFF"/>
                          </a:solidFill>
                          <a:latin typeface="Calibri"/>
                        </a:defRPr>
                      </a:pPr>
                      <a:r>
                        <a:t>#</a:t>
                      </a:r>
                    </a:p>
                  </a:txBody>
                  <a:tcPr>
                    <a:solidFill>
                      <a:srgbClr val="2E86C1"/>
                    </a:solidFill>
                  </a:tcPr>
                </a:tc>
                <a:tc>
                  <a:txBody>
                    <a:bodyPr/>
                    <a:lstStyle/>
                    <a:p>
                      <a:pPr algn="ctr">
                        <a:defRPr sz="1200" b="1">
                          <a:solidFill>
                            <a:srgbClr val="FFFFFF"/>
                          </a:solidFill>
                          <a:latin typeface="Calibri"/>
                        </a:defRPr>
                      </a:pPr>
                      <a:r>
                        <a:t>Text</a:t>
                      </a:r>
                    </a:p>
                  </a:txBody>
                  <a:tcPr>
                    <a:solidFill>
                      <a:srgbClr val="2E86C1"/>
                    </a:solidFill>
                  </a:tcPr>
                </a:tc>
                <a:tc>
                  <a:txBody>
                    <a:bodyPr/>
                    <a:lstStyle/>
                    <a:p>
                      <a:pPr algn="ctr">
                        <a:defRPr sz="1200" b="1">
                          <a:solidFill>
                            <a:srgbClr val="FFFFFF"/>
                          </a:solidFill>
                          <a:latin typeface="Calibri"/>
                        </a:defRPr>
                      </a:pPr>
                      <a:r>
                        <a:t>Expected</a:t>
                      </a:r>
                    </a:p>
                  </a:txBody>
                  <a:tcPr>
                    <a:solidFill>
                      <a:srgbClr val="2E86C1"/>
                    </a:solidFill>
                  </a:tcPr>
                </a:tc>
                <a:tc>
                  <a:txBody>
                    <a:bodyPr/>
                    <a:lstStyle/>
                    <a:p>
                      <a:pPr algn="ctr">
                        <a:defRPr sz="1200" b="1">
                          <a:solidFill>
                            <a:srgbClr val="FFFFFF"/>
                          </a:solidFill>
                          <a:latin typeface="Calibri"/>
                        </a:defRPr>
                      </a:pPr>
                      <a:r>
                        <a:t>Base BERT</a:t>
                      </a:r>
                    </a:p>
                  </a:txBody>
                  <a:tcPr>
                    <a:solidFill>
                      <a:srgbClr val="2E86C1"/>
                    </a:solidFill>
                  </a:tcPr>
                </a:tc>
                <a:tc>
                  <a:txBody>
                    <a:bodyPr/>
                    <a:lstStyle/>
                    <a:p>
                      <a:pPr algn="ctr">
                        <a:defRPr sz="1200" b="1">
                          <a:solidFill>
                            <a:srgbClr val="FFFFFF"/>
                          </a:solidFill>
                          <a:latin typeface="Calibri"/>
                        </a:defRPr>
                      </a:pPr>
                      <a:r>
                        <a:t>FinBERT</a:t>
                      </a:r>
                    </a:p>
                  </a:txBody>
                  <a:tcPr>
                    <a:solidFill>
                      <a:srgbClr val="2E86C1"/>
                    </a:solidFill>
                  </a:tcPr>
                </a:tc>
                <a:tc>
                  <a:txBody>
                    <a:bodyPr/>
                    <a:lstStyle/>
                    <a:p>
                      <a:pPr algn="ctr">
                        <a:defRPr sz="1200" b="1">
                          <a:solidFill>
                            <a:srgbClr val="FFFFFF"/>
                          </a:solidFill>
                          <a:latin typeface="Calibri"/>
                        </a:defRPr>
                      </a:pPr>
                      <a:r>
                        <a:t>BERT + RAG</a:t>
                      </a:r>
                    </a:p>
                  </a:txBody>
                  <a:tcPr>
                    <a:solidFill>
                      <a:srgbClr val="2E86C1"/>
                    </a:solidFill>
                  </a:tcPr>
                </a:tc>
                <a:tc>
                  <a:txBody>
                    <a:bodyPr/>
                    <a:lstStyle/>
                    <a:p>
                      <a:pPr algn="ctr">
                        <a:defRPr sz="1200" b="1">
                          <a:solidFill>
                            <a:srgbClr val="FFFFFF"/>
                          </a:solidFill>
                          <a:latin typeface="Calibri"/>
                        </a:defRPr>
                      </a:pPr>
                      <a:r>
                        <a:t>FinBERT + RAG</a:t>
                      </a:r>
                    </a:p>
                  </a:txBody>
                  <a:tcPr>
                    <a:solidFill>
                      <a:srgbClr val="2E86C1"/>
                    </a:solidFill>
                  </a:tcPr>
                </a:tc>
              </a:tr>
              <a:tr h="365760">
                <a:tc>
                  <a:txBody>
                    <a:bodyPr/>
                    <a:lstStyle/>
                    <a:p>
                      <a:pPr>
                        <a:defRPr sz="1100">
                          <a:solidFill>
                            <a:srgbClr val="1C2A3A"/>
                          </a:solidFill>
                          <a:latin typeface="Calibri"/>
                        </a:defRPr>
                      </a:pPr>
                      <a:r>
                        <a:t>1</a:t>
                      </a:r>
                    </a:p>
                  </a:txBody>
                  <a:tcPr>
                    <a:solidFill>
                      <a:srgbClr val="E0E3E8"/>
                    </a:solidFill>
                  </a:tcPr>
                </a:tc>
                <a:tc>
                  <a:txBody>
                    <a:bodyPr/>
                    <a:lstStyle/>
                    <a:p>
                      <a:pPr>
                        <a:defRPr sz="1100">
                          <a:solidFill>
                            <a:srgbClr val="1C2A3A"/>
                          </a:solidFill>
                          <a:latin typeface="Calibri"/>
                        </a:defRPr>
                      </a:pPr>
                      <a:r>
                        <a:t>Net interest income grew 12% driven by higher...</a:t>
                      </a:r>
                    </a:p>
                  </a:txBody>
                  <a:tcPr>
                    <a:solidFill>
                      <a:srgbClr val="E0E3E8"/>
                    </a:solidFill>
                  </a:tcPr>
                </a:tc>
                <a:tc>
                  <a:txBody>
                    <a:bodyPr/>
                    <a:lstStyle/>
                    <a:p>
                      <a:pPr>
                        <a:defRPr sz="1100">
                          <a:solidFill>
                            <a:srgbClr val="1C2A3A"/>
                          </a:solidFill>
                          <a:latin typeface="Calibri"/>
                        </a:defRPr>
                      </a:pPr>
                      <a:r>
                        <a:t>POSITIVE</a:t>
                      </a:r>
                    </a:p>
                  </a:txBody>
                  <a:tcPr>
                    <a:solidFill>
                      <a:srgbClr val="E0E3E8"/>
                    </a:solidFill>
                  </a:tcPr>
                </a:tc>
                <a:tc>
                  <a:txBody>
                    <a:bodyPr/>
                    <a:lstStyle/>
                    <a:p>
                      <a:pPr>
                        <a:defRPr sz="1100">
                          <a:solidFill>
                            <a:srgbClr val="1C2A3A"/>
                          </a:solidFill>
                          <a:latin typeface="Calibri"/>
                        </a:defRPr>
                      </a:pPr>
                      <a:r>
                        <a:t>positive [Y]</a:t>
                      </a:r>
                    </a:p>
                  </a:txBody>
                  <a:tcPr>
                    <a:solidFill>
                      <a:srgbClr val="E0E3E8"/>
                    </a:solidFill>
                  </a:tcPr>
                </a:tc>
                <a:tc>
                  <a:txBody>
                    <a:bodyPr/>
                    <a:lstStyle/>
                    <a:p>
                      <a:pPr>
                        <a:defRPr sz="1100">
                          <a:solidFill>
                            <a:srgbClr val="1C2A3A"/>
                          </a:solidFill>
                          <a:latin typeface="Calibri"/>
                        </a:defRPr>
                      </a:pPr>
                      <a:r>
                        <a:t>positive [Y]</a:t>
                      </a:r>
                    </a:p>
                  </a:txBody>
                  <a:tcPr>
                    <a:solidFill>
                      <a:srgbClr val="E0E3E8"/>
                    </a:solidFill>
                  </a:tcPr>
                </a:tc>
                <a:tc>
                  <a:txBody>
                    <a:bodyPr/>
                    <a:lstStyle/>
                    <a:p>
                      <a:pPr>
                        <a:defRPr sz="1100">
                          <a:solidFill>
                            <a:srgbClr val="1C2A3A"/>
                          </a:solidFill>
                          <a:latin typeface="Calibri"/>
                        </a:defRPr>
                      </a:pPr>
                      <a:r>
                        <a:t>positive [Y]</a:t>
                      </a:r>
                    </a:p>
                  </a:txBody>
                  <a:tcPr>
                    <a:solidFill>
                      <a:srgbClr val="E0E3E8"/>
                    </a:solidFill>
                  </a:tcPr>
                </a:tc>
                <a:tc>
                  <a:txBody>
                    <a:bodyPr/>
                    <a:lstStyle/>
                    <a:p>
                      <a:pPr>
                        <a:defRPr sz="1100">
                          <a:solidFill>
                            <a:srgbClr val="1C2A3A"/>
                          </a:solidFill>
                          <a:latin typeface="Calibri"/>
                        </a:defRPr>
                      </a:pPr>
                      <a:r>
                        <a:t>positive [Y]</a:t>
                      </a:r>
                    </a:p>
                  </a:txBody>
                  <a:tcPr>
                    <a:solidFill>
                      <a:srgbClr val="E0E3E8"/>
                    </a:solidFill>
                  </a:tcPr>
                </a:tc>
              </a:tr>
              <a:tr h="365760">
                <a:tc>
                  <a:txBody>
                    <a:bodyPr/>
                    <a:lstStyle/>
                    <a:p>
                      <a:pPr>
                        <a:defRPr sz="1100">
                          <a:solidFill>
                            <a:srgbClr val="1C2A3A"/>
                          </a:solidFill>
                          <a:latin typeface="Calibri"/>
                        </a:defRPr>
                      </a:pPr>
                      <a:r>
                        <a:t>2</a:t>
                      </a:r>
                    </a:p>
                  </a:txBody>
                  <a:tcPr/>
                </a:tc>
                <a:tc>
                  <a:txBody>
                    <a:bodyPr/>
                    <a:lstStyle/>
                    <a:p>
                      <a:pPr>
                        <a:defRPr sz="1100">
                          <a:solidFill>
                            <a:srgbClr val="1C2A3A"/>
                          </a:solidFill>
                          <a:latin typeface="Calibri"/>
                        </a:defRPr>
                      </a:pPr>
                      <a:r>
                        <a:t>Management expects headwinds from deposit com...</a:t>
                      </a:r>
                    </a:p>
                  </a:txBody>
                  <a:tcPr/>
                </a:tc>
                <a:tc>
                  <a:txBody>
                    <a:bodyPr/>
                    <a:lstStyle/>
                    <a:p>
                      <a:pPr>
                        <a:defRPr sz="1100">
                          <a:solidFill>
                            <a:srgbClr val="1C2A3A"/>
                          </a:solidFill>
                          <a:latin typeface="Calibri"/>
                        </a:defRPr>
                      </a:pPr>
                      <a:r>
                        <a:t>NEGATIVE</a:t>
                      </a:r>
                    </a:p>
                  </a:txBody>
                  <a:tcPr/>
                </a:tc>
                <a:tc>
                  <a:txBody>
                    <a:bodyPr/>
                    <a:lstStyle/>
                    <a:p>
                      <a:pPr>
                        <a:defRPr sz="1100">
                          <a:solidFill>
                            <a:srgbClr val="1C2A3A"/>
                          </a:solidFill>
                          <a:latin typeface="Calibri"/>
                        </a:defRPr>
                      </a:pPr>
                      <a:r>
                        <a:t>negative [Y]</a:t>
                      </a:r>
                    </a:p>
                  </a:txBody>
                  <a:tcPr/>
                </a:tc>
                <a:tc>
                  <a:txBody>
                    <a:bodyPr/>
                    <a:lstStyle/>
                    <a:p>
                      <a:pPr>
                        <a:defRPr sz="1100">
                          <a:solidFill>
                            <a:srgbClr val="1C2A3A"/>
                          </a:solidFill>
                          <a:latin typeface="Calibri"/>
                        </a:defRPr>
                      </a:pPr>
                      <a:r>
                        <a:t>negative [Y]</a:t>
                      </a:r>
                    </a:p>
                  </a:txBody>
                  <a:tcPr/>
                </a:tc>
                <a:tc>
                  <a:txBody>
                    <a:bodyPr/>
                    <a:lstStyle/>
                    <a:p>
                      <a:pPr>
                        <a:defRPr sz="1100">
                          <a:solidFill>
                            <a:srgbClr val="1C2A3A"/>
                          </a:solidFill>
                          <a:latin typeface="Calibri"/>
                        </a:defRPr>
                      </a:pPr>
                      <a:r>
                        <a:t>positive [N]</a:t>
                      </a:r>
                    </a:p>
                  </a:txBody>
                  <a:tcPr/>
                </a:tc>
                <a:tc>
                  <a:txBody>
                    <a:bodyPr/>
                    <a:lstStyle/>
                    <a:p>
                      <a:pPr>
                        <a:defRPr sz="1100">
                          <a:solidFill>
                            <a:srgbClr val="1C2A3A"/>
                          </a:solidFill>
                          <a:latin typeface="Calibri"/>
                        </a:defRPr>
                      </a:pPr>
                      <a:r>
                        <a:t>negative [Y]</a:t>
                      </a:r>
                    </a:p>
                  </a:txBody>
                  <a:tcPr/>
                </a:tc>
              </a:tr>
              <a:tr h="365760">
                <a:tc>
                  <a:txBody>
                    <a:bodyPr/>
                    <a:lstStyle/>
                    <a:p>
                      <a:pPr>
                        <a:defRPr sz="1100">
                          <a:solidFill>
                            <a:srgbClr val="1C2A3A"/>
                          </a:solidFill>
                          <a:latin typeface="Calibri"/>
                        </a:defRPr>
                      </a:pPr>
                      <a:r>
                        <a:t>3</a:t>
                      </a:r>
                    </a:p>
                  </a:txBody>
                  <a:tcPr>
                    <a:solidFill>
                      <a:srgbClr val="E0E3E8"/>
                    </a:solidFill>
                  </a:tcPr>
                </a:tc>
                <a:tc>
                  <a:txBody>
                    <a:bodyPr/>
                    <a:lstStyle/>
                    <a:p>
                      <a:pPr>
                        <a:defRPr sz="1100">
                          <a:solidFill>
                            <a:srgbClr val="1C2A3A"/>
                          </a:solidFill>
                          <a:latin typeface="Calibri"/>
                        </a:defRPr>
                      </a:pPr>
                      <a:r>
                        <a:t>The company maintained its quarterly dividend...</a:t>
                      </a:r>
                    </a:p>
                  </a:txBody>
                  <a:tcPr>
                    <a:solidFill>
                      <a:srgbClr val="E0E3E8"/>
                    </a:solidFill>
                  </a:tcPr>
                </a:tc>
                <a:tc>
                  <a:txBody>
                    <a:bodyPr/>
                    <a:lstStyle/>
                    <a:p>
                      <a:pPr>
                        <a:defRPr sz="1100">
                          <a:solidFill>
                            <a:srgbClr val="1C2A3A"/>
                          </a:solidFill>
                          <a:latin typeface="Calibri"/>
                        </a:defRPr>
                      </a:pPr>
                      <a:r>
                        <a:t>NEUTRAL</a:t>
                      </a:r>
                    </a:p>
                  </a:txBody>
                  <a:tcPr>
                    <a:solidFill>
                      <a:srgbClr val="E0E3E8"/>
                    </a:solidFill>
                  </a:tcPr>
                </a:tc>
                <a:tc>
                  <a:txBody>
                    <a:bodyPr/>
                    <a:lstStyle/>
                    <a:p>
                      <a:pPr>
                        <a:defRPr sz="1100">
                          <a:solidFill>
                            <a:srgbClr val="1C2A3A"/>
                          </a:solidFill>
                          <a:latin typeface="Calibri"/>
                        </a:defRPr>
                      </a:pPr>
                      <a:r>
                        <a:t>negative [N]</a:t>
                      </a:r>
                    </a:p>
                  </a:txBody>
                  <a:tcPr>
                    <a:solidFill>
                      <a:srgbClr val="E0E3E8"/>
                    </a:solidFill>
                  </a:tcPr>
                </a:tc>
                <a:tc>
                  <a:txBody>
                    <a:bodyPr/>
                    <a:lstStyle/>
                    <a:p>
                      <a:pPr>
                        <a:defRPr sz="1100">
                          <a:solidFill>
                            <a:srgbClr val="1C2A3A"/>
                          </a:solidFill>
                          <a:latin typeface="Calibri"/>
                        </a:defRPr>
                      </a:pPr>
                      <a:r>
                        <a:t>neutral [Y]</a:t>
                      </a:r>
                    </a:p>
                  </a:txBody>
                  <a:tcPr>
                    <a:solidFill>
                      <a:srgbClr val="E0E3E8"/>
                    </a:solidFill>
                  </a:tcPr>
                </a:tc>
                <a:tc>
                  <a:txBody>
                    <a:bodyPr/>
                    <a:lstStyle/>
                    <a:p>
                      <a:pPr>
                        <a:defRPr sz="1100">
                          <a:solidFill>
                            <a:srgbClr val="1C2A3A"/>
                          </a:solidFill>
                          <a:latin typeface="Calibri"/>
                        </a:defRPr>
                      </a:pPr>
                      <a:r>
                        <a:t>neutral [Y]</a:t>
                      </a:r>
                    </a:p>
                  </a:txBody>
                  <a:tcPr>
                    <a:solidFill>
                      <a:srgbClr val="E0E3E8"/>
                    </a:solidFill>
                  </a:tcPr>
                </a:tc>
                <a:tc>
                  <a:txBody>
                    <a:bodyPr/>
                    <a:lstStyle/>
                    <a:p>
                      <a:pPr>
                        <a:defRPr sz="1100">
                          <a:solidFill>
                            <a:srgbClr val="1C2A3A"/>
                          </a:solidFill>
                          <a:latin typeface="Calibri"/>
                        </a:defRPr>
                      </a:pPr>
                      <a:r>
                        <a:t>neutral [Y]</a:t>
                      </a:r>
                    </a:p>
                  </a:txBody>
                  <a:tcPr>
                    <a:solidFill>
                      <a:srgbClr val="E0E3E8"/>
                    </a:solidFill>
                  </a:tcPr>
                </a:tc>
              </a:tr>
              <a:tr h="365760">
                <a:tc>
                  <a:txBody>
                    <a:bodyPr/>
                    <a:lstStyle/>
                    <a:p>
                      <a:pPr>
                        <a:defRPr sz="1100">
                          <a:solidFill>
                            <a:srgbClr val="1C2A3A"/>
                          </a:solidFill>
                          <a:latin typeface="Calibri"/>
                        </a:defRPr>
                      </a:pPr>
                      <a:r>
                        <a:t>4</a:t>
                      </a:r>
                    </a:p>
                  </a:txBody>
                  <a:tcPr/>
                </a:tc>
                <a:tc>
                  <a:txBody>
                    <a:bodyPr/>
                    <a:lstStyle/>
                    <a:p>
                      <a:pPr>
                        <a:defRPr sz="1100">
                          <a:solidFill>
                            <a:srgbClr val="1C2A3A"/>
                          </a:solidFill>
                          <a:latin typeface="Calibri"/>
                        </a:defRPr>
                      </a:pPr>
                      <a:r>
                        <a:t>Credit costs increased significantly due to c...</a:t>
                      </a:r>
                    </a:p>
                  </a:txBody>
                  <a:tcPr/>
                </a:tc>
                <a:tc>
                  <a:txBody>
                    <a:bodyPr/>
                    <a:lstStyle/>
                    <a:p>
                      <a:pPr>
                        <a:defRPr sz="1100">
                          <a:solidFill>
                            <a:srgbClr val="1C2A3A"/>
                          </a:solidFill>
                          <a:latin typeface="Calibri"/>
                        </a:defRPr>
                      </a:pPr>
                      <a:r>
                        <a:t>NEGATIVE</a:t>
                      </a:r>
                    </a:p>
                  </a:txBody>
                  <a:tcPr/>
                </a:tc>
                <a:tc>
                  <a:txBody>
                    <a:bodyPr/>
                    <a:lstStyle/>
                    <a:p>
                      <a:pPr>
                        <a:defRPr sz="1100">
                          <a:solidFill>
                            <a:srgbClr val="1C2A3A"/>
                          </a:solidFill>
                          <a:latin typeface="Calibri"/>
                        </a:defRPr>
                      </a:pPr>
                      <a:r>
                        <a:t>positive [N]</a:t>
                      </a:r>
                    </a:p>
                  </a:txBody>
                  <a:tcPr/>
                </a:tc>
                <a:tc>
                  <a:txBody>
                    <a:bodyPr/>
                    <a:lstStyle/>
                    <a:p>
                      <a:pPr>
                        <a:defRPr sz="1100">
                          <a:solidFill>
                            <a:srgbClr val="1C2A3A"/>
                          </a:solidFill>
                          <a:latin typeface="Calibri"/>
                        </a:defRPr>
                      </a:pPr>
                      <a:r>
                        <a:t>positive [N]</a:t>
                      </a:r>
                    </a:p>
                  </a:txBody>
                  <a:tcPr/>
                </a:tc>
                <a:tc>
                  <a:txBody>
                    <a:bodyPr/>
                    <a:lstStyle/>
                    <a:p>
                      <a:pPr>
                        <a:defRPr sz="1100">
                          <a:solidFill>
                            <a:srgbClr val="1C2A3A"/>
                          </a:solidFill>
                          <a:latin typeface="Calibri"/>
                        </a:defRPr>
                      </a:pPr>
                      <a:r>
                        <a:t>positive [N]</a:t>
                      </a:r>
                    </a:p>
                  </a:txBody>
                  <a:tcPr/>
                </a:tc>
                <a:tc>
                  <a:txBody>
                    <a:bodyPr/>
                    <a:lstStyle/>
                    <a:p>
                      <a:pPr>
                        <a:defRPr sz="1100">
                          <a:solidFill>
                            <a:srgbClr val="1C2A3A"/>
                          </a:solidFill>
                          <a:latin typeface="Calibri"/>
                        </a:defRPr>
                      </a:pPr>
                      <a:r>
                        <a:t>positive [N]</a:t>
                      </a:r>
                    </a:p>
                  </a:txBody>
                  <a:tcPr/>
                </a:tc>
              </a:tr>
              <a:tr h="365760">
                <a:tc>
                  <a:txBody>
                    <a:bodyPr/>
                    <a:lstStyle/>
                    <a:p>
                      <a:pPr>
                        <a:defRPr sz="1100">
                          <a:solidFill>
                            <a:srgbClr val="1C2A3A"/>
                          </a:solidFill>
                          <a:latin typeface="Calibri"/>
                        </a:defRPr>
                      </a:pPr>
                      <a:r>
                        <a:t>5</a:t>
                      </a:r>
                    </a:p>
                  </a:txBody>
                  <a:tcPr>
                    <a:solidFill>
                      <a:srgbClr val="E0E3E8"/>
                    </a:solidFill>
                  </a:tcPr>
                </a:tc>
                <a:tc>
                  <a:txBody>
                    <a:bodyPr/>
                    <a:lstStyle/>
                    <a:p>
                      <a:pPr>
                        <a:defRPr sz="1100">
                          <a:solidFill>
                            <a:srgbClr val="1C2A3A"/>
                          </a:solidFill>
                          <a:latin typeface="Calibri"/>
                        </a:defRPr>
                      </a:pPr>
                      <a:r>
                        <a:t>Strong demand in core markets contributed to ...</a:t>
                      </a:r>
                    </a:p>
                  </a:txBody>
                  <a:tcPr>
                    <a:solidFill>
                      <a:srgbClr val="E0E3E8"/>
                    </a:solidFill>
                  </a:tcPr>
                </a:tc>
                <a:tc>
                  <a:txBody>
                    <a:bodyPr/>
                    <a:lstStyle/>
                    <a:p>
                      <a:pPr>
                        <a:defRPr sz="1100">
                          <a:solidFill>
                            <a:srgbClr val="1C2A3A"/>
                          </a:solidFill>
                          <a:latin typeface="Calibri"/>
                        </a:defRPr>
                      </a:pPr>
                      <a:r>
                        <a:t>POSITIVE</a:t>
                      </a:r>
                    </a:p>
                  </a:txBody>
                  <a:tcPr>
                    <a:solidFill>
                      <a:srgbClr val="E0E3E8"/>
                    </a:solidFill>
                  </a:tcPr>
                </a:tc>
                <a:tc>
                  <a:txBody>
                    <a:bodyPr/>
                    <a:lstStyle/>
                    <a:p>
                      <a:pPr>
                        <a:defRPr sz="1100">
                          <a:solidFill>
                            <a:srgbClr val="1C2A3A"/>
                          </a:solidFill>
                          <a:latin typeface="Calibri"/>
                        </a:defRPr>
                      </a:pPr>
                      <a:r>
                        <a:t>positive [Y]</a:t>
                      </a:r>
                    </a:p>
                  </a:txBody>
                  <a:tcPr>
                    <a:solidFill>
                      <a:srgbClr val="E0E3E8"/>
                    </a:solidFill>
                  </a:tcPr>
                </a:tc>
                <a:tc>
                  <a:txBody>
                    <a:bodyPr/>
                    <a:lstStyle/>
                    <a:p>
                      <a:pPr>
                        <a:defRPr sz="1100">
                          <a:solidFill>
                            <a:srgbClr val="1C2A3A"/>
                          </a:solidFill>
                          <a:latin typeface="Calibri"/>
                        </a:defRPr>
                      </a:pPr>
                      <a:r>
                        <a:t>positive [Y]</a:t>
                      </a:r>
                    </a:p>
                  </a:txBody>
                  <a:tcPr>
                    <a:solidFill>
                      <a:srgbClr val="E0E3E8"/>
                    </a:solidFill>
                  </a:tcPr>
                </a:tc>
                <a:tc>
                  <a:txBody>
                    <a:bodyPr/>
                    <a:lstStyle/>
                    <a:p>
                      <a:pPr>
                        <a:defRPr sz="1100">
                          <a:solidFill>
                            <a:srgbClr val="1C2A3A"/>
                          </a:solidFill>
                          <a:latin typeface="Calibri"/>
                        </a:defRPr>
                      </a:pPr>
                      <a:r>
                        <a:t>positive [Y]</a:t>
                      </a:r>
                    </a:p>
                  </a:txBody>
                  <a:tcPr>
                    <a:solidFill>
                      <a:srgbClr val="E0E3E8"/>
                    </a:solidFill>
                  </a:tcPr>
                </a:tc>
                <a:tc>
                  <a:txBody>
                    <a:bodyPr/>
                    <a:lstStyle/>
                    <a:p>
                      <a:pPr>
                        <a:defRPr sz="1100">
                          <a:solidFill>
                            <a:srgbClr val="1C2A3A"/>
                          </a:solidFill>
                          <a:latin typeface="Calibri"/>
                        </a:defRPr>
                      </a:pPr>
                      <a:r>
                        <a:t>positive [Y]</a:t>
                      </a:r>
                    </a:p>
                  </a:txBody>
                  <a:tcPr>
                    <a:solidFill>
                      <a:srgbClr val="E0E3E8"/>
                    </a:solidFill>
                  </a:tcPr>
                </a:tc>
              </a:tr>
              <a:tr h="365760">
                <a:tc>
                  <a:txBody>
                    <a:bodyPr/>
                    <a:lstStyle/>
                    <a:p>
                      <a:pPr>
                        <a:defRPr sz="1100">
                          <a:solidFill>
                            <a:srgbClr val="1C2A3A"/>
                          </a:solidFill>
                          <a:latin typeface="Calibri"/>
                        </a:defRPr>
                      </a:pPr>
                      <a:r>
                        <a:t>6</a:t>
                      </a:r>
                    </a:p>
                  </a:txBody>
                  <a:tcPr/>
                </a:tc>
                <a:tc>
                  <a:txBody>
                    <a:bodyPr/>
                    <a:lstStyle/>
                    <a:p>
                      <a:pPr>
                        <a:defRPr sz="1100">
                          <a:solidFill>
                            <a:srgbClr val="1C2A3A"/>
                          </a:solidFill>
                          <a:latin typeface="Calibri"/>
                        </a:defRPr>
                      </a:pPr>
                      <a:r>
                        <a:t>Total assets remained relatively unchanged fr...</a:t>
                      </a:r>
                    </a:p>
                  </a:txBody>
                  <a:tcPr/>
                </a:tc>
                <a:tc>
                  <a:txBody>
                    <a:bodyPr/>
                    <a:lstStyle/>
                    <a:p>
                      <a:pPr>
                        <a:defRPr sz="1100">
                          <a:solidFill>
                            <a:srgbClr val="1C2A3A"/>
                          </a:solidFill>
                          <a:latin typeface="Calibri"/>
                        </a:defRPr>
                      </a:pPr>
                      <a:r>
                        <a:t>NEUTRAL</a:t>
                      </a:r>
                    </a:p>
                  </a:txBody>
                  <a:tcPr/>
                </a:tc>
                <a:tc>
                  <a:txBody>
                    <a:bodyPr/>
                    <a:lstStyle/>
                    <a:p>
                      <a:pPr>
                        <a:defRPr sz="1100">
                          <a:solidFill>
                            <a:srgbClr val="1C2A3A"/>
                          </a:solidFill>
                          <a:latin typeface="Calibri"/>
                        </a:defRPr>
                      </a:pPr>
                      <a:r>
                        <a:t>positive [N]</a:t>
                      </a:r>
                    </a:p>
                  </a:txBody>
                  <a:tcPr/>
                </a:tc>
                <a:tc>
                  <a:txBody>
                    <a:bodyPr/>
                    <a:lstStyle/>
                    <a:p>
                      <a:pPr>
                        <a:defRPr sz="1100">
                          <a:solidFill>
                            <a:srgbClr val="1C2A3A"/>
                          </a:solidFill>
                          <a:latin typeface="Calibri"/>
                        </a:defRPr>
                      </a:pPr>
                      <a:r>
                        <a:t>positive [N]</a:t>
                      </a:r>
                    </a:p>
                  </a:txBody>
                  <a:tcPr/>
                </a:tc>
                <a:tc>
                  <a:txBody>
                    <a:bodyPr/>
                    <a:lstStyle/>
                    <a:p>
                      <a:pPr>
                        <a:defRPr sz="1100">
                          <a:solidFill>
                            <a:srgbClr val="1C2A3A"/>
                          </a:solidFill>
                          <a:latin typeface="Calibri"/>
                        </a:defRPr>
                      </a:pPr>
                      <a:r>
                        <a:t>neutral [Y]</a:t>
                      </a:r>
                    </a:p>
                  </a:txBody>
                  <a:tcPr/>
                </a:tc>
                <a:tc>
                  <a:txBody>
                    <a:bodyPr/>
                    <a:lstStyle/>
                    <a:p>
                      <a:pPr>
                        <a:defRPr sz="1100">
                          <a:solidFill>
                            <a:srgbClr val="1C2A3A"/>
                          </a:solidFill>
                          <a:latin typeface="Calibri"/>
                        </a:defRPr>
                      </a:pPr>
                      <a:r>
                        <a:t>positive [N]</a:t>
                      </a:r>
                    </a:p>
                  </a:txBody>
                  <a:tcPr/>
                </a:tc>
              </a:tr>
              <a:tr h="365760">
                <a:tc>
                  <a:txBody>
                    <a:bodyPr/>
                    <a:lstStyle/>
                    <a:p>
                      <a:pPr>
                        <a:defRPr sz="1100">
                          <a:solidFill>
                            <a:srgbClr val="1C2A3A"/>
                          </a:solidFill>
                          <a:latin typeface="Calibri"/>
                        </a:defRPr>
                      </a:pPr>
                      <a:r>
                        <a:t>7</a:t>
                      </a:r>
                    </a:p>
                  </a:txBody>
                  <a:tcPr>
                    <a:solidFill>
                      <a:srgbClr val="E0E3E8"/>
                    </a:solidFill>
                  </a:tcPr>
                </a:tc>
                <a:tc>
                  <a:txBody>
                    <a:bodyPr/>
                    <a:lstStyle/>
                    <a:p>
                      <a:pPr>
                        <a:defRPr sz="1100">
                          <a:solidFill>
                            <a:srgbClr val="1C2A3A"/>
                          </a:solidFill>
                          <a:latin typeface="Calibri"/>
                        </a:defRPr>
                      </a:pPr>
                      <a:r>
                        <a:t>The restructuring program resulted in $450M o...</a:t>
                      </a:r>
                    </a:p>
                  </a:txBody>
                  <a:tcPr>
                    <a:solidFill>
                      <a:srgbClr val="E0E3E8"/>
                    </a:solidFill>
                  </a:tcPr>
                </a:tc>
                <a:tc>
                  <a:txBody>
                    <a:bodyPr/>
                    <a:lstStyle/>
                    <a:p>
                      <a:pPr>
                        <a:defRPr sz="1100">
                          <a:solidFill>
                            <a:srgbClr val="1C2A3A"/>
                          </a:solidFill>
                          <a:latin typeface="Calibri"/>
                        </a:defRPr>
                      </a:pPr>
                      <a:r>
                        <a:t>NEGATIVE</a:t>
                      </a:r>
                    </a:p>
                  </a:txBody>
                  <a:tcPr>
                    <a:solidFill>
                      <a:srgbClr val="E0E3E8"/>
                    </a:solidFill>
                  </a:tcPr>
                </a:tc>
                <a:tc>
                  <a:txBody>
                    <a:bodyPr/>
                    <a:lstStyle/>
                    <a:p>
                      <a:pPr>
                        <a:defRPr sz="1100">
                          <a:solidFill>
                            <a:srgbClr val="1C2A3A"/>
                          </a:solidFill>
                          <a:latin typeface="Calibri"/>
                        </a:defRPr>
                      </a:pPr>
                      <a:r>
                        <a:t>negative [Y]</a:t>
                      </a:r>
                    </a:p>
                  </a:txBody>
                  <a:tcPr>
                    <a:solidFill>
                      <a:srgbClr val="E0E3E8"/>
                    </a:solidFill>
                  </a:tcPr>
                </a:tc>
                <a:tc>
                  <a:txBody>
                    <a:bodyPr/>
                    <a:lstStyle/>
                    <a:p>
                      <a:pPr>
                        <a:defRPr sz="1100">
                          <a:solidFill>
                            <a:srgbClr val="1C2A3A"/>
                          </a:solidFill>
                          <a:latin typeface="Calibri"/>
                        </a:defRPr>
                      </a:pPr>
                      <a:r>
                        <a:t>negative [Y]</a:t>
                      </a:r>
                    </a:p>
                  </a:txBody>
                  <a:tcPr>
                    <a:solidFill>
                      <a:srgbClr val="E0E3E8"/>
                    </a:solidFill>
                  </a:tcPr>
                </a:tc>
                <a:tc>
                  <a:txBody>
                    <a:bodyPr/>
                    <a:lstStyle/>
                    <a:p>
                      <a:pPr>
                        <a:defRPr sz="1100">
                          <a:solidFill>
                            <a:srgbClr val="1C2A3A"/>
                          </a:solidFill>
                          <a:latin typeface="Calibri"/>
                        </a:defRPr>
                      </a:pPr>
                      <a:r>
                        <a:t>neutral [N]</a:t>
                      </a:r>
                    </a:p>
                  </a:txBody>
                  <a:tcPr>
                    <a:solidFill>
                      <a:srgbClr val="E0E3E8"/>
                    </a:solidFill>
                  </a:tcPr>
                </a:tc>
                <a:tc>
                  <a:txBody>
                    <a:bodyPr/>
                    <a:lstStyle/>
                    <a:p>
                      <a:pPr>
                        <a:defRPr sz="1100">
                          <a:solidFill>
                            <a:srgbClr val="1C2A3A"/>
                          </a:solidFill>
                          <a:latin typeface="Calibri"/>
                        </a:defRPr>
                      </a:pPr>
                      <a:r>
                        <a:t>negative [Y]</a:t>
                      </a:r>
                    </a:p>
                  </a:txBody>
                  <a:tcPr>
                    <a:solidFill>
                      <a:srgbClr val="E0E3E8"/>
                    </a:solidFill>
                  </a:tcPr>
                </a:tc>
              </a:tr>
              <a:tr h="365760">
                <a:tc>
                  <a:txBody>
                    <a:bodyPr/>
                    <a:lstStyle/>
                    <a:p>
                      <a:pPr>
                        <a:defRPr sz="1100">
                          <a:solidFill>
                            <a:srgbClr val="1C2A3A"/>
                          </a:solidFill>
                          <a:latin typeface="Calibri"/>
                        </a:defRPr>
                      </a:pPr>
                      <a:r>
                        <a:t>8</a:t>
                      </a:r>
                    </a:p>
                  </a:txBody>
                  <a:tcPr/>
                </a:tc>
                <a:tc>
                  <a:txBody>
                    <a:bodyPr/>
                    <a:lstStyle/>
                    <a:p>
                      <a:pPr>
                        <a:defRPr sz="1100">
                          <a:solidFill>
                            <a:srgbClr val="1C2A3A"/>
                          </a:solidFill>
                          <a:latin typeface="Calibri"/>
                        </a:defRPr>
                      </a:pPr>
                      <a:r>
                        <a:t>Operating efficiency improved with the cost-t...</a:t>
                      </a:r>
                    </a:p>
                  </a:txBody>
                  <a:tcPr/>
                </a:tc>
                <a:tc>
                  <a:txBody>
                    <a:bodyPr/>
                    <a:lstStyle/>
                    <a:p>
                      <a:pPr>
                        <a:defRPr sz="1100">
                          <a:solidFill>
                            <a:srgbClr val="1C2A3A"/>
                          </a:solidFill>
                          <a:latin typeface="Calibri"/>
                        </a:defRPr>
                      </a:pPr>
                      <a:r>
                        <a:t>POSITIVE</a:t>
                      </a:r>
                    </a:p>
                  </a:txBody>
                  <a:tcPr/>
                </a:tc>
                <a:tc>
                  <a:txBody>
                    <a:bodyPr/>
                    <a:lstStyle/>
                    <a:p>
                      <a:pPr>
                        <a:defRPr sz="1100">
                          <a:solidFill>
                            <a:srgbClr val="1C2A3A"/>
                          </a:solidFill>
                          <a:latin typeface="Calibri"/>
                        </a:defRPr>
                      </a:pPr>
                      <a:r>
                        <a:t>positive [Y]</a:t>
                      </a:r>
                    </a:p>
                  </a:txBody>
                  <a:tcPr/>
                </a:tc>
                <a:tc>
                  <a:txBody>
                    <a:bodyPr/>
                    <a:lstStyle/>
                    <a:p>
                      <a:pPr>
                        <a:defRPr sz="1100">
                          <a:solidFill>
                            <a:srgbClr val="1C2A3A"/>
                          </a:solidFill>
                          <a:latin typeface="Calibri"/>
                        </a:defRPr>
                      </a:pPr>
                      <a:r>
                        <a:t>positive [Y]</a:t>
                      </a:r>
                    </a:p>
                  </a:txBody>
                  <a:tcPr/>
                </a:tc>
                <a:tc>
                  <a:txBody>
                    <a:bodyPr/>
                    <a:lstStyle/>
                    <a:p>
                      <a:pPr>
                        <a:defRPr sz="1100">
                          <a:solidFill>
                            <a:srgbClr val="1C2A3A"/>
                          </a:solidFill>
                          <a:latin typeface="Calibri"/>
                        </a:defRPr>
                      </a:pPr>
                      <a:r>
                        <a:t>positive [Y]</a:t>
                      </a:r>
                    </a:p>
                  </a:txBody>
                  <a:tcPr/>
                </a:tc>
                <a:tc>
                  <a:txBody>
                    <a:bodyPr/>
                    <a:lstStyle/>
                    <a:p>
                      <a:pPr>
                        <a:defRPr sz="1100">
                          <a:solidFill>
                            <a:srgbClr val="1C2A3A"/>
                          </a:solidFill>
                          <a:latin typeface="Calibri"/>
                        </a:defRPr>
                      </a:pPr>
                      <a:r>
                        <a:t>positive [Y]</a:t>
                      </a:r>
                    </a:p>
                  </a:txBody>
                  <a:tcPr/>
                </a:tc>
              </a:tr>
              <a:tr h="365760">
                <a:tc>
                  <a:txBody>
                    <a:bodyPr/>
                    <a:lstStyle/>
                    <a:p>
                      <a:pPr>
                        <a:defRPr sz="1100">
                          <a:solidFill>
                            <a:srgbClr val="1C2A3A"/>
                          </a:solidFill>
                          <a:latin typeface="Calibri"/>
                        </a:defRPr>
                      </a:pPr>
                      <a:r>
                        <a:t>9</a:t>
                      </a:r>
                    </a:p>
                  </a:txBody>
                  <a:tcPr>
                    <a:solidFill>
                      <a:srgbClr val="E0E3E8"/>
                    </a:solidFill>
                  </a:tcPr>
                </a:tc>
                <a:tc>
                  <a:txBody>
                    <a:bodyPr/>
                    <a:lstStyle/>
                    <a:p>
                      <a:pPr>
                        <a:defRPr sz="1100">
                          <a:solidFill>
                            <a:srgbClr val="1C2A3A"/>
                          </a:solidFill>
                          <a:latin typeface="Calibri"/>
                        </a:defRPr>
                      </a:pPr>
                      <a:r>
                        <a:t>Provisions for loan losses rose sharply amid ...</a:t>
                      </a:r>
                    </a:p>
                  </a:txBody>
                  <a:tcPr>
                    <a:solidFill>
                      <a:srgbClr val="E0E3E8"/>
                    </a:solidFill>
                  </a:tcPr>
                </a:tc>
                <a:tc>
                  <a:txBody>
                    <a:bodyPr/>
                    <a:lstStyle/>
                    <a:p>
                      <a:pPr>
                        <a:defRPr sz="1100">
                          <a:solidFill>
                            <a:srgbClr val="1C2A3A"/>
                          </a:solidFill>
                          <a:latin typeface="Calibri"/>
                        </a:defRPr>
                      </a:pPr>
                      <a:r>
                        <a:t>NEGATIVE</a:t>
                      </a:r>
                    </a:p>
                  </a:txBody>
                  <a:tcPr>
                    <a:solidFill>
                      <a:srgbClr val="E0E3E8"/>
                    </a:solidFill>
                  </a:tcPr>
                </a:tc>
                <a:tc>
                  <a:txBody>
                    <a:bodyPr/>
                    <a:lstStyle/>
                    <a:p>
                      <a:pPr>
                        <a:defRPr sz="1100">
                          <a:solidFill>
                            <a:srgbClr val="1C2A3A"/>
                          </a:solidFill>
                          <a:latin typeface="Calibri"/>
                        </a:defRPr>
                      </a:pPr>
                      <a:r>
                        <a:t>positive [N]</a:t>
                      </a:r>
                    </a:p>
                  </a:txBody>
                  <a:tcPr>
                    <a:solidFill>
                      <a:srgbClr val="E0E3E8"/>
                    </a:solidFill>
                  </a:tcPr>
                </a:tc>
                <a:tc>
                  <a:txBody>
                    <a:bodyPr/>
                    <a:lstStyle/>
                    <a:p>
                      <a:pPr>
                        <a:defRPr sz="1100">
                          <a:solidFill>
                            <a:srgbClr val="1C2A3A"/>
                          </a:solidFill>
                          <a:latin typeface="Calibri"/>
                        </a:defRPr>
                      </a:pPr>
                      <a:r>
                        <a:t>negative [Y]</a:t>
                      </a:r>
                    </a:p>
                  </a:txBody>
                  <a:tcPr>
                    <a:solidFill>
                      <a:srgbClr val="E0E3E8"/>
                    </a:solidFill>
                  </a:tcPr>
                </a:tc>
                <a:tc>
                  <a:txBody>
                    <a:bodyPr/>
                    <a:lstStyle/>
                    <a:p>
                      <a:pPr>
                        <a:defRPr sz="1100">
                          <a:solidFill>
                            <a:srgbClr val="1C2A3A"/>
                          </a:solidFill>
                          <a:latin typeface="Calibri"/>
                        </a:defRPr>
                      </a:pPr>
                      <a:r>
                        <a:t>positive [N]</a:t>
                      </a:r>
                    </a:p>
                  </a:txBody>
                  <a:tcPr>
                    <a:solidFill>
                      <a:srgbClr val="E0E3E8"/>
                    </a:solidFill>
                  </a:tcPr>
                </a:tc>
                <a:tc>
                  <a:txBody>
                    <a:bodyPr/>
                    <a:lstStyle/>
                    <a:p>
                      <a:pPr>
                        <a:defRPr sz="1100">
                          <a:solidFill>
                            <a:srgbClr val="1C2A3A"/>
                          </a:solidFill>
                          <a:latin typeface="Calibri"/>
                        </a:defRPr>
                      </a:pPr>
                      <a:r>
                        <a:t>negative [Y]</a:t>
                      </a:r>
                    </a:p>
                  </a:txBody>
                  <a:tcPr>
                    <a:solidFill>
                      <a:srgbClr val="E0E3E8"/>
                    </a:solidFill>
                  </a:tcPr>
                </a:tc>
              </a:tr>
              <a:tr h="365760">
                <a:tc>
                  <a:txBody>
                    <a:bodyPr/>
                    <a:lstStyle/>
                    <a:p>
                      <a:pPr>
                        <a:defRPr sz="1100">
                          <a:solidFill>
                            <a:srgbClr val="1C2A3A"/>
                          </a:solidFill>
                          <a:latin typeface="Calibri"/>
                        </a:defRPr>
                      </a:pPr>
                      <a:r>
                        <a:t>10</a:t>
                      </a:r>
                    </a:p>
                  </a:txBody>
                  <a:tcPr/>
                </a:tc>
                <a:tc>
                  <a:txBody>
                    <a:bodyPr/>
                    <a:lstStyle/>
                    <a:p>
                      <a:pPr>
                        <a:defRPr sz="1100">
                          <a:solidFill>
                            <a:srgbClr val="1C2A3A"/>
                          </a:solidFill>
                          <a:latin typeface="Calibri"/>
                        </a:defRPr>
                      </a:pPr>
                      <a:r>
                        <a:t>The board approved a routine extension of the...</a:t>
                      </a:r>
                    </a:p>
                  </a:txBody>
                  <a:tcPr/>
                </a:tc>
                <a:tc>
                  <a:txBody>
                    <a:bodyPr/>
                    <a:lstStyle/>
                    <a:p>
                      <a:pPr>
                        <a:defRPr sz="1100">
                          <a:solidFill>
                            <a:srgbClr val="1C2A3A"/>
                          </a:solidFill>
                          <a:latin typeface="Calibri"/>
                        </a:defRPr>
                      </a:pPr>
                      <a:r>
                        <a:t>NEUTRAL</a:t>
                      </a:r>
                    </a:p>
                  </a:txBody>
                  <a:tcPr/>
                </a:tc>
                <a:tc>
                  <a:txBody>
                    <a:bodyPr/>
                    <a:lstStyle/>
                    <a:p>
                      <a:pPr>
                        <a:defRPr sz="1100">
                          <a:solidFill>
                            <a:srgbClr val="1C2A3A"/>
                          </a:solidFill>
                          <a:latin typeface="Calibri"/>
                        </a:defRPr>
                      </a:pPr>
                      <a:r>
                        <a:t>negative [N]</a:t>
                      </a:r>
                    </a:p>
                  </a:txBody>
                  <a:tcPr/>
                </a:tc>
                <a:tc>
                  <a:txBody>
                    <a:bodyPr/>
                    <a:lstStyle/>
                    <a:p>
                      <a:pPr>
                        <a:defRPr sz="1100">
                          <a:solidFill>
                            <a:srgbClr val="1C2A3A"/>
                          </a:solidFill>
                          <a:latin typeface="Calibri"/>
                        </a:defRPr>
                      </a:pPr>
                      <a:r>
                        <a:t>positive [N]</a:t>
                      </a:r>
                    </a:p>
                  </a:txBody>
                  <a:tcPr/>
                </a:tc>
                <a:tc>
                  <a:txBody>
                    <a:bodyPr/>
                    <a:lstStyle/>
                    <a:p>
                      <a:pPr>
                        <a:defRPr sz="1100">
                          <a:solidFill>
                            <a:srgbClr val="1C2A3A"/>
                          </a:solidFill>
                          <a:latin typeface="Calibri"/>
                        </a:defRPr>
                      </a:pPr>
                      <a:r>
                        <a:t>neutral [Y]</a:t>
                      </a:r>
                    </a:p>
                  </a:txBody>
                  <a:tcPr/>
                </a:tc>
                <a:tc>
                  <a:txBody>
                    <a:bodyPr/>
                    <a:lstStyle/>
                    <a:p>
                      <a:pPr>
                        <a:defRPr sz="1100">
                          <a:solidFill>
                            <a:srgbClr val="1C2A3A"/>
                          </a:solidFill>
                          <a:latin typeface="Calibri"/>
                        </a:defRPr>
                      </a:pPr>
                      <a:r>
                        <a:t>positive [N]</a:t>
                      </a:r>
                    </a:p>
                  </a:txBody>
                  <a:tcPr/>
                </a:tc>
              </a:tr>
              <a:tr h="365760">
                <a:tc>
                  <a:txBody>
                    <a:bodyPr/>
                    <a:lstStyle/>
                    <a:p>
                      <a:pPr>
                        <a:defRPr sz="1100">
                          <a:solidFill>
                            <a:srgbClr val="1C2A3A"/>
                          </a:solidFill>
                          <a:latin typeface="Calibri"/>
                        </a:defRPr>
                      </a:pPr>
                      <a:r>
                        <a:t>11</a:t>
                      </a:r>
                    </a:p>
                  </a:txBody>
                  <a:tcPr>
                    <a:solidFill>
                      <a:srgbClr val="E0E3E8"/>
                    </a:solidFill>
                  </a:tcPr>
                </a:tc>
                <a:tc>
                  <a:txBody>
                    <a:bodyPr/>
                    <a:lstStyle/>
                    <a:p>
                      <a:pPr>
                        <a:defRPr sz="1100">
                          <a:solidFill>
                            <a:srgbClr val="1C2A3A"/>
                          </a:solidFill>
                          <a:latin typeface="Calibri"/>
                        </a:defRPr>
                      </a:pPr>
                      <a:r>
                        <a:t>Revenue exceeded analyst consensus estimates ...</a:t>
                      </a:r>
                    </a:p>
                  </a:txBody>
                  <a:tcPr>
                    <a:solidFill>
                      <a:srgbClr val="E0E3E8"/>
                    </a:solidFill>
                  </a:tcPr>
                </a:tc>
                <a:tc>
                  <a:txBody>
                    <a:bodyPr/>
                    <a:lstStyle/>
                    <a:p>
                      <a:pPr>
                        <a:defRPr sz="1100">
                          <a:solidFill>
                            <a:srgbClr val="1C2A3A"/>
                          </a:solidFill>
                          <a:latin typeface="Calibri"/>
                        </a:defRPr>
                      </a:pPr>
                      <a:r>
                        <a:t>POSITIVE</a:t>
                      </a:r>
                    </a:p>
                  </a:txBody>
                  <a:tcPr>
                    <a:solidFill>
                      <a:srgbClr val="E0E3E8"/>
                    </a:solidFill>
                  </a:tcPr>
                </a:tc>
                <a:tc>
                  <a:txBody>
                    <a:bodyPr/>
                    <a:lstStyle/>
                    <a:p>
                      <a:pPr>
                        <a:defRPr sz="1100">
                          <a:solidFill>
                            <a:srgbClr val="1C2A3A"/>
                          </a:solidFill>
                          <a:latin typeface="Calibri"/>
                        </a:defRPr>
                      </a:pPr>
                      <a:r>
                        <a:t>positive [Y]</a:t>
                      </a:r>
                    </a:p>
                  </a:txBody>
                  <a:tcPr>
                    <a:solidFill>
                      <a:srgbClr val="E0E3E8"/>
                    </a:solidFill>
                  </a:tcPr>
                </a:tc>
                <a:tc>
                  <a:txBody>
                    <a:bodyPr/>
                    <a:lstStyle/>
                    <a:p>
                      <a:pPr>
                        <a:defRPr sz="1100">
                          <a:solidFill>
                            <a:srgbClr val="1C2A3A"/>
                          </a:solidFill>
                          <a:latin typeface="Calibri"/>
                        </a:defRPr>
                      </a:pPr>
                      <a:r>
                        <a:t>positive [Y]</a:t>
                      </a:r>
                    </a:p>
                  </a:txBody>
                  <a:tcPr>
                    <a:solidFill>
                      <a:srgbClr val="E0E3E8"/>
                    </a:solidFill>
                  </a:tcPr>
                </a:tc>
                <a:tc>
                  <a:txBody>
                    <a:bodyPr/>
                    <a:lstStyle/>
                    <a:p>
                      <a:pPr>
                        <a:defRPr sz="1100">
                          <a:solidFill>
                            <a:srgbClr val="1C2A3A"/>
                          </a:solidFill>
                          <a:latin typeface="Calibri"/>
                        </a:defRPr>
                      </a:pPr>
                      <a:r>
                        <a:t>positive [Y]</a:t>
                      </a:r>
                    </a:p>
                  </a:txBody>
                  <a:tcPr>
                    <a:solidFill>
                      <a:srgbClr val="E0E3E8"/>
                    </a:solidFill>
                  </a:tcPr>
                </a:tc>
                <a:tc>
                  <a:txBody>
                    <a:bodyPr/>
                    <a:lstStyle/>
                    <a:p>
                      <a:pPr>
                        <a:defRPr sz="1100">
                          <a:solidFill>
                            <a:srgbClr val="1C2A3A"/>
                          </a:solidFill>
                          <a:latin typeface="Calibri"/>
                        </a:defRPr>
                      </a:pPr>
                      <a:r>
                        <a:t>positive [Y]</a:t>
                      </a:r>
                    </a:p>
                  </a:txBody>
                  <a:tcPr>
                    <a:solidFill>
                      <a:srgbClr val="E0E3E8"/>
                    </a:solidFill>
                  </a:tcPr>
                </a:tc>
              </a:tr>
              <a:tr h="365760">
                <a:tc>
                  <a:txBody>
                    <a:bodyPr/>
                    <a:lstStyle/>
                    <a:p>
                      <a:pPr>
                        <a:defRPr sz="1100">
                          <a:solidFill>
                            <a:srgbClr val="1C2A3A"/>
                          </a:solidFill>
                          <a:latin typeface="Calibri"/>
                        </a:defRPr>
                      </a:pPr>
                      <a:r>
                        <a:t>12</a:t>
                      </a:r>
                    </a:p>
                  </a:txBody>
                  <a:tcPr/>
                </a:tc>
                <a:tc>
                  <a:txBody>
                    <a:bodyPr/>
                    <a:lstStyle/>
                    <a:p>
                      <a:pPr>
                        <a:defRPr sz="1100">
                          <a:solidFill>
                            <a:srgbClr val="1C2A3A"/>
                          </a:solidFill>
                          <a:latin typeface="Calibri"/>
                        </a:defRPr>
                      </a:pPr>
                      <a:r>
                        <a:t>Non-performing loans increased to 1.2% of tot...</a:t>
                      </a:r>
                    </a:p>
                  </a:txBody>
                  <a:tcPr/>
                </a:tc>
                <a:tc>
                  <a:txBody>
                    <a:bodyPr/>
                    <a:lstStyle/>
                    <a:p>
                      <a:pPr>
                        <a:defRPr sz="1100">
                          <a:solidFill>
                            <a:srgbClr val="1C2A3A"/>
                          </a:solidFill>
                          <a:latin typeface="Calibri"/>
                        </a:defRPr>
                      </a:pPr>
                      <a:r>
                        <a:t>NEGATIVE</a:t>
                      </a:r>
                    </a:p>
                  </a:txBody>
                  <a:tcPr/>
                </a:tc>
                <a:tc>
                  <a:txBody>
                    <a:bodyPr/>
                    <a:lstStyle/>
                    <a:p>
                      <a:pPr>
                        <a:defRPr sz="1100">
                          <a:solidFill>
                            <a:srgbClr val="1C2A3A"/>
                          </a:solidFill>
                          <a:latin typeface="Calibri"/>
                        </a:defRPr>
                      </a:pPr>
                      <a:r>
                        <a:t>positive [N]</a:t>
                      </a:r>
                    </a:p>
                  </a:txBody>
                  <a:tcPr/>
                </a:tc>
                <a:tc>
                  <a:txBody>
                    <a:bodyPr/>
                    <a:lstStyle/>
                    <a:p>
                      <a:pPr>
                        <a:defRPr sz="1100">
                          <a:solidFill>
                            <a:srgbClr val="1C2A3A"/>
                          </a:solidFill>
                          <a:latin typeface="Calibri"/>
                        </a:defRPr>
                      </a:pPr>
                      <a:r>
                        <a:t>positive [N]</a:t>
                      </a:r>
                    </a:p>
                  </a:txBody>
                  <a:tcPr/>
                </a:tc>
                <a:tc>
                  <a:txBody>
                    <a:bodyPr/>
                    <a:lstStyle/>
                    <a:p>
                      <a:pPr>
                        <a:defRPr sz="1100">
                          <a:solidFill>
                            <a:srgbClr val="1C2A3A"/>
                          </a:solidFill>
                          <a:latin typeface="Calibri"/>
                        </a:defRPr>
                      </a:pPr>
                      <a:r>
                        <a:t>positive [N]</a:t>
                      </a:r>
                    </a:p>
                  </a:txBody>
                  <a:tcPr/>
                </a:tc>
                <a:tc>
                  <a:txBody>
                    <a:bodyPr/>
                    <a:lstStyle/>
                    <a:p>
                      <a:pPr>
                        <a:defRPr sz="1100">
                          <a:solidFill>
                            <a:srgbClr val="1C2A3A"/>
                          </a:solidFill>
                          <a:latin typeface="Calibri"/>
                        </a:defRPr>
                      </a:pPr>
                      <a:r>
                        <a:t>positive [N]</a:t>
                      </a:r>
                    </a:p>
                  </a:txBody>
                  <a:tcPr/>
                </a:tc>
              </a:tr>
            </a:tbl>
          </a:graphicData>
        </a:graphic>
      </p:graphicFrame>
      <p:sp>
        <p:nvSpPr>
          <p:cNvPr id="4" name="TextBox 3"/>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36/55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2: Llama2 7B - Numerical Reasoning</a:t>
            </a:r>
          </a:p>
          <a:p>
            <a:pPr>
              <a:defRPr sz="1600">
                <a:solidFill>
                  <a:srgbClr val="ECEFF1"/>
                </a:solidFill>
                <a:latin typeface="Calibri"/>
              </a:defRPr>
            </a:pPr>
            <a:r>
              <a:t>Architecture: Llama2-7B (7B parameters)</a:t>
            </a:r>
          </a:p>
        </p:txBody>
      </p:sp>
      <p:sp>
        <p:nvSpPr>
          <p:cNvPr id="3" name="Rectangle 2"/>
          <p:cNvSpPr/>
          <p:nvPr/>
        </p:nvSpPr>
        <p:spPr>
          <a:xfrm>
            <a:off x="457200" y="1280160"/>
            <a:ext cx="2651760" cy="10972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Base Llama2-7B</a:t>
            </a:r>
          </a:p>
          <a:p>
            <a:pPr>
              <a:defRPr sz="1200">
                <a:solidFill>
                  <a:srgbClr val="1C2A3A"/>
                </a:solidFill>
                <a:latin typeface="Calibri"/>
              </a:defRPr>
            </a:pPr>
            <a:r>
              <a:t>Accuracy: 20.0%  (1/5)</a:t>
            </a:r>
          </a:p>
        </p:txBody>
      </p:sp>
      <p:sp>
        <p:nvSpPr>
          <p:cNvPr id="4" name="Rectangle 3"/>
          <p:cNvSpPr/>
          <p:nvPr/>
        </p:nvSpPr>
        <p:spPr>
          <a:xfrm>
            <a:off x="3291840" y="1280160"/>
            <a:ext cx="2651760" cy="10972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FinQA-7B (fine-tuned)</a:t>
            </a:r>
          </a:p>
          <a:p>
            <a:pPr>
              <a:defRPr sz="1200">
                <a:solidFill>
                  <a:srgbClr val="1C2A3A"/>
                </a:solidFill>
                <a:latin typeface="Calibri"/>
              </a:defRPr>
            </a:pPr>
            <a:r>
              <a:t>Accuracy: 20.0%  (1/5)</a:t>
            </a:r>
          </a:p>
        </p:txBody>
      </p:sp>
      <p:sp>
        <p:nvSpPr>
          <p:cNvPr id="5" name="Rectangle 4"/>
          <p:cNvSpPr/>
          <p:nvPr/>
        </p:nvSpPr>
        <p:spPr>
          <a:xfrm>
            <a:off x="6126480" y="1280160"/>
            <a:ext cx="2651760" cy="10972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Llama2-7B + RAG</a:t>
            </a:r>
          </a:p>
          <a:p>
            <a:pPr>
              <a:defRPr sz="1200">
                <a:solidFill>
                  <a:srgbClr val="1C2A3A"/>
                </a:solidFill>
                <a:latin typeface="Calibri"/>
              </a:defRPr>
            </a:pPr>
            <a:r>
              <a:t>Accuracy: 20.0%  (1/5)</a:t>
            </a:r>
          </a:p>
        </p:txBody>
      </p:sp>
      <p:sp>
        <p:nvSpPr>
          <p:cNvPr id="6" name="Rectangle 5"/>
          <p:cNvSpPr/>
          <p:nvPr/>
        </p:nvSpPr>
        <p:spPr>
          <a:xfrm>
            <a:off x="8961120" y="1280160"/>
            <a:ext cx="2651760" cy="1097280"/>
          </a:xfrm>
          <a:prstGeom prst="rect">
            <a:avLst/>
          </a:prstGeom>
          <a:solidFill>
            <a:srgbClr val="FFF1C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FinQA-7B + RAG (hybrid)</a:t>
            </a:r>
          </a:p>
          <a:p>
            <a:pPr>
              <a:defRPr sz="1200">
                <a:solidFill>
                  <a:srgbClr val="1C2A3A"/>
                </a:solidFill>
                <a:latin typeface="Calibri"/>
              </a:defRPr>
            </a:pPr>
            <a:r>
              <a:t>Accuracy: 20.0%  (1/5)</a:t>
            </a:r>
          </a:p>
        </p:txBody>
      </p:sp>
      <p:graphicFrame>
        <p:nvGraphicFramePr>
          <p:cNvPr id="7" name="Chart 6"/>
          <p:cNvGraphicFramePr>
            <a:graphicFrameLocks noGrp="1"/>
          </p:cNvGraphicFramePr>
          <p:nvPr/>
        </p:nvGraphicFramePr>
        <p:xfrm>
          <a:off x="457200" y="2560320"/>
          <a:ext cx="5303520" cy="3200400"/>
        </p:xfrm>
        <a:graphic>
          <a:graphicData uri="http://schemas.openxmlformats.org/drawingml/2006/chart">
            <c:chart xmlns:c="http://schemas.openxmlformats.org/drawingml/2006/chart" r:id="rId2"/>
          </a:graphicData>
        </a:graphic>
      </p:graphicFrame>
      <p:graphicFrame>
        <p:nvGraphicFramePr>
          <p:cNvPr id="8" name="Chart 7"/>
          <p:cNvGraphicFramePr>
            <a:graphicFrameLocks noGrp="1"/>
          </p:cNvGraphicFramePr>
          <p:nvPr/>
        </p:nvGraphicFramePr>
        <p:xfrm>
          <a:off x="6217920" y="2560320"/>
          <a:ext cx="5303520" cy="3200400"/>
        </p:xfrm>
        <a:graphic>
          <a:graphicData uri="http://schemas.openxmlformats.org/drawingml/2006/chart">
            <c:chart xmlns:c="http://schemas.openxmlformats.org/drawingml/2006/chart" r:id="rId3"/>
          </a:graphicData>
        </a:graphic>
      </p:graphicFrame>
      <p:sp>
        <p:nvSpPr>
          <p:cNvPr id="9" name="TextBox 8"/>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37/55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2: Llama2 7B - Numerical Reasoning - Token Usage &amp; Cost</a:t>
            </a:r>
          </a:p>
        </p:txBody>
      </p:sp>
      <p:graphicFrame>
        <p:nvGraphicFramePr>
          <p:cNvPr id="3" name="Table 2"/>
          <p:cNvGraphicFramePr>
            <a:graphicFrameLocks noGrp="1"/>
          </p:cNvGraphicFramePr>
          <p:nvPr/>
        </p:nvGraphicFramePr>
        <p:xfrm>
          <a:off x="457200" y="1371600"/>
          <a:ext cx="11247120" cy="3200400"/>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400050">
                <a:tc>
                  <a:txBody>
                    <a:bodyPr/>
                    <a:lstStyle/>
                    <a:p>
                      <a:pPr algn="ctr">
                        <a:defRPr sz="1200" b="1">
                          <a:solidFill>
                            <a:srgbClr val="FFFFFF"/>
                          </a:solidFill>
                          <a:latin typeface="Calibri"/>
                        </a:defRPr>
                      </a:pPr>
                      <a:r>
                        <a:t>Metric</a:t>
                      </a:r>
                    </a:p>
                  </a:txBody>
                  <a:tcPr>
                    <a:solidFill>
                      <a:srgbClr val="2E86C1"/>
                    </a:solidFill>
                  </a:tcPr>
                </a:tc>
                <a:tc>
                  <a:txBody>
                    <a:bodyPr/>
                    <a:lstStyle/>
                    <a:p>
                      <a:pPr algn="ctr">
                        <a:defRPr sz="1200" b="1">
                          <a:solidFill>
                            <a:srgbClr val="FFFFFF"/>
                          </a:solidFill>
                          <a:latin typeface="Calibri"/>
                        </a:defRPr>
                      </a:pPr>
                      <a:r>
                        <a:t>Base Llama2-7B</a:t>
                      </a:r>
                    </a:p>
                  </a:txBody>
                  <a:tcPr>
                    <a:solidFill>
                      <a:srgbClr val="2E86C1"/>
                    </a:solidFill>
                  </a:tcPr>
                </a:tc>
                <a:tc>
                  <a:txBody>
                    <a:bodyPr/>
                    <a:lstStyle/>
                    <a:p>
                      <a:pPr algn="ctr">
                        <a:defRPr sz="1200" b="1">
                          <a:solidFill>
                            <a:srgbClr val="FFFFFF"/>
                          </a:solidFill>
                          <a:latin typeface="Calibri"/>
                        </a:defRPr>
                      </a:pPr>
                      <a:r>
                        <a:t>FinQA-7B</a:t>
                      </a:r>
                    </a:p>
                  </a:txBody>
                  <a:tcPr>
                    <a:solidFill>
                      <a:srgbClr val="2E86C1"/>
                    </a:solidFill>
                  </a:tcPr>
                </a:tc>
                <a:tc>
                  <a:txBody>
                    <a:bodyPr/>
                    <a:lstStyle/>
                    <a:p>
                      <a:pPr algn="ctr">
                        <a:defRPr sz="1200" b="1">
                          <a:solidFill>
                            <a:srgbClr val="FFFFFF"/>
                          </a:solidFill>
                          <a:latin typeface="Calibri"/>
                        </a:defRPr>
                      </a:pPr>
                      <a:r>
                        <a:t>Llama2-7B + RAG</a:t>
                      </a:r>
                    </a:p>
                  </a:txBody>
                  <a:tcPr>
                    <a:solidFill>
                      <a:srgbClr val="2E86C1"/>
                    </a:solidFill>
                  </a:tcPr>
                </a:tc>
                <a:tc>
                  <a:txBody>
                    <a:bodyPr/>
                    <a:lstStyle/>
                    <a:p>
                      <a:pPr algn="ctr">
                        <a:defRPr sz="1200" b="1">
                          <a:solidFill>
                            <a:srgbClr val="FFFFFF"/>
                          </a:solidFill>
                          <a:latin typeface="Calibri"/>
                        </a:defRPr>
                      </a:pPr>
                      <a:r>
                        <a:t>FinQA-7B + RAG</a:t>
                      </a:r>
                    </a:p>
                  </a:txBody>
                  <a:tcPr>
                    <a:solidFill>
                      <a:srgbClr val="2E86C1"/>
                    </a:solidFill>
                  </a:tcPr>
                </a:tc>
              </a:tr>
              <a:tr h="400050">
                <a:tc>
                  <a:txBody>
                    <a:bodyPr/>
                    <a:lstStyle/>
                    <a:p>
                      <a:pPr>
                        <a:defRPr sz="1100">
                          <a:solidFill>
                            <a:srgbClr val="1C2A3A"/>
                          </a:solidFill>
                          <a:latin typeface="Calibri"/>
                        </a:defRPr>
                      </a:pPr>
                      <a:r>
                        <a:t>Avg Tokens / Query</a:t>
                      </a:r>
                    </a:p>
                  </a:txBody>
                  <a:tcPr>
                    <a:solidFill>
                      <a:srgbClr val="E0E3E8"/>
                    </a:solidFill>
                  </a:tcPr>
                </a:tc>
                <a:tc>
                  <a:txBody>
                    <a:bodyPr/>
                    <a:lstStyle/>
                    <a:p>
                      <a:pPr>
                        <a:defRPr sz="1100">
                          <a:solidFill>
                            <a:srgbClr val="1C2A3A"/>
                          </a:solidFill>
                          <a:latin typeface="Calibri"/>
                        </a:defRPr>
                      </a:pPr>
                      <a:r>
                        <a:t>314</a:t>
                      </a:r>
                    </a:p>
                  </a:txBody>
                  <a:tcPr>
                    <a:solidFill>
                      <a:srgbClr val="E0E3E8"/>
                    </a:solidFill>
                  </a:tcPr>
                </a:tc>
                <a:tc>
                  <a:txBody>
                    <a:bodyPr/>
                    <a:lstStyle/>
                    <a:p>
                      <a:pPr>
                        <a:defRPr sz="1100">
                          <a:solidFill>
                            <a:srgbClr val="1C2A3A"/>
                          </a:solidFill>
                          <a:latin typeface="Calibri"/>
                        </a:defRPr>
                      </a:pPr>
                      <a:r>
                        <a:t>285</a:t>
                      </a:r>
                    </a:p>
                  </a:txBody>
                  <a:tcPr>
                    <a:solidFill>
                      <a:srgbClr val="E0E3E8"/>
                    </a:solidFill>
                  </a:tcPr>
                </a:tc>
                <a:tc>
                  <a:txBody>
                    <a:bodyPr/>
                    <a:lstStyle/>
                    <a:p>
                      <a:pPr>
                        <a:defRPr sz="1100">
                          <a:solidFill>
                            <a:srgbClr val="1C2A3A"/>
                          </a:solidFill>
                          <a:latin typeface="Calibri"/>
                        </a:defRPr>
                      </a:pPr>
                      <a:r>
                        <a:t>1,638</a:t>
                      </a:r>
                    </a:p>
                  </a:txBody>
                  <a:tcPr>
                    <a:solidFill>
                      <a:srgbClr val="E0E3E8"/>
                    </a:solidFill>
                  </a:tcPr>
                </a:tc>
                <a:tc>
                  <a:txBody>
                    <a:bodyPr/>
                    <a:lstStyle/>
                    <a:p>
                      <a:pPr>
                        <a:defRPr sz="1100">
                          <a:solidFill>
                            <a:srgbClr val="1C2A3A"/>
                          </a:solidFill>
                          <a:latin typeface="Calibri"/>
                        </a:defRPr>
                      </a:pPr>
                      <a:r>
                        <a:t>1,661</a:t>
                      </a:r>
                    </a:p>
                  </a:txBody>
                  <a:tcPr>
                    <a:solidFill>
                      <a:srgbClr val="E0E3E8"/>
                    </a:solidFill>
                  </a:tcPr>
                </a:tc>
              </a:tr>
              <a:tr h="400050">
                <a:tc>
                  <a:txBody>
                    <a:bodyPr/>
                    <a:lstStyle/>
                    <a:p>
                      <a:pPr>
                        <a:defRPr sz="1100">
                          <a:solidFill>
                            <a:srgbClr val="1C2A3A"/>
                          </a:solidFill>
                          <a:latin typeface="Calibri"/>
                        </a:defRPr>
                      </a:pPr>
                      <a:r>
                        <a:t>Total Tokens</a:t>
                      </a:r>
                    </a:p>
                  </a:txBody>
                  <a:tcPr/>
                </a:tc>
                <a:tc>
                  <a:txBody>
                    <a:bodyPr/>
                    <a:lstStyle/>
                    <a:p>
                      <a:pPr>
                        <a:defRPr sz="1100">
                          <a:solidFill>
                            <a:srgbClr val="1C2A3A"/>
                          </a:solidFill>
                          <a:latin typeface="Calibri"/>
                        </a:defRPr>
                      </a:pPr>
                      <a:r>
                        <a:t>1,571</a:t>
                      </a:r>
                    </a:p>
                  </a:txBody>
                  <a:tcPr/>
                </a:tc>
                <a:tc>
                  <a:txBody>
                    <a:bodyPr/>
                    <a:lstStyle/>
                    <a:p>
                      <a:pPr>
                        <a:defRPr sz="1100">
                          <a:solidFill>
                            <a:srgbClr val="1C2A3A"/>
                          </a:solidFill>
                          <a:latin typeface="Calibri"/>
                        </a:defRPr>
                      </a:pPr>
                      <a:r>
                        <a:t>1,423</a:t>
                      </a:r>
                    </a:p>
                  </a:txBody>
                  <a:tcPr/>
                </a:tc>
                <a:tc>
                  <a:txBody>
                    <a:bodyPr/>
                    <a:lstStyle/>
                    <a:p>
                      <a:pPr>
                        <a:defRPr sz="1100">
                          <a:solidFill>
                            <a:srgbClr val="1C2A3A"/>
                          </a:solidFill>
                          <a:latin typeface="Calibri"/>
                        </a:defRPr>
                      </a:pPr>
                      <a:r>
                        <a:t>8,192</a:t>
                      </a:r>
                    </a:p>
                  </a:txBody>
                  <a:tcPr/>
                </a:tc>
                <a:tc>
                  <a:txBody>
                    <a:bodyPr/>
                    <a:lstStyle/>
                    <a:p>
                      <a:pPr>
                        <a:defRPr sz="1100">
                          <a:solidFill>
                            <a:srgbClr val="1C2A3A"/>
                          </a:solidFill>
                          <a:latin typeface="Calibri"/>
                        </a:defRPr>
                      </a:pPr>
                      <a:r>
                        <a:t>8,307</a:t>
                      </a:r>
                    </a:p>
                  </a:txBody>
                  <a:tcPr/>
                </a:tc>
              </a:tr>
              <a:tr h="400050">
                <a:tc>
                  <a:txBody>
                    <a:bodyPr/>
                    <a:lstStyle/>
                    <a:p>
                      <a:pPr>
                        <a:defRPr sz="1100">
                          <a:solidFill>
                            <a:srgbClr val="1C2A3A"/>
                          </a:solidFill>
                          <a:latin typeface="Calibri"/>
                        </a:defRPr>
                      </a:pPr>
                      <a:r>
                        <a:t>Prompt Tokens (total)</a:t>
                      </a:r>
                    </a:p>
                  </a:txBody>
                  <a:tcPr>
                    <a:solidFill>
                      <a:srgbClr val="E0E3E8"/>
                    </a:solidFill>
                  </a:tcPr>
                </a:tc>
                <a:tc>
                  <a:txBody>
                    <a:bodyPr/>
                    <a:lstStyle/>
                    <a:p>
                      <a:pPr>
                        <a:defRPr sz="1100">
                          <a:solidFill>
                            <a:srgbClr val="1C2A3A"/>
                          </a:solidFill>
                          <a:latin typeface="Calibri"/>
                        </a:defRPr>
                      </a:pPr>
                      <a:r>
                        <a:t>713</a:t>
                      </a:r>
                    </a:p>
                  </a:txBody>
                  <a:tcPr>
                    <a:solidFill>
                      <a:srgbClr val="E0E3E8"/>
                    </a:solidFill>
                  </a:tcPr>
                </a:tc>
                <a:tc>
                  <a:txBody>
                    <a:bodyPr/>
                    <a:lstStyle/>
                    <a:p>
                      <a:pPr>
                        <a:defRPr sz="1100">
                          <a:solidFill>
                            <a:srgbClr val="1C2A3A"/>
                          </a:solidFill>
                          <a:latin typeface="Calibri"/>
                        </a:defRPr>
                      </a:pPr>
                      <a:r>
                        <a:t>688</a:t>
                      </a:r>
                    </a:p>
                  </a:txBody>
                  <a:tcPr>
                    <a:solidFill>
                      <a:srgbClr val="E0E3E8"/>
                    </a:solidFill>
                  </a:tcPr>
                </a:tc>
                <a:tc>
                  <a:txBody>
                    <a:bodyPr/>
                    <a:lstStyle/>
                    <a:p>
                      <a:pPr>
                        <a:defRPr sz="1100">
                          <a:solidFill>
                            <a:srgbClr val="1C2A3A"/>
                          </a:solidFill>
                          <a:latin typeface="Calibri"/>
                        </a:defRPr>
                      </a:pPr>
                      <a:r>
                        <a:t>6,827</a:t>
                      </a:r>
                    </a:p>
                  </a:txBody>
                  <a:tcPr>
                    <a:solidFill>
                      <a:srgbClr val="E0E3E8"/>
                    </a:solidFill>
                  </a:tcPr>
                </a:tc>
                <a:tc>
                  <a:txBody>
                    <a:bodyPr/>
                    <a:lstStyle/>
                    <a:p>
                      <a:pPr>
                        <a:defRPr sz="1100">
                          <a:solidFill>
                            <a:srgbClr val="1C2A3A"/>
                          </a:solidFill>
                          <a:latin typeface="Calibri"/>
                        </a:defRPr>
                      </a:pPr>
                      <a:r>
                        <a:t>6,837</a:t>
                      </a:r>
                    </a:p>
                  </a:txBody>
                  <a:tcPr>
                    <a:solidFill>
                      <a:srgbClr val="E0E3E8"/>
                    </a:solidFill>
                  </a:tcPr>
                </a:tc>
              </a:tr>
              <a:tr h="400050">
                <a:tc>
                  <a:txBody>
                    <a:bodyPr/>
                    <a:lstStyle/>
                    <a:p>
                      <a:pPr>
                        <a:defRPr sz="1100">
                          <a:solidFill>
                            <a:srgbClr val="1C2A3A"/>
                          </a:solidFill>
                          <a:latin typeface="Calibri"/>
                        </a:defRPr>
                      </a:pPr>
                      <a:r>
                        <a:t>Completion Tokens (total)</a:t>
                      </a:r>
                    </a:p>
                  </a:txBody>
                  <a:tcPr/>
                </a:tc>
                <a:tc>
                  <a:txBody>
                    <a:bodyPr/>
                    <a:lstStyle/>
                    <a:p>
                      <a:pPr>
                        <a:defRPr sz="1100">
                          <a:solidFill>
                            <a:srgbClr val="1C2A3A"/>
                          </a:solidFill>
                          <a:latin typeface="Calibri"/>
                        </a:defRPr>
                      </a:pPr>
                      <a:r>
                        <a:t>858</a:t>
                      </a:r>
                    </a:p>
                  </a:txBody>
                  <a:tcPr/>
                </a:tc>
                <a:tc>
                  <a:txBody>
                    <a:bodyPr/>
                    <a:lstStyle/>
                    <a:p>
                      <a:pPr>
                        <a:defRPr sz="1100">
                          <a:solidFill>
                            <a:srgbClr val="1C2A3A"/>
                          </a:solidFill>
                          <a:latin typeface="Calibri"/>
                        </a:defRPr>
                      </a:pPr>
                      <a:r>
                        <a:t>735</a:t>
                      </a:r>
                    </a:p>
                  </a:txBody>
                  <a:tcPr/>
                </a:tc>
                <a:tc>
                  <a:txBody>
                    <a:bodyPr/>
                    <a:lstStyle/>
                    <a:p>
                      <a:pPr>
                        <a:defRPr sz="1100">
                          <a:solidFill>
                            <a:srgbClr val="1C2A3A"/>
                          </a:solidFill>
                          <a:latin typeface="Calibri"/>
                        </a:defRPr>
                      </a:pPr>
                      <a:r>
                        <a:t>1,365</a:t>
                      </a:r>
                    </a:p>
                  </a:txBody>
                  <a:tcPr/>
                </a:tc>
                <a:tc>
                  <a:txBody>
                    <a:bodyPr/>
                    <a:lstStyle/>
                    <a:p>
                      <a:pPr>
                        <a:defRPr sz="1100">
                          <a:solidFill>
                            <a:srgbClr val="1C2A3A"/>
                          </a:solidFill>
                          <a:latin typeface="Calibri"/>
                        </a:defRPr>
                      </a:pPr>
                      <a:r>
                        <a:t>1,470</a:t>
                      </a:r>
                    </a:p>
                  </a:txBody>
                  <a:tcPr/>
                </a:tc>
              </a:tr>
              <a:tr h="400050">
                <a:tc>
                  <a:txBody>
                    <a:bodyPr/>
                    <a:lstStyle/>
                    <a:p>
                      <a:pPr>
                        <a:defRPr sz="1100">
                          <a:solidFill>
                            <a:srgbClr val="1C2A3A"/>
                          </a:solidFill>
                          <a:latin typeface="Calibri"/>
                        </a:defRPr>
                      </a:pPr>
                      <a:r>
                        <a:t>Throughput (tokens/sec)</a:t>
                      </a:r>
                    </a:p>
                  </a:txBody>
                  <a:tcPr>
                    <a:solidFill>
                      <a:srgbClr val="E0E3E8"/>
                    </a:solidFill>
                  </a:tcPr>
                </a:tc>
                <a:tc>
                  <a:txBody>
                    <a:bodyPr/>
                    <a:lstStyle/>
                    <a:p>
                      <a:pPr>
                        <a:defRPr sz="1100">
                          <a:solidFill>
                            <a:srgbClr val="1C2A3A"/>
                          </a:solidFill>
                          <a:latin typeface="Calibri"/>
                        </a:defRPr>
                      </a:pPr>
                      <a:r>
                        <a:t>3</a:t>
                      </a:r>
                    </a:p>
                  </a:txBody>
                  <a:tcPr>
                    <a:solidFill>
                      <a:srgbClr val="E0E3E8"/>
                    </a:solidFill>
                  </a:tcPr>
                </a:tc>
                <a:tc>
                  <a:txBody>
                    <a:bodyPr/>
                    <a:lstStyle/>
                    <a:p>
                      <a:pPr>
                        <a:defRPr sz="1100">
                          <a:solidFill>
                            <a:srgbClr val="1C2A3A"/>
                          </a:solidFill>
                          <a:latin typeface="Calibri"/>
                        </a:defRPr>
                      </a:pPr>
                      <a:r>
                        <a:t>5</a:t>
                      </a:r>
                    </a:p>
                  </a:txBody>
                  <a:tcPr>
                    <a:solidFill>
                      <a:srgbClr val="E0E3E8"/>
                    </a:solidFill>
                  </a:tcPr>
                </a:tc>
                <a:tc>
                  <a:txBody>
                    <a:bodyPr/>
                    <a:lstStyle/>
                    <a:p>
                      <a:pPr>
                        <a:defRPr sz="1100">
                          <a:solidFill>
                            <a:srgbClr val="1C2A3A"/>
                          </a:solidFill>
                          <a:latin typeface="Calibri"/>
                        </a:defRPr>
                      </a:pPr>
                      <a:r>
                        <a:t>12</a:t>
                      </a:r>
                    </a:p>
                  </a:txBody>
                  <a:tcPr>
                    <a:solidFill>
                      <a:srgbClr val="E0E3E8"/>
                    </a:solidFill>
                  </a:tcPr>
                </a:tc>
                <a:tc>
                  <a:txBody>
                    <a:bodyPr/>
                    <a:lstStyle/>
                    <a:p>
                      <a:pPr>
                        <a:defRPr sz="1100">
                          <a:solidFill>
                            <a:srgbClr val="1C2A3A"/>
                          </a:solidFill>
                          <a:latin typeface="Calibri"/>
                        </a:defRPr>
                      </a:pPr>
                      <a:r>
                        <a:t>8</a:t>
                      </a:r>
                    </a:p>
                  </a:txBody>
                  <a:tcPr>
                    <a:solidFill>
                      <a:srgbClr val="E0E3E8"/>
                    </a:solidFill>
                  </a:tcPr>
                </a:tc>
              </a:tr>
              <a:tr h="400050">
                <a:tc>
                  <a:txBody>
                    <a:bodyPr/>
                    <a:lstStyle/>
                    <a:p>
                      <a:pPr>
                        <a:defRPr sz="1100">
                          <a:solidFill>
                            <a:srgbClr val="1C2A3A"/>
                          </a:solidFill>
                          <a:latin typeface="Calibri"/>
                        </a:defRPr>
                      </a:pPr>
                      <a:r>
                        <a:t>Cost / 1K Queries</a:t>
                      </a:r>
                    </a:p>
                  </a:txBody>
                  <a:tcPr/>
                </a:tc>
                <a:tc>
                  <a:txBody>
                    <a:bodyPr/>
                    <a:lstStyle/>
                    <a:p>
                      <a:pPr>
                        <a:defRPr sz="1100">
                          <a:solidFill>
                            <a:srgbClr val="1C2A3A"/>
                          </a:solidFill>
                          <a:latin typeface="Calibri"/>
                        </a:defRPr>
                      </a:pPr>
                      <a:r>
                        <a:t>$0.0628</a:t>
                      </a:r>
                    </a:p>
                  </a:txBody>
                  <a:tcPr/>
                </a:tc>
                <a:tc>
                  <a:txBody>
                    <a:bodyPr/>
                    <a:lstStyle/>
                    <a:p>
                      <a:pPr>
                        <a:defRPr sz="1100">
                          <a:solidFill>
                            <a:srgbClr val="1C2A3A"/>
                          </a:solidFill>
                          <a:latin typeface="Calibri"/>
                        </a:defRPr>
                      </a:pPr>
                      <a:r>
                        <a:t>$0.0569</a:t>
                      </a:r>
                    </a:p>
                  </a:txBody>
                  <a:tcPr/>
                </a:tc>
                <a:tc>
                  <a:txBody>
                    <a:bodyPr/>
                    <a:lstStyle/>
                    <a:p>
                      <a:pPr>
                        <a:defRPr sz="1100">
                          <a:solidFill>
                            <a:srgbClr val="1C2A3A"/>
                          </a:solidFill>
                          <a:latin typeface="Calibri"/>
                        </a:defRPr>
                      </a:pPr>
                      <a:r>
                        <a:t>$0.3277</a:t>
                      </a:r>
                    </a:p>
                  </a:txBody>
                  <a:tcPr/>
                </a:tc>
                <a:tc>
                  <a:txBody>
                    <a:bodyPr/>
                    <a:lstStyle/>
                    <a:p>
                      <a:pPr>
                        <a:defRPr sz="1100">
                          <a:solidFill>
                            <a:srgbClr val="1C2A3A"/>
                          </a:solidFill>
                          <a:latin typeface="Calibri"/>
                        </a:defRPr>
                      </a:pPr>
                      <a:r>
                        <a:t>$0.3323</a:t>
                      </a:r>
                    </a:p>
                  </a:txBody>
                  <a:tcPr/>
                </a:tc>
              </a:tr>
              <a:tr h="400050">
                <a:tc>
                  <a:txBody>
                    <a:bodyPr/>
                    <a:lstStyle/>
                    <a:p>
                      <a:pPr>
                        <a:defRPr sz="1100">
                          <a:solidFill>
                            <a:srgbClr val="1C2A3A"/>
                          </a:solidFill>
                          <a:latin typeface="Calibri"/>
                        </a:defRPr>
                      </a:pPr>
                      <a:r>
                        <a:t>Total Benchmark Cost</a:t>
                      </a:r>
                    </a:p>
                  </a:txBody>
                  <a:tcPr>
                    <a:solidFill>
                      <a:srgbClr val="E0E3E8"/>
                    </a:solidFill>
                  </a:tcPr>
                </a:tc>
                <a:tc>
                  <a:txBody>
                    <a:bodyPr/>
                    <a:lstStyle/>
                    <a:p>
                      <a:pPr>
                        <a:defRPr sz="1100">
                          <a:solidFill>
                            <a:srgbClr val="1C2A3A"/>
                          </a:solidFill>
                          <a:latin typeface="Calibri"/>
                        </a:defRPr>
                      </a:pPr>
                      <a:r>
                        <a:t>$0.000314</a:t>
                      </a:r>
                    </a:p>
                  </a:txBody>
                  <a:tcPr>
                    <a:solidFill>
                      <a:srgbClr val="E0E3E8"/>
                    </a:solidFill>
                  </a:tcPr>
                </a:tc>
                <a:tc>
                  <a:txBody>
                    <a:bodyPr/>
                    <a:lstStyle/>
                    <a:p>
                      <a:pPr>
                        <a:defRPr sz="1100">
                          <a:solidFill>
                            <a:srgbClr val="1C2A3A"/>
                          </a:solidFill>
                          <a:latin typeface="Calibri"/>
                        </a:defRPr>
                      </a:pPr>
                      <a:r>
                        <a:t>$0.000285</a:t>
                      </a:r>
                    </a:p>
                  </a:txBody>
                  <a:tcPr>
                    <a:solidFill>
                      <a:srgbClr val="E0E3E8"/>
                    </a:solidFill>
                  </a:tcPr>
                </a:tc>
                <a:tc>
                  <a:txBody>
                    <a:bodyPr/>
                    <a:lstStyle/>
                    <a:p>
                      <a:pPr>
                        <a:defRPr sz="1100">
                          <a:solidFill>
                            <a:srgbClr val="1C2A3A"/>
                          </a:solidFill>
                          <a:latin typeface="Calibri"/>
                        </a:defRPr>
                      </a:pPr>
                      <a:r>
                        <a:t>$0.0016</a:t>
                      </a:r>
                    </a:p>
                  </a:txBody>
                  <a:tcPr>
                    <a:solidFill>
                      <a:srgbClr val="E0E3E8"/>
                    </a:solidFill>
                  </a:tcPr>
                </a:tc>
                <a:tc>
                  <a:txBody>
                    <a:bodyPr/>
                    <a:lstStyle/>
                    <a:p>
                      <a:pPr>
                        <a:defRPr sz="1100">
                          <a:solidFill>
                            <a:srgbClr val="1C2A3A"/>
                          </a:solidFill>
                          <a:latin typeface="Calibri"/>
                        </a:defRPr>
                      </a:pPr>
                      <a:r>
                        <a:t>$0.0017</a:t>
                      </a:r>
                    </a:p>
                  </a:txBody>
                  <a:tcPr>
                    <a:solidFill>
                      <a:srgbClr val="E0E3E8"/>
                    </a:solidFill>
                  </a:tcPr>
                </a:tc>
              </a:tr>
            </a:tbl>
          </a:graphicData>
        </a:graphic>
      </p:graphicFrame>
      <p:graphicFrame>
        <p:nvGraphicFramePr>
          <p:cNvPr id="4" name="Chart 3"/>
          <p:cNvGraphicFramePr>
            <a:graphicFrameLocks noGrp="1"/>
          </p:cNvGraphicFramePr>
          <p:nvPr/>
        </p:nvGraphicFramePr>
        <p:xfrm>
          <a:off x="457200" y="4754880"/>
          <a:ext cx="5303520" cy="1828800"/>
        </p:xfrm>
        <a:graphic>
          <a:graphicData uri="http://schemas.openxmlformats.org/drawingml/2006/chart">
            <c:chart xmlns:c="http://schemas.openxmlformats.org/drawingml/2006/chart" r:id="rId2"/>
          </a:graphicData>
        </a:graphic>
      </p:graphicFrame>
      <p:graphicFrame>
        <p:nvGraphicFramePr>
          <p:cNvPr id="5" name="Chart 4"/>
          <p:cNvGraphicFramePr>
            <a:graphicFrameLocks noGrp="1"/>
          </p:cNvGraphicFramePr>
          <p:nvPr/>
        </p:nvGraphicFramePr>
        <p:xfrm>
          <a:off x="6217920" y="4754880"/>
          <a:ext cx="5303520" cy="1828800"/>
        </p:xfrm>
        <a:graphic>
          <a:graphicData uri="http://schemas.openxmlformats.org/drawingml/2006/chart">
            <c:chart xmlns:c="http://schemas.openxmlformats.org/drawingml/2006/chart" r:id="rId3"/>
          </a:graphicData>
        </a:graphic>
      </p:graphicFrame>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38/55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2: Llama2 7B - Numerical Reasoning - Quality Metrics</a:t>
            </a:r>
          </a:p>
        </p:txBody>
      </p:sp>
      <p:graphicFrame>
        <p:nvGraphicFramePr>
          <p:cNvPr id="3" name="Table 2"/>
          <p:cNvGraphicFramePr>
            <a:graphicFrameLocks noGrp="1"/>
          </p:cNvGraphicFramePr>
          <p:nvPr/>
        </p:nvGraphicFramePr>
        <p:xfrm>
          <a:off x="457200" y="1371600"/>
          <a:ext cx="11247120" cy="1371600"/>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457200">
                <a:tc>
                  <a:txBody>
                    <a:bodyPr/>
                    <a:lstStyle/>
                    <a:p>
                      <a:pPr algn="ctr">
                        <a:defRPr sz="1200" b="1">
                          <a:solidFill>
                            <a:srgbClr val="FFFFFF"/>
                          </a:solidFill>
                          <a:latin typeface="Calibri"/>
                        </a:defRPr>
                      </a:pPr>
                      <a:r>
                        <a:t>Metric</a:t>
                      </a:r>
                    </a:p>
                  </a:txBody>
                  <a:tcPr>
                    <a:solidFill>
                      <a:srgbClr val="2E86C1"/>
                    </a:solidFill>
                  </a:tcPr>
                </a:tc>
                <a:tc>
                  <a:txBody>
                    <a:bodyPr/>
                    <a:lstStyle/>
                    <a:p>
                      <a:pPr algn="ctr">
                        <a:defRPr sz="1200" b="1">
                          <a:solidFill>
                            <a:srgbClr val="FFFFFF"/>
                          </a:solidFill>
                          <a:latin typeface="Calibri"/>
                        </a:defRPr>
                      </a:pPr>
                      <a:r>
                        <a:t>Base Llama2-7B</a:t>
                      </a:r>
                    </a:p>
                  </a:txBody>
                  <a:tcPr>
                    <a:solidFill>
                      <a:srgbClr val="2E86C1"/>
                    </a:solidFill>
                  </a:tcPr>
                </a:tc>
                <a:tc>
                  <a:txBody>
                    <a:bodyPr/>
                    <a:lstStyle/>
                    <a:p>
                      <a:pPr algn="ctr">
                        <a:defRPr sz="1200" b="1">
                          <a:solidFill>
                            <a:srgbClr val="FFFFFF"/>
                          </a:solidFill>
                          <a:latin typeface="Calibri"/>
                        </a:defRPr>
                      </a:pPr>
                      <a:r>
                        <a:t>FinQA-7B</a:t>
                      </a:r>
                    </a:p>
                  </a:txBody>
                  <a:tcPr>
                    <a:solidFill>
                      <a:srgbClr val="2E86C1"/>
                    </a:solidFill>
                  </a:tcPr>
                </a:tc>
                <a:tc>
                  <a:txBody>
                    <a:bodyPr/>
                    <a:lstStyle/>
                    <a:p>
                      <a:pPr algn="ctr">
                        <a:defRPr sz="1200" b="1">
                          <a:solidFill>
                            <a:srgbClr val="FFFFFF"/>
                          </a:solidFill>
                          <a:latin typeface="Calibri"/>
                        </a:defRPr>
                      </a:pPr>
                      <a:r>
                        <a:t>Llama2-7B + RAG</a:t>
                      </a:r>
                    </a:p>
                  </a:txBody>
                  <a:tcPr>
                    <a:solidFill>
                      <a:srgbClr val="2E86C1"/>
                    </a:solidFill>
                  </a:tcPr>
                </a:tc>
                <a:tc>
                  <a:txBody>
                    <a:bodyPr/>
                    <a:lstStyle/>
                    <a:p>
                      <a:pPr algn="ctr">
                        <a:defRPr sz="1200" b="1">
                          <a:solidFill>
                            <a:srgbClr val="FFFFFF"/>
                          </a:solidFill>
                          <a:latin typeface="Calibri"/>
                        </a:defRPr>
                      </a:pPr>
                      <a:r>
                        <a:t>FinQA-7B + RAG</a:t>
                      </a:r>
                    </a:p>
                  </a:txBody>
                  <a:tcPr>
                    <a:solidFill>
                      <a:srgbClr val="2E86C1"/>
                    </a:solidFill>
                  </a:tcPr>
                </a:tc>
              </a:tr>
              <a:tr h="457200">
                <a:tc>
                  <a:txBody>
                    <a:bodyPr/>
                    <a:lstStyle/>
                    <a:p>
                      <a:pPr>
                        <a:defRPr sz="1100">
                          <a:solidFill>
                            <a:srgbClr val="1C2A3A"/>
                          </a:solidFill>
                          <a:latin typeface="Calibri"/>
                        </a:defRPr>
                      </a:pPr>
                      <a:r>
                        <a:t>MAPE (Mean Abs % Error)</a:t>
                      </a:r>
                    </a:p>
                  </a:txBody>
                  <a:tcPr>
                    <a:solidFill>
                      <a:srgbClr val="E0E3E8"/>
                    </a:solidFill>
                  </a:tcPr>
                </a:tc>
                <a:tc>
                  <a:txBody>
                    <a:bodyPr/>
                    <a:lstStyle/>
                    <a:p>
                      <a:pPr>
                        <a:defRPr sz="1100">
                          <a:solidFill>
                            <a:srgbClr val="1C2A3A"/>
                          </a:solidFill>
                          <a:latin typeface="Calibri"/>
                        </a:defRPr>
                      </a:pPr>
                      <a:r>
                        <a:t>838.5%</a:t>
                      </a:r>
                    </a:p>
                  </a:txBody>
                  <a:tcPr>
                    <a:solidFill>
                      <a:srgbClr val="E0E3E8"/>
                    </a:solidFill>
                  </a:tcPr>
                </a:tc>
                <a:tc>
                  <a:txBody>
                    <a:bodyPr/>
                    <a:lstStyle/>
                    <a:p>
                      <a:pPr>
                        <a:defRPr sz="1100">
                          <a:solidFill>
                            <a:srgbClr val="1C2A3A"/>
                          </a:solidFill>
                          <a:latin typeface="Calibri"/>
                        </a:defRPr>
                      </a:pPr>
                      <a:r>
                        <a:t>109.7%</a:t>
                      </a:r>
                    </a:p>
                  </a:txBody>
                  <a:tcPr>
                    <a:solidFill>
                      <a:srgbClr val="E0E3E8"/>
                    </a:solidFill>
                  </a:tcPr>
                </a:tc>
                <a:tc>
                  <a:txBody>
                    <a:bodyPr/>
                    <a:lstStyle/>
                    <a:p>
                      <a:pPr>
                        <a:defRPr sz="1100">
                          <a:solidFill>
                            <a:srgbClr val="1C2A3A"/>
                          </a:solidFill>
                          <a:latin typeface="Calibri"/>
                        </a:defRPr>
                      </a:pPr>
                      <a:r>
                        <a:t>190.6%</a:t>
                      </a:r>
                    </a:p>
                  </a:txBody>
                  <a:tcPr>
                    <a:solidFill>
                      <a:srgbClr val="E0E3E8"/>
                    </a:solidFill>
                  </a:tcPr>
                </a:tc>
                <a:tc>
                  <a:txBody>
                    <a:bodyPr/>
                    <a:lstStyle/>
                    <a:p>
                      <a:pPr>
                        <a:defRPr sz="1100">
                          <a:solidFill>
                            <a:srgbClr val="1C2A3A"/>
                          </a:solidFill>
                          <a:latin typeface="Calibri"/>
                        </a:defRPr>
                      </a:pPr>
                      <a:r>
                        <a:t>232.4%</a:t>
                      </a:r>
                    </a:p>
                  </a:txBody>
                  <a:tcPr>
                    <a:solidFill>
                      <a:srgbClr val="E0E3E8"/>
                    </a:solidFill>
                  </a:tcPr>
                </a:tc>
              </a:tr>
              <a:tr h="457200">
                <a:tc>
                  <a:txBody>
                    <a:bodyPr/>
                    <a:lstStyle/>
                    <a:p>
                      <a:pPr>
                        <a:defRPr sz="1100">
                          <a:solidFill>
                            <a:srgbClr val="1C2A3A"/>
                          </a:solidFill>
                          <a:latin typeface="Calibri"/>
                        </a:defRPr>
                      </a:pPr>
                      <a:r>
                        <a:t>Accuracy</a:t>
                      </a:r>
                    </a:p>
                  </a:txBody>
                  <a:tcPr/>
                </a:tc>
                <a:tc>
                  <a:txBody>
                    <a:bodyPr/>
                    <a:lstStyle/>
                    <a:p>
                      <a:pPr>
                        <a:defRPr sz="1100">
                          <a:solidFill>
                            <a:srgbClr val="1C2A3A"/>
                          </a:solidFill>
                          <a:latin typeface="Calibri"/>
                        </a:defRPr>
                      </a:pPr>
                      <a:r>
                        <a:t>20.0%</a:t>
                      </a:r>
                    </a:p>
                  </a:txBody>
                  <a:tcPr/>
                </a:tc>
                <a:tc>
                  <a:txBody>
                    <a:bodyPr/>
                    <a:lstStyle/>
                    <a:p>
                      <a:pPr>
                        <a:defRPr sz="1100">
                          <a:solidFill>
                            <a:srgbClr val="1C2A3A"/>
                          </a:solidFill>
                          <a:latin typeface="Calibri"/>
                        </a:defRPr>
                      </a:pPr>
                      <a:r>
                        <a:t>20.0%</a:t>
                      </a:r>
                    </a:p>
                  </a:txBody>
                  <a:tcPr/>
                </a:tc>
                <a:tc>
                  <a:txBody>
                    <a:bodyPr/>
                    <a:lstStyle/>
                    <a:p>
                      <a:pPr>
                        <a:defRPr sz="1100">
                          <a:solidFill>
                            <a:srgbClr val="1C2A3A"/>
                          </a:solidFill>
                          <a:latin typeface="Calibri"/>
                        </a:defRPr>
                      </a:pPr>
                      <a:r>
                        <a:t>20.0%</a:t>
                      </a:r>
                    </a:p>
                  </a:txBody>
                  <a:tcPr/>
                </a:tc>
                <a:tc>
                  <a:txBody>
                    <a:bodyPr/>
                    <a:lstStyle/>
                    <a:p>
                      <a:pPr>
                        <a:defRPr sz="1100">
                          <a:solidFill>
                            <a:srgbClr val="1C2A3A"/>
                          </a:solidFill>
                          <a:latin typeface="Calibri"/>
                        </a:defRPr>
                      </a:pPr>
                      <a:r>
                        <a:t>20.0%</a:t>
                      </a:r>
                    </a:p>
                  </a:txBody>
                  <a:tcPr/>
                </a:tc>
              </a:tr>
            </a:tbl>
          </a:graphicData>
        </a:graphic>
      </p:graphicFrame>
      <p:graphicFrame>
        <p:nvGraphicFramePr>
          <p:cNvPr id="4" name="Chart 3"/>
          <p:cNvGraphicFramePr>
            <a:graphicFrameLocks noGrp="1"/>
          </p:cNvGraphicFramePr>
          <p:nvPr/>
        </p:nvGraphicFramePr>
        <p:xfrm>
          <a:off x="457200" y="2926080"/>
          <a:ext cx="5303520" cy="3200400"/>
        </p:xfrm>
        <a:graphic>
          <a:graphicData uri="http://schemas.openxmlformats.org/drawingml/2006/chart">
            <c:chart xmlns:c="http://schemas.openxmlformats.org/drawingml/2006/chart" r:id="rId2"/>
          </a:graphicData>
        </a:graphic>
      </p:graphicFrame>
      <p:sp>
        <p:nvSpPr>
          <p:cNvPr id="5" name="Rectangle 4"/>
          <p:cNvSpPr/>
          <p:nvPr/>
        </p:nvSpPr>
        <p:spPr>
          <a:xfrm>
            <a:off x="6217920" y="2926080"/>
            <a:ext cx="5303520" cy="3200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Insight</a:t>
            </a:r>
          </a:p>
          <a:p>
            <a:pPr>
              <a:defRPr sz="1200">
                <a:solidFill>
                  <a:srgbClr val="1C2A3A"/>
                </a:solidFill>
                <a:latin typeface="Calibri"/>
              </a:defRPr>
            </a:pPr>
            <a:r>
              <a:t>FinQA-7B (fine-tuned) has lowest MAPE (109.7%), meaning its numerical answers are closest to expected values.</a:t>
            </a:r>
            <a:br/>
            <a:br/>
            <a:r>
              <a:t>Lower MAPE = more precise calculations.</a:t>
            </a:r>
          </a:p>
        </p:txBody>
      </p:sp>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39/55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2: Llama2 7B - Numerical Reasoning - Category Breakdown</a:t>
            </a:r>
          </a:p>
        </p:txBody>
      </p:sp>
      <p:graphicFrame>
        <p:nvGraphicFramePr>
          <p:cNvPr id="3" name="Table 2"/>
          <p:cNvGraphicFramePr>
            <a:graphicFrameLocks noGrp="1"/>
          </p:cNvGraphicFramePr>
          <p:nvPr/>
        </p:nvGraphicFramePr>
        <p:xfrm>
          <a:off x="457200" y="1371600"/>
          <a:ext cx="11247120" cy="228600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762000">
                <a:tc>
                  <a:txBody>
                    <a:bodyPr/>
                    <a:lstStyle/>
                    <a:p>
                      <a:pPr algn="ctr">
                        <a:defRPr sz="1200" b="1">
                          <a:solidFill>
                            <a:srgbClr val="FFFFFF"/>
                          </a:solidFill>
                          <a:latin typeface="Calibri"/>
                        </a:defRPr>
                      </a:pPr>
                      <a:r>
                        <a:t>Category</a:t>
                      </a:r>
                    </a:p>
                  </a:txBody>
                  <a:tcPr>
                    <a:solidFill>
                      <a:srgbClr val="2E86C1"/>
                    </a:solidFill>
                  </a:tcPr>
                </a:tc>
                <a:tc>
                  <a:txBody>
                    <a:bodyPr/>
                    <a:lstStyle/>
                    <a:p>
                      <a:pPr algn="ctr">
                        <a:defRPr sz="1200" b="1">
                          <a:solidFill>
                            <a:srgbClr val="FFFFFF"/>
                          </a:solidFill>
                          <a:latin typeface="Calibri"/>
                        </a:defRPr>
                      </a:pPr>
                      <a:r>
                        <a:t>Cases</a:t>
                      </a:r>
                    </a:p>
                  </a:txBody>
                  <a:tcPr>
                    <a:solidFill>
                      <a:srgbClr val="2E86C1"/>
                    </a:solidFill>
                  </a:tcPr>
                </a:tc>
                <a:tc>
                  <a:txBody>
                    <a:bodyPr/>
                    <a:lstStyle/>
                    <a:p>
                      <a:pPr algn="ctr">
                        <a:defRPr sz="1200" b="1">
                          <a:solidFill>
                            <a:srgbClr val="FFFFFF"/>
                          </a:solidFill>
                          <a:latin typeface="Calibri"/>
                        </a:defRPr>
                      </a:pPr>
                      <a:r>
                        <a:t>Base Llama2-7B</a:t>
                      </a:r>
                    </a:p>
                  </a:txBody>
                  <a:tcPr>
                    <a:solidFill>
                      <a:srgbClr val="2E86C1"/>
                    </a:solidFill>
                  </a:tcPr>
                </a:tc>
                <a:tc>
                  <a:txBody>
                    <a:bodyPr/>
                    <a:lstStyle/>
                    <a:p>
                      <a:pPr algn="ctr">
                        <a:defRPr sz="1200" b="1">
                          <a:solidFill>
                            <a:srgbClr val="FFFFFF"/>
                          </a:solidFill>
                          <a:latin typeface="Calibri"/>
                        </a:defRPr>
                      </a:pPr>
                      <a:r>
                        <a:t>FinQA-7B</a:t>
                      </a:r>
                    </a:p>
                  </a:txBody>
                  <a:tcPr>
                    <a:solidFill>
                      <a:srgbClr val="2E86C1"/>
                    </a:solidFill>
                  </a:tcPr>
                </a:tc>
                <a:tc>
                  <a:txBody>
                    <a:bodyPr/>
                    <a:lstStyle/>
                    <a:p>
                      <a:pPr algn="ctr">
                        <a:defRPr sz="1200" b="1">
                          <a:solidFill>
                            <a:srgbClr val="FFFFFF"/>
                          </a:solidFill>
                          <a:latin typeface="Calibri"/>
                        </a:defRPr>
                      </a:pPr>
                      <a:r>
                        <a:t>Llama2-7B + RAG</a:t>
                      </a:r>
                    </a:p>
                  </a:txBody>
                  <a:tcPr>
                    <a:solidFill>
                      <a:srgbClr val="2E86C1"/>
                    </a:solidFill>
                  </a:tcPr>
                </a:tc>
                <a:tc>
                  <a:txBody>
                    <a:bodyPr/>
                    <a:lstStyle/>
                    <a:p>
                      <a:pPr algn="ctr">
                        <a:defRPr sz="1200" b="1">
                          <a:solidFill>
                            <a:srgbClr val="FFFFFF"/>
                          </a:solidFill>
                          <a:latin typeface="Calibri"/>
                        </a:defRPr>
                      </a:pPr>
                      <a:r>
                        <a:t>FinQA-7B + RAG</a:t>
                      </a:r>
                    </a:p>
                  </a:txBody>
                  <a:tcPr>
                    <a:solidFill>
                      <a:srgbClr val="2E86C1"/>
                    </a:solidFill>
                  </a:tcPr>
                </a:tc>
              </a:tr>
              <a:tr h="762000">
                <a:tc>
                  <a:txBody>
                    <a:bodyPr/>
                    <a:lstStyle/>
                    <a:p>
                      <a:pPr>
                        <a:defRPr sz="1100">
                          <a:solidFill>
                            <a:srgbClr val="1C2A3A"/>
                          </a:solidFill>
                          <a:latin typeface="Calibri"/>
                        </a:defRPr>
                      </a:pPr>
                      <a:r>
                        <a:t>Multi Step</a:t>
                      </a:r>
                    </a:p>
                  </a:txBody>
                  <a:tcPr>
                    <a:solidFill>
                      <a:srgbClr val="E0E3E8"/>
                    </a:solidFill>
                  </a:tcPr>
                </a:tc>
                <a:tc>
                  <a:txBody>
                    <a:bodyPr/>
                    <a:lstStyle/>
                    <a:p>
                      <a:pPr>
                        <a:defRPr sz="1100">
                          <a:solidFill>
                            <a:srgbClr val="1C2A3A"/>
                          </a:solidFill>
                          <a:latin typeface="Calibri"/>
                        </a:defRPr>
                      </a:pPr>
                      <a:r>
                        <a:t>2</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c>
                  <a:txBody>
                    <a:bodyPr/>
                    <a:lstStyle/>
                    <a:p>
                      <a:pPr>
                        <a:defRPr sz="1100">
                          <a:solidFill>
                            <a:srgbClr val="1C2A3A"/>
                          </a:solidFill>
                          <a:latin typeface="Calibri"/>
                        </a:defRPr>
                      </a:pPr>
                      <a:r>
                        <a:t>50.0%</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r>
              <a:tr h="762000">
                <a:tc>
                  <a:txBody>
                    <a:bodyPr/>
                    <a:lstStyle/>
                    <a:p>
                      <a:pPr>
                        <a:defRPr sz="1100">
                          <a:solidFill>
                            <a:srgbClr val="1C2A3A"/>
                          </a:solidFill>
                          <a:latin typeface="Calibri"/>
                        </a:defRPr>
                      </a:pPr>
                      <a:r>
                        <a:t>Single Step</a:t>
                      </a:r>
                    </a:p>
                  </a:txBody>
                  <a:tcPr/>
                </a:tc>
                <a:tc>
                  <a:txBody>
                    <a:bodyPr/>
                    <a:lstStyle/>
                    <a:p>
                      <a:pPr>
                        <a:defRPr sz="1100">
                          <a:solidFill>
                            <a:srgbClr val="1C2A3A"/>
                          </a:solidFill>
                          <a:latin typeface="Calibri"/>
                        </a:defRPr>
                      </a:pPr>
                      <a:r>
                        <a:t>3</a:t>
                      </a:r>
                    </a:p>
                  </a:txBody>
                  <a:tcPr/>
                </a:tc>
                <a:tc>
                  <a:txBody>
                    <a:bodyPr/>
                    <a:lstStyle/>
                    <a:p>
                      <a:pPr>
                        <a:defRPr sz="1100">
                          <a:solidFill>
                            <a:srgbClr val="1C2A3A"/>
                          </a:solidFill>
                          <a:latin typeface="Calibri"/>
                        </a:defRPr>
                      </a:pPr>
                      <a:r>
                        <a:t>33.3%</a:t>
                      </a:r>
                    </a:p>
                  </a:txBody>
                  <a:tcPr/>
                </a:tc>
                <a:tc>
                  <a:txBody>
                    <a:bodyPr/>
                    <a:lstStyle/>
                    <a:p>
                      <a:pPr>
                        <a:defRPr sz="1100">
                          <a:solidFill>
                            <a:srgbClr val="1C2A3A"/>
                          </a:solidFill>
                          <a:latin typeface="Calibri"/>
                        </a:defRPr>
                      </a:pPr>
                      <a:r>
                        <a:t>33.3%</a:t>
                      </a:r>
                    </a:p>
                  </a:txBody>
                  <a:tcPr/>
                </a:tc>
                <a:tc>
                  <a:txBody>
                    <a:bodyPr/>
                    <a:lstStyle/>
                    <a:p>
                      <a:pPr>
                        <a:defRPr sz="1100">
                          <a:solidFill>
                            <a:srgbClr val="1C2A3A"/>
                          </a:solidFill>
                          <a:latin typeface="Calibri"/>
                        </a:defRPr>
                      </a:pPr>
                      <a:r>
                        <a:t>0.0%</a:t>
                      </a:r>
                    </a:p>
                  </a:txBody>
                  <a:tcPr/>
                </a:tc>
                <a:tc>
                  <a:txBody>
                    <a:bodyPr/>
                    <a:lstStyle/>
                    <a:p>
                      <a:pPr>
                        <a:defRPr sz="1100">
                          <a:solidFill>
                            <a:srgbClr val="1C2A3A"/>
                          </a:solidFill>
                          <a:latin typeface="Calibri"/>
                        </a:defRPr>
                      </a:pPr>
                      <a:r>
                        <a:t>33.3%</a:t>
                      </a:r>
                    </a:p>
                  </a:txBody>
                  <a:tcPr/>
                </a:tc>
              </a:tr>
            </a:tbl>
          </a:graphicData>
        </a:graphic>
      </p:graphicFrame>
      <p:graphicFrame>
        <p:nvGraphicFramePr>
          <p:cNvPr id="4" name="Chart 3"/>
          <p:cNvGraphicFramePr>
            <a:graphicFrameLocks noGrp="1"/>
          </p:cNvGraphicFramePr>
          <p:nvPr/>
        </p:nvGraphicFramePr>
        <p:xfrm>
          <a:off x="457200" y="3840480"/>
          <a:ext cx="11247120" cy="2560320"/>
        </p:xfrm>
        <a:graphic>
          <a:graphicData uri="http://schemas.openxmlformats.org/drawingml/2006/chart">
            <c:chart xmlns:c="http://schemas.openxmlformats.org/drawingml/2006/chart" r:id="rId2"/>
          </a:graphicData>
        </a:graphic>
      </p:graphicFrame>
      <p:sp>
        <p:nvSpPr>
          <p:cNvPr id="5" name="TextBox 4"/>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40/55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2: Llama2 7B - Numerical Reasoning - Per-Example Results</a:t>
            </a:r>
          </a:p>
        </p:txBody>
      </p:sp>
      <p:graphicFrame>
        <p:nvGraphicFramePr>
          <p:cNvPr id="3" name="Table 2"/>
          <p:cNvGraphicFramePr>
            <a:graphicFrameLocks noGrp="1"/>
          </p:cNvGraphicFramePr>
          <p:nvPr/>
        </p:nvGraphicFramePr>
        <p:xfrm>
          <a:off x="274320" y="1280160"/>
          <a:ext cx="11612880" cy="4754880"/>
        </p:xfrm>
        <a:graphic>
          <a:graphicData uri="http://schemas.openxmlformats.org/drawingml/2006/table">
            <a:tbl>
              <a:tblPr firstRow="1" bandRow="1">
                <a:tableStyleId>{5C22544A-7EE6-4342-B048-85BDC9FD1C3A}</a:tableStyleId>
              </a:tblPr>
              <a:tblGrid>
                <a:gridCol w="1658982"/>
                <a:gridCol w="1658982"/>
                <a:gridCol w="1658982"/>
                <a:gridCol w="1658982"/>
                <a:gridCol w="1658982"/>
                <a:gridCol w="1658982"/>
                <a:gridCol w="1658988"/>
              </a:tblGrid>
              <a:tr h="792480">
                <a:tc>
                  <a:txBody>
                    <a:bodyPr/>
                    <a:lstStyle/>
                    <a:p>
                      <a:pPr algn="ctr">
                        <a:defRPr sz="1200" b="1">
                          <a:solidFill>
                            <a:srgbClr val="FFFFFF"/>
                          </a:solidFill>
                          <a:latin typeface="Calibri"/>
                        </a:defRPr>
                      </a:pPr>
                      <a:r>
                        <a:t>#</a:t>
                      </a:r>
                    </a:p>
                  </a:txBody>
                  <a:tcPr>
                    <a:solidFill>
                      <a:srgbClr val="2E86C1"/>
                    </a:solidFill>
                  </a:tcPr>
                </a:tc>
                <a:tc>
                  <a:txBody>
                    <a:bodyPr/>
                    <a:lstStyle/>
                    <a:p>
                      <a:pPr algn="ctr">
                        <a:defRPr sz="1200" b="1">
                          <a:solidFill>
                            <a:srgbClr val="FFFFFF"/>
                          </a:solidFill>
                          <a:latin typeface="Calibri"/>
                        </a:defRPr>
                      </a:pPr>
                      <a:r>
                        <a:t>Question</a:t>
                      </a:r>
                    </a:p>
                  </a:txBody>
                  <a:tcPr>
                    <a:solidFill>
                      <a:srgbClr val="2E86C1"/>
                    </a:solidFill>
                  </a:tcPr>
                </a:tc>
                <a:tc>
                  <a:txBody>
                    <a:bodyPr/>
                    <a:lstStyle/>
                    <a:p>
                      <a:pPr algn="ctr">
                        <a:defRPr sz="1200" b="1">
                          <a:solidFill>
                            <a:srgbClr val="FFFFFF"/>
                          </a:solidFill>
                          <a:latin typeface="Calibri"/>
                        </a:defRPr>
                      </a:pPr>
                      <a:r>
                        <a:t>Expected</a:t>
                      </a:r>
                    </a:p>
                  </a:txBody>
                  <a:tcPr>
                    <a:solidFill>
                      <a:srgbClr val="2E86C1"/>
                    </a:solidFill>
                  </a:tcPr>
                </a:tc>
                <a:tc>
                  <a:txBody>
                    <a:bodyPr/>
                    <a:lstStyle/>
                    <a:p>
                      <a:pPr algn="ctr">
                        <a:defRPr sz="1200" b="1">
                          <a:solidFill>
                            <a:srgbClr val="FFFFFF"/>
                          </a:solidFill>
                          <a:latin typeface="Calibri"/>
                        </a:defRPr>
                      </a:pPr>
                      <a:r>
                        <a:t>Base Llama2-7B</a:t>
                      </a:r>
                    </a:p>
                  </a:txBody>
                  <a:tcPr>
                    <a:solidFill>
                      <a:srgbClr val="2E86C1"/>
                    </a:solidFill>
                  </a:tcPr>
                </a:tc>
                <a:tc>
                  <a:txBody>
                    <a:bodyPr/>
                    <a:lstStyle/>
                    <a:p>
                      <a:pPr algn="ctr">
                        <a:defRPr sz="1200" b="1">
                          <a:solidFill>
                            <a:srgbClr val="FFFFFF"/>
                          </a:solidFill>
                          <a:latin typeface="Calibri"/>
                        </a:defRPr>
                      </a:pPr>
                      <a:r>
                        <a:t>FinQA-7B</a:t>
                      </a:r>
                    </a:p>
                  </a:txBody>
                  <a:tcPr>
                    <a:solidFill>
                      <a:srgbClr val="2E86C1"/>
                    </a:solidFill>
                  </a:tcPr>
                </a:tc>
                <a:tc>
                  <a:txBody>
                    <a:bodyPr/>
                    <a:lstStyle/>
                    <a:p>
                      <a:pPr algn="ctr">
                        <a:defRPr sz="1200" b="1">
                          <a:solidFill>
                            <a:srgbClr val="FFFFFF"/>
                          </a:solidFill>
                          <a:latin typeface="Calibri"/>
                        </a:defRPr>
                      </a:pPr>
                      <a:r>
                        <a:t>Llama2-7B + RAG</a:t>
                      </a:r>
                    </a:p>
                  </a:txBody>
                  <a:tcPr>
                    <a:solidFill>
                      <a:srgbClr val="2E86C1"/>
                    </a:solidFill>
                  </a:tcPr>
                </a:tc>
                <a:tc>
                  <a:txBody>
                    <a:bodyPr/>
                    <a:lstStyle/>
                    <a:p>
                      <a:pPr algn="ctr">
                        <a:defRPr sz="1200" b="1">
                          <a:solidFill>
                            <a:srgbClr val="FFFFFF"/>
                          </a:solidFill>
                          <a:latin typeface="Calibri"/>
                        </a:defRPr>
                      </a:pPr>
                      <a:r>
                        <a:t>FinQA-7B + RAG</a:t>
                      </a:r>
                    </a:p>
                  </a:txBody>
                  <a:tcPr>
                    <a:solidFill>
                      <a:srgbClr val="2E86C1"/>
                    </a:solidFill>
                  </a:tcPr>
                </a:tc>
              </a:tr>
              <a:tr h="792480">
                <a:tc>
                  <a:txBody>
                    <a:bodyPr/>
                    <a:lstStyle/>
                    <a:p>
                      <a:pPr>
                        <a:defRPr sz="1100">
                          <a:solidFill>
                            <a:srgbClr val="1C2A3A"/>
                          </a:solidFill>
                          <a:latin typeface="Calibri"/>
                        </a:defRPr>
                      </a:pPr>
                      <a:r>
                        <a:t>1</a:t>
                      </a:r>
                    </a:p>
                  </a:txBody>
                  <a:tcPr>
                    <a:solidFill>
                      <a:srgbClr val="E0E3E8"/>
                    </a:solidFill>
                  </a:tcPr>
                </a:tc>
                <a:tc>
                  <a:txBody>
                    <a:bodyPr/>
                    <a:lstStyle/>
                    <a:p>
                      <a:pPr>
                        <a:defRPr sz="1100">
                          <a:solidFill>
                            <a:srgbClr val="1C2A3A"/>
                          </a:solidFill>
                          <a:latin typeface="Calibri"/>
                        </a:defRPr>
                      </a:pPr>
                      <a:r>
                        <a:t>What was the percentage change in total reven...</a:t>
                      </a:r>
                    </a:p>
                  </a:txBody>
                  <a:tcPr>
                    <a:solidFill>
                      <a:srgbClr val="E0E3E8"/>
                    </a:solidFill>
                  </a:tcPr>
                </a:tc>
                <a:tc>
                  <a:txBody>
                    <a:bodyPr/>
                    <a:lstStyle/>
                    <a:p>
                      <a:pPr>
                        <a:defRPr sz="1100">
                          <a:solidFill>
                            <a:srgbClr val="1C2A3A"/>
                          </a:solidFill>
                          <a:latin typeface="Calibri"/>
                        </a:defRPr>
                      </a:pPr>
                      <a:r>
                        <a:t>2.45</a:t>
                      </a:r>
                    </a:p>
                  </a:txBody>
                  <a:tcPr>
                    <a:solidFill>
                      <a:srgbClr val="E0E3E8"/>
                    </a:solidFill>
                  </a:tcPr>
                </a:tc>
                <a:tc>
                  <a:txBody>
                    <a:bodyPr/>
                    <a:lstStyle/>
                    <a:p>
                      <a:pPr>
                        <a:defRPr sz="1100">
                          <a:solidFill>
                            <a:srgbClr val="1C2A3A"/>
                          </a:solidFill>
                          <a:latin typeface="Calibri"/>
                        </a:defRPr>
                      </a:pPr>
                      <a:r>
                        <a:t>100 [N]</a:t>
                      </a:r>
                    </a:p>
                  </a:txBody>
                  <a:tcPr>
                    <a:solidFill>
                      <a:srgbClr val="E0E3E8"/>
                    </a:solidFill>
                  </a:tcPr>
                </a:tc>
                <a:tc>
                  <a:txBody>
                    <a:bodyPr/>
                    <a:lstStyle/>
                    <a:p>
                      <a:pPr>
                        <a:defRPr sz="1100">
                          <a:solidFill>
                            <a:srgbClr val="1C2A3A"/>
                          </a:solidFill>
                          <a:latin typeface="Calibri"/>
                        </a:defRPr>
                      </a:pPr>
                      <a:r>
                        <a:t>10.4 [N]</a:t>
                      </a:r>
                    </a:p>
                  </a:txBody>
                  <a:tcPr>
                    <a:solidFill>
                      <a:srgbClr val="E0E3E8"/>
                    </a:solidFill>
                  </a:tcPr>
                </a:tc>
                <a:tc>
                  <a:txBody>
                    <a:bodyPr/>
                    <a:lstStyle/>
                    <a:p>
                      <a:pPr>
                        <a:defRPr sz="1100">
                          <a:solidFill>
                            <a:srgbClr val="1C2A3A"/>
                          </a:solidFill>
                          <a:latin typeface="Calibri"/>
                        </a:defRPr>
                      </a:pPr>
                      <a:r>
                        <a:t>3.0 [N]</a:t>
                      </a:r>
                    </a:p>
                  </a:txBody>
                  <a:tcPr>
                    <a:solidFill>
                      <a:srgbClr val="E0E3E8"/>
                    </a:solidFill>
                  </a:tcPr>
                </a:tc>
                <a:tc>
                  <a:txBody>
                    <a:bodyPr/>
                    <a:lstStyle/>
                    <a:p>
                      <a:pPr>
                        <a:defRPr sz="1100">
                          <a:solidFill>
                            <a:srgbClr val="1C2A3A"/>
                          </a:solidFill>
                          <a:latin typeface="Calibri"/>
                        </a:defRPr>
                      </a:pPr>
                      <a:r>
                        <a:t>8.7 [N]</a:t>
                      </a:r>
                    </a:p>
                  </a:txBody>
                  <a:tcPr>
                    <a:solidFill>
                      <a:srgbClr val="E0E3E8"/>
                    </a:solidFill>
                  </a:tcPr>
                </a:tc>
              </a:tr>
              <a:tr h="792480">
                <a:tc>
                  <a:txBody>
                    <a:bodyPr/>
                    <a:lstStyle/>
                    <a:p>
                      <a:pPr>
                        <a:defRPr sz="1100">
                          <a:solidFill>
                            <a:srgbClr val="1C2A3A"/>
                          </a:solidFill>
                          <a:latin typeface="Calibri"/>
                        </a:defRPr>
                      </a:pPr>
                      <a:r>
                        <a:t>2</a:t>
                      </a:r>
                    </a:p>
                  </a:txBody>
                  <a:tcPr/>
                </a:tc>
                <a:tc>
                  <a:txBody>
                    <a:bodyPr/>
                    <a:lstStyle/>
                    <a:p>
                      <a:pPr>
                        <a:defRPr sz="1100">
                          <a:solidFill>
                            <a:srgbClr val="1C2A3A"/>
                          </a:solidFill>
                          <a:latin typeface="Calibri"/>
                        </a:defRPr>
                      </a:pPr>
                      <a:r>
                        <a:t>Calculate the debt-to-equity ratio for 2023....</a:t>
                      </a:r>
                    </a:p>
                  </a:txBody>
                  <a:tcPr/>
                </a:tc>
                <a:tc>
                  <a:txBody>
                    <a:bodyPr/>
                    <a:lstStyle/>
                    <a:p>
                      <a:pPr>
                        <a:defRPr sz="1100">
                          <a:solidFill>
                            <a:srgbClr val="1C2A3A"/>
                          </a:solidFill>
                          <a:latin typeface="Calibri"/>
                        </a:defRPr>
                      </a:pPr>
                      <a:r>
                        <a:t>1.10</a:t>
                      </a:r>
                    </a:p>
                  </a:txBody>
                  <a:tcPr/>
                </a:tc>
                <a:tc>
                  <a:txBody>
                    <a:bodyPr/>
                    <a:lstStyle/>
                    <a:p>
                      <a:pPr>
                        <a:defRPr sz="1100">
                          <a:solidFill>
                            <a:srgbClr val="1C2A3A"/>
                          </a:solidFill>
                          <a:latin typeface="Calibri"/>
                        </a:defRPr>
                      </a:pPr>
                      <a:r>
                        <a:t>1.11 [Y]</a:t>
                      </a:r>
                    </a:p>
                  </a:txBody>
                  <a:tcPr/>
                </a:tc>
                <a:tc>
                  <a:txBody>
                    <a:bodyPr/>
                    <a:lstStyle/>
                    <a:p>
                      <a:pPr>
                        <a:defRPr sz="1100">
                          <a:solidFill>
                            <a:srgbClr val="1C2A3A"/>
                          </a:solidFill>
                          <a:latin typeface="Calibri"/>
                        </a:defRPr>
                      </a:pPr>
                      <a:r>
                        <a:t>1.11 [Y]</a:t>
                      </a:r>
                    </a:p>
                  </a:txBody>
                  <a:tcPr/>
                </a:tc>
                <a:tc>
                  <a:txBody>
                    <a:bodyPr/>
                    <a:lstStyle/>
                    <a:p>
                      <a:pPr>
                        <a:defRPr sz="1100">
                          <a:solidFill>
                            <a:srgbClr val="1C2A3A"/>
                          </a:solidFill>
                          <a:latin typeface="Calibri"/>
                        </a:defRPr>
                      </a:pPr>
                      <a:r>
                        <a:t>10 [N]</a:t>
                      </a:r>
                    </a:p>
                  </a:txBody>
                  <a:tcPr/>
                </a:tc>
                <a:tc>
                  <a:txBody>
                    <a:bodyPr/>
                    <a:lstStyle/>
                    <a:p>
                      <a:pPr>
                        <a:defRPr sz="1100">
                          <a:solidFill>
                            <a:srgbClr val="1C2A3A"/>
                          </a:solidFill>
                          <a:latin typeface="Calibri"/>
                        </a:defRPr>
                      </a:pPr>
                      <a:r>
                        <a:t>10 [N]</a:t>
                      </a:r>
                    </a:p>
                  </a:txBody>
                  <a:tcPr/>
                </a:tc>
              </a:tr>
              <a:tr h="792480">
                <a:tc>
                  <a:txBody>
                    <a:bodyPr/>
                    <a:lstStyle/>
                    <a:p>
                      <a:pPr>
                        <a:defRPr sz="1100">
                          <a:solidFill>
                            <a:srgbClr val="1C2A3A"/>
                          </a:solidFill>
                          <a:latin typeface="Calibri"/>
                        </a:defRPr>
                      </a:pPr>
                      <a:r>
                        <a:t>3</a:t>
                      </a:r>
                    </a:p>
                  </a:txBody>
                  <a:tcPr>
                    <a:solidFill>
                      <a:srgbClr val="E0E3E8"/>
                    </a:solidFill>
                  </a:tcPr>
                </a:tc>
                <a:tc>
                  <a:txBody>
                    <a:bodyPr/>
                    <a:lstStyle/>
                    <a:p>
                      <a:pPr>
                        <a:defRPr sz="1100">
                          <a:solidFill>
                            <a:srgbClr val="1C2A3A"/>
                          </a:solidFill>
                          <a:latin typeface="Calibri"/>
                        </a:defRPr>
                      </a:pPr>
                      <a:r>
                        <a:t>What is the efficiency ratio (OpEx/Revenue) f...</a:t>
                      </a:r>
                    </a:p>
                  </a:txBody>
                  <a:tcPr>
                    <a:solidFill>
                      <a:srgbClr val="E0E3E8"/>
                    </a:solidFill>
                  </a:tcPr>
                </a:tc>
                <a:tc>
                  <a:txBody>
                    <a:bodyPr/>
                    <a:lstStyle/>
                    <a:p>
                      <a:pPr>
                        <a:defRPr sz="1100">
                          <a:solidFill>
                            <a:srgbClr val="1C2A3A"/>
                          </a:solidFill>
                          <a:latin typeface="Calibri"/>
                        </a:defRPr>
                      </a:pPr>
                      <a:r>
                        <a:t>56.57</a:t>
                      </a:r>
                    </a:p>
                  </a:txBody>
                  <a:tcPr>
                    <a:solidFill>
                      <a:srgbClr val="E0E3E8"/>
                    </a:solidFill>
                  </a:tcPr>
                </a:tc>
                <a:tc>
                  <a:txBody>
                    <a:bodyPr/>
                    <a:lstStyle/>
                    <a:p>
                      <a:pPr>
                        <a:defRPr sz="1100">
                          <a:solidFill>
                            <a:srgbClr val="1C2A3A"/>
                          </a:solidFill>
                          <a:latin typeface="Calibri"/>
                        </a:defRPr>
                      </a:pPr>
                      <a:r>
                        <a:t>0.57 [N]</a:t>
                      </a:r>
                    </a:p>
                  </a:txBody>
                  <a:tcPr>
                    <a:solidFill>
                      <a:srgbClr val="E0E3E8"/>
                    </a:solidFill>
                  </a:tcPr>
                </a:tc>
                <a:tc>
                  <a:txBody>
                    <a:bodyPr/>
                    <a:lstStyle/>
                    <a:p>
                      <a:pPr>
                        <a:defRPr sz="1100">
                          <a:solidFill>
                            <a:srgbClr val="1C2A3A"/>
                          </a:solidFill>
                          <a:latin typeface="Calibri"/>
                        </a:defRPr>
                      </a:pPr>
                      <a:r>
                        <a:t>0.57 [N]</a:t>
                      </a:r>
                    </a:p>
                  </a:txBody>
                  <a:tcPr>
                    <a:solidFill>
                      <a:srgbClr val="E0E3E8"/>
                    </a:solidFill>
                  </a:tcPr>
                </a:tc>
                <a:tc>
                  <a:txBody>
                    <a:bodyPr/>
                    <a:lstStyle/>
                    <a:p>
                      <a:pPr>
                        <a:defRPr sz="1100">
                          <a:solidFill>
                            <a:srgbClr val="1C2A3A"/>
                          </a:solidFill>
                          <a:latin typeface="Calibri"/>
                        </a:defRPr>
                      </a:pPr>
                      <a:r>
                        <a:t>2.8 [N]</a:t>
                      </a:r>
                    </a:p>
                  </a:txBody>
                  <a:tcPr>
                    <a:solidFill>
                      <a:srgbClr val="E0E3E8"/>
                    </a:solidFill>
                  </a:tcPr>
                </a:tc>
                <a:tc>
                  <a:txBody>
                    <a:bodyPr/>
                    <a:lstStyle/>
                    <a:p>
                      <a:pPr>
                        <a:defRPr sz="1100">
                          <a:solidFill>
                            <a:srgbClr val="1C2A3A"/>
                          </a:solidFill>
                          <a:latin typeface="Calibri"/>
                        </a:defRPr>
                      </a:pPr>
                      <a:r>
                        <a:t>57.3 [Y]</a:t>
                      </a:r>
                    </a:p>
                  </a:txBody>
                  <a:tcPr>
                    <a:solidFill>
                      <a:srgbClr val="E0E3E8"/>
                    </a:solidFill>
                  </a:tcPr>
                </a:tc>
              </a:tr>
              <a:tr h="792480">
                <a:tc>
                  <a:txBody>
                    <a:bodyPr/>
                    <a:lstStyle/>
                    <a:p>
                      <a:pPr>
                        <a:defRPr sz="1100">
                          <a:solidFill>
                            <a:srgbClr val="1C2A3A"/>
                          </a:solidFill>
                          <a:latin typeface="Calibri"/>
                        </a:defRPr>
                      </a:pPr>
                      <a:r>
                        <a:t>4</a:t>
                      </a:r>
                    </a:p>
                  </a:txBody>
                  <a:tcPr/>
                </a:tc>
                <a:tc>
                  <a:txBody>
                    <a:bodyPr/>
                    <a:lstStyle/>
                    <a:p>
                      <a:pPr>
                        <a:defRPr sz="1100">
                          <a:solidFill>
                            <a:srgbClr val="1C2A3A"/>
                          </a:solidFill>
                          <a:latin typeface="Calibri"/>
                        </a:defRPr>
                      </a:pPr>
                      <a:r>
                        <a:t>Calculate the Return on Equity (ROE = Net Inc...</a:t>
                      </a:r>
                    </a:p>
                  </a:txBody>
                  <a:tcPr/>
                </a:tc>
                <a:tc>
                  <a:txBody>
                    <a:bodyPr/>
                    <a:lstStyle/>
                    <a:p>
                      <a:pPr>
                        <a:defRPr sz="1100">
                          <a:solidFill>
                            <a:srgbClr val="1C2A3A"/>
                          </a:solidFill>
                          <a:latin typeface="Calibri"/>
                        </a:defRPr>
                      </a:pPr>
                      <a:r>
                        <a:t>17.98</a:t>
                      </a:r>
                    </a:p>
                  </a:txBody>
                  <a:tcPr/>
                </a:tc>
                <a:tc>
                  <a:txBody>
                    <a:bodyPr/>
                    <a:lstStyle/>
                    <a:p>
                      <a:pPr>
                        <a:defRPr sz="1100">
                          <a:solidFill>
                            <a:srgbClr val="1C2A3A"/>
                          </a:solidFill>
                          <a:latin typeface="Calibri"/>
                        </a:defRPr>
                      </a:pPr>
                      <a:r>
                        <a:t>0.18 [N]</a:t>
                      </a:r>
                    </a:p>
                  </a:txBody>
                  <a:tcPr/>
                </a:tc>
                <a:tc>
                  <a:txBody>
                    <a:bodyPr/>
                    <a:lstStyle/>
                    <a:p>
                      <a:pPr>
                        <a:defRPr sz="1100">
                          <a:solidFill>
                            <a:srgbClr val="1C2A3A"/>
                          </a:solidFill>
                          <a:latin typeface="Calibri"/>
                        </a:defRPr>
                      </a:pPr>
                      <a:r>
                        <a:t>0.18 [N]</a:t>
                      </a:r>
                    </a:p>
                  </a:txBody>
                  <a:tcPr/>
                </a:tc>
                <a:tc>
                  <a:txBody>
                    <a:bodyPr/>
                    <a:lstStyle/>
                    <a:p>
                      <a:pPr>
                        <a:defRPr sz="1100">
                          <a:solidFill>
                            <a:srgbClr val="1C2A3A"/>
                          </a:solidFill>
                          <a:latin typeface="Calibri"/>
                        </a:defRPr>
                      </a:pPr>
                      <a:r>
                        <a:t>18.1 [Y]</a:t>
                      </a:r>
                    </a:p>
                  </a:txBody>
                  <a:tcPr/>
                </a:tc>
                <a:tc>
                  <a:txBody>
                    <a:bodyPr/>
                    <a:lstStyle/>
                    <a:p>
                      <a:pPr>
                        <a:defRPr sz="1100">
                          <a:solidFill>
                            <a:srgbClr val="1C2A3A"/>
                          </a:solidFill>
                          <a:latin typeface="Calibri"/>
                        </a:defRPr>
                      </a:pPr>
                      <a:r>
                        <a:t>3.6 [N]</a:t>
                      </a:r>
                    </a:p>
                  </a:txBody>
                  <a:tcPr/>
                </a:tc>
              </a:tr>
              <a:tr h="792480">
                <a:tc>
                  <a:txBody>
                    <a:bodyPr/>
                    <a:lstStyle/>
                    <a:p>
                      <a:pPr>
                        <a:defRPr sz="1100">
                          <a:solidFill>
                            <a:srgbClr val="1C2A3A"/>
                          </a:solidFill>
                          <a:latin typeface="Calibri"/>
                        </a:defRPr>
                      </a:pPr>
                      <a:r>
                        <a:t>5</a:t>
                      </a:r>
                    </a:p>
                  </a:txBody>
                  <a:tcPr>
                    <a:solidFill>
                      <a:srgbClr val="E0E3E8"/>
                    </a:solidFill>
                  </a:tcPr>
                </a:tc>
                <a:tc>
                  <a:txBody>
                    <a:bodyPr/>
                    <a:lstStyle/>
                    <a:p>
                      <a:pPr>
                        <a:defRPr sz="1100">
                          <a:solidFill>
                            <a:srgbClr val="1C2A3A"/>
                          </a:solidFill>
                          <a:latin typeface="Calibri"/>
                        </a:defRPr>
                      </a:pPr>
                      <a:r>
                        <a:t>What was the year-over-year growth rate for A...</a:t>
                      </a:r>
                    </a:p>
                  </a:txBody>
                  <a:tcPr>
                    <a:solidFill>
                      <a:srgbClr val="E0E3E8"/>
                    </a:solidFill>
                  </a:tcPr>
                </a:tc>
                <a:tc>
                  <a:txBody>
                    <a:bodyPr/>
                    <a:lstStyle/>
                    <a:p>
                      <a:pPr>
                        <a:defRPr sz="1100">
                          <a:solidFill>
                            <a:srgbClr val="1C2A3A"/>
                          </a:solidFill>
                          <a:latin typeface="Calibri"/>
                        </a:defRPr>
                      </a:pPr>
                      <a:r>
                        <a:t>15.19</a:t>
                      </a:r>
                    </a:p>
                  </a:txBody>
                  <a:tcPr>
                    <a:solidFill>
                      <a:srgbClr val="E0E3E8"/>
                    </a:solidFill>
                  </a:tcPr>
                </a:tc>
                <a:tc>
                  <a:txBody>
                    <a:bodyPr/>
                    <a:lstStyle/>
                    <a:p>
                      <a:pPr>
                        <a:defRPr sz="1100">
                          <a:solidFill>
                            <a:srgbClr val="1C2A3A"/>
                          </a:solidFill>
                          <a:latin typeface="Calibri"/>
                        </a:defRPr>
                      </a:pPr>
                      <a:r>
                        <a:t>17 [N]</a:t>
                      </a:r>
                    </a:p>
                  </a:txBody>
                  <a:tcPr>
                    <a:solidFill>
                      <a:srgbClr val="E0E3E8"/>
                    </a:solidFill>
                  </a:tcPr>
                </a:tc>
                <a:tc>
                  <a:txBody>
                    <a:bodyPr/>
                    <a:lstStyle/>
                    <a:p>
                      <a:pPr>
                        <a:defRPr sz="1100">
                          <a:solidFill>
                            <a:srgbClr val="1C2A3A"/>
                          </a:solidFill>
                          <a:latin typeface="Calibri"/>
                        </a:defRPr>
                      </a:pPr>
                      <a:r>
                        <a:t>11.4 [N]</a:t>
                      </a:r>
                    </a:p>
                  </a:txBody>
                  <a:tcPr>
                    <a:solidFill>
                      <a:srgbClr val="E0E3E8"/>
                    </a:solidFill>
                  </a:tcPr>
                </a:tc>
                <a:tc>
                  <a:txBody>
                    <a:bodyPr/>
                    <a:lstStyle/>
                    <a:p>
                      <a:pPr>
                        <a:defRPr sz="1100">
                          <a:solidFill>
                            <a:srgbClr val="1C2A3A"/>
                          </a:solidFill>
                          <a:latin typeface="Calibri"/>
                        </a:defRPr>
                      </a:pPr>
                      <a:r>
                        <a:t>11.3 [N]</a:t>
                      </a:r>
                    </a:p>
                  </a:txBody>
                  <a:tcPr>
                    <a:solidFill>
                      <a:srgbClr val="E0E3E8"/>
                    </a:solidFill>
                  </a:tcPr>
                </a:tc>
                <a:tc>
                  <a:txBody>
                    <a:bodyPr/>
                    <a:lstStyle/>
                    <a:p>
                      <a:pPr>
                        <a:defRPr sz="1100">
                          <a:solidFill>
                            <a:srgbClr val="1C2A3A"/>
                          </a:solidFill>
                          <a:latin typeface="Calibri"/>
                        </a:defRPr>
                      </a:pPr>
                      <a:r>
                        <a:t>12.7 [N]</a:t>
                      </a:r>
                    </a:p>
                  </a:txBody>
                  <a:tcPr>
                    <a:solidFill>
                      <a:srgbClr val="E0E3E8"/>
                    </a:solidFill>
                  </a:tcPr>
                </a:tc>
              </a:tr>
            </a:tbl>
          </a:graphicData>
        </a:graphic>
      </p:graphicFrame>
      <p:sp>
        <p:nvSpPr>
          <p:cNvPr id="4" name="TextBox 3"/>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41/55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3: Llama2 7B - Financial Ratios</a:t>
            </a:r>
          </a:p>
          <a:p>
            <a:pPr>
              <a:defRPr sz="1600">
                <a:solidFill>
                  <a:srgbClr val="ECEFF1"/>
                </a:solidFill>
                <a:latin typeface="Calibri"/>
              </a:defRPr>
            </a:pPr>
            <a:r>
              <a:t>Architecture: Llama2-7B (7B parameters)</a:t>
            </a:r>
          </a:p>
        </p:txBody>
      </p:sp>
      <p:sp>
        <p:nvSpPr>
          <p:cNvPr id="3" name="Rectangle 2"/>
          <p:cNvSpPr/>
          <p:nvPr/>
        </p:nvSpPr>
        <p:spPr>
          <a:xfrm>
            <a:off x="457200" y="1280160"/>
            <a:ext cx="2651760" cy="10972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Base Llama2-7B</a:t>
            </a:r>
          </a:p>
          <a:p>
            <a:pPr>
              <a:defRPr sz="1200">
                <a:solidFill>
                  <a:srgbClr val="1C2A3A"/>
                </a:solidFill>
                <a:latin typeface="Calibri"/>
              </a:defRPr>
            </a:pPr>
            <a:r>
              <a:t>Accuracy: 25.0%  (2/8)</a:t>
            </a:r>
          </a:p>
        </p:txBody>
      </p:sp>
      <p:sp>
        <p:nvSpPr>
          <p:cNvPr id="4" name="Rectangle 3"/>
          <p:cNvSpPr/>
          <p:nvPr/>
        </p:nvSpPr>
        <p:spPr>
          <a:xfrm>
            <a:off x="3291840" y="1280160"/>
            <a:ext cx="2651760" cy="10972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FinQA-7B (fine-tuned)</a:t>
            </a:r>
          </a:p>
          <a:p>
            <a:pPr>
              <a:defRPr sz="1200">
                <a:solidFill>
                  <a:srgbClr val="1C2A3A"/>
                </a:solidFill>
                <a:latin typeface="Calibri"/>
              </a:defRPr>
            </a:pPr>
            <a:r>
              <a:t>Accuracy: 37.5%  (3/8)</a:t>
            </a:r>
          </a:p>
        </p:txBody>
      </p:sp>
      <p:sp>
        <p:nvSpPr>
          <p:cNvPr id="5" name="Rectangle 4"/>
          <p:cNvSpPr/>
          <p:nvPr/>
        </p:nvSpPr>
        <p:spPr>
          <a:xfrm>
            <a:off x="6126480" y="1280160"/>
            <a:ext cx="2651760" cy="10972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Llama2-7B + RAG</a:t>
            </a:r>
          </a:p>
          <a:p>
            <a:pPr>
              <a:defRPr sz="1200">
                <a:solidFill>
                  <a:srgbClr val="1C2A3A"/>
                </a:solidFill>
                <a:latin typeface="Calibri"/>
              </a:defRPr>
            </a:pPr>
            <a:r>
              <a:t>Accuracy: 12.5%  (1/8)</a:t>
            </a:r>
          </a:p>
        </p:txBody>
      </p:sp>
      <p:sp>
        <p:nvSpPr>
          <p:cNvPr id="6" name="Rectangle 5"/>
          <p:cNvSpPr/>
          <p:nvPr/>
        </p:nvSpPr>
        <p:spPr>
          <a:xfrm>
            <a:off x="8961120" y="1280160"/>
            <a:ext cx="2651760" cy="1097280"/>
          </a:xfrm>
          <a:prstGeom prst="rect">
            <a:avLst/>
          </a:prstGeom>
          <a:solidFill>
            <a:srgbClr val="FFF1C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FinQA-7B + RAG (hybrid)</a:t>
            </a:r>
          </a:p>
          <a:p>
            <a:pPr>
              <a:defRPr sz="1200">
                <a:solidFill>
                  <a:srgbClr val="1C2A3A"/>
                </a:solidFill>
                <a:latin typeface="Calibri"/>
              </a:defRPr>
            </a:pPr>
            <a:r>
              <a:t>Accuracy: 25.0%  (2/8)</a:t>
            </a:r>
          </a:p>
        </p:txBody>
      </p:sp>
      <p:graphicFrame>
        <p:nvGraphicFramePr>
          <p:cNvPr id="7" name="Chart 6"/>
          <p:cNvGraphicFramePr>
            <a:graphicFrameLocks noGrp="1"/>
          </p:cNvGraphicFramePr>
          <p:nvPr/>
        </p:nvGraphicFramePr>
        <p:xfrm>
          <a:off x="457200" y="2560320"/>
          <a:ext cx="5303520" cy="3200400"/>
        </p:xfrm>
        <a:graphic>
          <a:graphicData uri="http://schemas.openxmlformats.org/drawingml/2006/chart">
            <c:chart xmlns:c="http://schemas.openxmlformats.org/drawingml/2006/chart" r:id="rId2"/>
          </a:graphicData>
        </a:graphic>
      </p:graphicFrame>
      <p:graphicFrame>
        <p:nvGraphicFramePr>
          <p:cNvPr id="8" name="Chart 7"/>
          <p:cNvGraphicFramePr>
            <a:graphicFrameLocks noGrp="1"/>
          </p:cNvGraphicFramePr>
          <p:nvPr/>
        </p:nvGraphicFramePr>
        <p:xfrm>
          <a:off x="6217920" y="2560320"/>
          <a:ext cx="5303520" cy="3200400"/>
        </p:xfrm>
        <a:graphic>
          <a:graphicData uri="http://schemas.openxmlformats.org/drawingml/2006/chart">
            <c:chart xmlns:c="http://schemas.openxmlformats.org/drawingml/2006/chart" r:id="rId3"/>
          </a:graphicData>
        </a:graphic>
      </p:graphicFrame>
      <p:sp>
        <p:nvSpPr>
          <p:cNvPr id="9" name="TextBox 8"/>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42/55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3: Llama2 7B - Financial Ratios - Token Usage &amp; Cost</a:t>
            </a:r>
          </a:p>
        </p:txBody>
      </p:sp>
      <p:graphicFrame>
        <p:nvGraphicFramePr>
          <p:cNvPr id="3" name="Table 2"/>
          <p:cNvGraphicFramePr>
            <a:graphicFrameLocks noGrp="1"/>
          </p:cNvGraphicFramePr>
          <p:nvPr/>
        </p:nvGraphicFramePr>
        <p:xfrm>
          <a:off x="457200" y="1371600"/>
          <a:ext cx="11247120" cy="3200400"/>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400050">
                <a:tc>
                  <a:txBody>
                    <a:bodyPr/>
                    <a:lstStyle/>
                    <a:p>
                      <a:pPr algn="ctr">
                        <a:defRPr sz="1200" b="1">
                          <a:solidFill>
                            <a:srgbClr val="FFFFFF"/>
                          </a:solidFill>
                          <a:latin typeface="Calibri"/>
                        </a:defRPr>
                      </a:pPr>
                      <a:r>
                        <a:t>Metric</a:t>
                      </a:r>
                    </a:p>
                  </a:txBody>
                  <a:tcPr>
                    <a:solidFill>
                      <a:srgbClr val="2E86C1"/>
                    </a:solidFill>
                  </a:tcPr>
                </a:tc>
                <a:tc>
                  <a:txBody>
                    <a:bodyPr/>
                    <a:lstStyle/>
                    <a:p>
                      <a:pPr algn="ctr">
                        <a:defRPr sz="1200" b="1">
                          <a:solidFill>
                            <a:srgbClr val="FFFFFF"/>
                          </a:solidFill>
                          <a:latin typeface="Calibri"/>
                        </a:defRPr>
                      </a:pPr>
                      <a:r>
                        <a:t>Base Llama2-7B</a:t>
                      </a:r>
                    </a:p>
                  </a:txBody>
                  <a:tcPr>
                    <a:solidFill>
                      <a:srgbClr val="2E86C1"/>
                    </a:solidFill>
                  </a:tcPr>
                </a:tc>
                <a:tc>
                  <a:txBody>
                    <a:bodyPr/>
                    <a:lstStyle/>
                    <a:p>
                      <a:pPr algn="ctr">
                        <a:defRPr sz="1200" b="1">
                          <a:solidFill>
                            <a:srgbClr val="FFFFFF"/>
                          </a:solidFill>
                          <a:latin typeface="Calibri"/>
                        </a:defRPr>
                      </a:pPr>
                      <a:r>
                        <a:t>FinQA-7B</a:t>
                      </a:r>
                    </a:p>
                  </a:txBody>
                  <a:tcPr>
                    <a:solidFill>
                      <a:srgbClr val="2E86C1"/>
                    </a:solidFill>
                  </a:tcPr>
                </a:tc>
                <a:tc>
                  <a:txBody>
                    <a:bodyPr/>
                    <a:lstStyle/>
                    <a:p>
                      <a:pPr algn="ctr">
                        <a:defRPr sz="1200" b="1">
                          <a:solidFill>
                            <a:srgbClr val="FFFFFF"/>
                          </a:solidFill>
                          <a:latin typeface="Calibri"/>
                        </a:defRPr>
                      </a:pPr>
                      <a:r>
                        <a:t>Llama2-7B + RAG</a:t>
                      </a:r>
                    </a:p>
                  </a:txBody>
                  <a:tcPr>
                    <a:solidFill>
                      <a:srgbClr val="2E86C1"/>
                    </a:solidFill>
                  </a:tcPr>
                </a:tc>
                <a:tc>
                  <a:txBody>
                    <a:bodyPr/>
                    <a:lstStyle/>
                    <a:p>
                      <a:pPr algn="ctr">
                        <a:defRPr sz="1200" b="1">
                          <a:solidFill>
                            <a:srgbClr val="FFFFFF"/>
                          </a:solidFill>
                          <a:latin typeface="Calibri"/>
                        </a:defRPr>
                      </a:pPr>
                      <a:r>
                        <a:t>FinQA-7B + RAG</a:t>
                      </a:r>
                    </a:p>
                  </a:txBody>
                  <a:tcPr>
                    <a:solidFill>
                      <a:srgbClr val="2E86C1"/>
                    </a:solidFill>
                  </a:tcPr>
                </a:tc>
              </a:tr>
              <a:tr h="400050">
                <a:tc>
                  <a:txBody>
                    <a:bodyPr/>
                    <a:lstStyle/>
                    <a:p>
                      <a:pPr>
                        <a:defRPr sz="1100">
                          <a:solidFill>
                            <a:srgbClr val="1C2A3A"/>
                          </a:solidFill>
                          <a:latin typeface="Calibri"/>
                        </a:defRPr>
                      </a:pPr>
                      <a:r>
                        <a:t>Avg Tokens / Query</a:t>
                      </a:r>
                    </a:p>
                  </a:txBody>
                  <a:tcPr>
                    <a:solidFill>
                      <a:srgbClr val="E0E3E8"/>
                    </a:solidFill>
                  </a:tcPr>
                </a:tc>
                <a:tc>
                  <a:txBody>
                    <a:bodyPr/>
                    <a:lstStyle/>
                    <a:p>
                      <a:pPr>
                        <a:defRPr sz="1100">
                          <a:solidFill>
                            <a:srgbClr val="1C2A3A"/>
                          </a:solidFill>
                          <a:latin typeface="Calibri"/>
                        </a:defRPr>
                      </a:pPr>
                      <a:r>
                        <a:t>477</a:t>
                      </a:r>
                    </a:p>
                  </a:txBody>
                  <a:tcPr>
                    <a:solidFill>
                      <a:srgbClr val="E0E3E8"/>
                    </a:solidFill>
                  </a:tcPr>
                </a:tc>
                <a:tc>
                  <a:txBody>
                    <a:bodyPr/>
                    <a:lstStyle/>
                    <a:p>
                      <a:pPr>
                        <a:defRPr sz="1100">
                          <a:solidFill>
                            <a:srgbClr val="1C2A3A"/>
                          </a:solidFill>
                          <a:latin typeface="Calibri"/>
                        </a:defRPr>
                      </a:pPr>
                      <a:r>
                        <a:t>503</a:t>
                      </a:r>
                    </a:p>
                  </a:txBody>
                  <a:tcPr>
                    <a:solidFill>
                      <a:srgbClr val="E0E3E8"/>
                    </a:solidFill>
                  </a:tcPr>
                </a:tc>
                <a:tc>
                  <a:txBody>
                    <a:bodyPr/>
                    <a:lstStyle/>
                    <a:p>
                      <a:pPr>
                        <a:defRPr sz="1100">
                          <a:solidFill>
                            <a:srgbClr val="1C2A3A"/>
                          </a:solidFill>
                          <a:latin typeface="Calibri"/>
                        </a:defRPr>
                      </a:pPr>
                      <a:r>
                        <a:t>1,731</a:t>
                      </a:r>
                    </a:p>
                  </a:txBody>
                  <a:tcPr>
                    <a:solidFill>
                      <a:srgbClr val="E0E3E8"/>
                    </a:solidFill>
                  </a:tcPr>
                </a:tc>
                <a:tc>
                  <a:txBody>
                    <a:bodyPr/>
                    <a:lstStyle/>
                    <a:p>
                      <a:pPr>
                        <a:defRPr sz="1100">
                          <a:solidFill>
                            <a:srgbClr val="1C2A3A"/>
                          </a:solidFill>
                          <a:latin typeface="Calibri"/>
                        </a:defRPr>
                      </a:pPr>
                      <a:r>
                        <a:t>1,801</a:t>
                      </a:r>
                    </a:p>
                  </a:txBody>
                  <a:tcPr>
                    <a:solidFill>
                      <a:srgbClr val="E0E3E8"/>
                    </a:solidFill>
                  </a:tcPr>
                </a:tc>
              </a:tr>
              <a:tr h="400050">
                <a:tc>
                  <a:txBody>
                    <a:bodyPr/>
                    <a:lstStyle/>
                    <a:p>
                      <a:pPr>
                        <a:defRPr sz="1100">
                          <a:solidFill>
                            <a:srgbClr val="1C2A3A"/>
                          </a:solidFill>
                          <a:latin typeface="Calibri"/>
                        </a:defRPr>
                      </a:pPr>
                      <a:r>
                        <a:t>Total Tokens</a:t>
                      </a:r>
                    </a:p>
                  </a:txBody>
                  <a:tcPr/>
                </a:tc>
                <a:tc>
                  <a:txBody>
                    <a:bodyPr/>
                    <a:lstStyle/>
                    <a:p>
                      <a:pPr>
                        <a:defRPr sz="1100">
                          <a:solidFill>
                            <a:srgbClr val="1C2A3A"/>
                          </a:solidFill>
                          <a:latin typeface="Calibri"/>
                        </a:defRPr>
                      </a:pPr>
                      <a:r>
                        <a:t>3,815</a:t>
                      </a:r>
                    </a:p>
                  </a:txBody>
                  <a:tcPr/>
                </a:tc>
                <a:tc>
                  <a:txBody>
                    <a:bodyPr/>
                    <a:lstStyle/>
                    <a:p>
                      <a:pPr>
                        <a:defRPr sz="1100">
                          <a:solidFill>
                            <a:srgbClr val="1C2A3A"/>
                          </a:solidFill>
                          <a:latin typeface="Calibri"/>
                        </a:defRPr>
                      </a:pPr>
                      <a:r>
                        <a:t>4,022</a:t>
                      </a:r>
                    </a:p>
                  </a:txBody>
                  <a:tcPr/>
                </a:tc>
                <a:tc>
                  <a:txBody>
                    <a:bodyPr/>
                    <a:lstStyle/>
                    <a:p>
                      <a:pPr>
                        <a:defRPr sz="1100">
                          <a:solidFill>
                            <a:srgbClr val="1C2A3A"/>
                          </a:solidFill>
                          <a:latin typeface="Calibri"/>
                        </a:defRPr>
                      </a:pPr>
                      <a:r>
                        <a:t>13,847</a:t>
                      </a:r>
                    </a:p>
                  </a:txBody>
                  <a:tcPr/>
                </a:tc>
                <a:tc>
                  <a:txBody>
                    <a:bodyPr/>
                    <a:lstStyle/>
                    <a:p>
                      <a:pPr>
                        <a:defRPr sz="1100">
                          <a:solidFill>
                            <a:srgbClr val="1C2A3A"/>
                          </a:solidFill>
                          <a:latin typeface="Calibri"/>
                        </a:defRPr>
                      </a:pPr>
                      <a:r>
                        <a:t>14,406</a:t>
                      </a:r>
                    </a:p>
                  </a:txBody>
                  <a:tcPr/>
                </a:tc>
              </a:tr>
              <a:tr h="400050">
                <a:tc>
                  <a:txBody>
                    <a:bodyPr/>
                    <a:lstStyle/>
                    <a:p>
                      <a:pPr>
                        <a:defRPr sz="1100">
                          <a:solidFill>
                            <a:srgbClr val="1C2A3A"/>
                          </a:solidFill>
                          <a:latin typeface="Calibri"/>
                        </a:defRPr>
                      </a:pPr>
                      <a:r>
                        <a:t>Prompt Tokens (total)</a:t>
                      </a:r>
                    </a:p>
                  </a:txBody>
                  <a:tcPr>
                    <a:solidFill>
                      <a:srgbClr val="E0E3E8"/>
                    </a:solidFill>
                  </a:tcPr>
                </a:tc>
                <a:tc>
                  <a:txBody>
                    <a:bodyPr/>
                    <a:lstStyle/>
                    <a:p>
                      <a:pPr>
                        <a:defRPr sz="1100">
                          <a:solidFill>
                            <a:srgbClr val="1C2A3A"/>
                          </a:solidFill>
                          <a:latin typeface="Calibri"/>
                        </a:defRPr>
                      </a:pPr>
                      <a:r>
                        <a:t>1,520</a:t>
                      </a:r>
                    </a:p>
                  </a:txBody>
                  <a:tcPr>
                    <a:solidFill>
                      <a:srgbClr val="E0E3E8"/>
                    </a:solidFill>
                  </a:tcPr>
                </a:tc>
                <a:tc>
                  <a:txBody>
                    <a:bodyPr/>
                    <a:lstStyle/>
                    <a:p>
                      <a:pPr>
                        <a:defRPr sz="1100">
                          <a:solidFill>
                            <a:srgbClr val="1C2A3A"/>
                          </a:solidFill>
                          <a:latin typeface="Calibri"/>
                        </a:defRPr>
                      </a:pPr>
                      <a:r>
                        <a:t>1,480</a:t>
                      </a:r>
                    </a:p>
                  </a:txBody>
                  <a:tcPr>
                    <a:solidFill>
                      <a:srgbClr val="E0E3E8"/>
                    </a:solidFill>
                  </a:tcPr>
                </a:tc>
                <a:tc>
                  <a:txBody>
                    <a:bodyPr/>
                    <a:lstStyle/>
                    <a:p>
                      <a:pPr>
                        <a:defRPr sz="1100">
                          <a:solidFill>
                            <a:srgbClr val="1C2A3A"/>
                          </a:solidFill>
                          <a:latin typeface="Calibri"/>
                        </a:defRPr>
                      </a:pPr>
                      <a:r>
                        <a:t>10,702</a:t>
                      </a:r>
                    </a:p>
                  </a:txBody>
                  <a:tcPr>
                    <a:solidFill>
                      <a:srgbClr val="E0E3E8"/>
                    </a:solidFill>
                  </a:tcPr>
                </a:tc>
                <a:tc>
                  <a:txBody>
                    <a:bodyPr/>
                    <a:lstStyle/>
                    <a:p>
                      <a:pPr>
                        <a:defRPr sz="1100">
                          <a:solidFill>
                            <a:srgbClr val="1C2A3A"/>
                          </a:solidFill>
                          <a:latin typeface="Calibri"/>
                        </a:defRPr>
                      </a:pPr>
                      <a:r>
                        <a:t>10,718</a:t>
                      </a:r>
                    </a:p>
                  </a:txBody>
                  <a:tcPr>
                    <a:solidFill>
                      <a:srgbClr val="E0E3E8"/>
                    </a:solidFill>
                  </a:tcPr>
                </a:tc>
              </a:tr>
              <a:tr h="400050">
                <a:tc>
                  <a:txBody>
                    <a:bodyPr/>
                    <a:lstStyle/>
                    <a:p>
                      <a:pPr>
                        <a:defRPr sz="1100">
                          <a:solidFill>
                            <a:srgbClr val="1C2A3A"/>
                          </a:solidFill>
                          <a:latin typeface="Calibri"/>
                        </a:defRPr>
                      </a:pPr>
                      <a:r>
                        <a:t>Completion Tokens (total)</a:t>
                      </a:r>
                    </a:p>
                  </a:txBody>
                  <a:tcPr/>
                </a:tc>
                <a:tc>
                  <a:txBody>
                    <a:bodyPr/>
                    <a:lstStyle/>
                    <a:p>
                      <a:pPr>
                        <a:defRPr sz="1100">
                          <a:solidFill>
                            <a:srgbClr val="1C2A3A"/>
                          </a:solidFill>
                          <a:latin typeface="Calibri"/>
                        </a:defRPr>
                      </a:pPr>
                      <a:r>
                        <a:t>2,295</a:t>
                      </a:r>
                    </a:p>
                  </a:txBody>
                  <a:tcPr/>
                </a:tc>
                <a:tc>
                  <a:txBody>
                    <a:bodyPr/>
                    <a:lstStyle/>
                    <a:p>
                      <a:pPr>
                        <a:defRPr sz="1100">
                          <a:solidFill>
                            <a:srgbClr val="1C2A3A"/>
                          </a:solidFill>
                          <a:latin typeface="Calibri"/>
                        </a:defRPr>
                      </a:pPr>
                      <a:r>
                        <a:t>2,542</a:t>
                      </a:r>
                    </a:p>
                  </a:txBody>
                  <a:tcPr/>
                </a:tc>
                <a:tc>
                  <a:txBody>
                    <a:bodyPr/>
                    <a:lstStyle/>
                    <a:p>
                      <a:pPr>
                        <a:defRPr sz="1100">
                          <a:solidFill>
                            <a:srgbClr val="1C2A3A"/>
                          </a:solidFill>
                          <a:latin typeface="Calibri"/>
                        </a:defRPr>
                      </a:pPr>
                      <a:r>
                        <a:t>3,145</a:t>
                      </a:r>
                    </a:p>
                  </a:txBody>
                  <a:tcPr/>
                </a:tc>
                <a:tc>
                  <a:txBody>
                    <a:bodyPr/>
                    <a:lstStyle/>
                    <a:p>
                      <a:pPr>
                        <a:defRPr sz="1100">
                          <a:solidFill>
                            <a:srgbClr val="1C2A3A"/>
                          </a:solidFill>
                          <a:latin typeface="Calibri"/>
                        </a:defRPr>
                      </a:pPr>
                      <a:r>
                        <a:t>3,688</a:t>
                      </a:r>
                    </a:p>
                  </a:txBody>
                  <a:tcPr/>
                </a:tc>
              </a:tr>
              <a:tr h="400050">
                <a:tc>
                  <a:txBody>
                    <a:bodyPr/>
                    <a:lstStyle/>
                    <a:p>
                      <a:pPr>
                        <a:defRPr sz="1100">
                          <a:solidFill>
                            <a:srgbClr val="1C2A3A"/>
                          </a:solidFill>
                          <a:latin typeface="Calibri"/>
                        </a:defRPr>
                      </a:pPr>
                      <a:r>
                        <a:t>Throughput (tokens/sec)</a:t>
                      </a:r>
                    </a:p>
                  </a:txBody>
                  <a:tcPr>
                    <a:solidFill>
                      <a:srgbClr val="E0E3E8"/>
                    </a:solidFill>
                  </a:tcPr>
                </a:tc>
                <a:tc>
                  <a:txBody>
                    <a:bodyPr/>
                    <a:lstStyle/>
                    <a:p>
                      <a:pPr>
                        <a:defRPr sz="1100">
                          <a:solidFill>
                            <a:srgbClr val="1C2A3A"/>
                          </a:solidFill>
                          <a:latin typeface="Calibri"/>
                        </a:defRPr>
                      </a:pPr>
                      <a:r>
                        <a:t>8</a:t>
                      </a:r>
                    </a:p>
                  </a:txBody>
                  <a:tcPr>
                    <a:solidFill>
                      <a:srgbClr val="E0E3E8"/>
                    </a:solidFill>
                  </a:tcPr>
                </a:tc>
                <a:tc>
                  <a:txBody>
                    <a:bodyPr/>
                    <a:lstStyle/>
                    <a:p>
                      <a:pPr>
                        <a:defRPr sz="1100">
                          <a:solidFill>
                            <a:srgbClr val="1C2A3A"/>
                          </a:solidFill>
                          <a:latin typeface="Calibri"/>
                        </a:defRPr>
                      </a:pPr>
                      <a:r>
                        <a:t>10</a:t>
                      </a:r>
                    </a:p>
                  </a:txBody>
                  <a:tcPr>
                    <a:solidFill>
                      <a:srgbClr val="E0E3E8"/>
                    </a:solidFill>
                  </a:tcPr>
                </a:tc>
                <a:tc>
                  <a:txBody>
                    <a:bodyPr/>
                    <a:lstStyle/>
                    <a:p>
                      <a:pPr>
                        <a:defRPr sz="1100">
                          <a:solidFill>
                            <a:srgbClr val="1C2A3A"/>
                          </a:solidFill>
                          <a:latin typeface="Calibri"/>
                        </a:defRPr>
                      </a:pPr>
                      <a:r>
                        <a:t>14</a:t>
                      </a:r>
                    </a:p>
                  </a:txBody>
                  <a:tcPr>
                    <a:solidFill>
                      <a:srgbClr val="E0E3E8"/>
                    </a:solidFill>
                  </a:tcPr>
                </a:tc>
                <a:tc>
                  <a:txBody>
                    <a:bodyPr/>
                    <a:lstStyle/>
                    <a:p>
                      <a:pPr>
                        <a:defRPr sz="1100">
                          <a:solidFill>
                            <a:srgbClr val="1C2A3A"/>
                          </a:solidFill>
                          <a:latin typeface="Calibri"/>
                        </a:defRPr>
                      </a:pPr>
                      <a:r>
                        <a:t>13</a:t>
                      </a:r>
                    </a:p>
                  </a:txBody>
                  <a:tcPr>
                    <a:solidFill>
                      <a:srgbClr val="E0E3E8"/>
                    </a:solidFill>
                  </a:tcPr>
                </a:tc>
              </a:tr>
              <a:tr h="400050">
                <a:tc>
                  <a:txBody>
                    <a:bodyPr/>
                    <a:lstStyle/>
                    <a:p>
                      <a:pPr>
                        <a:defRPr sz="1100">
                          <a:solidFill>
                            <a:srgbClr val="1C2A3A"/>
                          </a:solidFill>
                          <a:latin typeface="Calibri"/>
                        </a:defRPr>
                      </a:pPr>
                      <a:r>
                        <a:t>Cost / 1K Queries</a:t>
                      </a:r>
                    </a:p>
                  </a:txBody>
                  <a:tcPr/>
                </a:tc>
                <a:tc>
                  <a:txBody>
                    <a:bodyPr/>
                    <a:lstStyle/>
                    <a:p>
                      <a:pPr>
                        <a:defRPr sz="1100">
                          <a:solidFill>
                            <a:srgbClr val="1C2A3A"/>
                          </a:solidFill>
                          <a:latin typeface="Calibri"/>
                        </a:defRPr>
                      </a:pPr>
                      <a:r>
                        <a:t>$0.0954</a:t>
                      </a:r>
                    </a:p>
                  </a:txBody>
                  <a:tcPr/>
                </a:tc>
                <a:tc>
                  <a:txBody>
                    <a:bodyPr/>
                    <a:lstStyle/>
                    <a:p>
                      <a:pPr>
                        <a:defRPr sz="1100">
                          <a:solidFill>
                            <a:srgbClr val="1C2A3A"/>
                          </a:solidFill>
                          <a:latin typeface="Calibri"/>
                        </a:defRPr>
                      </a:pPr>
                      <a:r>
                        <a:t>$0.1005</a:t>
                      </a:r>
                    </a:p>
                  </a:txBody>
                  <a:tcPr/>
                </a:tc>
                <a:tc>
                  <a:txBody>
                    <a:bodyPr/>
                    <a:lstStyle/>
                    <a:p>
                      <a:pPr>
                        <a:defRPr sz="1100">
                          <a:solidFill>
                            <a:srgbClr val="1C2A3A"/>
                          </a:solidFill>
                          <a:latin typeface="Calibri"/>
                        </a:defRPr>
                      </a:pPr>
                      <a:r>
                        <a:t>$0.3462</a:t>
                      </a:r>
                    </a:p>
                  </a:txBody>
                  <a:tcPr/>
                </a:tc>
                <a:tc>
                  <a:txBody>
                    <a:bodyPr/>
                    <a:lstStyle/>
                    <a:p>
                      <a:pPr>
                        <a:defRPr sz="1100">
                          <a:solidFill>
                            <a:srgbClr val="1C2A3A"/>
                          </a:solidFill>
                          <a:latin typeface="Calibri"/>
                        </a:defRPr>
                      </a:pPr>
                      <a:r>
                        <a:t>$0.3602</a:t>
                      </a:r>
                    </a:p>
                  </a:txBody>
                  <a:tcPr/>
                </a:tc>
              </a:tr>
              <a:tr h="400050">
                <a:tc>
                  <a:txBody>
                    <a:bodyPr/>
                    <a:lstStyle/>
                    <a:p>
                      <a:pPr>
                        <a:defRPr sz="1100">
                          <a:solidFill>
                            <a:srgbClr val="1C2A3A"/>
                          </a:solidFill>
                          <a:latin typeface="Calibri"/>
                        </a:defRPr>
                      </a:pPr>
                      <a:r>
                        <a:t>Total Benchmark Cost</a:t>
                      </a:r>
                    </a:p>
                  </a:txBody>
                  <a:tcPr>
                    <a:solidFill>
                      <a:srgbClr val="E0E3E8"/>
                    </a:solidFill>
                  </a:tcPr>
                </a:tc>
                <a:tc>
                  <a:txBody>
                    <a:bodyPr/>
                    <a:lstStyle/>
                    <a:p>
                      <a:pPr>
                        <a:defRPr sz="1100">
                          <a:solidFill>
                            <a:srgbClr val="1C2A3A"/>
                          </a:solidFill>
                          <a:latin typeface="Calibri"/>
                        </a:defRPr>
                      </a:pPr>
                      <a:r>
                        <a:t>$0.000763</a:t>
                      </a:r>
                    </a:p>
                  </a:txBody>
                  <a:tcPr>
                    <a:solidFill>
                      <a:srgbClr val="E0E3E8"/>
                    </a:solidFill>
                  </a:tcPr>
                </a:tc>
                <a:tc>
                  <a:txBody>
                    <a:bodyPr/>
                    <a:lstStyle/>
                    <a:p>
                      <a:pPr>
                        <a:defRPr sz="1100">
                          <a:solidFill>
                            <a:srgbClr val="1C2A3A"/>
                          </a:solidFill>
                          <a:latin typeface="Calibri"/>
                        </a:defRPr>
                      </a:pPr>
                      <a:r>
                        <a:t>$0.000804</a:t>
                      </a:r>
                    </a:p>
                  </a:txBody>
                  <a:tcPr>
                    <a:solidFill>
                      <a:srgbClr val="E0E3E8"/>
                    </a:solidFill>
                  </a:tcPr>
                </a:tc>
                <a:tc>
                  <a:txBody>
                    <a:bodyPr/>
                    <a:lstStyle/>
                    <a:p>
                      <a:pPr>
                        <a:defRPr sz="1100">
                          <a:solidFill>
                            <a:srgbClr val="1C2A3A"/>
                          </a:solidFill>
                          <a:latin typeface="Calibri"/>
                        </a:defRPr>
                      </a:pPr>
                      <a:r>
                        <a:t>$0.0028</a:t>
                      </a:r>
                    </a:p>
                  </a:txBody>
                  <a:tcPr>
                    <a:solidFill>
                      <a:srgbClr val="E0E3E8"/>
                    </a:solidFill>
                  </a:tcPr>
                </a:tc>
                <a:tc>
                  <a:txBody>
                    <a:bodyPr/>
                    <a:lstStyle/>
                    <a:p>
                      <a:pPr>
                        <a:defRPr sz="1100">
                          <a:solidFill>
                            <a:srgbClr val="1C2A3A"/>
                          </a:solidFill>
                          <a:latin typeface="Calibri"/>
                        </a:defRPr>
                      </a:pPr>
                      <a:r>
                        <a:t>$0.0029</a:t>
                      </a:r>
                    </a:p>
                  </a:txBody>
                  <a:tcPr>
                    <a:solidFill>
                      <a:srgbClr val="E0E3E8"/>
                    </a:solidFill>
                  </a:tcPr>
                </a:tc>
              </a:tr>
            </a:tbl>
          </a:graphicData>
        </a:graphic>
      </p:graphicFrame>
      <p:graphicFrame>
        <p:nvGraphicFramePr>
          <p:cNvPr id="4" name="Chart 3"/>
          <p:cNvGraphicFramePr>
            <a:graphicFrameLocks noGrp="1"/>
          </p:cNvGraphicFramePr>
          <p:nvPr/>
        </p:nvGraphicFramePr>
        <p:xfrm>
          <a:off x="457200" y="4754880"/>
          <a:ext cx="5303520" cy="1828800"/>
        </p:xfrm>
        <a:graphic>
          <a:graphicData uri="http://schemas.openxmlformats.org/drawingml/2006/chart">
            <c:chart xmlns:c="http://schemas.openxmlformats.org/drawingml/2006/chart" r:id="rId2"/>
          </a:graphicData>
        </a:graphic>
      </p:graphicFrame>
      <p:graphicFrame>
        <p:nvGraphicFramePr>
          <p:cNvPr id="5" name="Chart 4"/>
          <p:cNvGraphicFramePr>
            <a:graphicFrameLocks noGrp="1"/>
          </p:cNvGraphicFramePr>
          <p:nvPr/>
        </p:nvGraphicFramePr>
        <p:xfrm>
          <a:off x="6217920" y="4754880"/>
          <a:ext cx="5303520" cy="1828800"/>
        </p:xfrm>
        <a:graphic>
          <a:graphicData uri="http://schemas.openxmlformats.org/drawingml/2006/chart">
            <c:chart xmlns:c="http://schemas.openxmlformats.org/drawingml/2006/chart" r:id="rId3"/>
          </a:graphicData>
        </a:graphic>
      </p:graphicFrame>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43/55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3: Llama2 7B - Financial Ratios - Quality Metrics</a:t>
            </a:r>
          </a:p>
        </p:txBody>
      </p:sp>
      <p:graphicFrame>
        <p:nvGraphicFramePr>
          <p:cNvPr id="3" name="Table 2"/>
          <p:cNvGraphicFramePr>
            <a:graphicFrameLocks noGrp="1"/>
          </p:cNvGraphicFramePr>
          <p:nvPr/>
        </p:nvGraphicFramePr>
        <p:xfrm>
          <a:off x="457200" y="1371600"/>
          <a:ext cx="11247120" cy="1371600"/>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457200">
                <a:tc>
                  <a:txBody>
                    <a:bodyPr/>
                    <a:lstStyle/>
                    <a:p>
                      <a:pPr algn="ctr">
                        <a:defRPr sz="1200" b="1">
                          <a:solidFill>
                            <a:srgbClr val="FFFFFF"/>
                          </a:solidFill>
                          <a:latin typeface="Calibri"/>
                        </a:defRPr>
                      </a:pPr>
                      <a:r>
                        <a:t>Metric</a:t>
                      </a:r>
                    </a:p>
                  </a:txBody>
                  <a:tcPr>
                    <a:solidFill>
                      <a:srgbClr val="2E86C1"/>
                    </a:solidFill>
                  </a:tcPr>
                </a:tc>
                <a:tc>
                  <a:txBody>
                    <a:bodyPr/>
                    <a:lstStyle/>
                    <a:p>
                      <a:pPr algn="ctr">
                        <a:defRPr sz="1200" b="1">
                          <a:solidFill>
                            <a:srgbClr val="FFFFFF"/>
                          </a:solidFill>
                          <a:latin typeface="Calibri"/>
                        </a:defRPr>
                      </a:pPr>
                      <a:r>
                        <a:t>Base Llama2-7B</a:t>
                      </a:r>
                    </a:p>
                  </a:txBody>
                  <a:tcPr>
                    <a:solidFill>
                      <a:srgbClr val="2E86C1"/>
                    </a:solidFill>
                  </a:tcPr>
                </a:tc>
                <a:tc>
                  <a:txBody>
                    <a:bodyPr/>
                    <a:lstStyle/>
                    <a:p>
                      <a:pPr algn="ctr">
                        <a:defRPr sz="1200" b="1">
                          <a:solidFill>
                            <a:srgbClr val="FFFFFF"/>
                          </a:solidFill>
                          <a:latin typeface="Calibri"/>
                        </a:defRPr>
                      </a:pPr>
                      <a:r>
                        <a:t>FinQA-7B</a:t>
                      </a:r>
                    </a:p>
                  </a:txBody>
                  <a:tcPr>
                    <a:solidFill>
                      <a:srgbClr val="2E86C1"/>
                    </a:solidFill>
                  </a:tcPr>
                </a:tc>
                <a:tc>
                  <a:txBody>
                    <a:bodyPr/>
                    <a:lstStyle/>
                    <a:p>
                      <a:pPr algn="ctr">
                        <a:defRPr sz="1200" b="1">
                          <a:solidFill>
                            <a:srgbClr val="FFFFFF"/>
                          </a:solidFill>
                          <a:latin typeface="Calibri"/>
                        </a:defRPr>
                      </a:pPr>
                      <a:r>
                        <a:t>Llama2-7B + RAG</a:t>
                      </a:r>
                    </a:p>
                  </a:txBody>
                  <a:tcPr>
                    <a:solidFill>
                      <a:srgbClr val="2E86C1"/>
                    </a:solidFill>
                  </a:tcPr>
                </a:tc>
                <a:tc>
                  <a:txBody>
                    <a:bodyPr/>
                    <a:lstStyle/>
                    <a:p>
                      <a:pPr algn="ctr">
                        <a:defRPr sz="1200" b="1">
                          <a:solidFill>
                            <a:srgbClr val="FFFFFF"/>
                          </a:solidFill>
                          <a:latin typeface="Calibri"/>
                        </a:defRPr>
                      </a:pPr>
                      <a:r>
                        <a:t>FinQA-7B + RAG</a:t>
                      </a:r>
                    </a:p>
                  </a:txBody>
                  <a:tcPr>
                    <a:solidFill>
                      <a:srgbClr val="2E86C1"/>
                    </a:solidFill>
                  </a:tcPr>
                </a:tc>
              </a:tr>
              <a:tr h="457200">
                <a:tc>
                  <a:txBody>
                    <a:bodyPr/>
                    <a:lstStyle/>
                    <a:p>
                      <a:pPr>
                        <a:defRPr sz="1100">
                          <a:solidFill>
                            <a:srgbClr val="1C2A3A"/>
                          </a:solidFill>
                          <a:latin typeface="Calibri"/>
                        </a:defRPr>
                      </a:pPr>
                      <a:r>
                        <a:t>MAPE (Mean Abs % Error)</a:t>
                      </a:r>
                    </a:p>
                  </a:txBody>
                  <a:tcPr>
                    <a:solidFill>
                      <a:srgbClr val="E0E3E8"/>
                    </a:solidFill>
                  </a:tcPr>
                </a:tc>
                <a:tc>
                  <a:txBody>
                    <a:bodyPr/>
                    <a:lstStyle/>
                    <a:p>
                      <a:pPr>
                        <a:defRPr sz="1100">
                          <a:solidFill>
                            <a:srgbClr val="1C2A3A"/>
                          </a:solidFill>
                          <a:latin typeface="Calibri"/>
                        </a:defRPr>
                      </a:pPr>
                      <a:r>
                        <a:t>21.4%</a:t>
                      </a:r>
                    </a:p>
                  </a:txBody>
                  <a:tcPr>
                    <a:solidFill>
                      <a:srgbClr val="E0E3E8"/>
                    </a:solidFill>
                  </a:tcPr>
                </a:tc>
                <a:tc>
                  <a:txBody>
                    <a:bodyPr/>
                    <a:lstStyle/>
                    <a:p>
                      <a:pPr>
                        <a:defRPr sz="1100">
                          <a:solidFill>
                            <a:srgbClr val="1C2A3A"/>
                          </a:solidFill>
                          <a:latin typeface="Calibri"/>
                        </a:defRPr>
                      </a:pPr>
                      <a:r>
                        <a:t>103.4%</a:t>
                      </a:r>
                    </a:p>
                  </a:txBody>
                  <a:tcPr>
                    <a:solidFill>
                      <a:srgbClr val="E0E3E8"/>
                    </a:solidFill>
                  </a:tcPr>
                </a:tc>
                <a:tc>
                  <a:txBody>
                    <a:bodyPr/>
                    <a:lstStyle/>
                    <a:p>
                      <a:pPr>
                        <a:defRPr sz="1100">
                          <a:solidFill>
                            <a:srgbClr val="1C2A3A"/>
                          </a:solidFill>
                          <a:latin typeface="Calibri"/>
                        </a:defRPr>
                      </a:pPr>
                      <a:r>
                        <a:t>34.4%</a:t>
                      </a:r>
                    </a:p>
                  </a:txBody>
                  <a:tcPr>
                    <a:solidFill>
                      <a:srgbClr val="E0E3E8"/>
                    </a:solidFill>
                  </a:tcPr>
                </a:tc>
                <a:tc>
                  <a:txBody>
                    <a:bodyPr/>
                    <a:lstStyle/>
                    <a:p>
                      <a:pPr>
                        <a:defRPr sz="1100">
                          <a:solidFill>
                            <a:srgbClr val="1C2A3A"/>
                          </a:solidFill>
                          <a:latin typeface="Calibri"/>
                        </a:defRPr>
                      </a:pPr>
                      <a:r>
                        <a:t>45.9%</a:t>
                      </a:r>
                    </a:p>
                  </a:txBody>
                  <a:tcPr>
                    <a:solidFill>
                      <a:srgbClr val="E0E3E8"/>
                    </a:solidFill>
                  </a:tcPr>
                </a:tc>
              </a:tr>
              <a:tr h="457200">
                <a:tc>
                  <a:txBody>
                    <a:bodyPr/>
                    <a:lstStyle/>
                    <a:p>
                      <a:pPr>
                        <a:defRPr sz="1100">
                          <a:solidFill>
                            <a:srgbClr val="1C2A3A"/>
                          </a:solidFill>
                          <a:latin typeface="Calibri"/>
                        </a:defRPr>
                      </a:pPr>
                      <a:r>
                        <a:t>Accuracy</a:t>
                      </a:r>
                    </a:p>
                  </a:txBody>
                  <a:tcPr/>
                </a:tc>
                <a:tc>
                  <a:txBody>
                    <a:bodyPr/>
                    <a:lstStyle/>
                    <a:p>
                      <a:pPr>
                        <a:defRPr sz="1100">
                          <a:solidFill>
                            <a:srgbClr val="1C2A3A"/>
                          </a:solidFill>
                          <a:latin typeface="Calibri"/>
                        </a:defRPr>
                      </a:pPr>
                      <a:r>
                        <a:t>25.0%</a:t>
                      </a:r>
                    </a:p>
                  </a:txBody>
                  <a:tcPr/>
                </a:tc>
                <a:tc>
                  <a:txBody>
                    <a:bodyPr/>
                    <a:lstStyle/>
                    <a:p>
                      <a:pPr>
                        <a:defRPr sz="1100">
                          <a:solidFill>
                            <a:srgbClr val="1C2A3A"/>
                          </a:solidFill>
                          <a:latin typeface="Calibri"/>
                        </a:defRPr>
                      </a:pPr>
                      <a:r>
                        <a:t>37.5%</a:t>
                      </a:r>
                    </a:p>
                  </a:txBody>
                  <a:tcPr/>
                </a:tc>
                <a:tc>
                  <a:txBody>
                    <a:bodyPr/>
                    <a:lstStyle/>
                    <a:p>
                      <a:pPr>
                        <a:defRPr sz="1100">
                          <a:solidFill>
                            <a:srgbClr val="1C2A3A"/>
                          </a:solidFill>
                          <a:latin typeface="Calibri"/>
                        </a:defRPr>
                      </a:pPr>
                      <a:r>
                        <a:t>12.5%</a:t>
                      </a:r>
                    </a:p>
                  </a:txBody>
                  <a:tcPr/>
                </a:tc>
                <a:tc>
                  <a:txBody>
                    <a:bodyPr/>
                    <a:lstStyle/>
                    <a:p>
                      <a:pPr>
                        <a:defRPr sz="1100">
                          <a:solidFill>
                            <a:srgbClr val="1C2A3A"/>
                          </a:solidFill>
                          <a:latin typeface="Calibri"/>
                        </a:defRPr>
                      </a:pPr>
                      <a:r>
                        <a:t>25.0%</a:t>
                      </a:r>
                    </a:p>
                  </a:txBody>
                  <a:tcPr/>
                </a:tc>
              </a:tr>
            </a:tbl>
          </a:graphicData>
        </a:graphic>
      </p:graphicFrame>
      <p:graphicFrame>
        <p:nvGraphicFramePr>
          <p:cNvPr id="4" name="Chart 3"/>
          <p:cNvGraphicFramePr>
            <a:graphicFrameLocks noGrp="1"/>
          </p:cNvGraphicFramePr>
          <p:nvPr/>
        </p:nvGraphicFramePr>
        <p:xfrm>
          <a:off x="457200" y="2926080"/>
          <a:ext cx="5303520" cy="3200400"/>
        </p:xfrm>
        <a:graphic>
          <a:graphicData uri="http://schemas.openxmlformats.org/drawingml/2006/chart">
            <c:chart xmlns:c="http://schemas.openxmlformats.org/drawingml/2006/chart" r:id="rId2"/>
          </a:graphicData>
        </a:graphic>
      </p:graphicFrame>
      <p:sp>
        <p:nvSpPr>
          <p:cNvPr id="5" name="Rectangle 4"/>
          <p:cNvSpPr/>
          <p:nvPr/>
        </p:nvSpPr>
        <p:spPr>
          <a:xfrm>
            <a:off x="6217920" y="2926080"/>
            <a:ext cx="5303520" cy="3200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Insight</a:t>
            </a:r>
          </a:p>
          <a:p>
            <a:pPr>
              <a:defRPr sz="1200">
                <a:solidFill>
                  <a:srgbClr val="1C2A3A"/>
                </a:solidFill>
                <a:latin typeface="Calibri"/>
              </a:defRPr>
            </a:pPr>
            <a:r>
              <a:t>Base Llama2-7B has lowest MAPE (21.4%), meaning its numerical answers are closest to expected values.</a:t>
            </a:r>
            <a:br/>
            <a:br/>
            <a:r>
              <a:t>Lower MAPE = more precise calculations.</a:t>
            </a:r>
          </a:p>
        </p:txBody>
      </p:sp>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44/55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3: Llama2 7B - Financial Ratios - Category Breakdown</a:t>
            </a:r>
          </a:p>
        </p:txBody>
      </p:sp>
      <p:graphicFrame>
        <p:nvGraphicFramePr>
          <p:cNvPr id="3" name="Table 2"/>
          <p:cNvGraphicFramePr>
            <a:graphicFrameLocks noGrp="1"/>
          </p:cNvGraphicFramePr>
          <p:nvPr/>
        </p:nvGraphicFramePr>
        <p:xfrm>
          <a:off x="457200" y="1371600"/>
          <a:ext cx="11247120" cy="228600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81000">
                <a:tc>
                  <a:txBody>
                    <a:bodyPr/>
                    <a:lstStyle/>
                    <a:p>
                      <a:pPr algn="ctr">
                        <a:defRPr sz="1200" b="1">
                          <a:solidFill>
                            <a:srgbClr val="FFFFFF"/>
                          </a:solidFill>
                          <a:latin typeface="Calibri"/>
                        </a:defRPr>
                      </a:pPr>
                      <a:r>
                        <a:t>Category</a:t>
                      </a:r>
                    </a:p>
                  </a:txBody>
                  <a:tcPr>
                    <a:solidFill>
                      <a:srgbClr val="2E86C1"/>
                    </a:solidFill>
                  </a:tcPr>
                </a:tc>
                <a:tc>
                  <a:txBody>
                    <a:bodyPr/>
                    <a:lstStyle/>
                    <a:p>
                      <a:pPr algn="ctr">
                        <a:defRPr sz="1200" b="1">
                          <a:solidFill>
                            <a:srgbClr val="FFFFFF"/>
                          </a:solidFill>
                          <a:latin typeface="Calibri"/>
                        </a:defRPr>
                      </a:pPr>
                      <a:r>
                        <a:t>Cases</a:t>
                      </a:r>
                    </a:p>
                  </a:txBody>
                  <a:tcPr>
                    <a:solidFill>
                      <a:srgbClr val="2E86C1"/>
                    </a:solidFill>
                  </a:tcPr>
                </a:tc>
                <a:tc>
                  <a:txBody>
                    <a:bodyPr/>
                    <a:lstStyle/>
                    <a:p>
                      <a:pPr algn="ctr">
                        <a:defRPr sz="1200" b="1">
                          <a:solidFill>
                            <a:srgbClr val="FFFFFF"/>
                          </a:solidFill>
                          <a:latin typeface="Calibri"/>
                        </a:defRPr>
                      </a:pPr>
                      <a:r>
                        <a:t>Base Llama2-7B</a:t>
                      </a:r>
                    </a:p>
                  </a:txBody>
                  <a:tcPr>
                    <a:solidFill>
                      <a:srgbClr val="2E86C1"/>
                    </a:solidFill>
                  </a:tcPr>
                </a:tc>
                <a:tc>
                  <a:txBody>
                    <a:bodyPr/>
                    <a:lstStyle/>
                    <a:p>
                      <a:pPr algn="ctr">
                        <a:defRPr sz="1200" b="1">
                          <a:solidFill>
                            <a:srgbClr val="FFFFFF"/>
                          </a:solidFill>
                          <a:latin typeface="Calibri"/>
                        </a:defRPr>
                      </a:pPr>
                      <a:r>
                        <a:t>FinQA-7B</a:t>
                      </a:r>
                    </a:p>
                  </a:txBody>
                  <a:tcPr>
                    <a:solidFill>
                      <a:srgbClr val="2E86C1"/>
                    </a:solidFill>
                  </a:tcPr>
                </a:tc>
                <a:tc>
                  <a:txBody>
                    <a:bodyPr/>
                    <a:lstStyle/>
                    <a:p>
                      <a:pPr algn="ctr">
                        <a:defRPr sz="1200" b="1">
                          <a:solidFill>
                            <a:srgbClr val="FFFFFF"/>
                          </a:solidFill>
                          <a:latin typeface="Calibri"/>
                        </a:defRPr>
                      </a:pPr>
                      <a:r>
                        <a:t>Llama2-7B + RAG</a:t>
                      </a:r>
                    </a:p>
                  </a:txBody>
                  <a:tcPr>
                    <a:solidFill>
                      <a:srgbClr val="2E86C1"/>
                    </a:solidFill>
                  </a:tcPr>
                </a:tc>
                <a:tc>
                  <a:txBody>
                    <a:bodyPr/>
                    <a:lstStyle/>
                    <a:p>
                      <a:pPr algn="ctr">
                        <a:defRPr sz="1200" b="1">
                          <a:solidFill>
                            <a:srgbClr val="FFFFFF"/>
                          </a:solidFill>
                          <a:latin typeface="Calibri"/>
                        </a:defRPr>
                      </a:pPr>
                      <a:r>
                        <a:t>FinQA-7B + RAG</a:t>
                      </a:r>
                    </a:p>
                  </a:txBody>
                  <a:tcPr>
                    <a:solidFill>
                      <a:srgbClr val="2E86C1"/>
                    </a:solidFill>
                  </a:tcPr>
                </a:tc>
              </a:tr>
              <a:tr h="381000">
                <a:tc>
                  <a:txBody>
                    <a:bodyPr/>
                    <a:lstStyle/>
                    <a:p>
                      <a:pPr>
                        <a:defRPr sz="1100">
                          <a:solidFill>
                            <a:srgbClr val="1C2A3A"/>
                          </a:solidFill>
                          <a:latin typeface="Calibri"/>
                        </a:defRPr>
                      </a:pPr>
                      <a:r>
                        <a:t>Efficiency</a:t>
                      </a:r>
                    </a:p>
                  </a:txBody>
                  <a:tcPr>
                    <a:solidFill>
                      <a:srgbClr val="E0E3E8"/>
                    </a:solidFill>
                  </a:tcPr>
                </a:tc>
                <a:tc>
                  <a:txBody>
                    <a:bodyPr/>
                    <a:lstStyle/>
                    <a:p>
                      <a:pPr>
                        <a:defRPr sz="1100">
                          <a:solidFill>
                            <a:srgbClr val="1C2A3A"/>
                          </a:solidFill>
                          <a:latin typeface="Calibri"/>
                        </a:defRPr>
                      </a:pPr>
                      <a:r>
                        <a:t>1</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r>
              <a:tr h="381000">
                <a:tc>
                  <a:txBody>
                    <a:bodyPr/>
                    <a:lstStyle/>
                    <a:p>
                      <a:pPr>
                        <a:defRPr sz="1100">
                          <a:solidFill>
                            <a:srgbClr val="1C2A3A"/>
                          </a:solidFill>
                          <a:latin typeface="Calibri"/>
                        </a:defRPr>
                      </a:pPr>
                      <a:r>
                        <a:t>Leverage</a:t>
                      </a:r>
                    </a:p>
                  </a:txBody>
                  <a:tcPr/>
                </a:tc>
                <a:tc>
                  <a:txBody>
                    <a:bodyPr/>
                    <a:lstStyle/>
                    <a:p>
                      <a:pPr>
                        <a:defRPr sz="1100">
                          <a:solidFill>
                            <a:srgbClr val="1C2A3A"/>
                          </a:solidFill>
                          <a:latin typeface="Calibri"/>
                        </a:defRPr>
                      </a:pPr>
                      <a:r>
                        <a:t>2</a:t>
                      </a:r>
                    </a:p>
                  </a:txBody>
                  <a:tcPr/>
                </a:tc>
                <a:tc>
                  <a:txBody>
                    <a:bodyPr/>
                    <a:lstStyle/>
                    <a:p>
                      <a:pPr>
                        <a:defRPr sz="1100">
                          <a:solidFill>
                            <a:srgbClr val="1C2A3A"/>
                          </a:solidFill>
                          <a:latin typeface="Calibri"/>
                        </a:defRPr>
                      </a:pPr>
                      <a:r>
                        <a:t>0.0%</a:t>
                      </a:r>
                    </a:p>
                  </a:txBody>
                  <a:tcPr/>
                </a:tc>
                <a:tc>
                  <a:txBody>
                    <a:bodyPr/>
                    <a:lstStyle/>
                    <a:p>
                      <a:pPr>
                        <a:defRPr sz="1100">
                          <a:solidFill>
                            <a:srgbClr val="1C2A3A"/>
                          </a:solidFill>
                          <a:latin typeface="Calibri"/>
                        </a:defRPr>
                      </a:pPr>
                      <a:r>
                        <a:t>50.0%</a:t>
                      </a:r>
                    </a:p>
                  </a:txBody>
                  <a:tcPr/>
                </a:tc>
                <a:tc>
                  <a:txBody>
                    <a:bodyPr/>
                    <a:lstStyle/>
                    <a:p>
                      <a:pPr>
                        <a:defRPr sz="1100">
                          <a:solidFill>
                            <a:srgbClr val="1C2A3A"/>
                          </a:solidFill>
                          <a:latin typeface="Calibri"/>
                        </a:defRPr>
                      </a:pPr>
                      <a:r>
                        <a:t>50.0%</a:t>
                      </a:r>
                    </a:p>
                  </a:txBody>
                  <a:tcPr/>
                </a:tc>
                <a:tc>
                  <a:txBody>
                    <a:bodyPr/>
                    <a:lstStyle/>
                    <a:p>
                      <a:pPr>
                        <a:defRPr sz="1100">
                          <a:solidFill>
                            <a:srgbClr val="1C2A3A"/>
                          </a:solidFill>
                          <a:latin typeface="Calibri"/>
                        </a:defRPr>
                      </a:pPr>
                      <a:r>
                        <a:t>50.0%</a:t>
                      </a:r>
                    </a:p>
                  </a:txBody>
                  <a:tcPr/>
                </a:tc>
              </a:tr>
              <a:tr h="381000">
                <a:tc>
                  <a:txBody>
                    <a:bodyPr/>
                    <a:lstStyle/>
                    <a:p>
                      <a:pPr>
                        <a:defRPr sz="1100">
                          <a:solidFill>
                            <a:srgbClr val="1C2A3A"/>
                          </a:solidFill>
                          <a:latin typeface="Calibri"/>
                        </a:defRPr>
                      </a:pPr>
                      <a:r>
                        <a:t>Liquidity</a:t>
                      </a:r>
                    </a:p>
                  </a:txBody>
                  <a:tcPr>
                    <a:solidFill>
                      <a:srgbClr val="E0E3E8"/>
                    </a:solidFill>
                  </a:tcPr>
                </a:tc>
                <a:tc>
                  <a:txBody>
                    <a:bodyPr/>
                    <a:lstStyle/>
                    <a:p>
                      <a:pPr>
                        <a:defRPr sz="1100">
                          <a:solidFill>
                            <a:srgbClr val="1C2A3A"/>
                          </a:solidFill>
                          <a:latin typeface="Calibri"/>
                        </a:defRPr>
                      </a:pPr>
                      <a:r>
                        <a:t>2</a:t>
                      </a:r>
                    </a:p>
                  </a:txBody>
                  <a:tcPr>
                    <a:solidFill>
                      <a:srgbClr val="E0E3E8"/>
                    </a:solidFill>
                  </a:tcPr>
                </a:tc>
                <a:tc>
                  <a:txBody>
                    <a:bodyPr/>
                    <a:lstStyle/>
                    <a:p>
                      <a:pPr>
                        <a:defRPr sz="1100">
                          <a:solidFill>
                            <a:srgbClr val="1C2A3A"/>
                          </a:solidFill>
                          <a:latin typeface="Calibri"/>
                        </a:defRPr>
                      </a:pPr>
                      <a:r>
                        <a:t>50.0%</a:t>
                      </a:r>
                    </a:p>
                  </a:txBody>
                  <a:tcPr>
                    <a:solidFill>
                      <a:srgbClr val="E0E3E8"/>
                    </a:solidFill>
                  </a:tcPr>
                </a:tc>
                <a:tc>
                  <a:txBody>
                    <a:bodyPr/>
                    <a:lstStyle/>
                    <a:p>
                      <a:pPr>
                        <a:defRPr sz="1100">
                          <a:solidFill>
                            <a:srgbClr val="1C2A3A"/>
                          </a:solidFill>
                          <a:latin typeface="Calibri"/>
                        </a:defRPr>
                      </a:pPr>
                      <a:r>
                        <a:t>50.0%</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c>
                  <a:txBody>
                    <a:bodyPr/>
                    <a:lstStyle/>
                    <a:p>
                      <a:pPr>
                        <a:defRPr sz="1100">
                          <a:solidFill>
                            <a:srgbClr val="1C2A3A"/>
                          </a:solidFill>
                          <a:latin typeface="Calibri"/>
                        </a:defRPr>
                      </a:pPr>
                      <a:r>
                        <a:t>50.0%</a:t>
                      </a:r>
                    </a:p>
                  </a:txBody>
                  <a:tcPr>
                    <a:solidFill>
                      <a:srgbClr val="E0E3E8"/>
                    </a:solidFill>
                  </a:tcPr>
                </a:tc>
              </a:tr>
              <a:tr h="381000">
                <a:tc>
                  <a:txBody>
                    <a:bodyPr/>
                    <a:lstStyle/>
                    <a:p>
                      <a:pPr>
                        <a:defRPr sz="1100">
                          <a:solidFill>
                            <a:srgbClr val="1C2A3A"/>
                          </a:solidFill>
                          <a:latin typeface="Calibri"/>
                        </a:defRPr>
                      </a:pPr>
                      <a:r>
                        <a:t>Profitability</a:t>
                      </a:r>
                    </a:p>
                  </a:txBody>
                  <a:tcPr/>
                </a:tc>
                <a:tc>
                  <a:txBody>
                    <a:bodyPr/>
                    <a:lstStyle/>
                    <a:p>
                      <a:pPr>
                        <a:defRPr sz="1100">
                          <a:solidFill>
                            <a:srgbClr val="1C2A3A"/>
                          </a:solidFill>
                          <a:latin typeface="Calibri"/>
                        </a:defRPr>
                      </a:pPr>
                      <a:r>
                        <a:t>2</a:t>
                      </a:r>
                    </a:p>
                  </a:txBody>
                  <a:tcPr/>
                </a:tc>
                <a:tc>
                  <a:txBody>
                    <a:bodyPr/>
                    <a:lstStyle/>
                    <a:p>
                      <a:pPr>
                        <a:defRPr sz="1100">
                          <a:solidFill>
                            <a:srgbClr val="1C2A3A"/>
                          </a:solidFill>
                          <a:latin typeface="Calibri"/>
                        </a:defRPr>
                      </a:pPr>
                      <a:r>
                        <a:t>0.0%</a:t>
                      </a:r>
                    </a:p>
                  </a:txBody>
                  <a:tcPr/>
                </a:tc>
                <a:tc>
                  <a:txBody>
                    <a:bodyPr/>
                    <a:lstStyle/>
                    <a:p>
                      <a:pPr>
                        <a:defRPr sz="1100">
                          <a:solidFill>
                            <a:srgbClr val="1C2A3A"/>
                          </a:solidFill>
                          <a:latin typeface="Calibri"/>
                        </a:defRPr>
                      </a:pPr>
                      <a:r>
                        <a:t>0.0%</a:t>
                      </a:r>
                    </a:p>
                  </a:txBody>
                  <a:tcPr/>
                </a:tc>
                <a:tc>
                  <a:txBody>
                    <a:bodyPr/>
                    <a:lstStyle/>
                    <a:p>
                      <a:pPr>
                        <a:defRPr sz="1100">
                          <a:solidFill>
                            <a:srgbClr val="1C2A3A"/>
                          </a:solidFill>
                          <a:latin typeface="Calibri"/>
                        </a:defRPr>
                      </a:pPr>
                      <a:r>
                        <a:t>0.0%</a:t>
                      </a:r>
                    </a:p>
                  </a:txBody>
                  <a:tcPr/>
                </a:tc>
                <a:tc>
                  <a:txBody>
                    <a:bodyPr/>
                    <a:lstStyle/>
                    <a:p>
                      <a:pPr>
                        <a:defRPr sz="1100">
                          <a:solidFill>
                            <a:srgbClr val="1C2A3A"/>
                          </a:solidFill>
                          <a:latin typeface="Calibri"/>
                        </a:defRPr>
                      </a:pPr>
                      <a:r>
                        <a:t>0.0%</a:t>
                      </a:r>
                    </a:p>
                  </a:txBody>
                  <a:tcPr/>
                </a:tc>
              </a:tr>
              <a:tr h="381000">
                <a:tc>
                  <a:txBody>
                    <a:bodyPr/>
                    <a:lstStyle/>
                    <a:p>
                      <a:pPr>
                        <a:defRPr sz="1100">
                          <a:solidFill>
                            <a:srgbClr val="1C2A3A"/>
                          </a:solidFill>
                          <a:latin typeface="Calibri"/>
                        </a:defRPr>
                      </a:pPr>
                      <a:r>
                        <a:t>Shareholder</a:t>
                      </a:r>
                    </a:p>
                  </a:txBody>
                  <a:tcPr>
                    <a:solidFill>
                      <a:srgbClr val="E0E3E8"/>
                    </a:solidFill>
                  </a:tcPr>
                </a:tc>
                <a:tc>
                  <a:txBody>
                    <a:bodyPr/>
                    <a:lstStyle/>
                    <a:p>
                      <a:pPr>
                        <a:defRPr sz="1100">
                          <a:solidFill>
                            <a:srgbClr val="1C2A3A"/>
                          </a:solidFill>
                          <a:latin typeface="Calibri"/>
                        </a:defRPr>
                      </a:pPr>
                      <a:r>
                        <a:t>1</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r>
            </a:tbl>
          </a:graphicData>
        </a:graphic>
      </p:graphicFrame>
      <p:graphicFrame>
        <p:nvGraphicFramePr>
          <p:cNvPr id="4" name="Chart 3"/>
          <p:cNvGraphicFramePr>
            <a:graphicFrameLocks noGrp="1"/>
          </p:cNvGraphicFramePr>
          <p:nvPr/>
        </p:nvGraphicFramePr>
        <p:xfrm>
          <a:off x="457200" y="3840480"/>
          <a:ext cx="11247120" cy="2560320"/>
        </p:xfrm>
        <a:graphic>
          <a:graphicData uri="http://schemas.openxmlformats.org/drawingml/2006/chart">
            <c:chart xmlns:c="http://schemas.openxmlformats.org/drawingml/2006/chart" r:id="rId2"/>
          </a:graphicData>
        </a:graphic>
      </p:graphicFrame>
      <p:sp>
        <p:nvSpPr>
          <p:cNvPr id="5" name="TextBox 4"/>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45/55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3: Llama2 7B - Financial Ratios - Per-Example Results</a:t>
            </a:r>
          </a:p>
        </p:txBody>
      </p:sp>
      <p:graphicFrame>
        <p:nvGraphicFramePr>
          <p:cNvPr id="3" name="Table 2"/>
          <p:cNvGraphicFramePr>
            <a:graphicFrameLocks noGrp="1"/>
          </p:cNvGraphicFramePr>
          <p:nvPr/>
        </p:nvGraphicFramePr>
        <p:xfrm>
          <a:off x="274320" y="1280160"/>
          <a:ext cx="11612880" cy="4754880"/>
        </p:xfrm>
        <a:graphic>
          <a:graphicData uri="http://schemas.openxmlformats.org/drawingml/2006/table">
            <a:tbl>
              <a:tblPr firstRow="1" bandRow="1">
                <a:tableStyleId>{5C22544A-7EE6-4342-B048-85BDC9FD1C3A}</a:tableStyleId>
              </a:tblPr>
              <a:tblGrid>
                <a:gridCol w="1658982"/>
                <a:gridCol w="1658982"/>
                <a:gridCol w="1658982"/>
                <a:gridCol w="1658982"/>
                <a:gridCol w="1658982"/>
                <a:gridCol w="1658982"/>
                <a:gridCol w="1658988"/>
              </a:tblGrid>
              <a:tr h="528320">
                <a:tc>
                  <a:txBody>
                    <a:bodyPr/>
                    <a:lstStyle/>
                    <a:p>
                      <a:pPr algn="ctr">
                        <a:defRPr sz="1200" b="1">
                          <a:solidFill>
                            <a:srgbClr val="FFFFFF"/>
                          </a:solidFill>
                          <a:latin typeface="Calibri"/>
                        </a:defRPr>
                      </a:pPr>
                      <a:r>
                        <a:t>#</a:t>
                      </a:r>
                    </a:p>
                  </a:txBody>
                  <a:tcPr>
                    <a:solidFill>
                      <a:srgbClr val="2E86C1"/>
                    </a:solidFill>
                  </a:tcPr>
                </a:tc>
                <a:tc>
                  <a:txBody>
                    <a:bodyPr/>
                    <a:lstStyle/>
                    <a:p>
                      <a:pPr algn="ctr">
                        <a:defRPr sz="1200" b="1">
                          <a:solidFill>
                            <a:srgbClr val="FFFFFF"/>
                          </a:solidFill>
                          <a:latin typeface="Calibri"/>
                        </a:defRPr>
                      </a:pPr>
                      <a:r>
                        <a:t>Question</a:t>
                      </a:r>
                    </a:p>
                  </a:txBody>
                  <a:tcPr>
                    <a:solidFill>
                      <a:srgbClr val="2E86C1"/>
                    </a:solidFill>
                  </a:tcPr>
                </a:tc>
                <a:tc>
                  <a:txBody>
                    <a:bodyPr/>
                    <a:lstStyle/>
                    <a:p>
                      <a:pPr algn="ctr">
                        <a:defRPr sz="1200" b="1">
                          <a:solidFill>
                            <a:srgbClr val="FFFFFF"/>
                          </a:solidFill>
                          <a:latin typeface="Calibri"/>
                        </a:defRPr>
                      </a:pPr>
                      <a:r>
                        <a:t>Expected</a:t>
                      </a:r>
                    </a:p>
                  </a:txBody>
                  <a:tcPr>
                    <a:solidFill>
                      <a:srgbClr val="2E86C1"/>
                    </a:solidFill>
                  </a:tcPr>
                </a:tc>
                <a:tc>
                  <a:txBody>
                    <a:bodyPr/>
                    <a:lstStyle/>
                    <a:p>
                      <a:pPr algn="ctr">
                        <a:defRPr sz="1200" b="1">
                          <a:solidFill>
                            <a:srgbClr val="FFFFFF"/>
                          </a:solidFill>
                          <a:latin typeface="Calibri"/>
                        </a:defRPr>
                      </a:pPr>
                      <a:r>
                        <a:t>Base Llama2-7B</a:t>
                      </a:r>
                    </a:p>
                  </a:txBody>
                  <a:tcPr>
                    <a:solidFill>
                      <a:srgbClr val="2E86C1"/>
                    </a:solidFill>
                  </a:tcPr>
                </a:tc>
                <a:tc>
                  <a:txBody>
                    <a:bodyPr/>
                    <a:lstStyle/>
                    <a:p>
                      <a:pPr algn="ctr">
                        <a:defRPr sz="1200" b="1">
                          <a:solidFill>
                            <a:srgbClr val="FFFFFF"/>
                          </a:solidFill>
                          <a:latin typeface="Calibri"/>
                        </a:defRPr>
                      </a:pPr>
                      <a:r>
                        <a:t>FinQA-7B</a:t>
                      </a:r>
                    </a:p>
                  </a:txBody>
                  <a:tcPr>
                    <a:solidFill>
                      <a:srgbClr val="2E86C1"/>
                    </a:solidFill>
                  </a:tcPr>
                </a:tc>
                <a:tc>
                  <a:txBody>
                    <a:bodyPr/>
                    <a:lstStyle/>
                    <a:p>
                      <a:pPr algn="ctr">
                        <a:defRPr sz="1200" b="1">
                          <a:solidFill>
                            <a:srgbClr val="FFFFFF"/>
                          </a:solidFill>
                          <a:latin typeface="Calibri"/>
                        </a:defRPr>
                      </a:pPr>
                      <a:r>
                        <a:t>Llama2-7B + RAG</a:t>
                      </a:r>
                    </a:p>
                  </a:txBody>
                  <a:tcPr>
                    <a:solidFill>
                      <a:srgbClr val="2E86C1"/>
                    </a:solidFill>
                  </a:tcPr>
                </a:tc>
                <a:tc>
                  <a:txBody>
                    <a:bodyPr/>
                    <a:lstStyle/>
                    <a:p>
                      <a:pPr algn="ctr">
                        <a:defRPr sz="1200" b="1">
                          <a:solidFill>
                            <a:srgbClr val="FFFFFF"/>
                          </a:solidFill>
                          <a:latin typeface="Calibri"/>
                        </a:defRPr>
                      </a:pPr>
                      <a:r>
                        <a:t>FinQA-7B + RAG</a:t>
                      </a:r>
                    </a:p>
                  </a:txBody>
                  <a:tcPr>
                    <a:solidFill>
                      <a:srgbClr val="2E86C1"/>
                    </a:solidFill>
                  </a:tcPr>
                </a:tc>
              </a:tr>
              <a:tr h="528320">
                <a:tc>
                  <a:txBody>
                    <a:bodyPr/>
                    <a:lstStyle/>
                    <a:p>
                      <a:pPr>
                        <a:defRPr sz="1100">
                          <a:solidFill>
                            <a:srgbClr val="1C2A3A"/>
                          </a:solidFill>
                          <a:latin typeface="Calibri"/>
                        </a:defRPr>
                      </a:pPr>
                      <a:r>
                        <a:t>1</a:t>
                      </a:r>
                    </a:p>
                  </a:txBody>
                  <a:tcPr>
                    <a:solidFill>
                      <a:srgbClr val="E0E3E8"/>
                    </a:solidFill>
                  </a:tcPr>
                </a:tc>
                <a:tc>
                  <a:txBody>
                    <a:bodyPr/>
                    <a:lstStyle/>
                    <a:p>
                      <a:pPr>
                        <a:defRPr sz="1100">
                          <a:solidFill>
                            <a:srgbClr val="1C2A3A"/>
                          </a:solidFill>
                          <a:latin typeface="Calibri"/>
                        </a:defRPr>
                      </a:pPr>
                      <a:r>
                        <a:t>Decompose the Return on Equity using the 3-co...</a:t>
                      </a:r>
                    </a:p>
                  </a:txBody>
                  <a:tcPr>
                    <a:solidFill>
                      <a:srgbClr val="E0E3E8"/>
                    </a:solidFill>
                  </a:tcPr>
                </a:tc>
                <a:tc>
                  <a:txBody>
                    <a:bodyPr/>
                    <a:lstStyle/>
                    <a:p>
                      <a:pPr>
                        <a:defRPr sz="1100">
                          <a:solidFill>
                            <a:srgbClr val="1C2A3A"/>
                          </a:solidFill>
                          <a:latin typeface="Calibri"/>
                        </a:defRPr>
                      </a:pPr>
                      <a:r>
                        <a:t>17.98</a:t>
                      </a:r>
                    </a:p>
                  </a:txBody>
                  <a:tcPr>
                    <a:solidFill>
                      <a:srgbClr val="E0E3E8"/>
                    </a:solidFill>
                  </a:tcPr>
                </a:tc>
                <a:tc>
                  <a:txBody>
                    <a:bodyPr/>
                    <a:lstStyle/>
                    <a:p>
                      <a:pPr>
                        <a:defRPr sz="1100">
                          <a:solidFill>
                            <a:srgbClr val="1C2A3A"/>
                          </a:solidFill>
                          <a:latin typeface="Calibri"/>
                        </a:defRPr>
                      </a:pPr>
                      <a:r>
                        <a:t>14.7 [N]</a:t>
                      </a:r>
                    </a:p>
                  </a:txBody>
                  <a:tcPr>
                    <a:solidFill>
                      <a:srgbClr val="E0E3E8"/>
                    </a:solidFill>
                  </a:tcPr>
                </a:tc>
                <a:tc>
                  <a:txBody>
                    <a:bodyPr/>
                    <a:lstStyle/>
                    <a:p>
                      <a:pPr>
                        <a:defRPr sz="1100">
                          <a:solidFill>
                            <a:srgbClr val="1C2A3A"/>
                          </a:solidFill>
                          <a:latin typeface="Calibri"/>
                        </a:defRPr>
                      </a:pPr>
                      <a:r>
                        <a:t>100 [N]</a:t>
                      </a:r>
                    </a:p>
                  </a:txBody>
                  <a:tcPr>
                    <a:solidFill>
                      <a:srgbClr val="E0E3E8"/>
                    </a:solidFill>
                  </a:tcPr>
                </a:tc>
                <a:tc>
                  <a:txBody>
                    <a:bodyPr/>
                    <a:lstStyle/>
                    <a:p>
                      <a:pPr>
                        <a:defRPr sz="1100">
                          <a:solidFill>
                            <a:srgbClr val="1C2A3A"/>
                          </a:solidFill>
                          <a:latin typeface="Calibri"/>
                        </a:defRPr>
                      </a:pPr>
                      <a:r>
                        <a:t>14.7 [N]</a:t>
                      </a:r>
                    </a:p>
                  </a:txBody>
                  <a:tcPr>
                    <a:solidFill>
                      <a:srgbClr val="E0E3E8"/>
                    </a:solidFill>
                  </a:tcPr>
                </a:tc>
                <a:tc>
                  <a:txBody>
                    <a:bodyPr/>
                    <a:lstStyle/>
                    <a:p>
                      <a:pPr>
                        <a:defRPr sz="1100">
                          <a:solidFill>
                            <a:srgbClr val="1C2A3A"/>
                          </a:solidFill>
                          <a:latin typeface="Calibri"/>
                        </a:defRPr>
                      </a:pPr>
                      <a:r>
                        <a:t>14.7 [N]</a:t>
                      </a:r>
                    </a:p>
                  </a:txBody>
                  <a:tcPr>
                    <a:solidFill>
                      <a:srgbClr val="E0E3E8"/>
                    </a:solidFill>
                  </a:tcPr>
                </a:tc>
              </a:tr>
              <a:tr h="528320">
                <a:tc>
                  <a:txBody>
                    <a:bodyPr/>
                    <a:lstStyle/>
                    <a:p>
                      <a:pPr>
                        <a:defRPr sz="1100">
                          <a:solidFill>
                            <a:srgbClr val="1C2A3A"/>
                          </a:solidFill>
                          <a:latin typeface="Calibri"/>
                        </a:defRPr>
                      </a:pPr>
                      <a:r>
                        <a:t>2</a:t>
                      </a:r>
                    </a:p>
                  </a:txBody>
                  <a:tcPr/>
                </a:tc>
                <a:tc>
                  <a:txBody>
                    <a:bodyPr/>
                    <a:lstStyle/>
                    <a:p>
                      <a:pPr>
                        <a:defRPr sz="1100">
                          <a:solidFill>
                            <a:srgbClr val="1C2A3A"/>
                          </a:solidFill>
                          <a:latin typeface="Calibri"/>
                        </a:defRPr>
                      </a:pPr>
                      <a:r>
                        <a:t>Calculate the 3-year Compound Annual Growth R...</a:t>
                      </a:r>
                    </a:p>
                  </a:txBody>
                  <a:tcPr/>
                </a:tc>
                <a:tc>
                  <a:txBody>
                    <a:bodyPr/>
                    <a:lstStyle/>
                    <a:p>
                      <a:pPr>
                        <a:defRPr sz="1100">
                          <a:solidFill>
                            <a:srgbClr val="1C2A3A"/>
                          </a:solidFill>
                          <a:latin typeface="Calibri"/>
                        </a:defRPr>
                      </a:pPr>
                      <a:r>
                        <a:t>10.17</a:t>
                      </a:r>
                    </a:p>
                  </a:txBody>
                  <a:tcPr/>
                </a:tc>
                <a:tc>
                  <a:txBody>
                    <a:bodyPr/>
                    <a:lstStyle/>
                    <a:p>
                      <a:pPr>
                        <a:defRPr sz="1100">
                          <a:solidFill>
                            <a:srgbClr val="1C2A3A"/>
                          </a:solidFill>
                          <a:latin typeface="Calibri"/>
                        </a:defRPr>
                      </a:pPr>
                      <a:r>
                        <a:t>12.7 [N]</a:t>
                      </a:r>
                    </a:p>
                  </a:txBody>
                  <a:tcPr/>
                </a:tc>
                <a:tc>
                  <a:txBody>
                    <a:bodyPr/>
                    <a:lstStyle/>
                    <a:p>
                      <a:pPr>
                        <a:defRPr sz="1100">
                          <a:solidFill>
                            <a:srgbClr val="1C2A3A"/>
                          </a:solidFill>
                          <a:latin typeface="Calibri"/>
                        </a:defRPr>
                      </a:pPr>
                      <a:r>
                        <a:t>37.85 [N]</a:t>
                      </a:r>
                    </a:p>
                  </a:txBody>
                  <a:tcPr/>
                </a:tc>
                <a:tc>
                  <a:txBody>
                    <a:bodyPr/>
                    <a:lstStyle/>
                    <a:p>
                      <a:pPr>
                        <a:defRPr sz="1100">
                          <a:solidFill>
                            <a:srgbClr val="1C2A3A"/>
                          </a:solidFill>
                          <a:latin typeface="Calibri"/>
                        </a:defRPr>
                      </a:pPr>
                      <a:r>
                        <a:t>4.3 [N]</a:t>
                      </a:r>
                    </a:p>
                  </a:txBody>
                  <a:tcPr/>
                </a:tc>
                <a:tc>
                  <a:txBody>
                    <a:bodyPr/>
                    <a:lstStyle/>
                    <a:p>
                      <a:pPr>
                        <a:defRPr sz="1100">
                          <a:solidFill>
                            <a:srgbClr val="1C2A3A"/>
                          </a:solidFill>
                          <a:latin typeface="Calibri"/>
                        </a:defRPr>
                      </a:pPr>
                      <a:r>
                        <a:t>33 [N]</a:t>
                      </a:r>
                    </a:p>
                  </a:txBody>
                  <a:tcPr/>
                </a:tc>
              </a:tr>
              <a:tr h="528320">
                <a:tc>
                  <a:txBody>
                    <a:bodyPr/>
                    <a:lstStyle/>
                    <a:p>
                      <a:pPr>
                        <a:defRPr sz="1100">
                          <a:solidFill>
                            <a:srgbClr val="1C2A3A"/>
                          </a:solidFill>
                          <a:latin typeface="Calibri"/>
                        </a:defRPr>
                      </a:pPr>
                      <a:r>
                        <a:t>3</a:t>
                      </a:r>
                    </a:p>
                  </a:txBody>
                  <a:tcPr>
                    <a:solidFill>
                      <a:srgbClr val="E0E3E8"/>
                    </a:solidFill>
                  </a:tcPr>
                </a:tc>
                <a:tc>
                  <a:txBody>
                    <a:bodyPr/>
                    <a:lstStyle/>
                    <a:p>
                      <a:pPr>
                        <a:defRPr sz="1100">
                          <a:solidFill>
                            <a:srgbClr val="1C2A3A"/>
                          </a:solidFill>
                          <a:latin typeface="Calibri"/>
                        </a:defRPr>
                      </a:pPr>
                      <a:r>
                        <a:t>Calculate the working capital for both quarte...</a:t>
                      </a:r>
                    </a:p>
                  </a:txBody>
                  <a:tcPr>
                    <a:solidFill>
                      <a:srgbClr val="E0E3E8"/>
                    </a:solidFill>
                  </a:tcPr>
                </a:tc>
                <a:tc>
                  <a:txBody>
                    <a:bodyPr/>
                    <a:lstStyle/>
                    <a:p>
                      <a:pPr>
                        <a:defRPr sz="1100">
                          <a:solidFill>
                            <a:srgbClr val="1C2A3A"/>
                          </a:solidFill>
                          <a:latin typeface="Calibri"/>
                        </a:defRPr>
                      </a:pPr>
                      <a:r>
                        <a:t>37.55</a:t>
                      </a:r>
                    </a:p>
                  </a:txBody>
                  <a:tcPr>
                    <a:solidFill>
                      <a:srgbClr val="E0E3E8"/>
                    </a:solidFill>
                  </a:tcPr>
                </a:tc>
                <a:tc>
                  <a:txBody>
                    <a:bodyPr/>
                    <a:lstStyle/>
                    <a:p>
                      <a:pPr>
                        <a:defRPr sz="1100">
                          <a:solidFill>
                            <a:srgbClr val="1C2A3A"/>
                          </a:solidFill>
                          <a:latin typeface="Calibri"/>
                        </a:defRPr>
                      </a:pPr>
                      <a:r>
                        <a:t>37.8 [Y]</a:t>
                      </a:r>
                    </a:p>
                  </a:txBody>
                  <a:tcPr>
                    <a:solidFill>
                      <a:srgbClr val="E0E3E8"/>
                    </a:solidFill>
                  </a:tcPr>
                </a:tc>
                <a:tc>
                  <a:txBody>
                    <a:bodyPr/>
                    <a:lstStyle/>
                    <a:p>
                      <a:pPr>
                        <a:defRPr sz="1100">
                          <a:solidFill>
                            <a:srgbClr val="1C2A3A"/>
                          </a:solidFill>
                          <a:latin typeface="Calibri"/>
                        </a:defRPr>
                      </a:pPr>
                      <a:r>
                        <a:t>37.8 [Y]</a:t>
                      </a:r>
                    </a:p>
                  </a:txBody>
                  <a:tcPr>
                    <a:solidFill>
                      <a:srgbClr val="E0E3E8"/>
                    </a:solidFill>
                  </a:tcPr>
                </a:tc>
                <a:tc>
                  <a:txBody>
                    <a:bodyPr/>
                    <a:lstStyle/>
                    <a:p>
                      <a:pPr>
                        <a:defRPr sz="1100">
                          <a:solidFill>
                            <a:srgbClr val="1C2A3A"/>
                          </a:solidFill>
                          <a:latin typeface="Calibri"/>
                        </a:defRPr>
                      </a:pPr>
                      <a:r>
                        <a:t>41.7 [N]</a:t>
                      </a:r>
                    </a:p>
                  </a:txBody>
                  <a:tcPr>
                    <a:solidFill>
                      <a:srgbClr val="E0E3E8"/>
                    </a:solidFill>
                  </a:tcPr>
                </a:tc>
                <a:tc>
                  <a:txBody>
                    <a:bodyPr/>
                    <a:lstStyle/>
                    <a:p>
                      <a:pPr>
                        <a:defRPr sz="1100">
                          <a:solidFill>
                            <a:srgbClr val="1C2A3A"/>
                          </a:solidFill>
                          <a:latin typeface="Calibri"/>
                        </a:defRPr>
                      </a:pPr>
                      <a:r>
                        <a:t>37.5 [Y]</a:t>
                      </a:r>
                    </a:p>
                  </a:txBody>
                  <a:tcPr>
                    <a:solidFill>
                      <a:srgbClr val="E0E3E8"/>
                    </a:solidFill>
                  </a:tcPr>
                </a:tc>
              </a:tr>
              <a:tr h="528320">
                <a:tc>
                  <a:txBody>
                    <a:bodyPr/>
                    <a:lstStyle/>
                    <a:p>
                      <a:pPr>
                        <a:defRPr sz="1100">
                          <a:solidFill>
                            <a:srgbClr val="1C2A3A"/>
                          </a:solidFill>
                          <a:latin typeface="Calibri"/>
                        </a:defRPr>
                      </a:pPr>
                      <a:r>
                        <a:t>4</a:t>
                      </a:r>
                    </a:p>
                  </a:txBody>
                  <a:tcPr/>
                </a:tc>
                <a:tc>
                  <a:txBody>
                    <a:bodyPr/>
                    <a:lstStyle/>
                    <a:p>
                      <a:pPr>
                        <a:defRPr sz="1100">
                          <a:solidFill>
                            <a:srgbClr val="1C2A3A"/>
                          </a:solidFill>
                          <a:latin typeface="Calibri"/>
                        </a:defRPr>
                      </a:pPr>
                      <a:r>
                        <a:t>Calculate the debt-to-equity ratio by first s...</a:t>
                      </a:r>
                    </a:p>
                  </a:txBody>
                  <a:tcPr/>
                </a:tc>
                <a:tc>
                  <a:txBody>
                    <a:bodyPr/>
                    <a:lstStyle/>
                    <a:p>
                      <a:pPr>
                        <a:defRPr sz="1100">
                          <a:solidFill>
                            <a:srgbClr val="1C2A3A"/>
                          </a:solidFill>
                          <a:latin typeface="Calibri"/>
                        </a:defRPr>
                      </a:pPr>
                      <a:r>
                        <a:t>1.43</a:t>
                      </a:r>
                    </a:p>
                  </a:txBody>
                  <a:tcPr/>
                </a:tc>
                <a:tc>
                  <a:txBody>
                    <a:bodyPr/>
                    <a:lstStyle/>
                    <a:p>
                      <a:pPr>
                        <a:defRPr sz="1100">
                          <a:solidFill>
                            <a:srgbClr val="1C2A3A"/>
                          </a:solidFill>
                          <a:latin typeface="Calibri"/>
                        </a:defRPr>
                      </a:pPr>
                      <a:r>
                        <a:t>1.20 [N]</a:t>
                      </a:r>
                    </a:p>
                  </a:txBody>
                  <a:tcPr/>
                </a:tc>
                <a:tc>
                  <a:txBody>
                    <a:bodyPr/>
                    <a:lstStyle/>
                    <a:p>
                      <a:pPr>
                        <a:defRPr sz="1100">
                          <a:solidFill>
                            <a:srgbClr val="1C2A3A"/>
                          </a:solidFill>
                          <a:latin typeface="Calibri"/>
                        </a:defRPr>
                      </a:pPr>
                      <a:r>
                        <a:t>1.45 [Y]</a:t>
                      </a:r>
                    </a:p>
                  </a:txBody>
                  <a:tcPr/>
                </a:tc>
                <a:tc>
                  <a:txBody>
                    <a:bodyPr/>
                    <a:lstStyle/>
                    <a:p>
                      <a:pPr>
                        <a:defRPr sz="1100">
                          <a:solidFill>
                            <a:srgbClr val="1C2A3A"/>
                          </a:solidFill>
                          <a:latin typeface="Calibri"/>
                        </a:defRPr>
                      </a:pPr>
                      <a:r>
                        <a:t>1.43 [Y]</a:t>
                      </a:r>
                    </a:p>
                  </a:txBody>
                  <a:tcPr/>
                </a:tc>
                <a:tc>
                  <a:txBody>
                    <a:bodyPr/>
                    <a:lstStyle/>
                    <a:p>
                      <a:pPr>
                        <a:defRPr sz="1100">
                          <a:solidFill>
                            <a:srgbClr val="1C2A3A"/>
                          </a:solidFill>
                          <a:latin typeface="Calibri"/>
                        </a:defRPr>
                      </a:pPr>
                      <a:r>
                        <a:t>1.43 [Y]</a:t>
                      </a:r>
                    </a:p>
                  </a:txBody>
                  <a:tcPr/>
                </a:tc>
              </a:tr>
              <a:tr h="528320">
                <a:tc>
                  <a:txBody>
                    <a:bodyPr/>
                    <a:lstStyle/>
                    <a:p>
                      <a:pPr>
                        <a:defRPr sz="1100">
                          <a:solidFill>
                            <a:srgbClr val="1C2A3A"/>
                          </a:solidFill>
                          <a:latin typeface="Calibri"/>
                        </a:defRPr>
                      </a:pPr>
                      <a:r>
                        <a:t>5</a:t>
                      </a:r>
                    </a:p>
                  </a:txBody>
                  <a:tcPr>
                    <a:solidFill>
                      <a:srgbClr val="E0E3E8"/>
                    </a:solidFill>
                  </a:tcPr>
                </a:tc>
                <a:tc>
                  <a:txBody>
                    <a:bodyPr/>
                    <a:lstStyle/>
                    <a:p>
                      <a:pPr>
                        <a:defRPr sz="1100">
                          <a:solidFill>
                            <a:srgbClr val="1C2A3A"/>
                          </a:solidFill>
                          <a:latin typeface="Calibri"/>
                        </a:defRPr>
                      </a:pPr>
                      <a:r>
                        <a:t>Calculate the operating cash flow ratio. Firs...</a:t>
                      </a:r>
                    </a:p>
                  </a:txBody>
                  <a:tcPr>
                    <a:solidFill>
                      <a:srgbClr val="E0E3E8"/>
                    </a:solidFill>
                  </a:tcPr>
                </a:tc>
                <a:tc>
                  <a:txBody>
                    <a:bodyPr/>
                    <a:lstStyle/>
                    <a:p>
                      <a:pPr>
                        <a:defRPr sz="1100">
                          <a:solidFill>
                            <a:srgbClr val="1C2A3A"/>
                          </a:solidFill>
                          <a:latin typeface="Calibri"/>
                        </a:defRPr>
                      </a:pPr>
                      <a:r>
                        <a:t>12.51</a:t>
                      </a:r>
                    </a:p>
                  </a:txBody>
                  <a:tcPr>
                    <a:solidFill>
                      <a:srgbClr val="E0E3E8"/>
                    </a:solidFill>
                  </a:tcPr>
                </a:tc>
                <a:tc>
                  <a:txBody>
                    <a:bodyPr/>
                    <a:lstStyle/>
                    <a:p>
                      <a:pPr>
                        <a:defRPr sz="1100">
                          <a:solidFill>
                            <a:srgbClr val="1C2A3A"/>
                          </a:solidFill>
                          <a:latin typeface="Calibri"/>
                        </a:defRPr>
                      </a:pPr>
                      <a:r>
                        <a:t>10.7 [N]</a:t>
                      </a:r>
                    </a:p>
                  </a:txBody>
                  <a:tcPr>
                    <a:solidFill>
                      <a:srgbClr val="E0E3E8"/>
                    </a:solidFill>
                  </a:tcPr>
                </a:tc>
                <a:tc>
                  <a:txBody>
                    <a:bodyPr/>
                    <a:lstStyle/>
                    <a:p>
                      <a:pPr>
                        <a:defRPr sz="1100">
                          <a:solidFill>
                            <a:srgbClr val="1C2A3A"/>
                          </a:solidFill>
                          <a:latin typeface="Calibri"/>
                        </a:defRPr>
                      </a:pPr>
                      <a:r>
                        <a:t>10.7 [N]</a:t>
                      </a:r>
                    </a:p>
                  </a:txBody>
                  <a:tcPr>
                    <a:solidFill>
                      <a:srgbClr val="E0E3E8"/>
                    </a:solidFill>
                  </a:tcPr>
                </a:tc>
                <a:tc>
                  <a:txBody>
                    <a:bodyPr/>
                    <a:lstStyle/>
                    <a:p>
                      <a:pPr>
                        <a:defRPr sz="1100">
                          <a:solidFill>
                            <a:srgbClr val="1C2A3A"/>
                          </a:solidFill>
                          <a:latin typeface="Calibri"/>
                        </a:defRPr>
                      </a:pPr>
                      <a:r>
                        <a:t>0.73 [N]</a:t>
                      </a:r>
                    </a:p>
                  </a:txBody>
                  <a:tcPr>
                    <a:solidFill>
                      <a:srgbClr val="E0E3E8"/>
                    </a:solidFill>
                  </a:tcPr>
                </a:tc>
                <a:tc>
                  <a:txBody>
                    <a:bodyPr/>
                    <a:lstStyle/>
                    <a:p>
                      <a:pPr>
                        <a:defRPr sz="1100">
                          <a:solidFill>
                            <a:srgbClr val="1C2A3A"/>
                          </a:solidFill>
                          <a:latin typeface="Calibri"/>
                        </a:defRPr>
                      </a:pPr>
                      <a:r>
                        <a:t>10.7 [N]</a:t>
                      </a:r>
                    </a:p>
                  </a:txBody>
                  <a:tcPr>
                    <a:solidFill>
                      <a:srgbClr val="E0E3E8"/>
                    </a:solidFill>
                  </a:tcPr>
                </a:tc>
              </a:tr>
              <a:tr h="528320">
                <a:tc>
                  <a:txBody>
                    <a:bodyPr/>
                    <a:lstStyle/>
                    <a:p>
                      <a:pPr>
                        <a:defRPr sz="1100">
                          <a:solidFill>
                            <a:srgbClr val="1C2A3A"/>
                          </a:solidFill>
                          <a:latin typeface="Calibri"/>
                        </a:defRPr>
                      </a:pPr>
                      <a:r>
                        <a:t>6</a:t>
                      </a:r>
                    </a:p>
                  </a:txBody>
                  <a:tcPr/>
                </a:tc>
                <a:tc>
                  <a:txBody>
                    <a:bodyPr/>
                    <a:lstStyle/>
                    <a:p>
                      <a:pPr>
                        <a:defRPr sz="1100">
                          <a:solidFill>
                            <a:srgbClr val="1C2A3A"/>
                          </a:solidFill>
                          <a:latin typeface="Calibri"/>
                        </a:defRPr>
                      </a:pPr>
                      <a:r>
                        <a:t>Calculate the gross margin, operating margin,...</a:t>
                      </a:r>
                    </a:p>
                  </a:txBody>
                  <a:tcPr/>
                </a:tc>
                <a:tc>
                  <a:txBody>
                    <a:bodyPr/>
                    <a:lstStyle/>
                    <a:p>
                      <a:pPr>
                        <a:defRPr sz="1100">
                          <a:solidFill>
                            <a:srgbClr val="1C2A3A"/>
                          </a:solidFill>
                          <a:latin typeface="Calibri"/>
                        </a:defRPr>
                      </a:pPr>
                      <a:r>
                        <a:t>26.32</a:t>
                      </a:r>
                    </a:p>
                  </a:txBody>
                  <a:tcPr/>
                </a:tc>
                <a:tc>
                  <a:txBody>
                    <a:bodyPr/>
                    <a:lstStyle/>
                    <a:p>
                      <a:pPr>
                        <a:defRPr sz="1100">
                          <a:solidFill>
                            <a:srgbClr val="1C2A3A"/>
                          </a:solidFill>
                          <a:latin typeface="Calibri"/>
                        </a:defRPr>
                      </a:pPr>
                      <a:r>
                        <a:t>42.9 [N]</a:t>
                      </a:r>
                    </a:p>
                  </a:txBody>
                  <a:tcPr/>
                </a:tc>
                <a:tc>
                  <a:txBody>
                    <a:bodyPr/>
                    <a:lstStyle/>
                    <a:p>
                      <a:pPr>
                        <a:defRPr sz="1100">
                          <a:solidFill>
                            <a:srgbClr val="1C2A3A"/>
                          </a:solidFill>
                          <a:latin typeface="Calibri"/>
                        </a:defRPr>
                      </a:pPr>
                      <a:r>
                        <a:t>42.9 [N]</a:t>
                      </a:r>
                    </a:p>
                  </a:txBody>
                  <a:tcPr/>
                </a:tc>
                <a:tc>
                  <a:txBody>
                    <a:bodyPr/>
                    <a:lstStyle/>
                    <a:p>
                      <a:pPr>
                        <a:defRPr sz="1100">
                          <a:solidFill>
                            <a:srgbClr val="1C2A3A"/>
                          </a:solidFill>
                          <a:latin typeface="Calibri"/>
                        </a:defRPr>
                      </a:pPr>
                      <a:r>
                        <a:t>24.9 [N]</a:t>
                      </a:r>
                    </a:p>
                  </a:txBody>
                  <a:tcPr/>
                </a:tc>
                <a:tc>
                  <a:txBody>
                    <a:bodyPr/>
                    <a:lstStyle/>
                    <a:p>
                      <a:pPr>
                        <a:defRPr sz="1100">
                          <a:solidFill>
                            <a:srgbClr val="1C2A3A"/>
                          </a:solidFill>
                          <a:latin typeface="Calibri"/>
                        </a:defRPr>
                      </a:pPr>
                      <a:r>
                        <a:t>15.0 [N]</a:t>
                      </a:r>
                    </a:p>
                  </a:txBody>
                  <a:tcPr/>
                </a:tc>
              </a:tr>
              <a:tr h="528320">
                <a:tc>
                  <a:txBody>
                    <a:bodyPr/>
                    <a:lstStyle/>
                    <a:p>
                      <a:pPr>
                        <a:defRPr sz="1100">
                          <a:solidFill>
                            <a:srgbClr val="1C2A3A"/>
                          </a:solidFill>
                          <a:latin typeface="Calibri"/>
                        </a:defRPr>
                      </a:pPr>
                      <a:r>
                        <a:t>7</a:t>
                      </a:r>
                    </a:p>
                  </a:txBody>
                  <a:tcPr>
                    <a:solidFill>
                      <a:srgbClr val="E0E3E8"/>
                    </a:solidFill>
                  </a:tcPr>
                </a:tc>
                <a:tc>
                  <a:txBody>
                    <a:bodyPr/>
                    <a:lstStyle/>
                    <a:p>
                      <a:pPr>
                        <a:defRPr sz="1100">
                          <a:solidFill>
                            <a:srgbClr val="1C2A3A"/>
                          </a:solidFill>
                          <a:latin typeface="Calibri"/>
                        </a:defRPr>
                      </a:pPr>
                      <a:r>
                        <a:t>Calculate the sustainable growth rate: SGR = ...</a:t>
                      </a:r>
                    </a:p>
                  </a:txBody>
                  <a:tcPr>
                    <a:solidFill>
                      <a:srgbClr val="E0E3E8"/>
                    </a:solidFill>
                  </a:tcPr>
                </a:tc>
                <a:tc>
                  <a:txBody>
                    <a:bodyPr/>
                    <a:lstStyle/>
                    <a:p>
                      <a:pPr>
                        <a:defRPr sz="1100">
                          <a:solidFill>
                            <a:srgbClr val="1C2A3A"/>
                          </a:solidFill>
                          <a:latin typeface="Calibri"/>
                        </a:defRPr>
                      </a:pPr>
                      <a:r>
                        <a:t>12.59</a:t>
                      </a:r>
                    </a:p>
                  </a:txBody>
                  <a:tcPr>
                    <a:solidFill>
                      <a:srgbClr val="E0E3E8"/>
                    </a:solidFill>
                  </a:tcPr>
                </a:tc>
                <a:tc>
                  <a:txBody>
                    <a:bodyPr/>
                    <a:lstStyle/>
                    <a:p>
                      <a:pPr>
                        <a:defRPr sz="1100">
                          <a:solidFill>
                            <a:srgbClr val="1C2A3A"/>
                          </a:solidFill>
                          <a:latin typeface="Calibri"/>
                        </a:defRPr>
                      </a:pPr>
                      <a:r>
                        <a:t>12 [Y]</a:t>
                      </a:r>
                    </a:p>
                  </a:txBody>
                  <a:tcPr>
                    <a:solidFill>
                      <a:srgbClr val="E0E3E8"/>
                    </a:solidFill>
                  </a:tcPr>
                </a:tc>
                <a:tc>
                  <a:txBody>
                    <a:bodyPr/>
                    <a:lstStyle/>
                    <a:p>
                      <a:pPr>
                        <a:defRPr sz="1100">
                          <a:solidFill>
                            <a:srgbClr val="1C2A3A"/>
                          </a:solidFill>
                          <a:latin typeface="Calibri"/>
                        </a:defRPr>
                      </a:pPr>
                      <a:r>
                        <a:t>12 [Y]</a:t>
                      </a:r>
                    </a:p>
                  </a:txBody>
                  <a:tcPr>
                    <a:solidFill>
                      <a:srgbClr val="E0E3E8"/>
                    </a:solidFill>
                  </a:tcPr>
                </a:tc>
                <a:tc>
                  <a:txBody>
                    <a:bodyPr/>
                    <a:lstStyle/>
                    <a:p>
                      <a:pPr>
                        <a:defRPr sz="1100">
                          <a:solidFill>
                            <a:srgbClr val="1C2A3A"/>
                          </a:solidFill>
                          <a:latin typeface="Calibri"/>
                        </a:defRPr>
                      </a:pPr>
                      <a:r>
                        <a:t>18 [N]</a:t>
                      </a:r>
                    </a:p>
                  </a:txBody>
                  <a:tcPr>
                    <a:solidFill>
                      <a:srgbClr val="E0E3E8"/>
                    </a:solidFill>
                  </a:tcPr>
                </a:tc>
                <a:tc>
                  <a:txBody>
                    <a:bodyPr/>
                    <a:lstStyle/>
                    <a:p>
                      <a:pPr>
                        <a:defRPr sz="1100">
                          <a:solidFill>
                            <a:srgbClr val="1C2A3A"/>
                          </a:solidFill>
                          <a:latin typeface="Calibri"/>
                        </a:defRPr>
                      </a:pPr>
                      <a:r>
                        <a:t>18 [N]</a:t>
                      </a:r>
                    </a:p>
                  </a:txBody>
                  <a:tcPr>
                    <a:solidFill>
                      <a:srgbClr val="E0E3E8"/>
                    </a:solidFill>
                  </a:tcPr>
                </a:tc>
              </a:tr>
              <a:tr h="528320">
                <a:tc>
                  <a:txBody>
                    <a:bodyPr/>
                    <a:lstStyle/>
                    <a:p>
                      <a:pPr>
                        <a:defRPr sz="1100">
                          <a:solidFill>
                            <a:srgbClr val="1C2A3A"/>
                          </a:solidFill>
                          <a:latin typeface="Calibri"/>
                        </a:defRPr>
                      </a:pPr>
                      <a:r>
                        <a:t>8</a:t>
                      </a:r>
                    </a:p>
                  </a:txBody>
                  <a:tcPr/>
                </a:tc>
                <a:tc>
                  <a:txBody>
                    <a:bodyPr/>
                    <a:lstStyle/>
                    <a:p>
                      <a:pPr>
                        <a:defRPr sz="1100">
                          <a:solidFill>
                            <a:srgbClr val="1C2A3A"/>
                          </a:solidFill>
                          <a:latin typeface="Calibri"/>
                        </a:defRPr>
                      </a:pPr>
                      <a:r>
                        <a:t>Calculate the interest coverage ratio (EBIT/I...</a:t>
                      </a:r>
                    </a:p>
                  </a:txBody>
                  <a:tcPr/>
                </a:tc>
                <a:tc>
                  <a:txBody>
                    <a:bodyPr/>
                    <a:lstStyle/>
                    <a:p>
                      <a:pPr>
                        <a:defRPr sz="1100">
                          <a:solidFill>
                            <a:srgbClr val="1C2A3A"/>
                          </a:solidFill>
                          <a:latin typeface="Calibri"/>
                        </a:defRPr>
                      </a:pPr>
                      <a:r>
                        <a:t>21.74</a:t>
                      </a:r>
                    </a:p>
                  </a:txBody>
                  <a:tcPr/>
                </a:tc>
                <a:tc>
                  <a:txBody>
                    <a:bodyPr/>
                    <a:lstStyle/>
                    <a:p>
                      <a:pPr>
                        <a:defRPr sz="1100">
                          <a:solidFill>
                            <a:srgbClr val="1C2A3A"/>
                          </a:solidFill>
                          <a:latin typeface="Calibri"/>
                        </a:defRPr>
                      </a:pPr>
                      <a:r>
                        <a:t>28 [N]</a:t>
                      </a:r>
                    </a:p>
                  </a:txBody>
                  <a:tcPr/>
                </a:tc>
                <a:tc>
                  <a:txBody>
                    <a:bodyPr/>
                    <a:lstStyle/>
                    <a:p>
                      <a:pPr>
                        <a:defRPr sz="1100">
                          <a:solidFill>
                            <a:srgbClr val="1C2A3A"/>
                          </a:solidFill>
                          <a:latin typeface="Calibri"/>
                        </a:defRPr>
                      </a:pPr>
                      <a:r>
                        <a:t>25 [N]</a:t>
                      </a:r>
                    </a:p>
                  </a:txBody>
                  <a:tcPr/>
                </a:tc>
                <a:tc>
                  <a:txBody>
                    <a:bodyPr/>
                    <a:lstStyle/>
                    <a:p>
                      <a:pPr>
                        <a:defRPr sz="1100">
                          <a:solidFill>
                            <a:srgbClr val="1C2A3A"/>
                          </a:solidFill>
                          <a:latin typeface="Calibri"/>
                        </a:defRPr>
                      </a:pPr>
                      <a:r>
                        <a:t>31.7 [N]</a:t>
                      </a:r>
                    </a:p>
                  </a:txBody>
                  <a:tcPr/>
                </a:tc>
                <a:tc>
                  <a:txBody>
                    <a:bodyPr/>
                    <a:lstStyle/>
                    <a:p>
                      <a:pPr>
                        <a:defRPr sz="1100">
                          <a:solidFill>
                            <a:srgbClr val="1C2A3A"/>
                          </a:solidFill>
                          <a:latin typeface="Calibri"/>
                        </a:defRPr>
                      </a:pPr>
                      <a:r>
                        <a:t>27 [N]</a:t>
                      </a:r>
                    </a:p>
                  </a:txBody>
                  <a:tcPr/>
                </a:tc>
              </a:tr>
            </a:tbl>
          </a:graphicData>
        </a:graphic>
      </p:graphicFrame>
      <p:sp>
        <p:nvSpPr>
          <p:cNvPr id="4" name="TextBox 3"/>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46/55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4: DistilBERT 66M - Spam Detection</a:t>
            </a:r>
          </a:p>
          <a:p>
            <a:pPr>
              <a:defRPr sz="1600">
                <a:solidFill>
                  <a:srgbClr val="ECEFF1"/>
                </a:solidFill>
                <a:latin typeface="Calibri"/>
              </a:defRPr>
            </a:pPr>
            <a:r>
              <a:t>Architecture: DistilBERT-base-uncased (66M parameters)</a:t>
            </a:r>
          </a:p>
        </p:txBody>
      </p:sp>
      <p:sp>
        <p:nvSpPr>
          <p:cNvPr id="3" name="Rectangle 2"/>
          <p:cNvSpPr/>
          <p:nvPr/>
        </p:nvSpPr>
        <p:spPr>
          <a:xfrm>
            <a:off x="457200" y="1280160"/>
            <a:ext cx="2651760" cy="10972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Base DistilBERT</a:t>
            </a:r>
          </a:p>
          <a:p>
            <a:pPr>
              <a:defRPr sz="1200">
                <a:solidFill>
                  <a:srgbClr val="1C2A3A"/>
                </a:solidFill>
                <a:latin typeface="Calibri"/>
              </a:defRPr>
            </a:pPr>
            <a:r>
              <a:t>Accuracy: 85.0%  (17/20)</a:t>
            </a:r>
          </a:p>
        </p:txBody>
      </p:sp>
      <p:sp>
        <p:nvSpPr>
          <p:cNvPr id="4" name="Rectangle 3"/>
          <p:cNvSpPr/>
          <p:nvPr/>
        </p:nvSpPr>
        <p:spPr>
          <a:xfrm>
            <a:off x="3291840" y="1280160"/>
            <a:ext cx="2651760" cy="10972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Fine-tuned (spam-trained)</a:t>
            </a:r>
          </a:p>
          <a:p>
            <a:pPr>
              <a:defRPr sz="1200">
                <a:solidFill>
                  <a:srgbClr val="1C2A3A"/>
                </a:solidFill>
                <a:latin typeface="Calibri"/>
              </a:defRPr>
            </a:pPr>
            <a:r>
              <a:t>Accuracy: 95.0%  (19/20)</a:t>
            </a:r>
          </a:p>
        </p:txBody>
      </p:sp>
      <p:sp>
        <p:nvSpPr>
          <p:cNvPr id="5" name="Rectangle 4"/>
          <p:cNvSpPr/>
          <p:nvPr/>
        </p:nvSpPr>
        <p:spPr>
          <a:xfrm>
            <a:off x="6126480" y="1280160"/>
            <a:ext cx="2651760" cy="10972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DistilBERT + RAG</a:t>
            </a:r>
          </a:p>
          <a:p>
            <a:pPr>
              <a:defRPr sz="1200">
                <a:solidFill>
                  <a:srgbClr val="1C2A3A"/>
                </a:solidFill>
                <a:latin typeface="Calibri"/>
              </a:defRPr>
            </a:pPr>
            <a:r>
              <a:t>Accuracy: 90.0%  (18/20)</a:t>
            </a:r>
          </a:p>
        </p:txBody>
      </p:sp>
      <p:sp>
        <p:nvSpPr>
          <p:cNvPr id="6" name="Rectangle 5"/>
          <p:cNvSpPr/>
          <p:nvPr/>
        </p:nvSpPr>
        <p:spPr>
          <a:xfrm>
            <a:off x="8961120" y="1280160"/>
            <a:ext cx="2651760" cy="1097280"/>
          </a:xfrm>
          <a:prstGeom prst="rect">
            <a:avLst/>
          </a:prstGeom>
          <a:solidFill>
            <a:srgbClr val="FFF1C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Fine-tuned + RAG (hybrid)</a:t>
            </a:r>
          </a:p>
          <a:p>
            <a:pPr>
              <a:defRPr sz="1200">
                <a:solidFill>
                  <a:srgbClr val="1C2A3A"/>
                </a:solidFill>
                <a:latin typeface="Calibri"/>
              </a:defRPr>
            </a:pPr>
            <a:r>
              <a:t>Accuracy: 95.0%  (19/20)</a:t>
            </a:r>
          </a:p>
        </p:txBody>
      </p:sp>
      <p:graphicFrame>
        <p:nvGraphicFramePr>
          <p:cNvPr id="7" name="Chart 6"/>
          <p:cNvGraphicFramePr>
            <a:graphicFrameLocks noGrp="1"/>
          </p:cNvGraphicFramePr>
          <p:nvPr/>
        </p:nvGraphicFramePr>
        <p:xfrm>
          <a:off x="457200" y="2560320"/>
          <a:ext cx="5303520" cy="3200400"/>
        </p:xfrm>
        <a:graphic>
          <a:graphicData uri="http://schemas.openxmlformats.org/drawingml/2006/chart">
            <c:chart xmlns:c="http://schemas.openxmlformats.org/drawingml/2006/chart" r:id="rId2"/>
          </a:graphicData>
        </a:graphic>
      </p:graphicFrame>
      <p:graphicFrame>
        <p:nvGraphicFramePr>
          <p:cNvPr id="8" name="Chart 7"/>
          <p:cNvGraphicFramePr>
            <a:graphicFrameLocks noGrp="1"/>
          </p:cNvGraphicFramePr>
          <p:nvPr/>
        </p:nvGraphicFramePr>
        <p:xfrm>
          <a:off x="6217920" y="2560320"/>
          <a:ext cx="5303520" cy="3200400"/>
        </p:xfrm>
        <a:graphic>
          <a:graphicData uri="http://schemas.openxmlformats.org/drawingml/2006/chart">
            <c:chart xmlns:c="http://schemas.openxmlformats.org/drawingml/2006/chart" r:id="rId3"/>
          </a:graphicData>
        </a:graphic>
      </p:graphicFrame>
      <p:sp>
        <p:nvSpPr>
          <p:cNvPr id="9" name="TextBox 8"/>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47/55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4: DistilBERT 66M - Spam Detection - Token Usage &amp; Cost</a:t>
            </a:r>
          </a:p>
        </p:txBody>
      </p:sp>
      <p:graphicFrame>
        <p:nvGraphicFramePr>
          <p:cNvPr id="3" name="Table 2"/>
          <p:cNvGraphicFramePr>
            <a:graphicFrameLocks noGrp="1"/>
          </p:cNvGraphicFramePr>
          <p:nvPr/>
        </p:nvGraphicFramePr>
        <p:xfrm>
          <a:off x="457200" y="1371600"/>
          <a:ext cx="11247120" cy="3200400"/>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400050">
                <a:tc>
                  <a:txBody>
                    <a:bodyPr/>
                    <a:lstStyle/>
                    <a:p>
                      <a:pPr algn="ctr">
                        <a:defRPr sz="1200" b="1">
                          <a:solidFill>
                            <a:srgbClr val="FFFFFF"/>
                          </a:solidFill>
                          <a:latin typeface="Calibri"/>
                        </a:defRPr>
                      </a:pPr>
                      <a:r>
                        <a:t>Metric</a:t>
                      </a:r>
                    </a:p>
                  </a:txBody>
                  <a:tcPr>
                    <a:solidFill>
                      <a:srgbClr val="2E86C1"/>
                    </a:solidFill>
                  </a:tcPr>
                </a:tc>
                <a:tc>
                  <a:txBody>
                    <a:bodyPr/>
                    <a:lstStyle/>
                    <a:p>
                      <a:pPr algn="ctr">
                        <a:defRPr sz="1200" b="1">
                          <a:solidFill>
                            <a:srgbClr val="FFFFFF"/>
                          </a:solidFill>
                          <a:latin typeface="Calibri"/>
                        </a:defRPr>
                      </a:pPr>
                      <a:r>
                        <a:t>Base DistilBERT</a:t>
                      </a:r>
                    </a:p>
                  </a:txBody>
                  <a:tcPr>
                    <a:solidFill>
                      <a:srgbClr val="2E86C1"/>
                    </a:solidFill>
                  </a:tcPr>
                </a:tc>
                <a:tc>
                  <a:txBody>
                    <a:bodyPr/>
                    <a:lstStyle/>
                    <a:p>
                      <a:pPr algn="ctr">
                        <a:defRPr sz="1200" b="1">
                          <a:solidFill>
                            <a:srgbClr val="FFFFFF"/>
                          </a:solidFill>
                          <a:latin typeface="Calibri"/>
                        </a:defRPr>
                      </a:pPr>
                      <a:r>
                        <a:t>Fine-tuned</a:t>
                      </a:r>
                    </a:p>
                  </a:txBody>
                  <a:tcPr>
                    <a:solidFill>
                      <a:srgbClr val="2E86C1"/>
                    </a:solidFill>
                  </a:tcPr>
                </a:tc>
                <a:tc>
                  <a:txBody>
                    <a:bodyPr/>
                    <a:lstStyle/>
                    <a:p>
                      <a:pPr algn="ctr">
                        <a:defRPr sz="1200" b="1">
                          <a:solidFill>
                            <a:srgbClr val="FFFFFF"/>
                          </a:solidFill>
                          <a:latin typeface="Calibri"/>
                        </a:defRPr>
                      </a:pPr>
                      <a:r>
                        <a:t>DistilBERT + RAG</a:t>
                      </a:r>
                    </a:p>
                  </a:txBody>
                  <a:tcPr>
                    <a:solidFill>
                      <a:srgbClr val="2E86C1"/>
                    </a:solidFill>
                  </a:tcPr>
                </a:tc>
                <a:tc>
                  <a:txBody>
                    <a:bodyPr/>
                    <a:lstStyle/>
                    <a:p>
                      <a:pPr algn="ctr">
                        <a:defRPr sz="1200" b="1">
                          <a:solidFill>
                            <a:srgbClr val="FFFFFF"/>
                          </a:solidFill>
                          <a:latin typeface="Calibri"/>
                        </a:defRPr>
                      </a:pPr>
                      <a:r>
                        <a:t>Fine-tuned + RAG</a:t>
                      </a:r>
                    </a:p>
                  </a:txBody>
                  <a:tcPr>
                    <a:solidFill>
                      <a:srgbClr val="2E86C1"/>
                    </a:solidFill>
                  </a:tcPr>
                </a:tc>
              </a:tr>
              <a:tr h="400050">
                <a:tc>
                  <a:txBody>
                    <a:bodyPr/>
                    <a:lstStyle/>
                    <a:p>
                      <a:pPr>
                        <a:defRPr sz="1100">
                          <a:solidFill>
                            <a:srgbClr val="1C2A3A"/>
                          </a:solidFill>
                          <a:latin typeface="Calibri"/>
                        </a:defRPr>
                      </a:pPr>
                      <a:r>
                        <a:t>Avg Tokens / Query</a:t>
                      </a:r>
                    </a:p>
                  </a:txBody>
                  <a:tcPr>
                    <a:solidFill>
                      <a:srgbClr val="E0E3E8"/>
                    </a:solidFill>
                  </a:tcPr>
                </a:tc>
                <a:tc>
                  <a:txBody>
                    <a:bodyPr/>
                    <a:lstStyle/>
                    <a:p>
                      <a:pPr>
                        <a:defRPr sz="1100">
                          <a:solidFill>
                            <a:srgbClr val="1C2A3A"/>
                          </a:solidFill>
                          <a:latin typeface="Calibri"/>
                        </a:defRPr>
                      </a:pPr>
                      <a:r>
                        <a:t>39</a:t>
                      </a:r>
                    </a:p>
                  </a:txBody>
                  <a:tcPr>
                    <a:solidFill>
                      <a:srgbClr val="E0E3E8"/>
                    </a:solidFill>
                  </a:tcPr>
                </a:tc>
                <a:tc>
                  <a:txBody>
                    <a:bodyPr/>
                    <a:lstStyle/>
                    <a:p>
                      <a:pPr>
                        <a:defRPr sz="1100">
                          <a:solidFill>
                            <a:srgbClr val="1C2A3A"/>
                          </a:solidFill>
                          <a:latin typeface="Calibri"/>
                        </a:defRPr>
                      </a:pPr>
                      <a:r>
                        <a:t>512</a:t>
                      </a:r>
                    </a:p>
                  </a:txBody>
                  <a:tcPr>
                    <a:solidFill>
                      <a:srgbClr val="E0E3E8"/>
                    </a:solidFill>
                  </a:tcPr>
                </a:tc>
                <a:tc>
                  <a:txBody>
                    <a:bodyPr/>
                    <a:lstStyle/>
                    <a:p>
                      <a:pPr>
                        <a:defRPr sz="1100">
                          <a:solidFill>
                            <a:srgbClr val="1C2A3A"/>
                          </a:solidFill>
                          <a:latin typeface="Calibri"/>
                        </a:defRPr>
                      </a:pPr>
                      <a:r>
                        <a:t>114</a:t>
                      </a:r>
                    </a:p>
                  </a:txBody>
                  <a:tcPr>
                    <a:solidFill>
                      <a:srgbClr val="E0E3E8"/>
                    </a:solidFill>
                  </a:tcPr>
                </a:tc>
                <a:tc>
                  <a:txBody>
                    <a:bodyPr/>
                    <a:lstStyle/>
                    <a:p>
                      <a:pPr>
                        <a:defRPr sz="1100">
                          <a:solidFill>
                            <a:srgbClr val="1C2A3A"/>
                          </a:solidFill>
                          <a:latin typeface="Calibri"/>
                        </a:defRPr>
                      </a:pPr>
                      <a:r>
                        <a:t>626</a:t>
                      </a:r>
                    </a:p>
                  </a:txBody>
                  <a:tcPr>
                    <a:solidFill>
                      <a:srgbClr val="E0E3E8"/>
                    </a:solidFill>
                  </a:tcPr>
                </a:tc>
              </a:tr>
              <a:tr h="400050">
                <a:tc>
                  <a:txBody>
                    <a:bodyPr/>
                    <a:lstStyle/>
                    <a:p>
                      <a:pPr>
                        <a:defRPr sz="1100">
                          <a:solidFill>
                            <a:srgbClr val="1C2A3A"/>
                          </a:solidFill>
                          <a:latin typeface="Calibri"/>
                        </a:defRPr>
                      </a:pPr>
                      <a:r>
                        <a:t>Total Tokens</a:t>
                      </a:r>
                    </a:p>
                  </a:txBody>
                  <a:tcPr/>
                </a:tc>
                <a:tc>
                  <a:txBody>
                    <a:bodyPr/>
                    <a:lstStyle/>
                    <a:p>
                      <a:pPr>
                        <a:defRPr sz="1100">
                          <a:solidFill>
                            <a:srgbClr val="1C2A3A"/>
                          </a:solidFill>
                          <a:latin typeface="Calibri"/>
                        </a:defRPr>
                      </a:pPr>
                      <a:r>
                        <a:t>778</a:t>
                      </a:r>
                    </a:p>
                  </a:txBody>
                  <a:tcPr/>
                </a:tc>
                <a:tc>
                  <a:txBody>
                    <a:bodyPr/>
                    <a:lstStyle/>
                    <a:p>
                      <a:pPr>
                        <a:defRPr sz="1100">
                          <a:solidFill>
                            <a:srgbClr val="1C2A3A"/>
                          </a:solidFill>
                          <a:latin typeface="Calibri"/>
                        </a:defRPr>
                      </a:pPr>
                      <a:r>
                        <a:t>10,240</a:t>
                      </a:r>
                    </a:p>
                  </a:txBody>
                  <a:tcPr/>
                </a:tc>
                <a:tc>
                  <a:txBody>
                    <a:bodyPr/>
                    <a:lstStyle/>
                    <a:p>
                      <a:pPr>
                        <a:defRPr sz="1100">
                          <a:solidFill>
                            <a:srgbClr val="1C2A3A"/>
                          </a:solidFill>
                          <a:latin typeface="Calibri"/>
                        </a:defRPr>
                      </a:pPr>
                      <a:r>
                        <a:t>2,282</a:t>
                      </a:r>
                    </a:p>
                  </a:txBody>
                  <a:tcPr/>
                </a:tc>
                <a:tc>
                  <a:txBody>
                    <a:bodyPr/>
                    <a:lstStyle/>
                    <a:p>
                      <a:pPr>
                        <a:defRPr sz="1100">
                          <a:solidFill>
                            <a:srgbClr val="1C2A3A"/>
                          </a:solidFill>
                          <a:latin typeface="Calibri"/>
                        </a:defRPr>
                      </a:pPr>
                      <a:r>
                        <a:t>12,522</a:t>
                      </a:r>
                    </a:p>
                  </a:txBody>
                  <a:tcPr/>
                </a:tc>
              </a:tr>
              <a:tr h="400050">
                <a:tc>
                  <a:txBody>
                    <a:bodyPr/>
                    <a:lstStyle/>
                    <a:p>
                      <a:pPr>
                        <a:defRPr sz="1100">
                          <a:solidFill>
                            <a:srgbClr val="1C2A3A"/>
                          </a:solidFill>
                          <a:latin typeface="Calibri"/>
                        </a:defRPr>
                      </a:pPr>
                      <a:r>
                        <a:t>Prompt Tokens (total)</a:t>
                      </a:r>
                    </a:p>
                  </a:txBody>
                  <a:tcPr>
                    <a:solidFill>
                      <a:srgbClr val="E0E3E8"/>
                    </a:solidFill>
                  </a:tcPr>
                </a:tc>
                <a:tc>
                  <a:txBody>
                    <a:bodyPr/>
                    <a:lstStyle/>
                    <a:p>
                      <a:pPr>
                        <a:defRPr sz="1100">
                          <a:solidFill>
                            <a:srgbClr val="1C2A3A"/>
                          </a:solidFill>
                          <a:latin typeface="Calibri"/>
                        </a:defRPr>
                      </a:pPr>
                      <a:r>
                        <a:t>778</a:t>
                      </a:r>
                    </a:p>
                  </a:txBody>
                  <a:tcPr>
                    <a:solidFill>
                      <a:srgbClr val="E0E3E8"/>
                    </a:solidFill>
                  </a:tcPr>
                </a:tc>
                <a:tc>
                  <a:txBody>
                    <a:bodyPr/>
                    <a:lstStyle/>
                    <a:p>
                      <a:pPr>
                        <a:defRPr sz="1100">
                          <a:solidFill>
                            <a:srgbClr val="1C2A3A"/>
                          </a:solidFill>
                          <a:latin typeface="Calibri"/>
                        </a:defRPr>
                      </a:pPr>
                      <a:r>
                        <a:t>10,240</a:t>
                      </a:r>
                    </a:p>
                  </a:txBody>
                  <a:tcPr>
                    <a:solidFill>
                      <a:srgbClr val="E0E3E8"/>
                    </a:solidFill>
                  </a:tcPr>
                </a:tc>
                <a:tc>
                  <a:txBody>
                    <a:bodyPr/>
                    <a:lstStyle/>
                    <a:p>
                      <a:pPr>
                        <a:defRPr sz="1100">
                          <a:solidFill>
                            <a:srgbClr val="1C2A3A"/>
                          </a:solidFill>
                          <a:latin typeface="Calibri"/>
                        </a:defRPr>
                      </a:pPr>
                      <a:r>
                        <a:t>2,282</a:t>
                      </a:r>
                    </a:p>
                  </a:txBody>
                  <a:tcPr>
                    <a:solidFill>
                      <a:srgbClr val="E0E3E8"/>
                    </a:solidFill>
                  </a:tcPr>
                </a:tc>
                <a:tc>
                  <a:txBody>
                    <a:bodyPr/>
                    <a:lstStyle/>
                    <a:p>
                      <a:pPr>
                        <a:defRPr sz="1100">
                          <a:solidFill>
                            <a:srgbClr val="1C2A3A"/>
                          </a:solidFill>
                          <a:latin typeface="Calibri"/>
                        </a:defRPr>
                      </a:pPr>
                      <a:r>
                        <a:t>12,522</a:t>
                      </a:r>
                    </a:p>
                  </a:txBody>
                  <a:tcPr>
                    <a:solidFill>
                      <a:srgbClr val="E0E3E8"/>
                    </a:solidFill>
                  </a:tcPr>
                </a:tc>
              </a:tr>
              <a:tr h="400050">
                <a:tc>
                  <a:txBody>
                    <a:bodyPr/>
                    <a:lstStyle/>
                    <a:p>
                      <a:pPr>
                        <a:defRPr sz="1100">
                          <a:solidFill>
                            <a:srgbClr val="1C2A3A"/>
                          </a:solidFill>
                          <a:latin typeface="Calibri"/>
                        </a:defRPr>
                      </a:pPr>
                      <a:r>
                        <a:t>Completion Tokens (total)</a:t>
                      </a:r>
                    </a:p>
                  </a:txBody>
                  <a:tcPr/>
                </a:tc>
                <a:tc>
                  <a:txBody>
                    <a:bodyPr/>
                    <a:lstStyle/>
                    <a:p>
                      <a:pPr>
                        <a:defRPr sz="1100">
                          <a:solidFill>
                            <a:srgbClr val="1C2A3A"/>
                          </a:solidFill>
                          <a:latin typeface="Calibri"/>
                        </a:defRPr>
                      </a:pPr>
                      <a:r>
                        <a:t>0</a:t>
                      </a:r>
                    </a:p>
                  </a:txBody>
                  <a:tcPr/>
                </a:tc>
                <a:tc>
                  <a:txBody>
                    <a:bodyPr/>
                    <a:lstStyle/>
                    <a:p>
                      <a:pPr>
                        <a:defRPr sz="1100">
                          <a:solidFill>
                            <a:srgbClr val="1C2A3A"/>
                          </a:solidFill>
                          <a:latin typeface="Calibri"/>
                        </a:defRPr>
                      </a:pPr>
                      <a:r>
                        <a:t>0</a:t>
                      </a:r>
                    </a:p>
                  </a:txBody>
                  <a:tcPr/>
                </a:tc>
                <a:tc>
                  <a:txBody>
                    <a:bodyPr/>
                    <a:lstStyle/>
                    <a:p>
                      <a:pPr>
                        <a:defRPr sz="1100">
                          <a:solidFill>
                            <a:srgbClr val="1C2A3A"/>
                          </a:solidFill>
                          <a:latin typeface="Calibri"/>
                        </a:defRPr>
                      </a:pPr>
                      <a:r>
                        <a:t>0</a:t>
                      </a:r>
                    </a:p>
                  </a:txBody>
                  <a:tcPr/>
                </a:tc>
                <a:tc>
                  <a:txBody>
                    <a:bodyPr/>
                    <a:lstStyle/>
                    <a:p>
                      <a:pPr>
                        <a:defRPr sz="1100">
                          <a:solidFill>
                            <a:srgbClr val="1C2A3A"/>
                          </a:solidFill>
                          <a:latin typeface="Calibri"/>
                        </a:defRPr>
                      </a:pPr>
                      <a:r>
                        <a:t>0</a:t>
                      </a:r>
                    </a:p>
                  </a:txBody>
                  <a:tcPr/>
                </a:tc>
              </a:tr>
              <a:tr h="400050">
                <a:tc>
                  <a:txBody>
                    <a:bodyPr/>
                    <a:lstStyle/>
                    <a:p>
                      <a:pPr>
                        <a:defRPr sz="1100">
                          <a:solidFill>
                            <a:srgbClr val="1C2A3A"/>
                          </a:solidFill>
                          <a:latin typeface="Calibri"/>
                        </a:defRPr>
                      </a:pPr>
                      <a:r>
                        <a:t>Throughput (tokens/sec)</a:t>
                      </a:r>
                    </a:p>
                  </a:txBody>
                  <a:tcPr>
                    <a:solidFill>
                      <a:srgbClr val="E0E3E8"/>
                    </a:solidFill>
                  </a:tcPr>
                </a:tc>
                <a:tc>
                  <a:txBody>
                    <a:bodyPr/>
                    <a:lstStyle/>
                    <a:p>
                      <a:pPr>
                        <a:defRPr sz="1100">
                          <a:solidFill>
                            <a:srgbClr val="1C2A3A"/>
                          </a:solidFill>
                          <a:latin typeface="Calibri"/>
                        </a:defRPr>
                      </a:pPr>
                      <a:r>
                        <a:t>1,232</a:t>
                      </a:r>
                    </a:p>
                  </a:txBody>
                  <a:tcPr>
                    <a:solidFill>
                      <a:srgbClr val="E0E3E8"/>
                    </a:solidFill>
                  </a:tcPr>
                </a:tc>
                <a:tc>
                  <a:txBody>
                    <a:bodyPr/>
                    <a:lstStyle/>
                    <a:p>
                      <a:pPr>
                        <a:defRPr sz="1100">
                          <a:solidFill>
                            <a:srgbClr val="1C2A3A"/>
                          </a:solidFill>
                          <a:latin typeface="Calibri"/>
                        </a:defRPr>
                      </a:pPr>
                      <a:r>
                        <a:t>2,718</a:t>
                      </a:r>
                    </a:p>
                  </a:txBody>
                  <a:tcPr>
                    <a:solidFill>
                      <a:srgbClr val="E0E3E8"/>
                    </a:solidFill>
                  </a:tcPr>
                </a:tc>
                <a:tc>
                  <a:txBody>
                    <a:bodyPr/>
                    <a:lstStyle/>
                    <a:p>
                      <a:pPr>
                        <a:defRPr sz="1100">
                          <a:solidFill>
                            <a:srgbClr val="1C2A3A"/>
                          </a:solidFill>
                          <a:latin typeface="Calibri"/>
                        </a:defRPr>
                      </a:pPr>
                      <a:r>
                        <a:t>3,537</a:t>
                      </a:r>
                    </a:p>
                  </a:txBody>
                  <a:tcPr>
                    <a:solidFill>
                      <a:srgbClr val="E0E3E8"/>
                    </a:solidFill>
                  </a:tcPr>
                </a:tc>
                <a:tc>
                  <a:txBody>
                    <a:bodyPr/>
                    <a:lstStyle/>
                    <a:p>
                      <a:pPr>
                        <a:defRPr sz="1100">
                          <a:solidFill>
                            <a:srgbClr val="1C2A3A"/>
                          </a:solidFill>
                          <a:latin typeface="Calibri"/>
                        </a:defRPr>
                      </a:pPr>
                      <a:r>
                        <a:t>2,819</a:t>
                      </a:r>
                    </a:p>
                  </a:txBody>
                  <a:tcPr>
                    <a:solidFill>
                      <a:srgbClr val="E0E3E8"/>
                    </a:solidFill>
                  </a:tcPr>
                </a:tc>
              </a:tr>
              <a:tr h="400050">
                <a:tc>
                  <a:txBody>
                    <a:bodyPr/>
                    <a:lstStyle/>
                    <a:p>
                      <a:pPr>
                        <a:defRPr sz="1100">
                          <a:solidFill>
                            <a:srgbClr val="1C2A3A"/>
                          </a:solidFill>
                          <a:latin typeface="Calibri"/>
                        </a:defRPr>
                      </a:pPr>
                      <a:r>
                        <a:t>Cost / 1K Queries</a:t>
                      </a:r>
                    </a:p>
                  </a:txBody>
                  <a:tcPr/>
                </a:tc>
                <a:tc>
                  <a:txBody>
                    <a:bodyPr/>
                    <a:lstStyle/>
                    <a:p>
                      <a:pPr>
                        <a:defRPr sz="1100">
                          <a:solidFill>
                            <a:srgbClr val="1C2A3A"/>
                          </a:solidFill>
                          <a:latin typeface="Calibri"/>
                        </a:defRPr>
                      </a:pPr>
                      <a:r>
                        <a:t>$0.000400</a:t>
                      </a:r>
                    </a:p>
                  </a:txBody>
                  <a:tcPr/>
                </a:tc>
                <a:tc>
                  <a:txBody>
                    <a:bodyPr/>
                    <a:lstStyle/>
                    <a:p>
                      <a:pPr>
                        <a:defRPr sz="1100">
                          <a:solidFill>
                            <a:srgbClr val="1C2A3A"/>
                          </a:solidFill>
                          <a:latin typeface="Calibri"/>
                        </a:defRPr>
                      </a:pPr>
                      <a:r>
                        <a:t>$0.0051</a:t>
                      </a:r>
                    </a:p>
                  </a:txBody>
                  <a:tcPr/>
                </a:tc>
                <a:tc>
                  <a:txBody>
                    <a:bodyPr/>
                    <a:lstStyle/>
                    <a:p>
                      <a:pPr>
                        <a:defRPr sz="1100">
                          <a:solidFill>
                            <a:srgbClr val="1C2A3A"/>
                          </a:solidFill>
                          <a:latin typeface="Calibri"/>
                        </a:defRPr>
                      </a:pPr>
                      <a:r>
                        <a:t>$0.0011</a:t>
                      </a:r>
                    </a:p>
                  </a:txBody>
                  <a:tcPr/>
                </a:tc>
                <a:tc>
                  <a:txBody>
                    <a:bodyPr/>
                    <a:lstStyle/>
                    <a:p>
                      <a:pPr>
                        <a:defRPr sz="1100">
                          <a:solidFill>
                            <a:srgbClr val="1C2A3A"/>
                          </a:solidFill>
                          <a:latin typeface="Calibri"/>
                        </a:defRPr>
                      </a:pPr>
                      <a:r>
                        <a:t>$0.0063</a:t>
                      </a:r>
                    </a:p>
                  </a:txBody>
                  <a:tcPr/>
                </a:tc>
              </a:tr>
              <a:tr h="400050">
                <a:tc>
                  <a:txBody>
                    <a:bodyPr/>
                    <a:lstStyle/>
                    <a:p>
                      <a:pPr>
                        <a:defRPr sz="1100">
                          <a:solidFill>
                            <a:srgbClr val="1C2A3A"/>
                          </a:solidFill>
                          <a:latin typeface="Calibri"/>
                        </a:defRPr>
                      </a:pPr>
                      <a:r>
                        <a:t>Total Benchmark Cost</a:t>
                      </a:r>
                    </a:p>
                  </a:txBody>
                  <a:tcPr>
                    <a:solidFill>
                      <a:srgbClr val="E0E3E8"/>
                    </a:solidFill>
                  </a:tcPr>
                </a:tc>
                <a:tc>
                  <a:txBody>
                    <a:bodyPr/>
                    <a:lstStyle/>
                    <a:p>
                      <a:pPr>
                        <a:defRPr sz="1100">
                          <a:solidFill>
                            <a:srgbClr val="1C2A3A"/>
                          </a:solidFill>
                          <a:latin typeface="Calibri"/>
                        </a:defRPr>
                      </a:pPr>
                      <a:r>
                        <a:t>$0.000008</a:t>
                      </a:r>
                    </a:p>
                  </a:txBody>
                  <a:tcPr>
                    <a:solidFill>
                      <a:srgbClr val="E0E3E8"/>
                    </a:solidFill>
                  </a:tcPr>
                </a:tc>
                <a:tc>
                  <a:txBody>
                    <a:bodyPr/>
                    <a:lstStyle/>
                    <a:p>
                      <a:pPr>
                        <a:defRPr sz="1100">
                          <a:solidFill>
                            <a:srgbClr val="1C2A3A"/>
                          </a:solidFill>
                          <a:latin typeface="Calibri"/>
                        </a:defRPr>
                      </a:pPr>
                      <a:r>
                        <a:t>$0.000102</a:t>
                      </a:r>
                    </a:p>
                  </a:txBody>
                  <a:tcPr>
                    <a:solidFill>
                      <a:srgbClr val="E0E3E8"/>
                    </a:solidFill>
                  </a:tcPr>
                </a:tc>
                <a:tc>
                  <a:txBody>
                    <a:bodyPr/>
                    <a:lstStyle/>
                    <a:p>
                      <a:pPr>
                        <a:defRPr sz="1100">
                          <a:solidFill>
                            <a:srgbClr val="1C2A3A"/>
                          </a:solidFill>
                          <a:latin typeface="Calibri"/>
                        </a:defRPr>
                      </a:pPr>
                      <a:r>
                        <a:t>$0.000023</a:t>
                      </a:r>
                    </a:p>
                  </a:txBody>
                  <a:tcPr>
                    <a:solidFill>
                      <a:srgbClr val="E0E3E8"/>
                    </a:solidFill>
                  </a:tcPr>
                </a:tc>
                <a:tc>
                  <a:txBody>
                    <a:bodyPr/>
                    <a:lstStyle/>
                    <a:p>
                      <a:pPr>
                        <a:defRPr sz="1100">
                          <a:solidFill>
                            <a:srgbClr val="1C2A3A"/>
                          </a:solidFill>
                          <a:latin typeface="Calibri"/>
                        </a:defRPr>
                      </a:pPr>
                      <a:r>
                        <a:t>$0.000125</a:t>
                      </a:r>
                    </a:p>
                  </a:txBody>
                  <a:tcPr>
                    <a:solidFill>
                      <a:srgbClr val="E0E3E8"/>
                    </a:solidFill>
                  </a:tcPr>
                </a:tc>
              </a:tr>
            </a:tbl>
          </a:graphicData>
        </a:graphic>
      </p:graphicFrame>
      <p:graphicFrame>
        <p:nvGraphicFramePr>
          <p:cNvPr id="4" name="Chart 3"/>
          <p:cNvGraphicFramePr>
            <a:graphicFrameLocks noGrp="1"/>
          </p:cNvGraphicFramePr>
          <p:nvPr/>
        </p:nvGraphicFramePr>
        <p:xfrm>
          <a:off x="457200" y="4754880"/>
          <a:ext cx="5303520" cy="1828800"/>
        </p:xfrm>
        <a:graphic>
          <a:graphicData uri="http://schemas.openxmlformats.org/drawingml/2006/chart">
            <c:chart xmlns:c="http://schemas.openxmlformats.org/drawingml/2006/chart" r:id="rId2"/>
          </a:graphicData>
        </a:graphic>
      </p:graphicFrame>
      <p:graphicFrame>
        <p:nvGraphicFramePr>
          <p:cNvPr id="5" name="Chart 4"/>
          <p:cNvGraphicFramePr>
            <a:graphicFrameLocks noGrp="1"/>
          </p:cNvGraphicFramePr>
          <p:nvPr/>
        </p:nvGraphicFramePr>
        <p:xfrm>
          <a:off x="6217920" y="4754880"/>
          <a:ext cx="5303520" cy="1828800"/>
        </p:xfrm>
        <a:graphic>
          <a:graphicData uri="http://schemas.openxmlformats.org/drawingml/2006/chart">
            <c:chart xmlns:c="http://schemas.openxmlformats.org/drawingml/2006/chart" r:id="rId3"/>
          </a:graphicData>
        </a:graphic>
      </p:graphicFrame>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48/55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4: DistilBERT 66M - Spam Detection - Quality Metrics</a:t>
            </a:r>
          </a:p>
        </p:txBody>
      </p:sp>
      <p:graphicFrame>
        <p:nvGraphicFramePr>
          <p:cNvPr id="3" name="Table 2"/>
          <p:cNvGraphicFramePr>
            <a:graphicFrameLocks noGrp="1"/>
          </p:cNvGraphicFramePr>
          <p:nvPr/>
        </p:nvGraphicFramePr>
        <p:xfrm>
          <a:off x="457200" y="1371600"/>
          <a:ext cx="11247120" cy="3200400"/>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533400">
                <a:tc>
                  <a:txBody>
                    <a:bodyPr/>
                    <a:lstStyle/>
                    <a:p>
                      <a:pPr algn="ctr">
                        <a:defRPr sz="1200" b="1">
                          <a:solidFill>
                            <a:srgbClr val="FFFFFF"/>
                          </a:solidFill>
                          <a:latin typeface="Calibri"/>
                        </a:defRPr>
                      </a:pPr>
                      <a:r>
                        <a:t>Metric</a:t>
                      </a:r>
                    </a:p>
                  </a:txBody>
                  <a:tcPr>
                    <a:solidFill>
                      <a:srgbClr val="2E86C1"/>
                    </a:solidFill>
                  </a:tcPr>
                </a:tc>
                <a:tc>
                  <a:txBody>
                    <a:bodyPr/>
                    <a:lstStyle/>
                    <a:p>
                      <a:pPr algn="ctr">
                        <a:defRPr sz="1200" b="1">
                          <a:solidFill>
                            <a:srgbClr val="FFFFFF"/>
                          </a:solidFill>
                          <a:latin typeface="Calibri"/>
                        </a:defRPr>
                      </a:pPr>
                      <a:r>
                        <a:t>Base DistilBERT</a:t>
                      </a:r>
                    </a:p>
                  </a:txBody>
                  <a:tcPr>
                    <a:solidFill>
                      <a:srgbClr val="2E86C1"/>
                    </a:solidFill>
                  </a:tcPr>
                </a:tc>
                <a:tc>
                  <a:txBody>
                    <a:bodyPr/>
                    <a:lstStyle/>
                    <a:p>
                      <a:pPr algn="ctr">
                        <a:defRPr sz="1200" b="1">
                          <a:solidFill>
                            <a:srgbClr val="FFFFFF"/>
                          </a:solidFill>
                          <a:latin typeface="Calibri"/>
                        </a:defRPr>
                      </a:pPr>
                      <a:r>
                        <a:t>Fine-tuned</a:t>
                      </a:r>
                    </a:p>
                  </a:txBody>
                  <a:tcPr>
                    <a:solidFill>
                      <a:srgbClr val="2E86C1"/>
                    </a:solidFill>
                  </a:tcPr>
                </a:tc>
                <a:tc>
                  <a:txBody>
                    <a:bodyPr/>
                    <a:lstStyle/>
                    <a:p>
                      <a:pPr algn="ctr">
                        <a:defRPr sz="1200" b="1">
                          <a:solidFill>
                            <a:srgbClr val="FFFFFF"/>
                          </a:solidFill>
                          <a:latin typeface="Calibri"/>
                        </a:defRPr>
                      </a:pPr>
                      <a:r>
                        <a:t>DistilBERT + RAG</a:t>
                      </a:r>
                    </a:p>
                  </a:txBody>
                  <a:tcPr>
                    <a:solidFill>
                      <a:srgbClr val="2E86C1"/>
                    </a:solidFill>
                  </a:tcPr>
                </a:tc>
                <a:tc>
                  <a:txBody>
                    <a:bodyPr/>
                    <a:lstStyle/>
                    <a:p>
                      <a:pPr algn="ctr">
                        <a:defRPr sz="1200" b="1">
                          <a:solidFill>
                            <a:srgbClr val="FFFFFF"/>
                          </a:solidFill>
                          <a:latin typeface="Calibri"/>
                        </a:defRPr>
                      </a:pPr>
                      <a:r>
                        <a:t>Fine-tuned + RAG</a:t>
                      </a:r>
                    </a:p>
                  </a:txBody>
                  <a:tcPr>
                    <a:solidFill>
                      <a:srgbClr val="2E86C1"/>
                    </a:solidFill>
                  </a:tcPr>
                </a:tc>
              </a:tr>
              <a:tr h="533400">
                <a:tc>
                  <a:txBody>
                    <a:bodyPr/>
                    <a:lstStyle/>
                    <a:p>
                      <a:pPr>
                        <a:defRPr sz="1100">
                          <a:solidFill>
                            <a:srgbClr val="1C2A3A"/>
                          </a:solidFill>
                          <a:latin typeface="Calibri"/>
                        </a:defRPr>
                      </a:pPr>
                      <a:r>
                        <a:t>F1 Score (macro)</a:t>
                      </a:r>
                    </a:p>
                  </a:txBody>
                  <a:tcPr>
                    <a:solidFill>
                      <a:srgbClr val="E0E3E8"/>
                    </a:solidFill>
                  </a:tcPr>
                </a:tc>
                <a:tc>
                  <a:txBody>
                    <a:bodyPr/>
                    <a:lstStyle/>
                    <a:p>
                      <a:pPr>
                        <a:defRPr sz="1100">
                          <a:solidFill>
                            <a:srgbClr val="1C2A3A"/>
                          </a:solidFill>
                          <a:latin typeface="Calibri"/>
                        </a:defRPr>
                      </a:pPr>
                      <a:r>
                        <a:t>0.849</a:t>
                      </a:r>
                    </a:p>
                  </a:txBody>
                  <a:tcPr>
                    <a:solidFill>
                      <a:srgbClr val="E0E3E8"/>
                    </a:solidFill>
                  </a:tcPr>
                </a:tc>
                <a:tc>
                  <a:txBody>
                    <a:bodyPr/>
                    <a:lstStyle/>
                    <a:p>
                      <a:pPr>
                        <a:defRPr sz="1100">
                          <a:solidFill>
                            <a:srgbClr val="1C2A3A"/>
                          </a:solidFill>
                          <a:latin typeface="Calibri"/>
                        </a:defRPr>
                      </a:pPr>
                      <a:r>
                        <a:t>0.950</a:t>
                      </a:r>
                    </a:p>
                  </a:txBody>
                  <a:tcPr>
                    <a:solidFill>
                      <a:srgbClr val="E0E3E8"/>
                    </a:solidFill>
                  </a:tcPr>
                </a:tc>
                <a:tc>
                  <a:txBody>
                    <a:bodyPr/>
                    <a:lstStyle/>
                    <a:p>
                      <a:pPr>
                        <a:defRPr sz="1100">
                          <a:solidFill>
                            <a:srgbClr val="1C2A3A"/>
                          </a:solidFill>
                          <a:latin typeface="Calibri"/>
                        </a:defRPr>
                      </a:pPr>
                      <a:r>
                        <a:t>0.899</a:t>
                      </a:r>
                    </a:p>
                  </a:txBody>
                  <a:tcPr>
                    <a:solidFill>
                      <a:srgbClr val="E0E3E8"/>
                    </a:solidFill>
                  </a:tcPr>
                </a:tc>
                <a:tc>
                  <a:txBody>
                    <a:bodyPr/>
                    <a:lstStyle/>
                    <a:p>
                      <a:pPr>
                        <a:defRPr sz="1100">
                          <a:solidFill>
                            <a:srgbClr val="1C2A3A"/>
                          </a:solidFill>
                          <a:latin typeface="Calibri"/>
                        </a:defRPr>
                      </a:pPr>
                      <a:r>
                        <a:t>0.950</a:t>
                      </a:r>
                    </a:p>
                  </a:txBody>
                  <a:tcPr>
                    <a:solidFill>
                      <a:srgbClr val="E0E3E8"/>
                    </a:solidFill>
                  </a:tcPr>
                </a:tc>
              </a:tr>
              <a:tr h="533400">
                <a:tc>
                  <a:txBody>
                    <a:bodyPr/>
                    <a:lstStyle/>
                    <a:p>
                      <a:pPr>
                        <a:defRPr sz="1100">
                          <a:solidFill>
                            <a:srgbClr val="1C2A3A"/>
                          </a:solidFill>
                          <a:latin typeface="Calibri"/>
                        </a:defRPr>
                      </a:pPr>
                      <a:r>
                        <a:t>Precision (macro)</a:t>
                      </a:r>
                    </a:p>
                  </a:txBody>
                  <a:tcPr/>
                </a:tc>
                <a:tc>
                  <a:txBody>
                    <a:bodyPr/>
                    <a:lstStyle/>
                    <a:p>
                      <a:pPr>
                        <a:defRPr sz="1100">
                          <a:solidFill>
                            <a:srgbClr val="1C2A3A"/>
                          </a:solidFill>
                          <a:latin typeface="Calibri"/>
                        </a:defRPr>
                      </a:pPr>
                      <a:r>
                        <a:t>0.853</a:t>
                      </a:r>
                    </a:p>
                  </a:txBody>
                  <a:tcPr/>
                </a:tc>
                <a:tc>
                  <a:txBody>
                    <a:bodyPr/>
                    <a:lstStyle/>
                    <a:p>
                      <a:pPr>
                        <a:defRPr sz="1100">
                          <a:solidFill>
                            <a:srgbClr val="1C2A3A"/>
                          </a:solidFill>
                          <a:latin typeface="Calibri"/>
                        </a:defRPr>
                      </a:pPr>
                      <a:r>
                        <a:t>0.955</a:t>
                      </a:r>
                    </a:p>
                  </a:txBody>
                  <a:tcPr/>
                </a:tc>
                <a:tc>
                  <a:txBody>
                    <a:bodyPr/>
                    <a:lstStyle/>
                    <a:p>
                      <a:pPr>
                        <a:defRPr sz="1100">
                          <a:solidFill>
                            <a:srgbClr val="1C2A3A"/>
                          </a:solidFill>
                          <a:latin typeface="Calibri"/>
                        </a:defRPr>
                      </a:pPr>
                      <a:r>
                        <a:t>0.916</a:t>
                      </a:r>
                    </a:p>
                  </a:txBody>
                  <a:tcPr/>
                </a:tc>
                <a:tc>
                  <a:txBody>
                    <a:bodyPr/>
                    <a:lstStyle/>
                    <a:p>
                      <a:pPr>
                        <a:defRPr sz="1100">
                          <a:solidFill>
                            <a:srgbClr val="1C2A3A"/>
                          </a:solidFill>
                          <a:latin typeface="Calibri"/>
                        </a:defRPr>
                      </a:pPr>
                      <a:r>
                        <a:t>0.955</a:t>
                      </a:r>
                    </a:p>
                  </a:txBody>
                  <a:tcPr/>
                </a:tc>
              </a:tr>
              <a:tr h="533400">
                <a:tc>
                  <a:txBody>
                    <a:bodyPr/>
                    <a:lstStyle/>
                    <a:p>
                      <a:pPr>
                        <a:defRPr sz="1100">
                          <a:solidFill>
                            <a:srgbClr val="1C2A3A"/>
                          </a:solidFill>
                          <a:latin typeface="Calibri"/>
                        </a:defRPr>
                      </a:pPr>
                      <a:r>
                        <a:t>Recall (macro)</a:t>
                      </a:r>
                    </a:p>
                  </a:txBody>
                  <a:tcPr>
                    <a:solidFill>
                      <a:srgbClr val="E0E3E8"/>
                    </a:solidFill>
                  </a:tcPr>
                </a:tc>
                <a:tc>
                  <a:txBody>
                    <a:bodyPr/>
                    <a:lstStyle/>
                    <a:p>
                      <a:pPr>
                        <a:defRPr sz="1100">
                          <a:solidFill>
                            <a:srgbClr val="1C2A3A"/>
                          </a:solidFill>
                          <a:latin typeface="Calibri"/>
                        </a:defRPr>
                      </a:pPr>
                      <a:r>
                        <a:t>0.850</a:t>
                      </a:r>
                    </a:p>
                  </a:txBody>
                  <a:tcPr>
                    <a:solidFill>
                      <a:srgbClr val="E0E3E8"/>
                    </a:solidFill>
                  </a:tcPr>
                </a:tc>
                <a:tc>
                  <a:txBody>
                    <a:bodyPr/>
                    <a:lstStyle/>
                    <a:p>
                      <a:pPr>
                        <a:defRPr sz="1100">
                          <a:solidFill>
                            <a:srgbClr val="1C2A3A"/>
                          </a:solidFill>
                          <a:latin typeface="Calibri"/>
                        </a:defRPr>
                      </a:pPr>
                      <a:r>
                        <a:t>0.950</a:t>
                      </a:r>
                    </a:p>
                  </a:txBody>
                  <a:tcPr>
                    <a:solidFill>
                      <a:srgbClr val="E0E3E8"/>
                    </a:solidFill>
                  </a:tcPr>
                </a:tc>
                <a:tc>
                  <a:txBody>
                    <a:bodyPr/>
                    <a:lstStyle/>
                    <a:p>
                      <a:pPr>
                        <a:defRPr sz="1100">
                          <a:solidFill>
                            <a:srgbClr val="1C2A3A"/>
                          </a:solidFill>
                          <a:latin typeface="Calibri"/>
                        </a:defRPr>
                      </a:pPr>
                      <a:r>
                        <a:t>0.900</a:t>
                      </a:r>
                    </a:p>
                  </a:txBody>
                  <a:tcPr>
                    <a:solidFill>
                      <a:srgbClr val="E0E3E8"/>
                    </a:solidFill>
                  </a:tcPr>
                </a:tc>
                <a:tc>
                  <a:txBody>
                    <a:bodyPr/>
                    <a:lstStyle/>
                    <a:p>
                      <a:pPr>
                        <a:defRPr sz="1100">
                          <a:solidFill>
                            <a:srgbClr val="1C2A3A"/>
                          </a:solidFill>
                          <a:latin typeface="Calibri"/>
                        </a:defRPr>
                      </a:pPr>
                      <a:r>
                        <a:t>0.950</a:t>
                      </a:r>
                    </a:p>
                  </a:txBody>
                  <a:tcPr>
                    <a:solidFill>
                      <a:srgbClr val="E0E3E8"/>
                    </a:solidFill>
                  </a:tcPr>
                </a:tc>
              </a:tr>
              <a:tr h="533400">
                <a:tc>
                  <a:txBody>
                    <a:bodyPr/>
                    <a:lstStyle/>
                    <a:p>
                      <a:pPr>
                        <a:defRPr sz="1100">
                          <a:solidFill>
                            <a:srgbClr val="1C2A3A"/>
                          </a:solidFill>
                          <a:latin typeface="Calibri"/>
                        </a:defRPr>
                      </a:pPr>
                      <a:r>
                        <a:t>F1 (ham)</a:t>
                      </a:r>
                    </a:p>
                  </a:txBody>
                  <a:tcPr/>
                </a:tc>
                <a:tc>
                  <a:txBody>
                    <a:bodyPr/>
                    <a:lstStyle/>
                    <a:p>
                      <a:pPr>
                        <a:defRPr sz="1100">
                          <a:solidFill>
                            <a:srgbClr val="1C2A3A"/>
                          </a:solidFill>
                          <a:latin typeface="Calibri"/>
                        </a:defRPr>
                      </a:pPr>
                      <a:r>
                        <a:t>0.842</a:t>
                      </a:r>
                    </a:p>
                  </a:txBody>
                  <a:tcPr/>
                </a:tc>
                <a:tc>
                  <a:txBody>
                    <a:bodyPr/>
                    <a:lstStyle/>
                    <a:p>
                      <a:pPr>
                        <a:defRPr sz="1100">
                          <a:solidFill>
                            <a:srgbClr val="1C2A3A"/>
                          </a:solidFill>
                          <a:latin typeface="Calibri"/>
                        </a:defRPr>
                      </a:pPr>
                      <a:r>
                        <a:t>0.947</a:t>
                      </a:r>
                    </a:p>
                  </a:txBody>
                  <a:tcPr/>
                </a:tc>
                <a:tc>
                  <a:txBody>
                    <a:bodyPr/>
                    <a:lstStyle/>
                    <a:p>
                      <a:pPr>
                        <a:defRPr sz="1100">
                          <a:solidFill>
                            <a:srgbClr val="1C2A3A"/>
                          </a:solidFill>
                          <a:latin typeface="Calibri"/>
                        </a:defRPr>
                      </a:pPr>
                      <a:r>
                        <a:t>0.889</a:t>
                      </a:r>
                    </a:p>
                  </a:txBody>
                  <a:tcPr/>
                </a:tc>
                <a:tc>
                  <a:txBody>
                    <a:bodyPr/>
                    <a:lstStyle/>
                    <a:p>
                      <a:pPr>
                        <a:defRPr sz="1100">
                          <a:solidFill>
                            <a:srgbClr val="1C2A3A"/>
                          </a:solidFill>
                          <a:latin typeface="Calibri"/>
                        </a:defRPr>
                      </a:pPr>
                      <a:r>
                        <a:t>0.947</a:t>
                      </a:r>
                    </a:p>
                  </a:txBody>
                  <a:tcPr/>
                </a:tc>
              </a:tr>
              <a:tr h="533400">
                <a:tc>
                  <a:txBody>
                    <a:bodyPr/>
                    <a:lstStyle/>
                    <a:p>
                      <a:pPr>
                        <a:defRPr sz="1100">
                          <a:solidFill>
                            <a:srgbClr val="1C2A3A"/>
                          </a:solidFill>
                          <a:latin typeface="Calibri"/>
                        </a:defRPr>
                      </a:pPr>
                      <a:r>
                        <a:t>F1 (spam)</a:t>
                      </a:r>
                    </a:p>
                  </a:txBody>
                  <a:tcPr>
                    <a:solidFill>
                      <a:srgbClr val="E0E3E8"/>
                    </a:solidFill>
                  </a:tcPr>
                </a:tc>
                <a:tc>
                  <a:txBody>
                    <a:bodyPr/>
                    <a:lstStyle/>
                    <a:p>
                      <a:pPr>
                        <a:defRPr sz="1100">
                          <a:solidFill>
                            <a:srgbClr val="1C2A3A"/>
                          </a:solidFill>
                          <a:latin typeface="Calibri"/>
                        </a:defRPr>
                      </a:pPr>
                      <a:r>
                        <a:t>0.857</a:t>
                      </a:r>
                    </a:p>
                  </a:txBody>
                  <a:tcPr>
                    <a:solidFill>
                      <a:srgbClr val="E0E3E8"/>
                    </a:solidFill>
                  </a:tcPr>
                </a:tc>
                <a:tc>
                  <a:txBody>
                    <a:bodyPr/>
                    <a:lstStyle/>
                    <a:p>
                      <a:pPr>
                        <a:defRPr sz="1100">
                          <a:solidFill>
                            <a:srgbClr val="1C2A3A"/>
                          </a:solidFill>
                          <a:latin typeface="Calibri"/>
                        </a:defRPr>
                      </a:pPr>
                      <a:r>
                        <a:t>0.952</a:t>
                      </a:r>
                    </a:p>
                  </a:txBody>
                  <a:tcPr>
                    <a:solidFill>
                      <a:srgbClr val="E0E3E8"/>
                    </a:solidFill>
                  </a:tcPr>
                </a:tc>
                <a:tc>
                  <a:txBody>
                    <a:bodyPr/>
                    <a:lstStyle/>
                    <a:p>
                      <a:pPr>
                        <a:defRPr sz="1100">
                          <a:solidFill>
                            <a:srgbClr val="1C2A3A"/>
                          </a:solidFill>
                          <a:latin typeface="Calibri"/>
                        </a:defRPr>
                      </a:pPr>
                      <a:r>
                        <a:t>0.909</a:t>
                      </a:r>
                    </a:p>
                  </a:txBody>
                  <a:tcPr>
                    <a:solidFill>
                      <a:srgbClr val="E0E3E8"/>
                    </a:solidFill>
                  </a:tcPr>
                </a:tc>
                <a:tc>
                  <a:txBody>
                    <a:bodyPr/>
                    <a:lstStyle/>
                    <a:p>
                      <a:pPr>
                        <a:defRPr sz="1100">
                          <a:solidFill>
                            <a:srgbClr val="1C2A3A"/>
                          </a:solidFill>
                          <a:latin typeface="Calibri"/>
                        </a:defRPr>
                      </a:pPr>
                      <a:r>
                        <a:t>0.952</a:t>
                      </a:r>
                    </a:p>
                  </a:txBody>
                  <a:tcPr>
                    <a:solidFill>
                      <a:srgbClr val="E0E3E8"/>
                    </a:solidFill>
                  </a:tcPr>
                </a:tc>
              </a:tr>
            </a:tbl>
          </a:graphicData>
        </a:graphic>
      </p:graphicFrame>
      <p:graphicFrame>
        <p:nvGraphicFramePr>
          <p:cNvPr id="4" name="Chart 3"/>
          <p:cNvGraphicFramePr>
            <a:graphicFrameLocks noGrp="1"/>
          </p:cNvGraphicFramePr>
          <p:nvPr/>
        </p:nvGraphicFramePr>
        <p:xfrm>
          <a:off x="457200" y="4754880"/>
          <a:ext cx="5303520" cy="1828800"/>
        </p:xfrm>
        <a:graphic>
          <a:graphicData uri="http://schemas.openxmlformats.org/drawingml/2006/chart">
            <c:chart xmlns:c="http://schemas.openxmlformats.org/drawingml/2006/chart" r:id="rId2"/>
          </a:graphicData>
        </a:graphic>
      </p:graphicFrame>
      <p:sp>
        <p:nvSpPr>
          <p:cNvPr id="5" name="Rectangle 4"/>
          <p:cNvSpPr/>
          <p:nvPr/>
        </p:nvSpPr>
        <p:spPr>
          <a:xfrm>
            <a:off x="6217920" y="4754880"/>
            <a:ext cx="5303520" cy="18288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Insight</a:t>
            </a:r>
          </a:p>
          <a:p>
            <a:pPr>
              <a:defRPr sz="1200">
                <a:solidFill>
                  <a:srgbClr val="1C2A3A"/>
                </a:solidFill>
                <a:latin typeface="Calibri"/>
              </a:defRPr>
            </a:pPr>
            <a:r>
              <a:t>Fine-tuned (spam-trained) achieves F1=0.950, showing balanced performance across all sentiment classes.</a:t>
            </a:r>
          </a:p>
        </p:txBody>
      </p:sp>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49/55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4: DistilBERT 66M - Spam Detection - Confidence Scores</a:t>
            </a:r>
          </a:p>
        </p:txBody>
      </p:sp>
      <p:graphicFrame>
        <p:nvGraphicFramePr>
          <p:cNvPr id="3" name="Chart 2"/>
          <p:cNvGraphicFramePr>
            <a:graphicFrameLocks noGrp="1"/>
          </p:cNvGraphicFramePr>
          <p:nvPr/>
        </p:nvGraphicFramePr>
        <p:xfrm>
          <a:off x="1828800" y="1371600"/>
          <a:ext cx="8229600" cy="3657600"/>
        </p:xfrm>
        <a:graphic>
          <a:graphicData uri="http://schemas.openxmlformats.org/drawingml/2006/chart">
            <c:chart xmlns:c="http://schemas.openxmlformats.org/drawingml/2006/chart" r:id="rId2"/>
          </a:graphicData>
        </a:graphic>
      </p:graphicFrame>
      <p:sp>
        <p:nvSpPr>
          <p:cNvPr id="4" name="Rectangle 3"/>
          <p:cNvSpPr/>
          <p:nvPr/>
        </p:nvSpPr>
        <p:spPr>
          <a:xfrm>
            <a:off x="457200" y="5303520"/>
            <a:ext cx="1106424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Insight:</a:t>
            </a:r>
          </a:p>
          <a:p>
            <a:pPr>
              <a:defRPr sz="1200">
                <a:solidFill>
                  <a:srgbClr val="1C2A3A"/>
                </a:solidFill>
                <a:latin typeface="Calibri"/>
              </a:defRPr>
            </a:pPr>
            <a:r>
              <a:t>Fine-tuned (spam-trained): 0.963 confidence vs Base: 0.539. Fine-tuning produces more decisive, confident predictions.</a:t>
            </a:r>
          </a:p>
        </p:txBody>
      </p:sp>
      <p:sp>
        <p:nvSpPr>
          <p:cNvPr id="5" name="TextBox 4"/>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50/55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4: DistilBERT 66M - Spam Detection - Category Breakdown</a:t>
            </a:r>
          </a:p>
        </p:txBody>
      </p:sp>
      <p:graphicFrame>
        <p:nvGraphicFramePr>
          <p:cNvPr id="3" name="Table 2"/>
          <p:cNvGraphicFramePr>
            <a:graphicFrameLocks noGrp="1"/>
          </p:cNvGraphicFramePr>
          <p:nvPr/>
        </p:nvGraphicFramePr>
        <p:xfrm>
          <a:off x="457200" y="1371600"/>
          <a:ext cx="11247120" cy="228600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6571">
                <a:tc>
                  <a:txBody>
                    <a:bodyPr/>
                    <a:lstStyle/>
                    <a:p>
                      <a:pPr algn="ctr">
                        <a:defRPr sz="1200" b="1">
                          <a:solidFill>
                            <a:srgbClr val="FFFFFF"/>
                          </a:solidFill>
                          <a:latin typeface="Calibri"/>
                        </a:defRPr>
                      </a:pPr>
                      <a:r>
                        <a:t>Category</a:t>
                      </a:r>
                    </a:p>
                  </a:txBody>
                  <a:tcPr>
                    <a:solidFill>
                      <a:srgbClr val="2E86C1"/>
                    </a:solidFill>
                  </a:tcPr>
                </a:tc>
                <a:tc>
                  <a:txBody>
                    <a:bodyPr/>
                    <a:lstStyle/>
                    <a:p>
                      <a:pPr algn="ctr">
                        <a:defRPr sz="1200" b="1">
                          <a:solidFill>
                            <a:srgbClr val="FFFFFF"/>
                          </a:solidFill>
                          <a:latin typeface="Calibri"/>
                        </a:defRPr>
                      </a:pPr>
                      <a:r>
                        <a:t>Cases</a:t>
                      </a:r>
                    </a:p>
                  </a:txBody>
                  <a:tcPr>
                    <a:solidFill>
                      <a:srgbClr val="2E86C1"/>
                    </a:solidFill>
                  </a:tcPr>
                </a:tc>
                <a:tc>
                  <a:txBody>
                    <a:bodyPr/>
                    <a:lstStyle/>
                    <a:p>
                      <a:pPr algn="ctr">
                        <a:defRPr sz="1200" b="1">
                          <a:solidFill>
                            <a:srgbClr val="FFFFFF"/>
                          </a:solidFill>
                          <a:latin typeface="Calibri"/>
                        </a:defRPr>
                      </a:pPr>
                      <a:r>
                        <a:t>Base DistilBERT</a:t>
                      </a:r>
                    </a:p>
                  </a:txBody>
                  <a:tcPr>
                    <a:solidFill>
                      <a:srgbClr val="2E86C1"/>
                    </a:solidFill>
                  </a:tcPr>
                </a:tc>
                <a:tc>
                  <a:txBody>
                    <a:bodyPr/>
                    <a:lstStyle/>
                    <a:p>
                      <a:pPr algn="ctr">
                        <a:defRPr sz="1200" b="1">
                          <a:solidFill>
                            <a:srgbClr val="FFFFFF"/>
                          </a:solidFill>
                          <a:latin typeface="Calibri"/>
                        </a:defRPr>
                      </a:pPr>
                      <a:r>
                        <a:t>Fine-tuned</a:t>
                      </a:r>
                    </a:p>
                  </a:txBody>
                  <a:tcPr>
                    <a:solidFill>
                      <a:srgbClr val="2E86C1"/>
                    </a:solidFill>
                  </a:tcPr>
                </a:tc>
                <a:tc>
                  <a:txBody>
                    <a:bodyPr/>
                    <a:lstStyle/>
                    <a:p>
                      <a:pPr algn="ctr">
                        <a:defRPr sz="1200" b="1">
                          <a:solidFill>
                            <a:srgbClr val="FFFFFF"/>
                          </a:solidFill>
                          <a:latin typeface="Calibri"/>
                        </a:defRPr>
                      </a:pPr>
                      <a:r>
                        <a:t>DistilBERT + RAG</a:t>
                      </a:r>
                    </a:p>
                  </a:txBody>
                  <a:tcPr>
                    <a:solidFill>
                      <a:srgbClr val="2E86C1"/>
                    </a:solidFill>
                  </a:tcPr>
                </a:tc>
                <a:tc>
                  <a:txBody>
                    <a:bodyPr/>
                    <a:lstStyle/>
                    <a:p>
                      <a:pPr algn="ctr">
                        <a:defRPr sz="1200" b="1">
                          <a:solidFill>
                            <a:srgbClr val="FFFFFF"/>
                          </a:solidFill>
                          <a:latin typeface="Calibri"/>
                        </a:defRPr>
                      </a:pPr>
                      <a:r>
                        <a:t>Fine-tuned + RAG</a:t>
                      </a:r>
                    </a:p>
                  </a:txBody>
                  <a:tcPr>
                    <a:solidFill>
                      <a:srgbClr val="2E86C1"/>
                    </a:solidFill>
                  </a:tcPr>
                </a:tc>
              </a:tr>
              <a:tr h="326571">
                <a:tc>
                  <a:txBody>
                    <a:bodyPr/>
                    <a:lstStyle/>
                    <a:p>
                      <a:pPr>
                        <a:defRPr sz="1100">
                          <a:solidFill>
                            <a:srgbClr val="1C2A3A"/>
                          </a:solidFill>
                          <a:latin typeface="Calibri"/>
                        </a:defRPr>
                      </a:pPr>
                      <a:r>
                        <a:t>Business</a:t>
                      </a:r>
                    </a:p>
                  </a:txBody>
                  <a:tcPr>
                    <a:solidFill>
                      <a:srgbClr val="E0E3E8"/>
                    </a:solidFill>
                  </a:tcPr>
                </a:tc>
                <a:tc>
                  <a:txBody>
                    <a:bodyPr/>
                    <a:lstStyle/>
                    <a:p>
                      <a:pPr>
                        <a:defRPr sz="1100">
                          <a:solidFill>
                            <a:srgbClr val="1C2A3A"/>
                          </a:solidFill>
                          <a:latin typeface="Calibri"/>
                        </a:defRPr>
                      </a:pPr>
                      <a:r>
                        <a:t>6</a:t>
                      </a:r>
                    </a:p>
                  </a:txBody>
                  <a:tcPr>
                    <a:solidFill>
                      <a:srgbClr val="E0E3E8"/>
                    </a:solidFill>
                  </a:tcPr>
                </a:tc>
                <a:tc>
                  <a:txBody>
                    <a:bodyPr/>
                    <a:lstStyle/>
                    <a:p>
                      <a:pPr>
                        <a:defRPr sz="1100">
                          <a:solidFill>
                            <a:srgbClr val="1C2A3A"/>
                          </a:solidFill>
                          <a:latin typeface="Calibri"/>
                        </a:defRPr>
                      </a:pPr>
                      <a:r>
                        <a:t>83.3%</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r>
              <a:tr h="326571">
                <a:tc>
                  <a:txBody>
                    <a:bodyPr/>
                    <a:lstStyle/>
                    <a:p>
                      <a:pPr>
                        <a:defRPr sz="1100">
                          <a:solidFill>
                            <a:srgbClr val="1C2A3A"/>
                          </a:solidFill>
                          <a:latin typeface="Calibri"/>
                        </a:defRPr>
                      </a:pPr>
                      <a:r>
                        <a:t>Newsletter</a:t>
                      </a:r>
                    </a:p>
                  </a:txBody>
                  <a:tcPr/>
                </a:tc>
                <a:tc>
                  <a:txBody>
                    <a:bodyPr/>
                    <a:lstStyle/>
                    <a:p>
                      <a:pPr>
                        <a:defRPr sz="1100">
                          <a:solidFill>
                            <a:srgbClr val="1C2A3A"/>
                          </a:solidFill>
                          <a:latin typeface="Calibri"/>
                        </a:defRPr>
                      </a:pPr>
                      <a:r>
                        <a:t>1</a:t>
                      </a:r>
                    </a:p>
                  </a:txBody>
                  <a:tcPr/>
                </a:tc>
                <a:tc>
                  <a:txBody>
                    <a:bodyPr/>
                    <a:lstStyle/>
                    <a:p>
                      <a:pPr>
                        <a:defRPr sz="1100">
                          <a:solidFill>
                            <a:srgbClr val="1C2A3A"/>
                          </a:solidFill>
                          <a:latin typeface="Calibri"/>
                        </a:defRPr>
                      </a:pPr>
                      <a:r>
                        <a:t>100.0%</a:t>
                      </a:r>
                    </a:p>
                  </a:txBody>
                  <a:tcPr/>
                </a:tc>
                <a:tc>
                  <a:txBody>
                    <a:bodyPr/>
                    <a:lstStyle/>
                    <a:p>
                      <a:pPr>
                        <a:defRPr sz="1100">
                          <a:solidFill>
                            <a:srgbClr val="1C2A3A"/>
                          </a:solidFill>
                          <a:latin typeface="Calibri"/>
                        </a:defRPr>
                      </a:pPr>
                      <a:r>
                        <a:t>100.0%</a:t>
                      </a:r>
                    </a:p>
                  </a:txBody>
                  <a:tcPr/>
                </a:tc>
                <a:tc>
                  <a:txBody>
                    <a:bodyPr/>
                    <a:lstStyle/>
                    <a:p>
                      <a:pPr>
                        <a:defRPr sz="1100">
                          <a:solidFill>
                            <a:srgbClr val="1C2A3A"/>
                          </a:solidFill>
                          <a:latin typeface="Calibri"/>
                        </a:defRPr>
                      </a:pPr>
                      <a:r>
                        <a:t>100.0%</a:t>
                      </a:r>
                    </a:p>
                  </a:txBody>
                  <a:tcPr/>
                </a:tc>
                <a:tc>
                  <a:txBody>
                    <a:bodyPr/>
                    <a:lstStyle/>
                    <a:p>
                      <a:pPr>
                        <a:defRPr sz="1100">
                          <a:solidFill>
                            <a:srgbClr val="1C2A3A"/>
                          </a:solidFill>
                          <a:latin typeface="Calibri"/>
                        </a:defRPr>
                      </a:pPr>
                      <a:r>
                        <a:t>100.0%</a:t>
                      </a:r>
                    </a:p>
                  </a:txBody>
                  <a:tcPr/>
                </a:tc>
              </a:tr>
              <a:tr h="326571">
                <a:tc>
                  <a:txBody>
                    <a:bodyPr/>
                    <a:lstStyle/>
                    <a:p>
                      <a:pPr>
                        <a:defRPr sz="1100">
                          <a:solidFill>
                            <a:srgbClr val="1C2A3A"/>
                          </a:solidFill>
                          <a:latin typeface="Calibri"/>
                        </a:defRPr>
                      </a:pPr>
                      <a:r>
                        <a:t>Notification</a:t>
                      </a:r>
                    </a:p>
                  </a:txBody>
                  <a:tcPr>
                    <a:solidFill>
                      <a:srgbClr val="E0E3E8"/>
                    </a:solidFill>
                  </a:tcPr>
                </a:tc>
                <a:tc>
                  <a:txBody>
                    <a:bodyPr/>
                    <a:lstStyle/>
                    <a:p>
                      <a:pPr>
                        <a:defRPr sz="1100">
                          <a:solidFill>
                            <a:srgbClr val="1C2A3A"/>
                          </a:solidFill>
                          <a:latin typeface="Calibri"/>
                        </a:defRPr>
                      </a:pPr>
                      <a:r>
                        <a:t>3</a:t>
                      </a:r>
                    </a:p>
                  </a:txBody>
                  <a:tcPr>
                    <a:solidFill>
                      <a:srgbClr val="E0E3E8"/>
                    </a:solidFill>
                  </a:tcPr>
                </a:tc>
                <a:tc>
                  <a:txBody>
                    <a:bodyPr/>
                    <a:lstStyle/>
                    <a:p>
                      <a:pPr>
                        <a:defRPr sz="1100">
                          <a:solidFill>
                            <a:srgbClr val="1C2A3A"/>
                          </a:solidFill>
                          <a:latin typeface="Calibri"/>
                        </a:defRPr>
                      </a:pPr>
                      <a:r>
                        <a:t>66.7%</a:t>
                      </a:r>
                    </a:p>
                  </a:txBody>
                  <a:tcPr>
                    <a:solidFill>
                      <a:srgbClr val="E0E3E8"/>
                    </a:solidFill>
                  </a:tcPr>
                </a:tc>
                <a:tc>
                  <a:txBody>
                    <a:bodyPr/>
                    <a:lstStyle/>
                    <a:p>
                      <a:pPr>
                        <a:defRPr sz="1100">
                          <a:solidFill>
                            <a:srgbClr val="1C2A3A"/>
                          </a:solidFill>
                          <a:latin typeface="Calibri"/>
                        </a:defRPr>
                      </a:pPr>
                      <a:r>
                        <a:t>66.7%</a:t>
                      </a:r>
                    </a:p>
                  </a:txBody>
                  <a:tcPr>
                    <a:solidFill>
                      <a:srgbClr val="E0E3E8"/>
                    </a:solidFill>
                  </a:tcPr>
                </a:tc>
                <a:tc>
                  <a:txBody>
                    <a:bodyPr/>
                    <a:lstStyle/>
                    <a:p>
                      <a:pPr>
                        <a:defRPr sz="1100">
                          <a:solidFill>
                            <a:srgbClr val="1C2A3A"/>
                          </a:solidFill>
                          <a:latin typeface="Calibri"/>
                        </a:defRPr>
                      </a:pPr>
                      <a:r>
                        <a:t>33.3%</a:t>
                      </a:r>
                    </a:p>
                  </a:txBody>
                  <a:tcPr>
                    <a:solidFill>
                      <a:srgbClr val="E0E3E8"/>
                    </a:solidFill>
                  </a:tcPr>
                </a:tc>
                <a:tc>
                  <a:txBody>
                    <a:bodyPr/>
                    <a:lstStyle/>
                    <a:p>
                      <a:pPr>
                        <a:defRPr sz="1100">
                          <a:solidFill>
                            <a:srgbClr val="1C2A3A"/>
                          </a:solidFill>
                          <a:latin typeface="Calibri"/>
                        </a:defRPr>
                      </a:pPr>
                      <a:r>
                        <a:t>66.7%</a:t>
                      </a:r>
                    </a:p>
                  </a:txBody>
                  <a:tcPr>
                    <a:solidFill>
                      <a:srgbClr val="E0E3E8"/>
                    </a:solidFill>
                  </a:tcPr>
                </a:tc>
              </a:tr>
              <a:tr h="326571">
                <a:tc>
                  <a:txBody>
                    <a:bodyPr/>
                    <a:lstStyle/>
                    <a:p>
                      <a:pPr>
                        <a:defRPr sz="1100">
                          <a:solidFill>
                            <a:srgbClr val="1C2A3A"/>
                          </a:solidFill>
                          <a:latin typeface="Calibri"/>
                        </a:defRPr>
                      </a:pPr>
                      <a:r>
                        <a:t>Obvious Spam</a:t>
                      </a:r>
                    </a:p>
                  </a:txBody>
                  <a:tcPr/>
                </a:tc>
                <a:tc>
                  <a:txBody>
                    <a:bodyPr/>
                    <a:lstStyle/>
                    <a:p>
                      <a:pPr>
                        <a:defRPr sz="1100">
                          <a:solidFill>
                            <a:srgbClr val="1C2A3A"/>
                          </a:solidFill>
                          <a:latin typeface="Calibri"/>
                        </a:defRPr>
                      </a:pPr>
                      <a:r>
                        <a:t>5</a:t>
                      </a:r>
                    </a:p>
                  </a:txBody>
                  <a:tcPr/>
                </a:tc>
                <a:tc>
                  <a:txBody>
                    <a:bodyPr/>
                    <a:lstStyle/>
                    <a:p>
                      <a:pPr>
                        <a:defRPr sz="1100">
                          <a:solidFill>
                            <a:srgbClr val="1C2A3A"/>
                          </a:solidFill>
                          <a:latin typeface="Calibri"/>
                        </a:defRPr>
                      </a:pPr>
                      <a:r>
                        <a:t>100.0%</a:t>
                      </a:r>
                    </a:p>
                  </a:txBody>
                  <a:tcPr/>
                </a:tc>
                <a:tc>
                  <a:txBody>
                    <a:bodyPr/>
                    <a:lstStyle/>
                    <a:p>
                      <a:pPr>
                        <a:defRPr sz="1100">
                          <a:solidFill>
                            <a:srgbClr val="1C2A3A"/>
                          </a:solidFill>
                          <a:latin typeface="Calibri"/>
                        </a:defRPr>
                      </a:pPr>
                      <a:r>
                        <a:t>100.0%</a:t>
                      </a:r>
                    </a:p>
                  </a:txBody>
                  <a:tcPr/>
                </a:tc>
                <a:tc>
                  <a:txBody>
                    <a:bodyPr/>
                    <a:lstStyle/>
                    <a:p>
                      <a:pPr>
                        <a:defRPr sz="1100">
                          <a:solidFill>
                            <a:srgbClr val="1C2A3A"/>
                          </a:solidFill>
                          <a:latin typeface="Calibri"/>
                        </a:defRPr>
                      </a:pPr>
                      <a:r>
                        <a:t>100.0%</a:t>
                      </a:r>
                    </a:p>
                  </a:txBody>
                  <a:tcPr/>
                </a:tc>
                <a:tc>
                  <a:txBody>
                    <a:bodyPr/>
                    <a:lstStyle/>
                    <a:p>
                      <a:pPr>
                        <a:defRPr sz="1100">
                          <a:solidFill>
                            <a:srgbClr val="1C2A3A"/>
                          </a:solidFill>
                          <a:latin typeface="Calibri"/>
                        </a:defRPr>
                      </a:pPr>
                      <a:r>
                        <a:t>100.0%</a:t>
                      </a:r>
                    </a:p>
                  </a:txBody>
                  <a:tcPr/>
                </a:tc>
              </a:tr>
              <a:tr h="326571">
                <a:tc>
                  <a:txBody>
                    <a:bodyPr/>
                    <a:lstStyle/>
                    <a:p>
                      <a:pPr>
                        <a:defRPr sz="1100">
                          <a:solidFill>
                            <a:srgbClr val="1C2A3A"/>
                          </a:solidFill>
                          <a:latin typeface="Calibri"/>
                        </a:defRPr>
                      </a:pPr>
                      <a:r>
                        <a:t>Phishing</a:t>
                      </a:r>
                    </a:p>
                  </a:txBody>
                  <a:tcPr>
                    <a:solidFill>
                      <a:srgbClr val="E0E3E8"/>
                    </a:solidFill>
                  </a:tcPr>
                </a:tc>
                <a:tc>
                  <a:txBody>
                    <a:bodyPr/>
                    <a:lstStyle/>
                    <a:p>
                      <a:pPr>
                        <a:defRPr sz="1100">
                          <a:solidFill>
                            <a:srgbClr val="1C2A3A"/>
                          </a:solidFill>
                          <a:latin typeface="Calibri"/>
                        </a:defRPr>
                      </a:pPr>
                      <a:r>
                        <a:t>4</a:t>
                      </a:r>
                    </a:p>
                  </a:txBody>
                  <a:tcPr>
                    <a:solidFill>
                      <a:srgbClr val="E0E3E8"/>
                    </a:solidFill>
                  </a:tcPr>
                </a:tc>
                <a:tc>
                  <a:txBody>
                    <a:bodyPr/>
                    <a:lstStyle/>
                    <a:p>
                      <a:pPr>
                        <a:defRPr sz="1100">
                          <a:solidFill>
                            <a:srgbClr val="1C2A3A"/>
                          </a:solidFill>
                          <a:latin typeface="Calibri"/>
                        </a:defRPr>
                      </a:pPr>
                      <a:r>
                        <a:t>75.0%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r>
              <a:tr h="326574">
                <a:tc>
                  <a:txBody>
                    <a:bodyPr/>
                    <a:lstStyle/>
                    <a:p>
                      <a:pPr>
                        <a:defRPr sz="1100">
                          <a:solidFill>
                            <a:srgbClr val="1C2A3A"/>
                          </a:solidFill>
                          <a:latin typeface="Calibri"/>
                        </a:defRPr>
                      </a:pPr>
                      <a:r>
                        <a:t>Scam</a:t>
                      </a:r>
                    </a:p>
                  </a:txBody>
                  <a:tcPr/>
                </a:tc>
                <a:tc>
                  <a:txBody>
                    <a:bodyPr/>
                    <a:lstStyle/>
                    <a:p>
                      <a:pPr>
                        <a:defRPr sz="1100">
                          <a:solidFill>
                            <a:srgbClr val="1C2A3A"/>
                          </a:solidFill>
                          <a:latin typeface="Calibri"/>
                        </a:defRPr>
                      </a:pPr>
                      <a:r>
                        <a:t>1</a:t>
                      </a:r>
                    </a:p>
                  </a:txBody>
                  <a:tcPr/>
                </a:tc>
                <a:tc>
                  <a:txBody>
                    <a:bodyPr/>
                    <a:lstStyle/>
                    <a:p>
                      <a:pPr>
                        <a:defRPr sz="1100">
                          <a:solidFill>
                            <a:srgbClr val="1C2A3A"/>
                          </a:solidFill>
                          <a:latin typeface="Calibri"/>
                        </a:defRPr>
                      </a:pPr>
                      <a:r>
                        <a:t>100.0%</a:t>
                      </a:r>
                    </a:p>
                  </a:txBody>
                  <a:tcPr/>
                </a:tc>
                <a:tc>
                  <a:txBody>
                    <a:bodyPr/>
                    <a:lstStyle/>
                    <a:p>
                      <a:pPr>
                        <a:defRPr sz="1100">
                          <a:solidFill>
                            <a:srgbClr val="1C2A3A"/>
                          </a:solidFill>
                          <a:latin typeface="Calibri"/>
                        </a:defRPr>
                      </a:pPr>
                      <a:r>
                        <a:t>100.0%</a:t>
                      </a:r>
                    </a:p>
                  </a:txBody>
                  <a:tcPr/>
                </a:tc>
                <a:tc>
                  <a:txBody>
                    <a:bodyPr/>
                    <a:lstStyle/>
                    <a:p>
                      <a:pPr>
                        <a:defRPr sz="1100">
                          <a:solidFill>
                            <a:srgbClr val="1C2A3A"/>
                          </a:solidFill>
                          <a:latin typeface="Calibri"/>
                        </a:defRPr>
                      </a:pPr>
                      <a:r>
                        <a:t>100.0%</a:t>
                      </a:r>
                    </a:p>
                  </a:txBody>
                  <a:tcPr/>
                </a:tc>
                <a:tc>
                  <a:txBody>
                    <a:bodyPr/>
                    <a:lstStyle/>
                    <a:p>
                      <a:pPr>
                        <a:defRPr sz="1100">
                          <a:solidFill>
                            <a:srgbClr val="1C2A3A"/>
                          </a:solidFill>
                          <a:latin typeface="Calibri"/>
                        </a:defRPr>
                      </a:pPr>
                      <a:r>
                        <a:t>100.0%</a:t>
                      </a:r>
                    </a:p>
                  </a:txBody>
                  <a:tcPr/>
                </a:tc>
              </a:tr>
            </a:tbl>
          </a:graphicData>
        </a:graphic>
      </p:graphicFrame>
      <p:graphicFrame>
        <p:nvGraphicFramePr>
          <p:cNvPr id="4" name="Chart 3"/>
          <p:cNvGraphicFramePr>
            <a:graphicFrameLocks noGrp="1"/>
          </p:cNvGraphicFramePr>
          <p:nvPr/>
        </p:nvGraphicFramePr>
        <p:xfrm>
          <a:off x="457200" y="3840480"/>
          <a:ext cx="11247120" cy="2560320"/>
        </p:xfrm>
        <a:graphic>
          <a:graphicData uri="http://schemas.openxmlformats.org/drawingml/2006/chart">
            <c:chart xmlns:c="http://schemas.openxmlformats.org/drawingml/2006/chart" r:id="rId2"/>
          </a:graphicData>
        </a:graphic>
      </p:graphicFrame>
      <p:sp>
        <p:nvSpPr>
          <p:cNvPr id="5" name="TextBox 4"/>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51/55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4: DistilBERT 66M - Spam Detection - Per-Example Results</a:t>
            </a:r>
          </a:p>
        </p:txBody>
      </p:sp>
      <p:graphicFrame>
        <p:nvGraphicFramePr>
          <p:cNvPr id="3" name="Table 2"/>
          <p:cNvGraphicFramePr>
            <a:graphicFrameLocks noGrp="1"/>
          </p:cNvGraphicFramePr>
          <p:nvPr/>
        </p:nvGraphicFramePr>
        <p:xfrm>
          <a:off x="274320" y="1280160"/>
          <a:ext cx="11612880" cy="4754880"/>
        </p:xfrm>
        <a:graphic>
          <a:graphicData uri="http://schemas.openxmlformats.org/drawingml/2006/table">
            <a:tbl>
              <a:tblPr firstRow="1" bandRow="1">
                <a:tableStyleId>{5C22544A-7EE6-4342-B048-85BDC9FD1C3A}</a:tableStyleId>
              </a:tblPr>
              <a:tblGrid>
                <a:gridCol w="1658982"/>
                <a:gridCol w="1658982"/>
                <a:gridCol w="1658982"/>
                <a:gridCol w="1658982"/>
                <a:gridCol w="1658982"/>
                <a:gridCol w="1658982"/>
                <a:gridCol w="1658988"/>
              </a:tblGrid>
              <a:tr h="365760">
                <a:tc>
                  <a:txBody>
                    <a:bodyPr/>
                    <a:lstStyle/>
                    <a:p>
                      <a:pPr algn="ctr">
                        <a:defRPr sz="1200" b="1">
                          <a:solidFill>
                            <a:srgbClr val="FFFFFF"/>
                          </a:solidFill>
                          <a:latin typeface="Calibri"/>
                        </a:defRPr>
                      </a:pPr>
                      <a:r>
                        <a:t>#</a:t>
                      </a:r>
                    </a:p>
                  </a:txBody>
                  <a:tcPr>
                    <a:solidFill>
                      <a:srgbClr val="2E86C1"/>
                    </a:solidFill>
                  </a:tcPr>
                </a:tc>
                <a:tc>
                  <a:txBody>
                    <a:bodyPr/>
                    <a:lstStyle/>
                    <a:p>
                      <a:pPr algn="ctr">
                        <a:defRPr sz="1200" b="1">
                          <a:solidFill>
                            <a:srgbClr val="FFFFFF"/>
                          </a:solidFill>
                          <a:latin typeface="Calibri"/>
                        </a:defRPr>
                      </a:pPr>
                      <a:r>
                        <a:t>Text</a:t>
                      </a:r>
                    </a:p>
                  </a:txBody>
                  <a:tcPr>
                    <a:solidFill>
                      <a:srgbClr val="2E86C1"/>
                    </a:solidFill>
                  </a:tcPr>
                </a:tc>
                <a:tc>
                  <a:txBody>
                    <a:bodyPr/>
                    <a:lstStyle/>
                    <a:p>
                      <a:pPr algn="ctr">
                        <a:defRPr sz="1200" b="1">
                          <a:solidFill>
                            <a:srgbClr val="FFFFFF"/>
                          </a:solidFill>
                          <a:latin typeface="Calibri"/>
                        </a:defRPr>
                      </a:pPr>
                      <a:r>
                        <a:t>Expected</a:t>
                      </a:r>
                    </a:p>
                  </a:txBody>
                  <a:tcPr>
                    <a:solidFill>
                      <a:srgbClr val="2E86C1"/>
                    </a:solidFill>
                  </a:tcPr>
                </a:tc>
                <a:tc>
                  <a:txBody>
                    <a:bodyPr/>
                    <a:lstStyle/>
                    <a:p>
                      <a:pPr algn="ctr">
                        <a:defRPr sz="1200" b="1">
                          <a:solidFill>
                            <a:srgbClr val="FFFFFF"/>
                          </a:solidFill>
                          <a:latin typeface="Calibri"/>
                        </a:defRPr>
                      </a:pPr>
                      <a:r>
                        <a:t>Base DistilBERT</a:t>
                      </a:r>
                    </a:p>
                  </a:txBody>
                  <a:tcPr>
                    <a:solidFill>
                      <a:srgbClr val="2E86C1"/>
                    </a:solidFill>
                  </a:tcPr>
                </a:tc>
                <a:tc>
                  <a:txBody>
                    <a:bodyPr/>
                    <a:lstStyle/>
                    <a:p>
                      <a:pPr algn="ctr">
                        <a:defRPr sz="1200" b="1">
                          <a:solidFill>
                            <a:srgbClr val="FFFFFF"/>
                          </a:solidFill>
                          <a:latin typeface="Calibri"/>
                        </a:defRPr>
                      </a:pPr>
                      <a:r>
                        <a:t>Fine-tuned</a:t>
                      </a:r>
                    </a:p>
                  </a:txBody>
                  <a:tcPr>
                    <a:solidFill>
                      <a:srgbClr val="2E86C1"/>
                    </a:solidFill>
                  </a:tcPr>
                </a:tc>
                <a:tc>
                  <a:txBody>
                    <a:bodyPr/>
                    <a:lstStyle/>
                    <a:p>
                      <a:pPr algn="ctr">
                        <a:defRPr sz="1200" b="1">
                          <a:solidFill>
                            <a:srgbClr val="FFFFFF"/>
                          </a:solidFill>
                          <a:latin typeface="Calibri"/>
                        </a:defRPr>
                      </a:pPr>
                      <a:r>
                        <a:t>DistilBERT + RAG</a:t>
                      </a:r>
                    </a:p>
                  </a:txBody>
                  <a:tcPr>
                    <a:solidFill>
                      <a:srgbClr val="2E86C1"/>
                    </a:solidFill>
                  </a:tcPr>
                </a:tc>
                <a:tc>
                  <a:txBody>
                    <a:bodyPr/>
                    <a:lstStyle/>
                    <a:p>
                      <a:pPr algn="ctr">
                        <a:defRPr sz="1200" b="1">
                          <a:solidFill>
                            <a:srgbClr val="FFFFFF"/>
                          </a:solidFill>
                          <a:latin typeface="Calibri"/>
                        </a:defRPr>
                      </a:pPr>
                      <a:r>
                        <a:t>Fine-tuned + RAG</a:t>
                      </a:r>
                    </a:p>
                  </a:txBody>
                  <a:tcPr>
                    <a:solidFill>
                      <a:srgbClr val="2E86C1"/>
                    </a:solidFill>
                  </a:tcPr>
                </a:tc>
              </a:tr>
              <a:tr h="365760">
                <a:tc>
                  <a:txBody>
                    <a:bodyPr/>
                    <a:lstStyle/>
                    <a:p>
                      <a:pPr>
                        <a:defRPr sz="1100">
                          <a:solidFill>
                            <a:srgbClr val="1C2A3A"/>
                          </a:solidFill>
                          <a:latin typeface="Calibri"/>
                        </a:defRPr>
                      </a:pPr>
                      <a:r>
                        <a:t>1</a:t>
                      </a:r>
                    </a:p>
                  </a:txBody>
                  <a:tcPr>
                    <a:solidFill>
                      <a:srgbClr val="E0E3E8"/>
                    </a:solidFill>
                  </a:tcPr>
                </a:tc>
                <a:tc>
                  <a:txBody>
                    <a:bodyPr/>
                    <a:lstStyle/>
                    <a:p>
                      <a:pPr>
                        <a:defRPr sz="1100">
                          <a:solidFill>
                            <a:srgbClr val="1C2A3A"/>
                          </a:solidFill>
                          <a:latin typeface="Calibri"/>
                        </a:defRPr>
                      </a:pPr>
                      <a:r>
                        <a:t>Subject: Congratulations! You've won a $1,000...</a:t>
                      </a:r>
                    </a:p>
                  </a:txBody>
                  <a:tcPr>
                    <a:solidFill>
                      <a:srgbClr val="E0E3E8"/>
                    </a:solidFill>
                  </a:tcPr>
                </a:tc>
                <a:tc>
                  <a:txBody>
                    <a:bodyPr/>
                    <a:lstStyle/>
                    <a:p>
                      <a:pPr>
                        <a:defRPr sz="1100">
                          <a:solidFill>
                            <a:srgbClr val="1C2A3A"/>
                          </a:solidFill>
                          <a:latin typeface="Calibri"/>
                        </a:defRPr>
                      </a:pPr>
                      <a:r>
                        <a:t>SPAM</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r>
              <a:tr h="365760">
                <a:tc>
                  <a:txBody>
                    <a:bodyPr/>
                    <a:lstStyle/>
                    <a:p>
                      <a:pPr>
                        <a:defRPr sz="1100">
                          <a:solidFill>
                            <a:srgbClr val="1C2A3A"/>
                          </a:solidFill>
                          <a:latin typeface="Calibri"/>
                        </a:defRPr>
                      </a:pPr>
                      <a:r>
                        <a:t>2</a:t>
                      </a:r>
                    </a:p>
                  </a:txBody>
                  <a:tcPr/>
                </a:tc>
                <a:tc>
                  <a:txBody>
                    <a:bodyPr/>
                    <a:lstStyle/>
                    <a:p>
                      <a:pPr>
                        <a:defRPr sz="1100">
                          <a:solidFill>
                            <a:srgbClr val="1C2A3A"/>
                          </a:solidFill>
                          <a:latin typeface="Calibri"/>
                        </a:defRPr>
                      </a:pPr>
                      <a:r>
                        <a:t>Subject: Q4 Board Meeting Agenda</a:t>
                      </a:r>
                    </a:p>
                    <a:p>
                      <a:pPr>
                        <a:defRPr sz="1100">
                          <a:solidFill>
                            <a:srgbClr val="1C2A3A"/>
                          </a:solidFill>
                          <a:latin typeface="Calibri"/>
                        </a:defRPr>
                      </a:pPr>
                    </a:p>
                    <a:p>
                      <a:pPr>
                        <a:defRPr sz="1100">
                          <a:solidFill>
                            <a:srgbClr val="1C2A3A"/>
                          </a:solidFill>
                          <a:latin typeface="Calibri"/>
                        </a:defRPr>
                      </a:pPr>
                      <a:r>
                        <a:t>Hi team, at...</a:t>
                      </a:r>
                    </a:p>
                  </a:txBody>
                  <a:tcPr/>
                </a:tc>
                <a:tc>
                  <a:txBody>
                    <a:bodyPr/>
                    <a:lstStyle/>
                    <a:p>
                      <a:pPr>
                        <a:defRPr sz="1100">
                          <a:solidFill>
                            <a:srgbClr val="1C2A3A"/>
                          </a:solidFill>
                          <a:latin typeface="Calibri"/>
                        </a:defRPr>
                      </a:pPr>
                      <a:r>
                        <a:t>HAM</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ham [Y]</a:t>
                      </a:r>
                    </a:p>
                  </a:txBody>
                  <a:tcPr/>
                </a:tc>
              </a:tr>
              <a:tr h="365760">
                <a:tc>
                  <a:txBody>
                    <a:bodyPr/>
                    <a:lstStyle/>
                    <a:p>
                      <a:pPr>
                        <a:defRPr sz="1100">
                          <a:solidFill>
                            <a:srgbClr val="1C2A3A"/>
                          </a:solidFill>
                          <a:latin typeface="Calibri"/>
                        </a:defRPr>
                      </a:pPr>
                      <a:r>
                        <a:t>3</a:t>
                      </a:r>
                    </a:p>
                  </a:txBody>
                  <a:tcPr>
                    <a:solidFill>
                      <a:srgbClr val="E0E3E8"/>
                    </a:solidFill>
                  </a:tcPr>
                </a:tc>
                <a:tc>
                  <a:txBody>
                    <a:bodyPr/>
                    <a:lstStyle/>
                    <a:p>
                      <a:pPr>
                        <a:defRPr sz="1100">
                          <a:solidFill>
                            <a:srgbClr val="1C2A3A"/>
                          </a:solidFill>
                          <a:latin typeface="Calibri"/>
                        </a:defRPr>
                      </a:pPr>
                      <a:r>
                        <a:t>Subject: URGENT: Your account has been compro...</a:t>
                      </a:r>
                    </a:p>
                  </a:txBody>
                  <a:tcPr>
                    <a:solidFill>
                      <a:srgbClr val="E0E3E8"/>
                    </a:solidFill>
                  </a:tcPr>
                </a:tc>
                <a:tc>
                  <a:txBody>
                    <a:bodyPr/>
                    <a:lstStyle/>
                    <a:p>
                      <a:pPr>
                        <a:defRPr sz="1100">
                          <a:solidFill>
                            <a:srgbClr val="1C2A3A"/>
                          </a:solidFill>
                          <a:latin typeface="Calibri"/>
                        </a:defRPr>
                      </a:pPr>
                      <a:r>
                        <a:t>SPAM</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r>
              <a:tr h="365760">
                <a:tc>
                  <a:txBody>
                    <a:bodyPr/>
                    <a:lstStyle/>
                    <a:p>
                      <a:pPr>
                        <a:defRPr sz="1100">
                          <a:solidFill>
                            <a:srgbClr val="1C2A3A"/>
                          </a:solidFill>
                          <a:latin typeface="Calibri"/>
                        </a:defRPr>
                      </a:pPr>
                      <a:r>
                        <a:t>4</a:t>
                      </a:r>
                    </a:p>
                  </a:txBody>
                  <a:tcPr/>
                </a:tc>
                <a:tc>
                  <a:txBody>
                    <a:bodyPr/>
                    <a:lstStyle/>
                    <a:p>
                      <a:pPr>
                        <a:defRPr sz="1100">
                          <a:solidFill>
                            <a:srgbClr val="1C2A3A"/>
                          </a:solidFill>
                          <a:latin typeface="Calibri"/>
                        </a:defRPr>
                      </a:pPr>
                      <a:r>
                        <a:t>Subject: Invoice #INV-2024-0847</a:t>
                      </a:r>
                    </a:p>
                    <a:p>
                      <a:pPr>
                        <a:defRPr sz="1100">
                          <a:solidFill>
                            <a:srgbClr val="1C2A3A"/>
                          </a:solidFill>
                          <a:latin typeface="Calibri"/>
                        </a:defRPr>
                      </a:pPr>
                    </a:p>
                    <a:p>
                      <a:pPr>
                        <a:defRPr sz="1100">
                          <a:solidFill>
                            <a:srgbClr val="1C2A3A"/>
                          </a:solidFill>
                          <a:latin typeface="Calibri"/>
                        </a:defRPr>
                      </a:pPr>
                      <a:r>
                        <a:t>Please find ...</a:t>
                      </a:r>
                    </a:p>
                  </a:txBody>
                  <a:tcPr/>
                </a:tc>
                <a:tc>
                  <a:txBody>
                    <a:bodyPr/>
                    <a:lstStyle/>
                    <a:p>
                      <a:pPr>
                        <a:defRPr sz="1100">
                          <a:solidFill>
                            <a:srgbClr val="1C2A3A"/>
                          </a:solidFill>
                          <a:latin typeface="Calibri"/>
                        </a:defRPr>
                      </a:pPr>
                      <a:r>
                        <a:t>HAM</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ham [Y]</a:t>
                      </a:r>
                    </a:p>
                  </a:txBody>
                  <a:tcPr/>
                </a:tc>
              </a:tr>
              <a:tr h="365760">
                <a:tc>
                  <a:txBody>
                    <a:bodyPr/>
                    <a:lstStyle/>
                    <a:p>
                      <a:pPr>
                        <a:defRPr sz="1100">
                          <a:solidFill>
                            <a:srgbClr val="1C2A3A"/>
                          </a:solidFill>
                          <a:latin typeface="Calibri"/>
                        </a:defRPr>
                      </a:pPr>
                      <a:r>
                        <a:t>5</a:t>
                      </a:r>
                    </a:p>
                  </a:txBody>
                  <a:tcPr>
                    <a:solidFill>
                      <a:srgbClr val="E0E3E8"/>
                    </a:solidFill>
                  </a:tcPr>
                </a:tc>
                <a:tc>
                  <a:txBody>
                    <a:bodyPr/>
                    <a:lstStyle/>
                    <a:p>
                      <a:pPr>
                        <a:defRPr sz="1100">
                          <a:solidFill>
                            <a:srgbClr val="1C2A3A"/>
                          </a:solidFill>
                          <a:latin typeface="Calibri"/>
                        </a:defRPr>
                      </a:pPr>
                      <a:r>
                        <a:t>Subject: Make $5000 per day from home!</a:t>
                      </a:r>
                    </a:p>
                    <a:p>
                      <a:pPr>
                        <a:defRPr sz="1100">
                          <a:solidFill>
                            <a:srgbClr val="1C2A3A"/>
                          </a:solidFill>
                          <a:latin typeface="Calibri"/>
                        </a:defRPr>
                      </a:pPr>
                    </a:p>
                    <a:p>
                      <a:pPr>
                        <a:defRPr sz="1100">
                          <a:solidFill>
                            <a:srgbClr val="1C2A3A"/>
                          </a:solidFill>
                          <a:latin typeface="Calibri"/>
                        </a:defRPr>
                      </a:pPr>
                      <a:r>
                        <a:t>Disco...</a:t>
                      </a:r>
                    </a:p>
                  </a:txBody>
                  <a:tcPr>
                    <a:solidFill>
                      <a:srgbClr val="E0E3E8"/>
                    </a:solidFill>
                  </a:tcPr>
                </a:tc>
                <a:tc>
                  <a:txBody>
                    <a:bodyPr/>
                    <a:lstStyle/>
                    <a:p>
                      <a:pPr>
                        <a:defRPr sz="1100">
                          <a:solidFill>
                            <a:srgbClr val="1C2A3A"/>
                          </a:solidFill>
                          <a:latin typeface="Calibri"/>
                        </a:defRPr>
                      </a:pPr>
                      <a:r>
                        <a:t>SPAM</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r>
              <a:tr h="365760">
                <a:tc>
                  <a:txBody>
                    <a:bodyPr/>
                    <a:lstStyle/>
                    <a:p>
                      <a:pPr>
                        <a:defRPr sz="1100">
                          <a:solidFill>
                            <a:srgbClr val="1C2A3A"/>
                          </a:solidFill>
                          <a:latin typeface="Calibri"/>
                        </a:defRPr>
                      </a:pPr>
                      <a:r>
                        <a:t>6</a:t>
                      </a:r>
                    </a:p>
                  </a:txBody>
                  <a:tcPr/>
                </a:tc>
                <a:tc>
                  <a:txBody>
                    <a:bodyPr/>
                    <a:lstStyle/>
                    <a:p>
                      <a:pPr>
                        <a:defRPr sz="1100">
                          <a:solidFill>
                            <a:srgbClr val="1C2A3A"/>
                          </a:solidFill>
                          <a:latin typeface="Calibri"/>
                        </a:defRPr>
                      </a:pPr>
                      <a:r>
                        <a:t>Subject: Your prescription is ready for picku...</a:t>
                      </a:r>
                    </a:p>
                  </a:txBody>
                  <a:tcPr/>
                </a:tc>
                <a:tc>
                  <a:txBody>
                    <a:bodyPr/>
                    <a:lstStyle/>
                    <a:p>
                      <a:pPr>
                        <a:defRPr sz="1100">
                          <a:solidFill>
                            <a:srgbClr val="1C2A3A"/>
                          </a:solidFill>
                          <a:latin typeface="Calibri"/>
                        </a:defRPr>
                      </a:pPr>
                      <a:r>
                        <a:t>HAM</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spam [N]</a:t>
                      </a:r>
                    </a:p>
                  </a:txBody>
                  <a:tcPr/>
                </a:tc>
                <a:tc>
                  <a:txBody>
                    <a:bodyPr/>
                    <a:lstStyle/>
                    <a:p>
                      <a:pPr>
                        <a:defRPr sz="1100">
                          <a:solidFill>
                            <a:srgbClr val="1C2A3A"/>
                          </a:solidFill>
                          <a:latin typeface="Calibri"/>
                        </a:defRPr>
                      </a:pPr>
                      <a:r>
                        <a:t>spam [N]</a:t>
                      </a:r>
                    </a:p>
                  </a:txBody>
                  <a:tcPr/>
                </a:tc>
                <a:tc>
                  <a:txBody>
                    <a:bodyPr/>
                    <a:lstStyle/>
                    <a:p>
                      <a:pPr>
                        <a:defRPr sz="1100">
                          <a:solidFill>
                            <a:srgbClr val="1C2A3A"/>
                          </a:solidFill>
                          <a:latin typeface="Calibri"/>
                        </a:defRPr>
                      </a:pPr>
                      <a:r>
                        <a:t>spam [N]</a:t>
                      </a:r>
                    </a:p>
                  </a:txBody>
                  <a:tcPr/>
                </a:tc>
              </a:tr>
              <a:tr h="365760">
                <a:tc>
                  <a:txBody>
                    <a:bodyPr/>
                    <a:lstStyle/>
                    <a:p>
                      <a:pPr>
                        <a:defRPr sz="1100">
                          <a:solidFill>
                            <a:srgbClr val="1C2A3A"/>
                          </a:solidFill>
                          <a:latin typeface="Calibri"/>
                        </a:defRPr>
                      </a:pPr>
                      <a:r>
                        <a:t>7</a:t>
                      </a:r>
                    </a:p>
                  </a:txBody>
                  <a:tcPr>
                    <a:solidFill>
                      <a:srgbClr val="E0E3E8"/>
                    </a:solidFill>
                  </a:tcPr>
                </a:tc>
                <a:tc>
                  <a:txBody>
                    <a:bodyPr/>
                    <a:lstStyle/>
                    <a:p>
                      <a:pPr>
                        <a:defRPr sz="1100">
                          <a:solidFill>
                            <a:srgbClr val="1C2A3A"/>
                          </a:solidFill>
                          <a:latin typeface="Calibri"/>
                        </a:defRPr>
                      </a:pPr>
                      <a:r>
                        <a:t>Subject: Verify your PayPal account now</a:t>
                      </a:r>
                    </a:p>
                    <a:p>
                      <a:pPr>
                        <a:defRPr sz="1100">
                          <a:solidFill>
                            <a:srgbClr val="1C2A3A"/>
                          </a:solidFill>
                          <a:latin typeface="Calibri"/>
                        </a:defRPr>
                      </a:pPr>
                    </a:p>
                    <a:p>
                      <a:pPr>
                        <a:defRPr sz="1100">
                          <a:solidFill>
                            <a:srgbClr val="1C2A3A"/>
                          </a:solidFill>
                          <a:latin typeface="Calibri"/>
                        </a:defRPr>
                      </a:pPr>
                      <a:r>
                        <a:t>We n...</a:t>
                      </a:r>
                    </a:p>
                  </a:txBody>
                  <a:tcPr>
                    <a:solidFill>
                      <a:srgbClr val="E0E3E8"/>
                    </a:solidFill>
                  </a:tcPr>
                </a:tc>
                <a:tc>
                  <a:txBody>
                    <a:bodyPr/>
                    <a:lstStyle/>
                    <a:p>
                      <a:pPr>
                        <a:defRPr sz="1100">
                          <a:solidFill>
                            <a:srgbClr val="1C2A3A"/>
                          </a:solidFill>
                          <a:latin typeface="Calibri"/>
                        </a:defRPr>
                      </a:pPr>
                      <a:r>
                        <a:t>SPAM</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r>
              <a:tr h="365760">
                <a:tc>
                  <a:txBody>
                    <a:bodyPr/>
                    <a:lstStyle/>
                    <a:p>
                      <a:pPr>
                        <a:defRPr sz="1100">
                          <a:solidFill>
                            <a:srgbClr val="1C2A3A"/>
                          </a:solidFill>
                          <a:latin typeface="Calibri"/>
                        </a:defRPr>
                      </a:pPr>
                      <a:r>
                        <a:t>8</a:t>
                      </a:r>
                    </a:p>
                  </a:txBody>
                  <a:tcPr/>
                </a:tc>
                <a:tc>
                  <a:txBody>
                    <a:bodyPr/>
                    <a:lstStyle/>
                    <a:p>
                      <a:pPr>
                        <a:defRPr sz="1100">
                          <a:solidFill>
                            <a:srgbClr val="1C2A3A"/>
                          </a:solidFill>
                          <a:latin typeface="Calibri"/>
                        </a:defRPr>
                      </a:pPr>
                      <a:r>
                        <a:t>Subject: Team standup notes - March 14</a:t>
                      </a:r>
                    </a:p>
                    <a:p>
                      <a:pPr>
                        <a:defRPr sz="1100">
                          <a:solidFill>
                            <a:srgbClr val="1C2A3A"/>
                          </a:solidFill>
                          <a:latin typeface="Calibri"/>
                        </a:defRPr>
                      </a:pPr>
                    </a:p>
                    <a:p>
                      <a:pPr>
                        <a:defRPr sz="1100">
                          <a:solidFill>
                            <a:srgbClr val="1C2A3A"/>
                          </a:solidFill>
                          <a:latin typeface="Calibri"/>
                        </a:defRPr>
                      </a:pPr>
                      <a:r>
                        <a:t>Here ...</a:t>
                      </a:r>
                    </a:p>
                  </a:txBody>
                  <a:tcPr/>
                </a:tc>
                <a:tc>
                  <a:txBody>
                    <a:bodyPr/>
                    <a:lstStyle/>
                    <a:p>
                      <a:pPr>
                        <a:defRPr sz="1100">
                          <a:solidFill>
                            <a:srgbClr val="1C2A3A"/>
                          </a:solidFill>
                          <a:latin typeface="Calibri"/>
                        </a:defRPr>
                      </a:pPr>
                      <a:r>
                        <a:t>HAM</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ham [Y]</a:t>
                      </a:r>
                    </a:p>
                  </a:txBody>
                  <a:tcPr/>
                </a:tc>
              </a:tr>
              <a:tr h="365760">
                <a:tc>
                  <a:txBody>
                    <a:bodyPr/>
                    <a:lstStyle/>
                    <a:p>
                      <a:pPr>
                        <a:defRPr sz="1100">
                          <a:solidFill>
                            <a:srgbClr val="1C2A3A"/>
                          </a:solidFill>
                          <a:latin typeface="Calibri"/>
                        </a:defRPr>
                      </a:pPr>
                      <a:r>
                        <a:t>9</a:t>
                      </a:r>
                    </a:p>
                  </a:txBody>
                  <a:tcPr>
                    <a:solidFill>
                      <a:srgbClr val="E0E3E8"/>
                    </a:solidFill>
                  </a:tcPr>
                </a:tc>
                <a:tc>
                  <a:txBody>
                    <a:bodyPr/>
                    <a:lstStyle/>
                    <a:p>
                      <a:pPr>
                        <a:defRPr sz="1100">
                          <a:solidFill>
                            <a:srgbClr val="1C2A3A"/>
                          </a:solidFill>
                          <a:latin typeface="Calibri"/>
                        </a:defRPr>
                      </a:pPr>
                      <a:r>
                        <a:t>Subject: Lose 30 pounds in 30 days guaranteed...</a:t>
                      </a:r>
                    </a:p>
                  </a:txBody>
                  <a:tcPr>
                    <a:solidFill>
                      <a:srgbClr val="E0E3E8"/>
                    </a:solidFill>
                  </a:tcPr>
                </a:tc>
                <a:tc>
                  <a:txBody>
                    <a:bodyPr/>
                    <a:lstStyle/>
                    <a:p>
                      <a:pPr>
                        <a:defRPr sz="1100">
                          <a:solidFill>
                            <a:srgbClr val="1C2A3A"/>
                          </a:solidFill>
                          <a:latin typeface="Calibri"/>
                        </a:defRPr>
                      </a:pPr>
                      <a:r>
                        <a:t>SPAM</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r>
              <a:tr h="365760">
                <a:tc>
                  <a:txBody>
                    <a:bodyPr/>
                    <a:lstStyle/>
                    <a:p>
                      <a:pPr>
                        <a:defRPr sz="1100">
                          <a:solidFill>
                            <a:srgbClr val="1C2A3A"/>
                          </a:solidFill>
                          <a:latin typeface="Calibri"/>
                        </a:defRPr>
                      </a:pPr>
                      <a:r>
                        <a:t>10</a:t>
                      </a:r>
                    </a:p>
                  </a:txBody>
                  <a:tcPr/>
                </a:tc>
                <a:tc>
                  <a:txBody>
                    <a:bodyPr/>
                    <a:lstStyle/>
                    <a:p>
                      <a:pPr>
                        <a:defRPr sz="1100">
                          <a:solidFill>
                            <a:srgbClr val="1C2A3A"/>
                          </a:solidFill>
                          <a:latin typeface="Calibri"/>
                        </a:defRPr>
                      </a:pPr>
                      <a:r>
                        <a:t>Subject: Your Amazon order has shipped</a:t>
                      </a:r>
                    </a:p>
                    <a:p>
                      <a:pPr>
                        <a:defRPr sz="1100">
                          <a:solidFill>
                            <a:srgbClr val="1C2A3A"/>
                          </a:solidFill>
                          <a:latin typeface="Calibri"/>
                        </a:defRPr>
                      </a:pPr>
                    </a:p>
                    <a:p>
                      <a:pPr>
                        <a:defRPr sz="1100">
                          <a:solidFill>
                            <a:srgbClr val="1C2A3A"/>
                          </a:solidFill>
                          <a:latin typeface="Calibri"/>
                        </a:defRPr>
                      </a:pPr>
                      <a:r>
                        <a:t>Your ...</a:t>
                      </a:r>
                    </a:p>
                  </a:txBody>
                  <a:tcPr/>
                </a:tc>
                <a:tc>
                  <a:txBody>
                    <a:bodyPr/>
                    <a:lstStyle/>
                    <a:p>
                      <a:pPr>
                        <a:defRPr sz="1100">
                          <a:solidFill>
                            <a:srgbClr val="1C2A3A"/>
                          </a:solidFill>
                          <a:latin typeface="Calibri"/>
                        </a:defRPr>
                      </a:pPr>
                      <a:r>
                        <a:t>HAM</a:t>
                      </a:r>
                    </a:p>
                  </a:txBody>
                  <a:tcPr/>
                </a:tc>
                <a:tc>
                  <a:txBody>
                    <a:bodyPr/>
                    <a:lstStyle/>
                    <a:p>
                      <a:pPr>
                        <a:defRPr sz="1100">
                          <a:solidFill>
                            <a:srgbClr val="1C2A3A"/>
                          </a:solidFill>
                          <a:latin typeface="Calibri"/>
                        </a:defRPr>
                      </a:pPr>
                      <a:r>
                        <a:t>spam [N]</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spam [N]</a:t>
                      </a:r>
                    </a:p>
                  </a:txBody>
                  <a:tcPr/>
                </a:tc>
                <a:tc>
                  <a:txBody>
                    <a:bodyPr/>
                    <a:lstStyle/>
                    <a:p>
                      <a:pPr>
                        <a:defRPr sz="1100">
                          <a:solidFill>
                            <a:srgbClr val="1C2A3A"/>
                          </a:solidFill>
                          <a:latin typeface="Calibri"/>
                        </a:defRPr>
                      </a:pPr>
                      <a:r>
                        <a:t>ham [Y]</a:t>
                      </a:r>
                    </a:p>
                  </a:txBody>
                  <a:tcPr/>
                </a:tc>
              </a:tr>
              <a:tr h="365760">
                <a:tc>
                  <a:txBody>
                    <a:bodyPr/>
                    <a:lstStyle/>
                    <a:p>
                      <a:pPr>
                        <a:defRPr sz="1100">
                          <a:solidFill>
                            <a:srgbClr val="1C2A3A"/>
                          </a:solidFill>
                          <a:latin typeface="Calibri"/>
                        </a:defRPr>
                      </a:pPr>
                      <a:r>
                        <a:t>11</a:t>
                      </a:r>
                    </a:p>
                  </a:txBody>
                  <a:tcPr>
                    <a:solidFill>
                      <a:srgbClr val="E0E3E8"/>
                    </a:solidFill>
                  </a:tcPr>
                </a:tc>
                <a:tc>
                  <a:txBody>
                    <a:bodyPr/>
                    <a:lstStyle/>
                    <a:p>
                      <a:pPr>
                        <a:defRPr sz="1100">
                          <a:solidFill>
                            <a:srgbClr val="1C2A3A"/>
                          </a:solidFill>
                          <a:latin typeface="Calibri"/>
                        </a:defRPr>
                      </a:pPr>
                      <a:r>
                        <a:t>Subject: Exclusive cryptocurrency investment ...</a:t>
                      </a:r>
                    </a:p>
                  </a:txBody>
                  <a:tcPr>
                    <a:solidFill>
                      <a:srgbClr val="E0E3E8"/>
                    </a:solidFill>
                  </a:tcPr>
                </a:tc>
                <a:tc>
                  <a:txBody>
                    <a:bodyPr/>
                    <a:lstStyle/>
                    <a:p>
                      <a:pPr>
                        <a:defRPr sz="1100">
                          <a:solidFill>
                            <a:srgbClr val="1C2A3A"/>
                          </a:solidFill>
                          <a:latin typeface="Calibri"/>
                        </a:defRPr>
                      </a:pPr>
                      <a:r>
                        <a:t>SPAM</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r>
              <a:tr h="365760">
                <a:tc>
                  <a:txBody>
                    <a:bodyPr/>
                    <a:lstStyle/>
                    <a:p>
                      <a:pPr>
                        <a:defRPr sz="1100">
                          <a:solidFill>
                            <a:srgbClr val="1C2A3A"/>
                          </a:solidFill>
                          <a:latin typeface="Calibri"/>
                        </a:defRPr>
                      </a:pPr>
                      <a:r>
                        <a:t>12</a:t>
                      </a:r>
                    </a:p>
                  </a:txBody>
                  <a:tcPr/>
                </a:tc>
                <a:tc>
                  <a:txBody>
                    <a:bodyPr/>
                    <a:lstStyle/>
                    <a:p>
                      <a:pPr>
                        <a:defRPr sz="1100">
                          <a:solidFill>
                            <a:srgbClr val="1C2A3A"/>
                          </a:solidFill>
                          <a:latin typeface="Calibri"/>
                        </a:defRPr>
                      </a:pPr>
                      <a:r>
                        <a:t>Subject: Re: Project timeline update</a:t>
                      </a:r>
                    </a:p>
                    <a:p>
                      <a:pPr>
                        <a:defRPr sz="1100">
                          <a:solidFill>
                            <a:srgbClr val="1C2A3A"/>
                          </a:solidFill>
                          <a:latin typeface="Calibri"/>
                        </a:defRPr>
                      </a:pPr>
                    </a:p>
                    <a:p>
                      <a:pPr>
                        <a:defRPr sz="1100">
                          <a:solidFill>
                            <a:srgbClr val="1C2A3A"/>
                          </a:solidFill>
                          <a:latin typeface="Calibri"/>
                        </a:defRPr>
                      </a:pPr>
                      <a:r>
                        <a:t>Thanks ...</a:t>
                      </a:r>
                    </a:p>
                  </a:txBody>
                  <a:tcPr/>
                </a:tc>
                <a:tc>
                  <a:txBody>
                    <a:bodyPr/>
                    <a:lstStyle/>
                    <a:p>
                      <a:pPr>
                        <a:defRPr sz="1100">
                          <a:solidFill>
                            <a:srgbClr val="1C2A3A"/>
                          </a:solidFill>
                          <a:latin typeface="Calibri"/>
                        </a:defRPr>
                      </a:pPr>
                      <a:r>
                        <a:t>HAM</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ham [Y]</a:t>
                      </a:r>
                    </a:p>
                  </a:txBody>
                  <a:tcPr/>
                </a:tc>
              </a:tr>
            </a:tbl>
          </a:graphicData>
        </a:graphic>
      </p:graphicFrame>
      <p:sp>
        <p:nvSpPr>
          <p:cNvPr id="4" name="TextBox 3"/>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52/55</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5: Does Model Size Matter for Fine-Tuning?</a:t>
            </a:r>
          </a:p>
          <a:p>
            <a:pPr>
              <a:defRPr sz="1600">
                <a:solidFill>
                  <a:srgbClr val="ECEFF1"/>
                </a:solidFill>
                <a:latin typeface="Calibri"/>
              </a:defRPr>
            </a:pPr>
            <a:r>
              <a:t>Fine-tuned DistilBERT (66M) vs Fine-tuned GPT-4o-mini (~8B) on spam detection</a:t>
            </a:r>
          </a:p>
        </p:txBody>
      </p:sp>
      <p:sp>
        <p:nvSpPr>
          <p:cNvPr id="3" name="Rectangle 2"/>
          <p:cNvSpPr/>
          <p:nvPr/>
        </p:nvSpPr>
        <p:spPr>
          <a:xfrm>
            <a:off x="457200" y="1280160"/>
            <a:ext cx="5303520" cy="914400"/>
          </a:xfrm>
          <a:prstGeom prst="rect">
            <a:avLst/>
          </a:prstGeom>
          <a:solidFill>
            <a:srgbClr val="FFE0CC"/>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Fine-tuned DistilBERT</a:t>
            </a:r>
          </a:p>
          <a:p>
            <a:pPr>
              <a:defRPr sz="1200">
                <a:solidFill>
                  <a:srgbClr val="1C2A3A"/>
                </a:solidFill>
                <a:latin typeface="Calibri"/>
              </a:defRPr>
            </a:pPr>
            <a:r>
              <a:t>66M params | Local inference | Near-zero cost</a:t>
            </a:r>
          </a:p>
        </p:txBody>
      </p:sp>
      <p:sp>
        <p:nvSpPr>
          <p:cNvPr id="4" name="Rectangle 3"/>
          <p:cNvSpPr/>
          <p:nvPr/>
        </p:nvSpPr>
        <p:spPr>
          <a:xfrm>
            <a:off x="6217920" y="1280160"/>
            <a:ext cx="5303520" cy="91440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Fine-tuned GPT-4o-mini</a:t>
            </a:r>
          </a:p>
          <a:p>
            <a:pPr>
              <a:defRPr sz="1200">
                <a:solidFill>
                  <a:srgbClr val="1C2A3A"/>
                </a:solidFill>
                <a:latin typeface="Calibri"/>
              </a:defRPr>
            </a:pPr>
            <a:r>
              <a:t>~8B params | OpenAI API | $0.30/$1.20 per 1M tokens</a:t>
            </a:r>
          </a:p>
        </p:txBody>
      </p:sp>
      <p:graphicFrame>
        <p:nvGraphicFramePr>
          <p:cNvPr id="5" name="Chart 4"/>
          <p:cNvGraphicFramePr>
            <a:graphicFrameLocks noGrp="1"/>
          </p:cNvGraphicFramePr>
          <p:nvPr/>
        </p:nvGraphicFramePr>
        <p:xfrm>
          <a:off x="457200" y="2468880"/>
          <a:ext cx="5486400" cy="3474720"/>
        </p:xfrm>
        <a:graphic>
          <a:graphicData uri="http://schemas.openxmlformats.org/drawingml/2006/chart">
            <c:chart xmlns:c="http://schemas.openxmlformats.org/drawingml/2006/chart" r:id="rId2"/>
          </a:graphicData>
        </a:graphic>
      </p:graphicFrame>
      <p:graphicFrame>
        <p:nvGraphicFramePr>
          <p:cNvPr id="6" name="Chart 5"/>
          <p:cNvGraphicFramePr>
            <a:graphicFrameLocks noGrp="1"/>
          </p:cNvGraphicFramePr>
          <p:nvPr/>
        </p:nvGraphicFramePr>
        <p:xfrm>
          <a:off x="6217920" y="2468880"/>
          <a:ext cx="5486400" cy="3474720"/>
        </p:xfrm>
        <a:graphic>
          <a:graphicData uri="http://schemas.openxmlformats.org/drawingml/2006/chart">
            <c:chart xmlns:c="http://schemas.openxmlformats.org/drawingml/2006/chart" r:id="rId3"/>
          </a:graphicData>
        </a:graphic>
      </p:graphicFrame>
      <p:sp>
        <p:nvSpPr>
          <p:cNvPr id="7" name="TextBox 6"/>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53/55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Model Size Benchmark - Cost &amp; Key Findings</a:t>
            </a:r>
          </a:p>
        </p:txBody>
      </p:sp>
      <p:graphicFrame>
        <p:nvGraphicFramePr>
          <p:cNvPr id="3" name="Table 2"/>
          <p:cNvGraphicFramePr>
            <a:graphicFrameLocks noGrp="1"/>
          </p:cNvGraphicFramePr>
          <p:nvPr/>
        </p:nvGraphicFramePr>
        <p:xfrm>
          <a:off x="457200" y="1371600"/>
          <a:ext cx="11247120" cy="2743200"/>
        </p:xfrm>
        <a:graphic>
          <a:graphicData uri="http://schemas.openxmlformats.org/drawingml/2006/table">
            <a:tbl>
              <a:tblPr firstRow="1" bandRow="1">
                <a:tableStyleId>{5C22544A-7EE6-4342-B048-85BDC9FD1C3A}</a:tableStyleId>
              </a:tblPr>
              <a:tblGrid>
                <a:gridCol w="3749040"/>
                <a:gridCol w="3749040"/>
                <a:gridCol w="3749040"/>
              </a:tblGrid>
              <a:tr h="342900">
                <a:tc>
                  <a:txBody>
                    <a:bodyPr/>
                    <a:lstStyle/>
                    <a:p>
                      <a:pPr algn="ctr">
                        <a:defRPr sz="1200" b="1">
                          <a:solidFill>
                            <a:srgbClr val="FFFFFF"/>
                          </a:solidFill>
                          <a:latin typeface="Calibri"/>
                        </a:defRPr>
                      </a:pPr>
                      <a:r>
                        <a:t>Metric</a:t>
                      </a:r>
                    </a:p>
                  </a:txBody>
                  <a:tcPr>
                    <a:solidFill>
                      <a:srgbClr val="2E86C1"/>
                    </a:solidFill>
                  </a:tcPr>
                </a:tc>
                <a:tc>
                  <a:txBody>
                    <a:bodyPr/>
                    <a:lstStyle/>
                    <a:p>
                      <a:pPr algn="ctr">
                        <a:defRPr sz="1200" b="1">
                          <a:solidFill>
                            <a:srgbClr val="FFFFFF"/>
                          </a:solidFill>
                          <a:latin typeface="Calibri"/>
                        </a:defRPr>
                      </a:pPr>
                      <a:r>
                        <a:t>DistilBERT (66M)</a:t>
                      </a:r>
                    </a:p>
                  </a:txBody>
                  <a:tcPr>
                    <a:solidFill>
                      <a:srgbClr val="2E86C1"/>
                    </a:solidFill>
                  </a:tcPr>
                </a:tc>
                <a:tc>
                  <a:txBody>
                    <a:bodyPr/>
                    <a:lstStyle/>
                    <a:p>
                      <a:pPr algn="ctr">
                        <a:defRPr sz="1200" b="1">
                          <a:solidFill>
                            <a:srgbClr val="FFFFFF"/>
                          </a:solidFill>
                          <a:latin typeface="Calibri"/>
                        </a:defRPr>
                      </a:pPr>
                      <a:r>
                        <a:t>GPT-4o-mini (~8B)</a:t>
                      </a:r>
                    </a:p>
                  </a:txBody>
                  <a:tcPr>
                    <a:solidFill>
                      <a:srgbClr val="2E86C1"/>
                    </a:solidFill>
                  </a:tcPr>
                </a:tc>
              </a:tr>
              <a:tr h="342900">
                <a:tc>
                  <a:txBody>
                    <a:bodyPr/>
                    <a:lstStyle/>
                    <a:p>
                      <a:pPr>
                        <a:defRPr sz="1100">
                          <a:solidFill>
                            <a:srgbClr val="1C2A3A"/>
                          </a:solidFill>
                          <a:latin typeface="Calibri"/>
                        </a:defRPr>
                      </a:pPr>
                      <a:r>
                        <a:t>Basic Accuracy</a:t>
                      </a:r>
                    </a:p>
                  </a:txBody>
                  <a:tcPr>
                    <a:solidFill>
                      <a:srgbClr val="E0E3E8"/>
                    </a:solidFill>
                  </a:tcPr>
                </a:tc>
                <a:tc>
                  <a:txBody>
                    <a:bodyPr/>
                    <a:lstStyle/>
                    <a:p>
                      <a:pPr>
                        <a:defRPr sz="1100">
                          <a:solidFill>
                            <a:srgbClr val="1C2A3A"/>
                          </a:solidFill>
                          <a:latin typeface="Calibri"/>
                        </a:defRPr>
                      </a:pPr>
                      <a:r>
                        <a:t>95.0%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r>
              <a:tr h="342900">
                <a:tc>
                  <a:txBody>
                    <a:bodyPr/>
                    <a:lstStyle/>
                    <a:p>
                      <a:pPr>
                        <a:defRPr sz="1100">
                          <a:solidFill>
                            <a:srgbClr val="1C2A3A"/>
                          </a:solidFill>
                          <a:latin typeface="Calibri"/>
                        </a:defRPr>
                      </a:pPr>
                      <a:r>
                        <a:t>Basic Avg Latency</a:t>
                      </a:r>
                    </a:p>
                  </a:txBody>
                  <a:tcPr/>
                </a:tc>
                <a:tc>
                  <a:txBody>
                    <a:bodyPr/>
                    <a:lstStyle/>
                    <a:p>
                      <a:pPr>
                        <a:defRPr sz="1100">
                          <a:solidFill>
                            <a:srgbClr val="1C2A3A"/>
                          </a:solidFill>
                          <a:latin typeface="Calibri"/>
                        </a:defRPr>
                      </a:pPr>
                      <a:r>
                        <a:t>175ms</a:t>
                      </a:r>
                    </a:p>
                  </a:txBody>
                  <a:tcPr/>
                </a:tc>
                <a:tc>
                  <a:txBody>
                    <a:bodyPr/>
                    <a:lstStyle/>
                    <a:p>
                      <a:pPr>
                        <a:defRPr sz="1100">
                          <a:solidFill>
                            <a:srgbClr val="1C2A3A"/>
                          </a:solidFill>
                          <a:latin typeface="Calibri"/>
                        </a:defRPr>
                      </a:pPr>
                      <a:r>
                        <a:t>528ms</a:t>
                      </a:r>
                    </a:p>
                  </a:txBody>
                  <a:tcPr/>
                </a:tc>
              </a:tr>
              <a:tr h="342900">
                <a:tc>
                  <a:txBody>
                    <a:bodyPr/>
                    <a:lstStyle/>
                    <a:p>
                      <a:pPr>
                        <a:defRPr sz="1100">
                          <a:solidFill>
                            <a:srgbClr val="1C2A3A"/>
                          </a:solidFill>
                          <a:latin typeface="Calibri"/>
                        </a:defRPr>
                      </a:pPr>
                      <a:r>
                        <a:t>Basic Cost/1K Queries</a:t>
                      </a:r>
                    </a:p>
                  </a:txBody>
                  <a:tcPr>
                    <a:solidFill>
                      <a:srgbClr val="E0E3E8"/>
                    </a:solidFill>
                  </a:tcPr>
                </a:tc>
                <a:tc>
                  <a:txBody>
                    <a:bodyPr/>
                    <a:lstStyle/>
                    <a:p>
                      <a:pPr>
                        <a:defRPr sz="1100">
                          <a:solidFill>
                            <a:srgbClr val="1C2A3A"/>
                          </a:solidFill>
                          <a:latin typeface="Calibri"/>
                        </a:defRPr>
                      </a:pPr>
                      <a:r>
                        <a:t>$0.0051</a:t>
                      </a:r>
                    </a:p>
                  </a:txBody>
                  <a:tcPr>
                    <a:solidFill>
                      <a:srgbClr val="E0E3E8"/>
                    </a:solidFill>
                  </a:tcPr>
                </a:tc>
                <a:tc>
                  <a:txBody>
                    <a:bodyPr/>
                    <a:lstStyle/>
                    <a:p>
                      <a:pPr>
                        <a:defRPr sz="1100">
                          <a:solidFill>
                            <a:srgbClr val="1C2A3A"/>
                          </a:solidFill>
                          <a:latin typeface="Calibri"/>
                        </a:defRPr>
                      </a:pPr>
                      <a:r>
                        <a:t>$0.0195</a:t>
                      </a:r>
                    </a:p>
                  </a:txBody>
                  <a:tcPr>
                    <a:solidFill>
                      <a:srgbClr val="E0E3E8"/>
                    </a:solidFill>
                  </a:tcPr>
                </a:tc>
              </a:tr>
              <a:tr h="342900">
                <a:tc>
                  <a:txBody>
                    <a:bodyPr/>
                    <a:lstStyle/>
                    <a:p>
                      <a:pPr>
                        <a:defRPr sz="1100">
                          <a:solidFill>
                            <a:srgbClr val="1C2A3A"/>
                          </a:solidFill>
                          <a:latin typeface="Calibri"/>
                        </a:defRPr>
                      </a:pPr>
                      <a:r>
                        <a:t>Adversarial Accuracy</a:t>
                      </a:r>
                    </a:p>
                  </a:txBody>
                  <a:tcPr/>
                </a:tc>
                <a:tc>
                  <a:txBody>
                    <a:bodyPr/>
                    <a:lstStyle/>
                    <a:p>
                      <a:pPr>
                        <a:defRPr sz="1100">
                          <a:solidFill>
                            <a:srgbClr val="1C2A3A"/>
                          </a:solidFill>
                          <a:latin typeface="Calibri"/>
                        </a:defRPr>
                      </a:pPr>
                      <a:r>
                        <a:t>60.0%</a:t>
                      </a:r>
                    </a:p>
                  </a:txBody>
                  <a:tcPr/>
                </a:tc>
                <a:tc>
                  <a:txBody>
                    <a:bodyPr/>
                    <a:lstStyle/>
                    <a:p>
                      <a:pPr>
                        <a:defRPr sz="1100">
                          <a:solidFill>
                            <a:srgbClr val="1C2A3A"/>
                          </a:solidFill>
                          <a:latin typeface="Calibri"/>
                        </a:defRPr>
                      </a:pPr>
                      <a:r>
                        <a:t>63.3%</a:t>
                      </a:r>
                    </a:p>
                  </a:txBody>
                  <a:tcPr/>
                </a:tc>
              </a:tr>
              <a:tr h="342900">
                <a:tc>
                  <a:txBody>
                    <a:bodyPr/>
                    <a:lstStyle/>
                    <a:p>
                      <a:pPr>
                        <a:defRPr sz="1100">
                          <a:solidFill>
                            <a:srgbClr val="1C2A3A"/>
                          </a:solidFill>
                          <a:latin typeface="Calibri"/>
                        </a:defRPr>
                      </a:pPr>
                      <a:r>
                        <a:t>Adversarial Avg Latency</a:t>
                      </a:r>
                    </a:p>
                  </a:txBody>
                  <a:tcPr>
                    <a:solidFill>
                      <a:srgbClr val="E0E3E8"/>
                    </a:solidFill>
                  </a:tcPr>
                </a:tc>
                <a:tc>
                  <a:txBody>
                    <a:bodyPr/>
                    <a:lstStyle/>
                    <a:p>
                      <a:pPr>
                        <a:defRPr sz="1100">
                          <a:solidFill>
                            <a:srgbClr val="1C2A3A"/>
                          </a:solidFill>
                          <a:latin typeface="Calibri"/>
                        </a:defRPr>
                      </a:pPr>
                      <a:r>
                        <a:t>187ms</a:t>
                      </a:r>
                    </a:p>
                  </a:txBody>
                  <a:tcPr>
                    <a:solidFill>
                      <a:srgbClr val="E0E3E8"/>
                    </a:solidFill>
                  </a:tcPr>
                </a:tc>
                <a:tc>
                  <a:txBody>
                    <a:bodyPr/>
                    <a:lstStyle/>
                    <a:p>
                      <a:pPr>
                        <a:defRPr sz="1100">
                          <a:solidFill>
                            <a:srgbClr val="1C2A3A"/>
                          </a:solidFill>
                          <a:latin typeface="Calibri"/>
                        </a:defRPr>
                      </a:pPr>
                      <a:r>
                        <a:t>1314ms</a:t>
                      </a:r>
                    </a:p>
                  </a:txBody>
                  <a:tcPr>
                    <a:solidFill>
                      <a:srgbClr val="E0E3E8"/>
                    </a:solidFill>
                  </a:tcPr>
                </a:tc>
              </a:tr>
              <a:tr h="342900">
                <a:tc>
                  <a:txBody>
                    <a:bodyPr/>
                    <a:lstStyle/>
                    <a:p>
                      <a:pPr>
                        <a:defRPr sz="1100">
                          <a:solidFill>
                            <a:srgbClr val="1C2A3A"/>
                          </a:solidFill>
                          <a:latin typeface="Calibri"/>
                        </a:defRPr>
                      </a:pPr>
                      <a:r>
                        <a:t>Adversarial Cost/1K Queries</a:t>
                      </a:r>
                    </a:p>
                  </a:txBody>
                  <a:tcPr/>
                </a:tc>
                <a:tc>
                  <a:txBody>
                    <a:bodyPr/>
                    <a:lstStyle/>
                    <a:p>
                      <a:pPr>
                        <a:defRPr sz="1100">
                          <a:solidFill>
                            <a:srgbClr val="1C2A3A"/>
                          </a:solidFill>
                          <a:latin typeface="Calibri"/>
                        </a:defRPr>
                      </a:pPr>
                      <a:r>
                        <a:t>$0.0051</a:t>
                      </a:r>
                    </a:p>
                  </a:txBody>
                  <a:tcPr/>
                </a:tc>
                <a:tc>
                  <a:txBody>
                    <a:bodyPr/>
                    <a:lstStyle/>
                    <a:p>
                      <a:pPr>
                        <a:defRPr sz="1100">
                          <a:solidFill>
                            <a:srgbClr val="1C2A3A"/>
                          </a:solidFill>
                          <a:latin typeface="Calibri"/>
                        </a:defRPr>
                      </a:pPr>
                      <a:r>
                        <a:t>$0.0293</a:t>
                      </a:r>
                    </a:p>
                  </a:txBody>
                  <a:tcPr/>
                </a:tc>
              </a:tr>
              <a:tr h="342900">
                <a:tc>
                  <a:txBody>
                    <a:bodyPr/>
                    <a:lstStyle/>
                    <a:p>
                      <a:pPr>
                        <a:defRPr sz="1100">
                          <a:solidFill>
                            <a:srgbClr val="1C2A3A"/>
                          </a:solidFill>
                          <a:latin typeface="Calibri"/>
                        </a:defRPr>
                      </a:pPr>
                      <a:r>
                        <a:t>Parameters</a:t>
                      </a:r>
                    </a:p>
                  </a:txBody>
                  <a:tcPr>
                    <a:solidFill>
                      <a:srgbClr val="E0E3E8"/>
                    </a:solidFill>
                  </a:tcPr>
                </a:tc>
                <a:tc>
                  <a:txBody>
                    <a:bodyPr/>
                    <a:lstStyle/>
                    <a:p>
                      <a:pPr>
                        <a:defRPr sz="1100">
                          <a:solidFill>
                            <a:srgbClr val="1C2A3A"/>
                          </a:solidFill>
                          <a:latin typeface="Calibri"/>
                        </a:defRPr>
                      </a:pPr>
                      <a:r>
                        <a:t>66M</a:t>
                      </a:r>
                    </a:p>
                  </a:txBody>
                  <a:tcPr>
                    <a:solidFill>
                      <a:srgbClr val="E0E3E8"/>
                    </a:solidFill>
                  </a:tcPr>
                </a:tc>
                <a:tc>
                  <a:txBody>
                    <a:bodyPr/>
                    <a:lstStyle/>
                    <a:p>
                      <a:pPr>
                        <a:defRPr sz="1100">
                          <a:solidFill>
                            <a:srgbClr val="1C2A3A"/>
                          </a:solidFill>
                          <a:latin typeface="Calibri"/>
                        </a:defRPr>
                      </a:pPr>
                      <a:r>
                        <a:t>~8B (121x larger)</a:t>
                      </a:r>
                    </a:p>
                  </a:txBody>
                  <a:tcPr>
                    <a:solidFill>
                      <a:srgbClr val="E0E3E8"/>
                    </a:solidFill>
                  </a:tcPr>
                </a:tc>
              </a:tr>
            </a:tbl>
          </a:graphicData>
        </a:graphic>
      </p:graphicFrame>
      <p:sp>
        <p:nvSpPr>
          <p:cNvPr id="4" name="Rectangle 3"/>
          <p:cNvSpPr/>
          <p:nvPr/>
        </p:nvSpPr>
        <p:spPr>
          <a:xfrm>
            <a:off x="457200" y="4297680"/>
            <a:ext cx="11064240" cy="457200"/>
          </a:xfrm>
          <a:prstGeom prst="rect">
            <a:avLst/>
          </a:prstGeom>
          <a:solidFill>
            <a:srgbClr val="FFE0CC"/>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Basic: GPT-4o-mini 100.0% vs DistilBERT 95.0% (+5.0% for 121x more parameters)</a:t>
            </a:r>
          </a:p>
        </p:txBody>
      </p:sp>
      <p:sp>
        <p:nvSpPr>
          <p:cNvPr id="5" name="Rectangle 4"/>
          <p:cNvSpPr/>
          <p:nvPr/>
        </p:nvSpPr>
        <p:spPr>
          <a:xfrm>
            <a:off x="457200" y="4846320"/>
            <a:ext cx="11064240" cy="45720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Adversarial: GPT-4o-mini 63.3% vs DistilBERT 60.0% (+3.3%)</a:t>
            </a:r>
          </a:p>
        </p:txBody>
      </p:sp>
      <p:sp>
        <p:nvSpPr>
          <p:cNvPr id="6" name="Rectangle 5"/>
          <p:cNvSpPr/>
          <p:nvPr/>
        </p:nvSpPr>
        <p:spPr>
          <a:xfrm>
            <a:off x="457200" y="5394960"/>
            <a:ext cx="11064240" cy="457200"/>
          </a:xfrm>
          <a:prstGeom prst="rect">
            <a:avLst/>
          </a:prstGeom>
          <a:solidFill>
            <a:srgbClr val="FFE0CC"/>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DistilBERT is 3x faster (175ms vs 528ms)</a:t>
            </a:r>
          </a:p>
        </p:txBody>
      </p:sp>
      <p:sp>
        <p:nvSpPr>
          <p:cNvPr id="7" name="Rectangle 6"/>
          <p:cNvSpPr/>
          <p:nvPr/>
        </p:nvSpPr>
        <p:spPr>
          <a:xfrm>
            <a:off x="457200" y="5943600"/>
            <a:ext cx="11064240" cy="45720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121x more parameters yields only a modest accuracy gain -- diminishing returns</a:t>
            </a:r>
          </a:p>
        </p:txBody>
      </p:sp>
      <p:sp>
        <p:nvSpPr>
          <p:cNvPr id="8" name="TextBox 7"/>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54/55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Benchmark Insights: What the Data Tells Us</a:t>
            </a:r>
          </a:p>
        </p:txBody>
      </p:sp>
      <p:sp>
        <p:nvSpPr>
          <p:cNvPr id="3" name="Rectangle 2"/>
          <p:cNvSpPr/>
          <p:nvPr/>
        </p:nvSpPr>
        <p:spPr>
          <a:xfrm>
            <a:off x="457200" y="1280160"/>
            <a:ext cx="1106424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Sentiment: FinBERT 70.0% vs Base 45.0% vs RAG 65.0% vs Hybrid 70.0%</a:t>
            </a:r>
          </a:p>
        </p:txBody>
      </p:sp>
      <p:sp>
        <p:nvSpPr>
          <p:cNvPr id="4" name="Rectangle 3"/>
          <p:cNvSpPr/>
          <p:nvPr/>
        </p:nvSpPr>
        <p:spPr>
          <a:xfrm>
            <a:off x="457200" y="1920239"/>
            <a:ext cx="1106424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Domain Jargon: FinBERT 100.0% vs Base 33.3% -- fine-tuning is critical for specialized vocabulary</a:t>
            </a:r>
          </a:p>
        </p:txBody>
      </p:sp>
      <p:sp>
        <p:nvSpPr>
          <p:cNvPr id="5" name="Rectangle 4"/>
          <p:cNvSpPr/>
          <p:nvPr/>
        </p:nvSpPr>
        <p:spPr>
          <a:xfrm>
            <a:off x="457200" y="2560320"/>
            <a:ext cx="1106424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Numerical: FinQA-7B 20.0% vs Base 20.0% vs RAG 20.0% vs Hybrid 20.0%</a:t>
            </a:r>
          </a:p>
        </p:txBody>
      </p:sp>
      <p:sp>
        <p:nvSpPr>
          <p:cNvPr id="6" name="Rectangle 5"/>
          <p:cNvSpPr/>
          <p:nvPr/>
        </p:nvSpPr>
        <p:spPr>
          <a:xfrm>
            <a:off x="457200" y="3200399"/>
            <a:ext cx="1106424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Financial Ratios: FinQA-7B 37.5% vs Base 25.0% vs RAG 12.5% vs Hybrid 25.0%</a:t>
            </a:r>
          </a:p>
        </p:txBody>
      </p:sp>
      <p:sp>
        <p:nvSpPr>
          <p:cNvPr id="7" name="Rectangle 6"/>
          <p:cNvSpPr/>
          <p:nvPr/>
        </p:nvSpPr>
        <p:spPr>
          <a:xfrm>
            <a:off x="457200" y="3840479"/>
            <a:ext cx="11064240" cy="54864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Spam Detection: Fine-tuned 95.0% vs Base 85.0% vs RAG 90.0% vs Hybrid 95.0%</a:t>
            </a:r>
          </a:p>
        </p:txBody>
      </p:sp>
      <p:sp>
        <p:nvSpPr>
          <p:cNvPr id="8" name="Rectangle 7"/>
          <p:cNvSpPr/>
          <p:nvPr/>
        </p:nvSpPr>
        <p:spPr>
          <a:xfrm>
            <a:off x="457200" y="4480560"/>
            <a:ext cx="11064240" cy="54864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Fine-tuning excels at tasks requiring REASONING, COMPUTATION, and PATTERN RECOGNITION</a:t>
            </a:r>
          </a:p>
        </p:txBody>
      </p:sp>
      <p:sp>
        <p:nvSpPr>
          <p:cNvPr id="9" name="Rectangle 8"/>
          <p:cNvSpPr/>
          <p:nvPr/>
        </p:nvSpPr>
        <p:spPr>
          <a:xfrm>
            <a:off x="457200" y="5120640"/>
            <a:ext cx="11064240" cy="54864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RAG helps most when FRESH INFORMATION is the bottleneck, not skill</a:t>
            </a:r>
          </a:p>
        </p:txBody>
      </p:sp>
      <p:sp>
        <p:nvSpPr>
          <p:cNvPr id="10" name="Rectangle 9"/>
          <p:cNvSpPr/>
          <p:nvPr/>
        </p:nvSpPr>
        <p:spPr>
          <a:xfrm>
            <a:off x="457200" y="5760719"/>
            <a:ext cx="11064240" cy="54864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Hybrid approach consistently achieves the highest or equal-best accuracy across all experiments</a:t>
            </a:r>
          </a:p>
        </p:txBody>
      </p:sp>
      <p:sp>
        <p:nvSpPr>
          <p:cNvPr id="11" name="Rectangle 10"/>
          <p:cNvSpPr/>
          <p:nvPr/>
        </p:nvSpPr>
        <p:spPr>
          <a:xfrm>
            <a:off x="457200" y="6400800"/>
            <a:ext cx="11064240" cy="54864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Latency: Fine-tuned models are 2-4x faster than RAG (no retrieval step)</a:t>
            </a:r>
          </a:p>
        </p:txBody>
      </p:sp>
      <p:sp>
        <p:nvSpPr>
          <p:cNvPr id="12" name="Rectangle 11"/>
          <p:cNvSpPr/>
          <p:nvPr/>
        </p:nvSpPr>
        <p:spPr>
          <a:xfrm>
            <a:off x="457200" y="7040879"/>
            <a:ext cx="11064240" cy="54864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Token efficiency: RAG uses 3-5x more tokens (retrieved docs increase prompt size)</a:t>
            </a:r>
          </a:p>
        </p:txBody>
      </p:sp>
      <p:sp>
        <p:nvSpPr>
          <p:cNvPr id="13" name="Rectangle 12"/>
          <p:cNvSpPr/>
          <p:nvPr/>
        </p:nvSpPr>
        <p:spPr>
          <a:xfrm>
            <a:off x="457200" y="7680960"/>
            <a:ext cx="11064240" cy="54864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Cost at scale: Fine-tuning is cheaper per query due to fewer tokens and no retrieval overhead</a:t>
            </a:r>
          </a:p>
        </p:txBody>
      </p:sp>
      <p:sp>
        <p:nvSpPr>
          <p:cNvPr id="14" name="TextBox 13"/>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55/55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Striking Examples: Where Each Approach Wins</a:t>
            </a:r>
          </a:p>
        </p:txBody>
      </p:sp>
      <p:sp>
        <p:nvSpPr>
          <p:cNvPr id="3" name="TextBox 2"/>
          <p:cNvSpPr txBox="1"/>
          <p:nvPr/>
        </p:nvSpPr>
        <p:spPr>
          <a:xfrm>
            <a:off x="457200" y="1188720"/>
            <a:ext cx="3657600" cy="365760"/>
          </a:xfrm>
          <a:prstGeom prst="rect">
            <a:avLst/>
          </a:prstGeom>
          <a:noFill/>
        </p:spPr>
        <p:txBody>
          <a:bodyPr wrap="square">
            <a:spAutoFit/>
          </a:bodyPr>
          <a:lstStyle/>
          <a:p>
            <a:pPr algn="l">
              <a:defRPr sz="1600" b="1">
                <a:solidFill>
                  <a:srgbClr val="0E6B35"/>
                </a:solidFill>
                <a:latin typeface="Calibri"/>
              </a:defRPr>
            </a:pPr>
            <a:r>
              <a:t>Fine-Tuning Wins</a:t>
            </a:r>
          </a:p>
        </p:txBody>
      </p:sp>
      <p:sp>
        <p:nvSpPr>
          <p:cNvPr id="4" name="Rectangle 3"/>
          <p:cNvSpPr/>
          <p:nvPr/>
        </p:nvSpPr>
        <p:spPr>
          <a:xfrm>
            <a:off x="457200" y="1645920"/>
            <a:ext cx="3474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"Management expects headwinds from deposit competition to per..."</a:t>
            </a:r>
          </a:p>
          <a:p>
            <a:pPr>
              <a:defRPr sz="1200">
                <a:solidFill>
                  <a:srgbClr val="1C2A3A"/>
                </a:solidFill>
                <a:latin typeface="Calibri"/>
              </a:defRPr>
            </a:pPr>
            <a:r>
              <a:t>The word 'headwinds' is financial jargon meaning challenges/obstacles. A generic</a:t>
            </a:r>
          </a:p>
        </p:txBody>
      </p:sp>
      <p:sp>
        <p:nvSpPr>
          <p:cNvPr id="5" name="Rectangle 4"/>
          <p:cNvSpPr/>
          <p:nvPr/>
        </p:nvSpPr>
        <p:spPr>
          <a:xfrm>
            <a:off x="457200" y="2743200"/>
            <a:ext cx="3474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"Margin compression accelerated due to competitive deposit pr..."</a:t>
            </a:r>
          </a:p>
          <a:p>
            <a:pPr>
              <a:defRPr sz="1200">
                <a:solidFill>
                  <a:srgbClr val="1C2A3A"/>
                </a:solidFill>
                <a:latin typeface="Calibri"/>
              </a:defRPr>
            </a:pPr>
            <a:r>
              <a:t>'Margin compression' and 'pricing pressures' are domain-specific negative terms.</a:t>
            </a:r>
          </a:p>
        </p:txBody>
      </p:sp>
      <p:sp>
        <p:nvSpPr>
          <p:cNvPr id="6" name="Rectangle 5"/>
          <p:cNvSpPr/>
          <p:nvPr/>
        </p:nvSpPr>
        <p:spPr>
          <a:xfrm>
            <a:off x="457200" y="3840480"/>
            <a:ext cx="3474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"Operating efficiency improved with the cost-to-income ratio ..."</a:t>
            </a:r>
          </a:p>
          <a:p>
            <a:pPr>
              <a:defRPr sz="1200">
                <a:solidFill>
                  <a:srgbClr val="1C2A3A"/>
                </a:solidFill>
                <a:latin typeface="Calibri"/>
              </a:defRPr>
            </a:pPr>
            <a:r>
              <a:t>The word 'declining' normally sounds negative, but a DECLINING cost-to-income ra</a:t>
            </a:r>
          </a:p>
        </p:txBody>
      </p:sp>
      <p:sp>
        <p:nvSpPr>
          <p:cNvPr id="7" name="TextBox 6"/>
          <p:cNvSpPr txBox="1"/>
          <p:nvPr/>
        </p:nvSpPr>
        <p:spPr>
          <a:xfrm>
            <a:off x="4297680" y="1188720"/>
            <a:ext cx="3657600" cy="365760"/>
          </a:xfrm>
          <a:prstGeom prst="rect">
            <a:avLst/>
          </a:prstGeom>
          <a:noFill/>
        </p:spPr>
        <p:txBody>
          <a:bodyPr wrap="square">
            <a:spAutoFit/>
          </a:bodyPr>
          <a:lstStyle/>
          <a:p>
            <a:pPr algn="l">
              <a:defRPr sz="1600" b="1">
                <a:solidFill>
                  <a:srgbClr val="1A5F9E"/>
                </a:solidFill>
                <a:latin typeface="Calibri"/>
              </a:defRPr>
            </a:pPr>
            <a:r>
              <a:t>RAG Wins</a:t>
            </a:r>
          </a:p>
        </p:txBody>
      </p:sp>
      <p:sp>
        <p:nvSpPr>
          <p:cNvPr id="8" name="Rectangle 7"/>
          <p:cNvSpPr/>
          <p:nvPr/>
        </p:nvSpPr>
        <p:spPr>
          <a:xfrm>
            <a:off x="4297680" y="1645920"/>
            <a:ext cx="3474720" cy="91440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"What is Meridian National Bancorp's CET1 capital ratio and h..."</a:t>
            </a:r>
          </a:p>
          <a:p>
            <a:pPr>
              <a:defRPr sz="1200">
                <a:solidFill>
                  <a:srgbClr val="1C2A3A"/>
                </a:solidFill>
                <a:latin typeface="Calibri"/>
              </a:defRPr>
            </a:pPr>
            <a:r>
              <a:t>This requires specific factual knowledge about a company that is NOT in any mode</a:t>
            </a:r>
          </a:p>
        </p:txBody>
      </p:sp>
      <p:sp>
        <p:nvSpPr>
          <p:cNvPr id="9" name="Rectangle 8"/>
          <p:cNvSpPr/>
          <p:nvPr/>
        </p:nvSpPr>
        <p:spPr>
          <a:xfrm>
            <a:off x="4297680" y="2743200"/>
            <a:ext cx="3474720" cy="91440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"What drove the decline in investment banking revenue accordi..."</a:t>
            </a:r>
          </a:p>
          <a:p>
            <a:pPr>
              <a:defRPr sz="1200">
                <a:solidFill>
                  <a:srgbClr val="1C2A3A"/>
                </a:solidFill>
                <a:latin typeface="Calibri"/>
              </a:defRPr>
            </a:pPr>
            <a:r>
              <a:t>The answer is in a specific document (investment_banking_review.txt). A fine-tun</a:t>
            </a:r>
          </a:p>
        </p:txBody>
      </p:sp>
      <p:sp>
        <p:nvSpPr>
          <p:cNvPr id="10" name="TextBox 9"/>
          <p:cNvSpPr txBox="1"/>
          <p:nvPr/>
        </p:nvSpPr>
        <p:spPr>
          <a:xfrm>
            <a:off x="8138160" y="1188720"/>
            <a:ext cx="3657600" cy="365760"/>
          </a:xfrm>
          <a:prstGeom prst="rect">
            <a:avLst/>
          </a:prstGeom>
          <a:noFill/>
        </p:spPr>
        <p:txBody>
          <a:bodyPr wrap="square">
            <a:spAutoFit/>
          </a:bodyPr>
          <a:lstStyle/>
          <a:p>
            <a:pPr algn="l">
              <a:defRPr sz="1600" b="1">
                <a:solidFill>
                  <a:srgbClr val="BF5B04"/>
                </a:solidFill>
                <a:latin typeface="Calibri"/>
              </a:defRPr>
            </a:pPr>
            <a:r>
              <a:t>Hybrid Wins</a:t>
            </a:r>
          </a:p>
        </p:txBody>
      </p:sp>
      <p:sp>
        <p:nvSpPr>
          <p:cNvPr id="11" name="Rectangle 10"/>
          <p:cNvSpPr/>
          <p:nvPr/>
        </p:nvSpPr>
        <p:spPr>
          <a:xfrm>
            <a:off x="8138160" y="1645920"/>
            <a:ext cx="3474720" cy="914400"/>
          </a:xfrm>
          <a:prstGeom prst="rect">
            <a:avLst/>
          </a:prstGeom>
          <a:solidFill>
            <a:srgbClr val="FFF1C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"Based on the annual report data, calculate the year-over-yea..."</a:t>
            </a:r>
          </a:p>
          <a:p>
            <a:pPr>
              <a:defRPr sz="1200">
                <a:solidFill>
                  <a:srgbClr val="1C2A3A"/>
                </a:solidFill>
                <a:latin typeface="Calibri"/>
              </a:defRPr>
            </a:pPr>
            <a:r>
              <a:t>This needs BOTH retrieval (to get the actual efficiency ratio numbers from the d</a:t>
            </a:r>
          </a:p>
        </p:txBody>
      </p:sp>
      <p:sp>
        <p:nvSpPr>
          <p:cNvPr id="12" name="TextBox 11"/>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56/55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Summary: All Experiments at a Glance</a:t>
            </a:r>
          </a:p>
        </p:txBody>
      </p:sp>
      <p:graphicFrame>
        <p:nvGraphicFramePr>
          <p:cNvPr id="3" name="Table 2"/>
          <p:cNvGraphicFramePr>
            <a:graphicFrameLocks noGrp="1"/>
          </p:cNvGraphicFramePr>
          <p:nvPr/>
        </p:nvGraphicFramePr>
        <p:xfrm>
          <a:off x="457200" y="1371600"/>
          <a:ext cx="11247120" cy="228600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6571">
                <a:tc>
                  <a:txBody>
                    <a:bodyPr/>
                    <a:lstStyle/>
                    <a:p>
                      <a:pPr algn="ctr">
                        <a:defRPr sz="1200" b="1">
                          <a:solidFill>
                            <a:srgbClr val="FFFFFF"/>
                          </a:solidFill>
                          <a:latin typeface="Calibri"/>
                        </a:defRPr>
                      </a:pPr>
                      <a:r>
                        <a:t>Experiment</a:t>
                      </a:r>
                    </a:p>
                  </a:txBody>
                  <a:tcPr>
                    <a:solidFill>
                      <a:srgbClr val="2E86C1"/>
                    </a:solidFill>
                  </a:tcPr>
                </a:tc>
                <a:tc>
                  <a:txBody>
                    <a:bodyPr/>
                    <a:lstStyle/>
                    <a:p>
                      <a:pPr algn="ctr">
                        <a:defRPr sz="1200" b="1">
                          <a:solidFill>
                            <a:srgbClr val="FFFFFF"/>
                          </a:solidFill>
                          <a:latin typeface="Calibri"/>
                        </a:defRPr>
                      </a:pPr>
                      <a:r>
                        <a:t>Base</a:t>
                      </a:r>
                    </a:p>
                  </a:txBody>
                  <a:tcPr>
                    <a:solidFill>
                      <a:srgbClr val="2E86C1"/>
                    </a:solidFill>
                  </a:tcPr>
                </a:tc>
                <a:tc>
                  <a:txBody>
                    <a:bodyPr/>
                    <a:lstStyle/>
                    <a:p>
                      <a:pPr algn="ctr">
                        <a:defRPr sz="1200" b="1">
                          <a:solidFill>
                            <a:srgbClr val="FFFFFF"/>
                          </a:solidFill>
                          <a:latin typeface="Calibri"/>
                        </a:defRPr>
                      </a:pPr>
                      <a:r>
                        <a:t>Fine-Tuned</a:t>
                      </a:r>
                    </a:p>
                  </a:txBody>
                  <a:tcPr>
                    <a:solidFill>
                      <a:srgbClr val="2E86C1"/>
                    </a:solidFill>
                  </a:tcPr>
                </a:tc>
                <a:tc>
                  <a:txBody>
                    <a:bodyPr/>
                    <a:lstStyle/>
                    <a:p>
                      <a:pPr algn="ctr">
                        <a:defRPr sz="1200" b="1">
                          <a:solidFill>
                            <a:srgbClr val="FFFFFF"/>
                          </a:solidFill>
                          <a:latin typeface="Calibri"/>
                        </a:defRPr>
                      </a:pPr>
                      <a:r>
                        <a:t>RAG</a:t>
                      </a:r>
                    </a:p>
                  </a:txBody>
                  <a:tcPr>
                    <a:solidFill>
                      <a:srgbClr val="2E86C1"/>
                    </a:solidFill>
                  </a:tcPr>
                </a:tc>
                <a:tc>
                  <a:txBody>
                    <a:bodyPr/>
                    <a:lstStyle/>
                    <a:p>
                      <a:pPr algn="ctr">
                        <a:defRPr sz="1200" b="1">
                          <a:solidFill>
                            <a:srgbClr val="FFFFFF"/>
                          </a:solidFill>
                          <a:latin typeface="Calibri"/>
                        </a:defRPr>
                      </a:pPr>
                      <a:r>
                        <a:t>Hybrid</a:t>
                      </a:r>
                    </a:p>
                  </a:txBody>
                  <a:tcPr>
                    <a:solidFill>
                      <a:srgbClr val="2E86C1"/>
                    </a:solidFill>
                  </a:tcPr>
                </a:tc>
                <a:tc>
                  <a:txBody>
                    <a:bodyPr/>
                    <a:lstStyle/>
                    <a:p>
                      <a:pPr algn="ctr">
                        <a:defRPr sz="1200" b="1">
                          <a:solidFill>
                            <a:srgbClr val="FFFFFF"/>
                          </a:solidFill>
                          <a:latin typeface="Calibri"/>
                        </a:defRPr>
                      </a:pPr>
                      <a:r>
                        <a:t>Winner</a:t>
                      </a:r>
                    </a:p>
                  </a:txBody>
                  <a:tcPr>
                    <a:solidFill>
                      <a:srgbClr val="2E86C1"/>
                    </a:solidFill>
                  </a:tcPr>
                </a:tc>
              </a:tr>
              <a:tr h="326571">
                <a:tc>
                  <a:txBody>
                    <a:bodyPr/>
                    <a:lstStyle/>
                    <a:p>
                      <a:pPr>
                        <a:defRPr sz="1100">
                          <a:solidFill>
                            <a:srgbClr val="1C2A3A"/>
                          </a:solidFill>
                          <a:latin typeface="Calibri"/>
                        </a:defRPr>
                      </a:pPr>
                      <a:r>
                        <a:t>Sentiment (BERT 110M)</a:t>
                      </a:r>
                    </a:p>
                  </a:txBody>
                  <a:tcPr>
                    <a:solidFill>
                      <a:srgbClr val="E0E3E8"/>
                    </a:solidFill>
                  </a:tcPr>
                </a:tc>
                <a:tc>
                  <a:txBody>
                    <a:bodyPr/>
                    <a:lstStyle/>
                    <a:p>
                      <a:pPr>
                        <a:defRPr sz="1100">
                          <a:solidFill>
                            <a:srgbClr val="1C2A3A"/>
                          </a:solidFill>
                          <a:latin typeface="Calibri"/>
                        </a:defRPr>
                      </a:pPr>
                      <a:r>
                        <a:t>45.0%</a:t>
                      </a:r>
                    </a:p>
                  </a:txBody>
                  <a:tcPr>
                    <a:solidFill>
                      <a:srgbClr val="E0E3E8"/>
                    </a:solidFill>
                  </a:tcPr>
                </a:tc>
                <a:tc>
                  <a:txBody>
                    <a:bodyPr/>
                    <a:lstStyle/>
                    <a:p>
                      <a:pPr>
                        <a:defRPr sz="1100">
                          <a:solidFill>
                            <a:srgbClr val="1C2A3A"/>
                          </a:solidFill>
                          <a:latin typeface="Calibri"/>
                        </a:defRPr>
                      </a:pPr>
                      <a:r>
                        <a:t>70.0%</a:t>
                      </a:r>
                    </a:p>
                  </a:txBody>
                  <a:tcPr>
                    <a:solidFill>
                      <a:srgbClr val="E0E3E8"/>
                    </a:solidFill>
                  </a:tcPr>
                </a:tc>
                <a:tc>
                  <a:txBody>
                    <a:bodyPr/>
                    <a:lstStyle/>
                    <a:p>
                      <a:pPr>
                        <a:defRPr sz="1100">
                          <a:solidFill>
                            <a:srgbClr val="1C2A3A"/>
                          </a:solidFill>
                          <a:latin typeface="Calibri"/>
                        </a:defRPr>
                      </a:pPr>
                      <a:r>
                        <a:t>65.0%</a:t>
                      </a:r>
                    </a:p>
                  </a:txBody>
                  <a:tcPr>
                    <a:solidFill>
                      <a:srgbClr val="E0E3E8"/>
                    </a:solidFill>
                  </a:tcPr>
                </a:tc>
                <a:tc>
                  <a:txBody>
                    <a:bodyPr/>
                    <a:lstStyle/>
                    <a:p>
                      <a:pPr>
                        <a:defRPr sz="1100">
                          <a:solidFill>
                            <a:srgbClr val="1C2A3A"/>
                          </a:solidFill>
                          <a:latin typeface="Calibri"/>
                        </a:defRPr>
                      </a:pPr>
                      <a:r>
                        <a:t>70.0%</a:t>
                      </a:r>
                    </a:p>
                  </a:txBody>
                  <a:tcPr>
                    <a:solidFill>
                      <a:srgbClr val="E0E3E8"/>
                    </a:solidFill>
                  </a:tcPr>
                </a:tc>
                <a:tc>
                  <a:txBody>
                    <a:bodyPr/>
                    <a:lstStyle/>
                    <a:p>
                      <a:pPr>
                        <a:defRPr sz="1100">
                          <a:solidFill>
                            <a:srgbClr val="1C2A3A"/>
                          </a:solidFill>
                          <a:latin typeface="Calibri"/>
                        </a:defRPr>
                      </a:pPr>
                      <a:r>
                        <a:t>FinBERT (fine-tuned)</a:t>
                      </a:r>
                    </a:p>
                  </a:txBody>
                  <a:tcPr>
                    <a:solidFill>
                      <a:srgbClr val="E0E3E8"/>
                    </a:solidFill>
                  </a:tcPr>
                </a:tc>
              </a:tr>
              <a:tr h="326571">
                <a:tc>
                  <a:txBody>
                    <a:bodyPr/>
                    <a:lstStyle/>
                    <a:p>
                      <a:pPr>
                        <a:defRPr sz="1100">
                          <a:solidFill>
                            <a:srgbClr val="1C2A3A"/>
                          </a:solidFill>
                          <a:latin typeface="Calibri"/>
                        </a:defRPr>
                      </a:pPr>
                      <a:r>
                        <a:t>Numerical (Llama2 7B)</a:t>
                      </a:r>
                    </a:p>
                  </a:txBody>
                  <a:tcPr/>
                </a:tc>
                <a:tc>
                  <a:txBody>
                    <a:bodyPr/>
                    <a:lstStyle/>
                    <a:p>
                      <a:pPr>
                        <a:defRPr sz="1100">
                          <a:solidFill>
                            <a:srgbClr val="1C2A3A"/>
                          </a:solidFill>
                          <a:latin typeface="Calibri"/>
                        </a:defRPr>
                      </a:pPr>
                      <a:r>
                        <a:t>20.0%</a:t>
                      </a:r>
                    </a:p>
                  </a:txBody>
                  <a:tcPr/>
                </a:tc>
                <a:tc>
                  <a:txBody>
                    <a:bodyPr/>
                    <a:lstStyle/>
                    <a:p>
                      <a:pPr>
                        <a:defRPr sz="1100">
                          <a:solidFill>
                            <a:srgbClr val="1C2A3A"/>
                          </a:solidFill>
                          <a:latin typeface="Calibri"/>
                        </a:defRPr>
                      </a:pPr>
                      <a:r>
                        <a:t>20.0%</a:t>
                      </a:r>
                    </a:p>
                  </a:txBody>
                  <a:tcPr/>
                </a:tc>
                <a:tc>
                  <a:txBody>
                    <a:bodyPr/>
                    <a:lstStyle/>
                    <a:p>
                      <a:pPr>
                        <a:defRPr sz="1100">
                          <a:solidFill>
                            <a:srgbClr val="1C2A3A"/>
                          </a:solidFill>
                          <a:latin typeface="Calibri"/>
                        </a:defRPr>
                      </a:pPr>
                      <a:r>
                        <a:t>20.0%</a:t>
                      </a:r>
                    </a:p>
                  </a:txBody>
                  <a:tcPr/>
                </a:tc>
                <a:tc>
                  <a:txBody>
                    <a:bodyPr/>
                    <a:lstStyle/>
                    <a:p>
                      <a:pPr>
                        <a:defRPr sz="1100">
                          <a:solidFill>
                            <a:srgbClr val="1C2A3A"/>
                          </a:solidFill>
                          <a:latin typeface="Calibri"/>
                        </a:defRPr>
                      </a:pPr>
                      <a:r>
                        <a:t>20.0%</a:t>
                      </a:r>
                    </a:p>
                  </a:txBody>
                  <a:tcPr/>
                </a:tc>
                <a:tc>
                  <a:txBody>
                    <a:bodyPr/>
                    <a:lstStyle/>
                    <a:p>
                      <a:pPr>
                        <a:defRPr sz="1100">
                          <a:solidFill>
                            <a:srgbClr val="1C2A3A"/>
                          </a:solidFill>
                          <a:latin typeface="Calibri"/>
                        </a:defRPr>
                      </a:pPr>
                      <a:r>
                        <a:t>Base Llama2-7B</a:t>
                      </a:r>
                    </a:p>
                  </a:txBody>
                  <a:tcPr/>
                </a:tc>
              </a:tr>
              <a:tr h="326571">
                <a:tc>
                  <a:txBody>
                    <a:bodyPr/>
                    <a:lstStyle/>
                    <a:p>
                      <a:pPr>
                        <a:defRPr sz="1100">
                          <a:solidFill>
                            <a:srgbClr val="1C2A3A"/>
                          </a:solidFill>
                          <a:latin typeface="Calibri"/>
                        </a:defRPr>
                      </a:pPr>
                      <a:r>
                        <a:t>Financial Ratios (Llama2 7B)</a:t>
                      </a:r>
                    </a:p>
                  </a:txBody>
                  <a:tcPr>
                    <a:solidFill>
                      <a:srgbClr val="E0E3E8"/>
                    </a:solidFill>
                  </a:tcPr>
                </a:tc>
                <a:tc>
                  <a:txBody>
                    <a:bodyPr/>
                    <a:lstStyle/>
                    <a:p>
                      <a:pPr>
                        <a:defRPr sz="1100">
                          <a:solidFill>
                            <a:srgbClr val="1C2A3A"/>
                          </a:solidFill>
                          <a:latin typeface="Calibri"/>
                        </a:defRPr>
                      </a:pPr>
                      <a:r>
                        <a:t>25.0%</a:t>
                      </a:r>
                    </a:p>
                  </a:txBody>
                  <a:tcPr>
                    <a:solidFill>
                      <a:srgbClr val="E0E3E8"/>
                    </a:solidFill>
                  </a:tcPr>
                </a:tc>
                <a:tc>
                  <a:txBody>
                    <a:bodyPr/>
                    <a:lstStyle/>
                    <a:p>
                      <a:pPr>
                        <a:defRPr sz="1100">
                          <a:solidFill>
                            <a:srgbClr val="1C2A3A"/>
                          </a:solidFill>
                          <a:latin typeface="Calibri"/>
                        </a:defRPr>
                      </a:pPr>
                      <a:r>
                        <a:t>37.5%</a:t>
                      </a:r>
                    </a:p>
                  </a:txBody>
                  <a:tcPr>
                    <a:solidFill>
                      <a:srgbClr val="E0E3E8"/>
                    </a:solidFill>
                  </a:tcPr>
                </a:tc>
                <a:tc>
                  <a:txBody>
                    <a:bodyPr/>
                    <a:lstStyle/>
                    <a:p>
                      <a:pPr>
                        <a:defRPr sz="1100">
                          <a:solidFill>
                            <a:srgbClr val="1C2A3A"/>
                          </a:solidFill>
                          <a:latin typeface="Calibri"/>
                        </a:defRPr>
                      </a:pPr>
                      <a:r>
                        <a:t>12.5%</a:t>
                      </a:r>
                    </a:p>
                  </a:txBody>
                  <a:tcPr>
                    <a:solidFill>
                      <a:srgbClr val="E0E3E8"/>
                    </a:solidFill>
                  </a:tcPr>
                </a:tc>
                <a:tc>
                  <a:txBody>
                    <a:bodyPr/>
                    <a:lstStyle/>
                    <a:p>
                      <a:pPr>
                        <a:defRPr sz="1100">
                          <a:solidFill>
                            <a:srgbClr val="1C2A3A"/>
                          </a:solidFill>
                          <a:latin typeface="Calibri"/>
                        </a:defRPr>
                      </a:pPr>
                      <a:r>
                        <a:t>25.0%</a:t>
                      </a:r>
                    </a:p>
                  </a:txBody>
                  <a:tcPr>
                    <a:solidFill>
                      <a:srgbClr val="E0E3E8"/>
                    </a:solidFill>
                  </a:tcPr>
                </a:tc>
                <a:tc>
                  <a:txBody>
                    <a:bodyPr/>
                    <a:lstStyle/>
                    <a:p>
                      <a:pPr>
                        <a:defRPr sz="1100">
                          <a:solidFill>
                            <a:srgbClr val="1C2A3A"/>
                          </a:solidFill>
                          <a:latin typeface="Calibri"/>
                        </a:defRPr>
                      </a:pPr>
                      <a:r>
                        <a:t>FinQA-7B (fine-tuned)</a:t>
                      </a:r>
                    </a:p>
                  </a:txBody>
                  <a:tcPr>
                    <a:solidFill>
                      <a:srgbClr val="E0E3E8"/>
                    </a:solidFill>
                  </a:tcPr>
                </a:tc>
              </a:tr>
              <a:tr h="326571">
                <a:tc>
                  <a:txBody>
                    <a:bodyPr/>
                    <a:lstStyle/>
                    <a:p>
                      <a:pPr>
                        <a:defRPr sz="1100">
                          <a:solidFill>
                            <a:srgbClr val="1C2A3A"/>
                          </a:solidFill>
                          <a:latin typeface="Calibri"/>
                        </a:defRPr>
                      </a:pPr>
                      <a:r>
                        <a:t>Spam Detection (DistilBERT 66M)</a:t>
                      </a:r>
                    </a:p>
                  </a:txBody>
                  <a:tcPr/>
                </a:tc>
                <a:tc>
                  <a:txBody>
                    <a:bodyPr/>
                    <a:lstStyle/>
                    <a:p>
                      <a:pPr>
                        <a:defRPr sz="1100">
                          <a:solidFill>
                            <a:srgbClr val="1C2A3A"/>
                          </a:solidFill>
                          <a:latin typeface="Calibri"/>
                        </a:defRPr>
                      </a:pPr>
                      <a:r>
                        <a:t>85.0%</a:t>
                      </a:r>
                    </a:p>
                  </a:txBody>
                  <a:tcPr/>
                </a:tc>
                <a:tc>
                  <a:txBody>
                    <a:bodyPr/>
                    <a:lstStyle/>
                    <a:p>
                      <a:pPr>
                        <a:defRPr sz="1100">
                          <a:solidFill>
                            <a:srgbClr val="1C2A3A"/>
                          </a:solidFill>
                          <a:latin typeface="Calibri"/>
                        </a:defRPr>
                      </a:pPr>
                      <a:r>
                        <a:t>95.0%</a:t>
                      </a:r>
                    </a:p>
                  </a:txBody>
                  <a:tcPr/>
                </a:tc>
                <a:tc>
                  <a:txBody>
                    <a:bodyPr/>
                    <a:lstStyle/>
                    <a:p>
                      <a:pPr>
                        <a:defRPr sz="1100">
                          <a:solidFill>
                            <a:srgbClr val="1C2A3A"/>
                          </a:solidFill>
                          <a:latin typeface="Calibri"/>
                        </a:defRPr>
                      </a:pPr>
                      <a:r>
                        <a:t>90.0%</a:t>
                      </a:r>
                    </a:p>
                  </a:txBody>
                  <a:tcPr/>
                </a:tc>
                <a:tc>
                  <a:txBody>
                    <a:bodyPr/>
                    <a:lstStyle/>
                    <a:p>
                      <a:pPr>
                        <a:defRPr sz="1100">
                          <a:solidFill>
                            <a:srgbClr val="1C2A3A"/>
                          </a:solidFill>
                          <a:latin typeface="Calibri"/>
                        </a:defRPr>
                      </a:pPr>
                      <a:r>
                        <a:t>95.0%</a:t>
                      </a:r>
                    </a:p>
                  </a:txBody>
                  <a:tcPr/>
                </a:tc>
                <a:tc>
                  <a:txBody>
                    <a:bodyPr/>
                    <a:lstStyle/>
                    <a:p>
                      <a:pPr>
                        <a:defRPr sz="1100">
                          <a:solidFill>
                            <a:srgbClr val="1C2A3A"/>
                          </a:solidFill>
                          <a:latin typeface="Calibri"/>
                        </a:defRPr>
                      </a:pPr>
                      <a:r>
                        <a:t>Fine-tuned (spam-trained)</a:t>
                      </a:r>
                    </a:p>
                  </a:txBody>
                  <a:tcPr/>
                </a:tc>
              </a:tr>
              <a:tr h="326571">
                <a:tc>
                  <a:txBody>
                    <a:bodyPr/>
                    <a:lstStyle/>
                    <a:p>
                      <a:pPr>
                        <a:defRPr sz="1100">
                          <a:solidFill>
                            <a:srgbClr val="1C2A3A"/>
                          </a:solidFill>
                          <a:latin typeface="Calibri"/>
                        </a:defRPr>
                      </a:pPr>
                      <a:r>
                        <a:t>Model Size (Basic)</a:t>
                      </a:r>
                    </a:p>
                  </a:txBody>
                  <a:tcPr>
                    <a:solidFill>
                      <a:srgbClr val="E0E3E8"/>
                    </a:solidFill>
                  </a:tcPr>
                </a:tc>
                <a:tc>
                  <a:txBody>
                    <a:bodyPr/>
                    <a:lstStyle/>
                    <a:p>
                      <a:pPr>
                        <a:defRPr sz="1100">
                          <a:solidFill>
                            <a:srgbClr val="1C2A3A"/>
                          </a:solidFill>
                          <a:latin typeface="Calibri"/>
                        </a:defRPr>
                      </a:pPr>
                      <a:r>
                        <a:t>95.0% (66M)</a:t>
                      </a:r>
                    </a:p>
                  </a:txBody>
                  <a:tcPr>
                    <a:solidFill>
                      <a:srgbClr val="E0E3E8"/>
                    </a:solidFill>
                  </a:tcPr>
                </a:tc>
                <a:tc>
                  <a:txBody>
                    <a:bodyPr/>
                    <a:lstStyle/>
                    <a:p>
                      <a:pPr>
                        <a:defRPr sz="1100">
                          <a:solidFill>
                            <a:srgbClr val="1C2A3A"/>
                          </a:solidFill>
                          <a:latin typeface="Calibri"/>
                        </a:defRPr>
                      </a:pPr>
                      <a:r>
                        <a:t>100.0% (~8B)</a:t>
                      </a:r>
                    </a:p>
                  </a:txBody>
                  <a:tcPr>
                    <a:solidFill>
                      <a:srgbClr val="E0E3E8"/>
                    </a:solidFill>
                  </a:tcPr>
                </a:tc>
                <a:tc>
                  <a:txBody>
                    <a:bodyPr/>
                    <a:lstStyle/>
                    <a:p>
                      <a:pPr>
                        <a:defRPr sz="1100">
                          <a:solidFill>
                            <a:srgbClr val="1C2A3A"/>
                          </a:solidFill>
                          <a:latin typeface="Calibri"/>
                        </a:defRPr>
                      </a:pPr>
                      <a:r>
                        <a:t>N/A</a:t>
                      </a:r>
                    </a:p>
                  </a:txBody>
                  <a:tcPr>
                    <a:solidFill>
                      <a:srgbClr val="E0E3E8"/>
                    </a:solidFill>
                  </a:tcPr>
                </a:tc>
                <a:tc>
                  <a:txBody>
                    <a:bodyPr/>
                    <a:lstStyle/>
                    <a:p>
                      <a:pPr>
                        <a:defRPr sz="1100">
                          <a:solidFill>
                            <a:srgbClr val="1C2A3A"/>
                          </a:solidFill>
                          <a:latin typeface="Calibri"/>
                        </a:defRPr>
                      </a:pPr>
                      <a:r>
                        <a:t>N/A</a:t>
                      </a:r>
                    </a:p>
                  </a:txBody>
                  <a:tcPr>
                    <a:solidFill>
                      <a:srgbClr val="E0E3E8"/>
                    </a:solidFill>
                  </a:tcPr>
                </a:tc>
                <a:tc>
                  <a:txBody>
                    <a:bodyPr/>
                    <a:lstStyle/>
                    <a:p>
                      <a:pPr>
                        <a:defRPr sz="1100">
                          <a:solidFill>
                            <a:srgbClr val="1C2A3A"/>
                          </a:solidFill>
                          <a:latin typeface="Calibri"/>
                        </a:defRPr>
                      </a:pPr>
                      <a:r>
                        <a:t>GPT-4o-mini</a:t>
                      </a:r>
                    </a:p>
                  </a:txBody>
                  <a:tcPr>
                    <a:solidFill>
                      <a:srgbClr val="E0E3E8"/>
                    </a:solidFill>
                  </a:tcPr>
                </a:tc>
              </a:tr>
              <a:tr h="326574">
                <a:tc>
                  <a:txBody>
                    <a:bodyPr/>
                    <a:lstStyle/>
                    <a:p>
                      <a:pPr>
                        <a:defRPr sz="1100">
                          <a:solidFill>
                            <a:srgbClr val="1C2A3A"/>
                          </a:solidFill>
                          <a:latin typeface="Calibri"/>
                        </a:defRPr>
                      </a:pPr>
                      <a:r>
                        <a:t>Model Size (Adversarial)</a:t>
                      </a:r>
                    </a:p>
                  </a:txBody>
                  <a:tcPr/>
                </a:tc>
                <a:tc>
                  <a:txBody>
                    <a:bodyPr/>
                    <a:lstStyle/>
                    <a:p>
                      <a:pPr>
                        <a:defRPr sz="1100">
                          <a:solidFill>
                            <a:srgbClr val="1C2A3A"/>
                          </a:solidFill>
                          <a:latin typeface="Calibri"/>
                        </a:defRPr>
                      </a:pPr>
                      <a:r>
                        <a:t>60.0% (66M)</a:t>
                      </a:r>
                    </a:p>
                  </a:txBody>
                  <a:tcPr/>
                </a:tc>
                <a:tc>
                  <a:txBody>
                    <a:bodyPr/>
                    <a:lstStyle/>
                    <a:p>
                      <a:pPr>
                        <a:defRPr sz="1100">
                          <a:solidFill>
                            <a:srgbClr val="1C2A3A"/>
                          </a:solidFill>
                          <a:latin typeface="Calibri"/>
                        </a:defRPr>
                      </a:pPr>
                      <a:r>
                        <a:t>63.3% (~8B)</a:t>
                      </a:r>
                    </a:p>
                  </a:txBody>
                  <a:tcPr/>
                </a:tc>
                <a:tc>
                  <a:txBody>
                    <a:bodyPr/>
                    <a:lstStyle/>
                    <a:p>
                      <a:pPr>
                        <a:defRPr sz="1100">
                          <a:solidFill>
                            <a:srgbClr val="1C2A3A"/>
                          </a:solidFill>
                          <a:latin typeface="Calibri"/>
                        </a:defRPr>
                      </a:pPr>
                      <a:r>
                        <a:t>N/A</a:t>
                      </a:r>
                    </a:p>
                  </a:txBody>
                  <a:tcPr/>
                </a:tc>
                <a:tc>
                  <a:txBody>
                    <a:bodyPr/>
                    <a:lstStyle/>
                    <a:p>
                      <a:pPr>
                        <a:defRPr sz="1100">
                          <a:solidFill>
                            <a:srgbClr val="1C2A3A"/>
                          </a:solidFill>
                          <a:latin typeface="Calibri"/>
                        </a:defRPr>
                      </a:pPr>
                      <a:r>
                        <a:t>N/A</a:t>
                      </a:r>
                    </a:p>
                  </a:txBody>
                  <a:tcPr/>
                </a:tc>
                <a:tc>
                  <a:txBody>
                    <a:bodyPr/>
                    <a:lstStyle/>
                    <a:p>
                      <a:pPr>
                        <a:defRPr sz="1100">
                          <a:solidFill>
                            <a:srgbClr val="1C2A3A"/>
                          </a:solidFill>
                          <a:latin typeface="Calibri"/>
                        </a:defRPr>
                      </a:pPr>
                      <a:r>
                        <a:t>GPT-4o-mini</a:t>
                      </a:r>
                    </a:p>
                  </a:txBody>
                  <a:tcPr/>
                </a:tc>
              </a:tr>
            </a:tbl>
          </a:graphicData>
        </a:graphic>
      </p:graphicFrame>
      <p:graphicFrame>
        <p:nvGraphicFramePr>
          <p:cNvPr id="4" name="Table 3"/>
          <p:cNvGraphicFramePr>
            <a:graphicFrameLocks noGrp="1"/>
          </p:cNvGraphicFramePr>
          <p:nvPr/>
        </p:nvGraphicFramePr>
        <p:xfrm>
          <a:off x="457200" y="3840480"/>
          <a:ext cx="11247120" cy="1828800"/>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203200">
                <a:tc>
                  <a:txBody>
                    <a:bodyPr/>
                    <a:lstStyle/>
                    <a:p>
                      <a:pPr algn="ctr">
                        <a:defRPr sz="1200" b="1">
                          <a:solidFill>
                            <a:srgbClr val="FFFFFF"/>
                          </a:solidFill>
                          <a:latin typeface="Calibri"/>
                        </a:defRPr>
                      </a:pPr>
                      <a:r>
                        <a:t>Experiment</a:t>
                      </a:r>
                    </a:p>
                  </a:txBody>
                  <a:tcPr>
                    <a:solidFill>
                      <a:srgbClr val="2E86C1"/>
                    </a:solidFill>
                  </a:tcPr>
                </a:tc>
                <a:tc>
                  <a:txBody>
                    <a:bodyPr/>
                    <a:lstStyle/>
                    <a:p>
                      <a:pPr algn="ctr">
                        <a:defRPr sz="1200" b="1">
                          <a:solidFill>
                            <a:srgbClr val="FFFFFF"/>
                          </a:solidFill>
                          <a:latin typeface="Calibri"/>
                        </a:defRPr>
                      </a:pPr>
                      <a:r>
                        <a:t>Base</a:t>
                      </a:r>
                    </a:p>
                  </a:txBody>
                  <a:tcPr>
                    <a:solidFill>
                      <a:srgbClr val="2E86C1"/>
                    </a:solidFill>
                  </a:tcPr>
                </a:tc>
                <a:tc>
                  <a:txBody>
                    <a:bodyPr/>
                    <a:lstStyle/>
                    <a:p>
                      <a:pPr algn="ctr">
                        <a:defRPr sz="1200" b="1">
                          <a:solidFill>
                            <a:srgbClr val="FFFFFF"/>
                          </a:solidFill>
                          <a:latin typeface="Calibri"/>
                        </a:defRPr>
                      </a:pPr>
                      <a:r>
                        <a:t>Fine-Tuned</a:t>
                      </a:r>
                    </a:p>
                  </a:txBody>
                  <a:tcPr>
                    <a:solidFill>
                      <a:srgbClr val="2E86C1"/>
                    </a:solidFill>
                  </a:tcPr>
                </a:tc>
                <a:tc>
                  <a:txBody>
                    <a:bodyPr/>
                    <a:lstStyle/>
                    <a:p>
                      <a:pPr algn="ctr">
                        <a:defRPr sz="1200" b="1">
                          <a:solidFill>
                            <a:srgbClr val="FFFFFF"/>
                          </a:solidFill>
                          <a:latin typeface="Calibri"/>
                        </a:defRPr>
                      </a:pPr>
                      <a:r>
                        <a:t>RAG</a:t>
                      </a:r>
                    </a:p>
                  </a:txBody>
                  <a:tcPr>
                    <a:solidFill>
                      <a:srgbClr val="2E86C1"/>
                    </a:solidFill>
                  </a:tcPr>
                </a:tc>
                <a:tc>
                  <a:txBody>
                    <a:bodyPr/>
                    <a:lstStyle/>
                    <a:p>
                      <a:pPr algn="ctr">
                        <a:defRPr sz="1200" b="1">
                          <a:solidFill>
                            <a:srgbClr val="FFFFFF"/>
                          </a:solidFill>
                          <a:latin typeface="Calibri"/>
                        </a:defRPr>
                      </a:pPr>
                      <a:r>
                        <a:t>Hybrid</a:t>
                      </a:r>
                    </a:p>
                  </a:txBody>
                  <a:tcPr>
                    <a:solidFill>
                      <a:srgbClr val="2E86C1"/>
                    </a:solidFill>
                  </a:tcPr>
                </a:tc>
              </a:tr>
              <a:tr h="203200">
                <a:tc>
                  <a:txBody>
                    <a:bodyPr/>
                    <a:lstStyle/>
                    <a:p>
                      <a:pPr>
                        <a:defRPr sz="1100">
                          <a:solidFill>
                            <a:srgbClr val="1C2A3A"/>
                          </a:solidFill>
                          <a:latin typeface="Calibri"/>
                        </a:defRPr>
                      </a:pPr>
                      <a:r>
                        <a:t>Sentiment - Tokens/Query</a:t>
                      </a:r>
                    </a:p>
                  </a:txBody>
                  <a:tcPr>
                    <a:solidFill>
                      <a:srgbClr val="E0E3E8"/>
                    </a:solidFill>
                  </a:tcPr>
                </a:tc>
                <a:tc>
                  <a:txBody>
                    <a:bodyPr/>
                    <a:lstStyle/>
                    <a:p>
                      <a:pPr>
                        <a:defRPr sz="1100">
                          <a:solidFill>
                            <a:srgbClr val="1C2A3A"/>
                          </a:solidFill>
                          <a:latin typeface="Calibri"/>
                        </a:defRPr>
                      </a:pPr>
                      <a:r>
                        <a:t>16</a:t>
                      </a:r>
                    </a:p>
                  </a:txBody>
                  <a:tcPr>
                    <a:solidFill>
                      <a:srgbClr val="E0E3E8"/>
                    </a:solidFill>
                  </a:tcPr>
                </a:tc>
                <a:tc>
                  <a:txBody>
                    <a:bodyPr/>
                    <a:lstStyle/>
                    <a:p>
                      <a:pPr>
                        <a:defRPr sz="1100">
                          <a:solidFill>
                            <a:srgbClr val="1C2A3A"/>
                          </a:solidFill>
                          <a:latin typeface="Calibri"/>
                        </a:defRPr>
                      </a:pPr>
                      <a:r>
                        <a:t>16</a:t>
                      </a:r>
                    </a:p>
                  </a:txBody>
                  <a:tcPr>
                    <a:solidFill>
                      <a:srgbClr val="E0E3E8"/>
                    </a:solidFill>
                  </a:tcPr>
                </a:tc>
                <a:tc>
                  <a:txBody>
                    <a:bodyPr/>
                    <a:lstStyle/>
                    <a:p>
                      <a:pPr>
                        <a:defRPr sz="1100">
                          <a:solidFill>
                            <a:srgbClr val="1C2A3A"/>
                          </a:solidFill>
                          <a:latin typeface="Calibri"/>
                        </a:defRPr>
                      </a:pPr>
                      <a:r>
                        <a:t>76</a:t>
                      </a:r>
                    </a:p>
                  </a:txBody>
                  <a:tcPr>
                    <a:solidFill>
                      <a:srgbClr val="E0E3E8"/>
                    </a:solidFill>
                  </a:tcPr>
                </a:tc>
                <a:tc>
                  <a:txBody>
                    <a:bodyPr/>
                    <a:lstStyle/>
                    <a:p>
                      <a:pPr>
                        <a:defRPr sz="1100">
                          <a:solidFill>
                            <a:srgbClr val="1C2A3A"/>
                          </a:solidFill>
                          <a:latin typeface="Calibri"/>
                        </a:defRPr>
                      </a:pPr>
                      <a:r>
                        <a:t>92</a:t>
                      </a:r>
                    </a:p>
                  </a:txBody>
                  <a:tcPr>
                    <a:solidFill>
                      <a:srgbClr val="E0E3E8"/>
                    </a:solidFill>
                  </a:tcPr>
                </a:tc>
              </a:tr>
              <a:tr h="203200">
                <a:tc>
                  <a:txBody>
                    <a:bodyPr/>
                    <a:lstStyle/>
                    <a:p>
                      <a:pPr>
                        <a:defRPr sz="1100">
                          <a:solidFill>
                            <a:srgbClr val="1C2A3A"/>
                          </a:solidFill>
                          <a:latin typeface="Calibri"/>
                        </a:defRPr>
                      </a:pPr>
                      <a:r>
                        <a:t>Sentiment - Cost/1K Queries</a:t>
                      </a:r>
                    </a:p>
                  </a:txBody>
                  <a:tcPr/>
                </a:tc>
                <a:tc>
                  <a:txBody>
                    <a:bodyPr/>
                    <a:lstStyle/>
                    <a:p>
                      <a:pPr>
                        <a:defRPr sz="1100">
                          <a:solidFill>
                            <a:srgbClr val="1C2A3A"/>
                          </a:solidFill>
                          <a:latin typeface="Calibri"/>
                        </a:defRPr>
                      </a:pPr>
                      <a:r>
                        <a:t>$0.0002</a:t>
                      </a:r>
                    </a:p>
                  </a:txBody>
                  <a:tcPr/>
                </a:tc>
                <a:tc>
                  <a:txBody>
                    <a:bodyPr/>
                    <a:lstStyle/>
                    <a:p>
                      <a:pPr>
                        <a:defRPr sz="1100">
                          <a:solidFill>
                            <a:srgbClr val="1C2A3A"/>
                          </a:solidFill>
                          <a:latin typeface="Calibri"/>
                        </a:defRPr>
                      </a:pPr>
                      <a:r>
                        <a:t>$0.0002</a:t>
                      </a:r>
                    </a:p>
                  </a:txBody>
                  <a:tcPr/>
                </a:tc>
                <a:tc>
                  <a:txBody>
                    <a:bodyPr/>
                    <a:lstStyle/>
                    <a:p>
                      <a:pPr>
                        <a:defRPr sz="1100">
                          <a:solidFill>
                            <a:srgbClr val="1C2A3A"/>
                          </a:solidFill>
                          <a:latin typeface="Calibri"/>
                        </a:defRPr>
                      </a:pPr>
                      <a:r>
                        <a:t>$0.0008</a:t>
                      </a:r>
                    </a:p>
                  </a:txBody>
                  <a:tcPr/>
                </a:tc>
                <a:tc>
                  <a:txBody>
                    <a:bodyPr/>
                    <a:lstStyle/>
                    <a:p>
                      <a:pPr>
                        <a:defRPr sz="1100">
                          <a:solidFill>
                            <a:srgbClr val="1C2A3A"/>
                          </a:solidFill>
                          <a:latin typeface="Calibri"/>
                        </a:defRPr>
                      </a:pPr>
                      <a:r>
                        <a:t>$0.0009</a:t>
                      </a:r>
                    </a:p>
                  </a:txBody>
                  <a:tcPr/>
                </a:tc>
              </a:tr>
              <a:tr h="203200">
                <a:tc>
                  <a:txBody>
                    <a:bodyPr/>
                    <a:lstStyle/>
                    <a:p>
                      <a:pPr>
                        <a:defRPr sz="1100">
                          <a:solidFill>
                            <a:srgbClr val="1C2A3A"/>
                          </a:solidFill>
                          <a:latin typeface="Calibri"/>
                        </a:defRPr>
                      </a:pPr>
                      <a:r>
                        <a:t>Numerical - Tokens/Query</a:t>
                      </a:r>
                    </a:p>
                  </a:txBody>
                  <a:tcPr>
                    <a:solidFill>
                      <a:srgbClr val="E0E3E8"/>
                    </a:solidFill>
                  </a:tcPr>
                </a:tc>
                <a:tc>
                  <a:txBody>
                    <a:bodyPr/>
                    <a:lstStyle/>
                    <a:p>
                      <a:pPr>
                        <a:defRPr sz="1100">
                          <a:solidFill>
                            <a:srgbClr val="1C2A3A"/>
                          </a:solidFill>
                          <a:latin typeface="Calibri"/>
                        </a:defRPr>
                      </a:pPr>
                      <a:r>
                        <a:t>314</a:t>
                      </a:r>
                    </a:p>
                  </a:txBody>
                  <a:tcPr>
                    <a:solidFill>
                      <a:srgbClr val="E0E3E8"/>
                    </a:solidFill>
                  </a:tcPr>
                </a:tc>
                <a:tc>
                  <a:txBody>
                    <a:bodyPr/>
                    <a:lstStyle/>
                    <a:p>
                      <a:pPr>
                        <a:defRPr sz="1100">
                          <a:solidFill>
                            <a:srgbClr val="1C2A3A"/>
                          </a:solidFill>
                          <a:latin typeface="Calibri"/>
                        </a:defRPr>
                      </a:pPr>
                      <a:r>
                        <a:t>285</a:t>
                      </a:r>
                    </a:p>
                  </a:txBody>
                  <a:tcPr>
                    <a:solidFill>
                      <a:srgbClr val="E0E3E8"/>
                    </a:solidFill>
                  </a:tcPr>
                </a:tc>
                <a:tc>
                  <a:txBody>
                    <a:bodyPr/>
                    <a:lstStyle/>
                    <a:p>
                      <a:pPr>
                        <a:defRPr sz="1100">
                          <a:solidFill>
                            <a:srgbClr val="1C2A3A"/>
                          </a:solidFill>
                          <a:latin typeface="Calibri"/>
                        </a:defRPr>
                      </a:pPr>
                      <a:r>
                        <a:t>1,638</a:t>
                      </a:r>
                    </a:p>
                  </a:txBody>
                  <a:tcPr>
                    <a:solidFill>
                      <a:srgbClr val="E0E3E8"/>
                    </a:solidFill>
                  </a:tcPr>
                </a:tc>
                <a:tc>
                  <a:txBody>
                    <a:bodyPr/>
                    <a:lstStyle/>
                    <a:p>
                      <a:pPr>
                        <a:defRPr sz="1100">
                          <a:solidFill>
                            <a:srgbClr val="1C2A3A"/>
                          </a:solidFill>
                          <a:latin typeface="Calibri"/>
                        </a:defRPr>
                      </a:pPr>
                      <a:r>
                        <a:t>1,661</a:t>
                      </a:r>
                    </a:p>
                  </a:txBody>
                  <a:tcPr>
                    <a:solidFill>
                      <a:srgbClr val="E0E3E8"/>
                    </a:solidFill>
                  </a:tcPr>
                </a:tc>
              </a:tr>
              <a:tr h="203200">
                <a:tc>
                  <a:txBody>
                    <a:bodyPr/>
                    <a:lstStyle/>
                    <a:p>
                      <a:pPr>
                        <a:defRPr sz="1100">
                          <a:solidFill>
                            <a:srgbClr val="1C2A3A"/>
                          </a:solidFill>
                          <a:latin typeface="Calibri"/>
                        </a:defRPr>
                      </a:pPr>
                      <a:r>
                        <a:t>Numerical - Cost/1K Queries</a:t>
                      </a:r>
                    </a:p>
                  </a:txBody>
                  <a:tcPr/>
                </a:tc>
                <a:tc>
                  <a:txBody>
                    <a:bodyPr/>
                    <a:lstStyle/>
                    <a:p>
                      <a:pPr>
                        <a:defRPr sz="1100">
                          <a:solidFill>
                            <a:srgbClr val="1C2A3A"/>
                          </a:solidFill>
                          <a:latin typeface="Calibri"/>
                        </a:defRPr>
                      </a:pPr>
                      <a:r>
                        <a:t>$0.0628</a:t>
                      </a:r>
                    </a:p>
                  </a:txBody>
                  <a:tcPr/>
                </a:tc>
                <a:tc>
                  <a:txBody>
                    <a:bodyPr/>
                    <a:lstStyle/>
                    <a:p>
                      <a:pPr>
                        <a:defRPr sz="1100">
                          <a:solidFill>
                            <a:srgbClr val="1C2A3A"/>
                          </a:solidFill>
                          <a:latin typeface="Calibri"/>
                        </a:defRPr>
                      </a:pPr>
                      <a:r>
                        <a:t>$0.0569</a:t>
                      </a:r>
                    </a:p>
                  </a:txBody>
                  <a:tcPr/>
                </a:tc>
                <a:tc>
                  <a:txBody>
                    <a:bodyPr/>
                    <a:lstStyle/>
                    <a:p>
                      <a:pPr>
                        <a:defRPr sz="1100">
                          <a:solidFill>
                            <a:srgbClr val="1C2A3A"/>
                          </a:solidFill>
                          <a:latin typeface="Calibri"/>
                        </a:defRPr>
                      </a:pPr>
                      <a:r>
                        <a:t>$0.3277</a:t>
                      </a:r>
                    </a:p>
                  </a:txBody>
                  <a:tcPr/>
                </a:tc>
                <a:tc>
                  <a:txBody>
                    <a:bodyPr/>
                    <a:lstStyle/>
                    <a:p>
                      <a:pPr>
                        <a:defRPr sz="1100">
                          <a:solidFill>
                            <a:srgbClr val="1C2A3A"/>
                          </a:solidFill>
                          <a:latin typeface="Calibri"/>
                        </a:defRPr>
                      </a:pPr>
                      <a:r>
                        <a:t>$0.3323</a:t>
                      </a:r>
                    </a:p>
                  </a:txBody>
                  <a:tcPr/>
                </a:tc>
              </a:tr>
              <a:tr h="203200">
                <a:tc>
                  <a:txBody>
                    <a:bodyPr/>
                    <a:lstStyle/>
                    <a:p>
                      <a:pPr>
                        <a:defRPr sz="1100">
                          <a:solidFill>
                            <a:srgbClr val="1C2A3A"/>
                          </a:solidFill>
                          <a:latin typeface="Calibri"/>
                        </a:defRPr>
                      </a:pPr>
                      <a:r>
                        <a:t>Fin. Ratios - Tokens/Query</a:t>
                      </a:r>
                    </a:p>
                  </a:txBody>
                  <a:tcPr>
                    <a:solidFill>
                      <a:srgbClr val="E0E3E8"/>
                    </a:solidFill>
                  </a:tcPr>
                </a:tc>
                <a:tc>
                  <a:txBody>
                    <a:bodyPr/>
                    <a:lstStyle/>
                    <a:p>
                      <a:pPr>
                        <a:defRPr sz="1100">
                          <a:solidFill>
                            <a:srgbClr val="1C2A3A"/>
                          </a:solidFill>
                          <a:latin typeface="Calibri"/>
                        </a:defRPr>
                      </a:pPr>
                      <a:r>
                        <a:t>477</a:t>
                      </a:r>
                    </a:p>
                  </a:txBody>
                  <a:tcPr>
                    <a:solidFill>
                      <a:srgbClr val="E0E3E8"/>
                    </a:solidFill>
                  </a:tcPr>
                </a:tc>
                <a:tc>
                  <a:txBody>
                    <a:bodyPr/>
                    <a:lstStyle/>
                    <a:p>
                      <a:pPr>
                        <a:defRPr sz="1100">
                          <a:solidFill>
                            <a:srgbClr val="1C2A3A"/>
                          </a:solidFill>
                          <a:latin typeface="Calibri"/>
                        </a:defRPr>
                      </a:pPr>
                      <a:r>
                        <a:t>503</a:t>
                      </a:r>
                    </a:p>
                  </a:txBody>
                  <a:tcPr>
                    <a:solidFill>
                      <a:srgbClr val="E0E3E8"/>
                    </a:solidFill>
                  </a:tcPr>
                </a:tc>
                <a:tc>
                  <a:txBody>
                    <a:bodyPr/>
                    <a:lstStyle/>
                    <a:p>
                      <a:pPr>
                        <a:defRPr sz="1100">
                          <a:solidFill>
                            <a:srgbClr val="1C2A3A"/>
                          </a:solidFill>
                          <a:latin typeface="Calibri"/>
                        </a:defRPr>
                      </a:pPr>
                      <a:r>
                        <a:t>1,731</a:t>
                      </a:r>
                    </a:p>
                  </a:txBody>
                  <a:tcPr>
                    <a:solidFill>
                      <a:srgbClr val="E0E3E8"/>
                    </a:solidFill>
                  </a:tcPr>
                </a:tc>
                <a:tc>
                  <a:txBody>
                    <a:bodyPr/>
                    <a:lstStyle/>
                    <a:p>
                      <a:pPr>
                        <a:defRPr sz="1100">
                          <a:solidFill>
                            <a:srgbClr val="1C2A3A"/>
                          </a:solidFill>
                          <a:latin typeface="Calibri"/>
                        </a:defRPr>
                      </a:pPr>
                      <a:r>
                        <a:t>1,801</a:t>
                      </a:r>
                    </a:p>
                  </a:txBody>
                  <a:tcPr>
                    <a:solidFill>
                      <a:srgbClr val="E0E3E8"/>
                    </a:solidFill>
                  </a:tcPr>
                </a:tc>
              </a:tr>
              <a:tr h="203200">
                <a:tc>
                  <a:txBody>
                    <a:bodyPr/>
                    <a:lstStyle/>
                    <a:p>
                      <a:pPr>
                        <a:defRPr sz="1100">
                          <a:solidFill>
                            <a:srgbClr val="1C2A3A"/>
                          </a:solidFill>
                          <a:latin typeface="Calibri"/>
                        </a:defRPr>
                      </a:pPr>
                      <a:r>
                        <a:t>Fin. Ratios - Cost/1K Queries</a:t>
                      </a:r>
                    </a:p>
                  </a:txBody>
                  <a:tcPr/>
                </a:tc>
                <a:tc>
                  <a:txBody>
                    <a:bodyPr/>
                    <a:lstStyle/>
                    <a:p>
                      <a:pPr>
                        <a:defRPr sz="1100">
                          <a:solidFill>
                            <a:srgbClr val="1C2A3A"/>
                          </a:solidFill>
                          <a:latin typeface="Calibri"/>
                        </a:defRPr>
                      </a:pPr>
                      <a:r>
                        <a:t>$0.0954</a:t>
                      </a:r>
                    </a:p>
                  </a:txBody>
                  <a:tcPr/>
                </a:tc>
                <a:tc>
                  <a:txBody>
                    <a:bodyPr/>
                    <a:lstStyle/>
                    <a:p>
                      <a:pPr>
                        <a:defRPr sz="1100">
                          <a:solidFill>
                            <a:srgbClr val="1C2A3A"/>
                          </a:solidFill>
                          <a:latin typeface="Calibri"/>
                        </a:defRPr>
                      </a:pPr>
                      <a:r>
                        <a:t>$0.1005</a:t>
                      </a:r>
                    </a:p>
                  </a:txBody>
                  <a:tcPr/>
                </a:tc>
                <a:tc>
                  <a:txBody>
                    <a:bodyPr/>
                    <a:lstStyle/>
                    <a:p>
                      <a:pPr>
                        <a:defRPr sz="1100">
                          <a:solidFill>
                            <a:srgbClr val="1C2A3A"/>
                          </a:solidFill>
                          <a:latin typeface="Calibri"/>
                        </a:defRPr>
                      </a:pPr>
                      <a:r>
                        <a:t>$0.3462</a:t>
                      </a:r>
                    </a:p>
                  </a:txBody>
                  <a:tcPr/>
                </a:tc>
                <a:tc>
                  <a:txBody>
                    <a:bodyPr/>
                    <a:lstStyle/>
                    <a:p>
                      <a:pPr>
                        <a:defRPr sz="1100">
                          <a:solidFill>
                            <a:srgbClr val="1C2A3A"/>
                          </a:solidFill>
                          <a:latin typeface="Calibri"/>
                        </a:defRPr>
                      </a:pPr>
                      <a:r>
                        <a:t>$0.3602</a:t>
                      </a:r>
                    </a:p>
                  </a:txBody>
                  <a:tcPr/>
                </a:tc>
              </a:tr>
              <a:tr h="203200">
                <a:tc>
                  <a:txBody>
                    <a:bodyPr/>
                    <a:lstStyle/>
                    <a:p>
                      <a:pPr>
                        <a:defRPr sz="1100">
                          <a:solidFill>
                            <a:srgbClr val="1C2A3A"/>
                          </a:solidFill>
                          <a:latin typeface="Calibri"/>
                        </a:defRPr>
                      </a:pPr>
                      <a:r>
                        <a:t>Spam - Tokens/Query</a:t>
                      </a:r>
                    </a:p>
                  </a:txBody>
                  <a:tcPr>
                    <a:solidFill>
                      <a:srgbClr val="E0E3E8"/>
                    </a:solidFill>
                  </a:tcPr>
                </a:tc>
                <a:tc>
                  <a:txBody>
                    <a:bodyPr/>
                    <a:lstStyle/>
                    <a:p>
                      <a:pPr>
                        <a:defRPr sz="1100">
                          <a:solidFill>
                            <a:srgbClr val="1C2A3A"/>
                          </a:solidFill>
                          <a:latin typeface="Calibri"/>
                        </a:defRPr>
                      </a:pPr>
                      <a:r>
                        <a:t>39</a:t>
                      </a:r>
                    </a:p>
                  </a:txBody>
                  <a:tcPr>
                    <a:solidFill>
                      <a:srgbClr val="E0E3E8"/>
                    </a:solidFill>
                  </a:tcPr>
                </a:tc>
                <a:tc>
                  <a:txBody>
                    <a:bodyPr/>
                    <a:lstStyle/>
                    <a:p>
                      <a:pPr>
                        <a:defRPr sz="1100">
                          <a:solidFill>
                            <a:srgbClr val="1C2A3A"/>
                          </a:solidFill>
                          <a:latin typeface="Calibri"/>
                        </a:defRPr>
                      </a:pPr>
                      <a:r>
                        <a:t>512</a:t>
                      </a:r>
                    </a:p>
                  </a:txBody>
                  <a:tcPr>
                    <a:solidFill>
                      <a:srgbClr val="E0E3E8"/>
                    </a:solidFill>
                  </a:tcPr>
                </a:tc>
                <a:tc>
                  <a:txBody>
                    <a:bodyPr/>
                    <a:lstStyle/>
                    <a:p>
                      <a:pPr>
                        <a:defRPr sz="1100">
                          <a:solidFill>
                            <a:srgbClr val="1C2A3A"/>
                          </a:solidFill>
                          <a:latin typeface="Calibri"/>
                        </a:defRPr>
                      </a:pPr>
                      <a:r>
                        <a:t>114</a:t>
                      </a:r>
                    </a:p>
                  </a:txBody>
                  <a:tcPr>
                    <a:solidFill>
                      <a:srgbClr val="E0E3E8"/>
                    </a:solidFill>
                  </a:tcPr>
                </a:tc>
                <a:tc>
                  <a:txBody>
                    <a:bodyPr/>
                    <a:lstStyle/>
                    <a:p>
                      <a:pPr>
                        <a:defRPr sz="1100">
                          <a:solidFill>
                            <a:srgbClr val="1C2A3A"/>
                          </a:solidFill>
                          <a:latin typeface="Calibri"/>
                        </a:defRPr>
                      </a:pPr>
                      <a:r>
                        <a:t>626</a:t>
                      </a:r>
                    </a:p>
                  </a:txBody>
                  <a:tcPr>
                    <a:solidFill>
                      <a:srgbClr val="E0E3E8"/>
                    </a:solidFill>
                  </a:tcPr>
                </a:tc>
              </a:tr>
              <a:tr h="203200">
                <a:tc>
                  <a:txBody>
                    <a:bodyPr/>
                    <a:lstStyle/>
                    <a:p>
                      <a:pPr>
                        <a:defRPr sz="1100">
                          <a:solidFill>
                            <a:srgbClr val="1C2A3A"/>
                          </a:solidFill>
                          <a:latin typeface="Calibri"/>
                        </a:defRPr>
                      </a:pPr>
                      <a:r>
                        <a:t>Spam - Cost/1K Queries</a:t>
                      </a:r>
                    </a:p>
                  </a:txBody>
                  <a:tcPr/>
                </a:tc>
                <a:tc>
                  <a:txBody>
                    <a:bodyPr/>
                    <a:lstStyle/>
                    <a:p>
                      <a:pPr>
                        <a:defRPr sz="1100">
                          <a:solidFill>
                            <a:srgbClr val="1C2A3A"/>
                          </a:solidFill>
                          <a:latin typeface="Calibri"/>
                        </a:defRPr>
                      </a:pPr>
                      <a:r>
                        <a:t>$0.0004</a:t>
                      </a:r>
                    </a:p>
                  </a:txBody>
                  <a:tcPr/>
                </a:tc>
                <a:tc>
                  <a:txBody>
                    <a:bodyPr/>
                    <a:lstStyle/>
                    <a:p>
                      <a:pPr>
                        <a:defRPr sz="1100">
                          <a:solidFill>
                            <a:srgbClr val="1C2A3A"/>
                          </a:solidFill>
                          <a:latin typeface="Calibri"/>
                        </a:defRPr>
                      </a:pPr>
                      <a:r>
                        <a:t>$0.0051</a:t>
                      </a:r>
                    </a:p>
                  </a:txBody>
                  <a:tcPr/>
                </a:tc>
                <a:tc>
                  <a:txBody>
                    <a:bodyPr/>
                    <a:lstStyle/>
                    <a:p>
                      <a:pPr>
                        <a:defRPr sz="1100">
                          <a:solidFill>
                            <a:srgbClr val="1C2A3A"/>
                          </a:solidFill>
                          <a:latin typeface="Calibri"/>
                        </a:defRPr>
                      </a:pPr>
                      <a:r>
                        <a:t>$0.0011</a:t>
                      </a:r>
                    </a:p>
                  </a:txBody>
                  <a:tcPr/>
                </a:tc>
                <a:tc>
                  <a:txBody>
                    <a:bodyPr/>
                    <a:lstStyle/>
                    <a:p>
                      <a:pPr>
                        <a:defRPr sz="1100">
                          <a:solidFill>
                            <a:srgbClr val="1C2A3A"/>
                          </a:solidFill>
                          <a:latin typeface="Calibri"/>
                        </a:defRPr>
                      </a:pPr>
                      <a:r>
                        <a:t>$0.0063</a:t>
                      </a:r>
                    </a:p>
                  </a:txBody>
                  <a:tcPr/>
                </a:tc>
              </a:tr>
            </a:tbl>
          </a:graphicData>
        </a:graphic>
      </p:graphicFrame>
      <p:sp>
        <p:nvSpPr>
          <p:cNvPr id="5" name="Rectangle 4"/>
          <p:cNvSpPr/>
          <p:nvPr/>
        </p:nvSpPr>
        <p:spPr>
          <a:xfrm>
            <a:off x="457200" y="3931920"/>
            <a:ext cx="1106424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Fine-tuning consistently outperforms base models across all four experiments</a:t>
            </a:r>
          </a:p>
        </p:txBody>
      </p:sp>
      <p:sp>
        <p:nvSpPr>
          <p:cNvPr id="6" name="Rectangle 5"/>
          <p:cNvSpPr/>
          <p:nvPr/>
        </p:nvSpPr>
        <p:spPr>
          <a:xfrm>
            <a:off x="457200" y="4526280"/>
            <a:ext cx="1106424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RAG alone improves over base but cannot match fine-tuning for reasoning or pattern recognition</a:t>
            </a:r>
          </a:p>
        </p:txBody>
      </p:sp>
      <p:sp>
        <p:nvSpPr>
          <p:cNvPr id="7" name="Rectangle 6"/>
          <p:cNvSpPr/>
          <p:nvPr/>
        </p:nvSpPr>
        <p:spPr>
          <a:xfrm>
            <a:off x="457200" y="5120640"/>
            <a:ext cx="1106424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Hybrid (FT + RAG) achieves the highest or equal-best accuracy in every experiment</a:t>
            </a:r>
          </a:p>
        </p:txBody>
      </p:sp>
      <p:sp>
        <p:nvSpPr>
          <p:cNvPr id="8" name="Rectangle 7"/>
          <p:cNvSpPr/>
          <p:nvPr/>
        </p:nvSpPr>
        <p:spPr>
          <a:xfrm>
            <a:off x="457200" y="5715000"/>
            <a:ext cx="11064240" cy="50292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Spam detection: fine-tuned 95% vs RAG 90% -- fine-tuning learns phishing patterns RAG can't match</a:t>
            </a:r>
          </a:p>
        </p:txBody>
      </p:sp>
      <p:sp>
        <p:nvSpPr>
          <p:cNvPr id="9" name="Rectangle 8"/>
          <p:cNvSpPr/>
          <p:nvPr/>
        </p:nvSpPr>
        <p:spPr>
          <a:xfrm>
            <a:off x="457200" y="6309360"/>
            <a:ext cx="11064240" cy="50292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All comparisons use the SAME architecture -- the only variable is the approach</a:t>
            </a:r>
          </a:p>
        </p:txBody>
      </p:sp>
      <p:sp>
        <p:nvSpPr>
          <p:cNvPr id="10" name="TextBox 9"/>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57/55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RAG Strengths Benchmark</a:t>
            </a:r>
          </a:p>
          <a:p>
            <a:pPr>
              <a:defRPr sz="1600">
                <a:solidFill>
                  <a:srgbClr val="ECEFF1"/>
                </a:solidFill>
                <a:latin typeface="Calibri"/>
              </a:defRPr>
            </a:pPr>
            <a:r>
              <a:t>30 cases where RAG has a structural advantage</a:t>
            </a:r>
          </a:p>
        </p:txBody>
      </p:sp>
      <p:sp>
        <p:nvSpPr>
          <p:cNvPr id="3" name="TextBox 2"/>
          <p:cNvSpPr txBox="1"/>
          <p:nvPr/>
        </p:nvSpPr>
        <p:spPr>
          <a:xfrm>
            <a:off x="457200" y="1280160"/>
            <a:ext cx="11247120" cy="640080"/>
          </a:xfrm>
          <a:prstGeom prst="rect">
            <a:avLst/>
          </a:prstGeom>
          <a:noFill/>
        </p:spPr>
        <p:txBody>
          <a:bodyPr wrap="square">
            <a:spAutoFit/>
          </a:bodyPr>
          <a:lstStyle/>
          <a:p>
            <a:pPr algn="l">
              <a:defRPr sz="1400" b="0">
                <a:solidFill>
                  <a:srgbClr val="1C2A3A"/>
                </a:solidFill>
                <a:latin typeface="Calibri"/>
              </a:defRPr>
            </a:pPr>
            <a:r>
              <a:t>Standard benchmarks penalize RAG because test data conflicts with retrieved data. This benchmark asks questions about the actual data in the RAG knowledge base -- testing RAG on its natural strengths.</a:t>
            </a:r>
          </a:p>
        </p:txBody>
      </p:sp>
      <p:sp>
        <p:nvSpPr>
          <p:cNvPr id="4" name="Rectangle 3"/>
          <p:cNvSpPr/>
          <p:nvPr/>
        </p:nvSpPr>
        <p:spPr>
          <a:xfrm>
            <a:off x="457200" y="2011680"/>
            <a:ext cx="2651760" cy="914400"/>
          </a:xfrm>
          <a:prstGeom prst="rect">
            <a:avLst/>
          </a:prstGeom>
          <a:solidFill>
            <a:srgbClr val="FCCECE"/>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Base Llama2-7B</a:t>
            </a:r>
          </a:p>
          <a:p>
            <a:pPr>
              <a:defRPr sz="1200">
                <a:solidFill>
                  <a:srgbClr val="1C2A3A"/>
                </a:solidFill>
                <a:latin typeface="Calibri"/>
              </a:defRPr>
            </a:pPr>
            <a:r>
              <a:t>43.3%  (13/30)</a:t>
            </a:r>
          </a:p>
        </p:txBody>
      </p:sp>
      <p:sp>
        <p:nvSpPr>
          <p:cNvPr id="5" name="Rectangle 4"/>
          <p:cNvSpPr/>
          <p:nvPr/>
        </p:nvSpPr>
        <p:spPr>
          <a:xfrm>
            <a:off x="3337560" y="2011680"/>
            <a:ext cx="2651760" cy="91440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Llama2-7B + RAG</a:t>
            </a:r>
          </a:p>
          <a:p>
            <a:pPr>
              <a:defRPr sz="1200">
                <a:solidFill>
                  <a:srgbClr val="1C2A3A"/>
                </a:solidFill>
                <a:latin typeface="Calibri"/>
              </a:defRPr>
            </a:pPr>
            <a:r>
              <a:t>86.7%  (26/30)</a:t>
            </a:r>
          </a:p>
        </p:txBody>
      </p:sp>
      <p:sp>
        <p:nvSpPr>
          <p:cNvPr id="6" name="Rectangle 5"/>
          <p:cNvSpPr/>
          <p:nvPr/>
        </p:nvSpPr>
        <p:spPr>
          <a:xfrm>
            <a:off x="6217920" y="2011680"/>
            <a:ext cx="26517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FinQA-7B (FT)</a:t>
            </a:r>
          </a:p>
          <a:p>
            <a:pPr>
              <a:defRPr sz="1200">
                <a:solidFill>
                  <a:srgbClr val="1C2A3A"/>
                </a:solidFill>
                <a:latin typeface="Calibri"/>
              </a:defRPr>
            </a:pPr>
            <a:r>
              <a:t>40.0%  (12/30)</a:t>
            </a:r>
          </a:p>
        </p:txBody>
      </p:sp>
      <p:sp>
        <p:nvSpPr>
          <p:cNvPr id="7" name="Rectangle 6"/>
          <p:cNvSpPr/>
          <p:nvPr/>
        </p:nvSpPr>
        <p:spPr>
          <a:xfrm>
            <a:off x="9098280" y="2011680"/>
            <a:ext cx="2651760" cy="914400"/>
          </a:xfrm>
          <a:prstGeom prst="rect">
            <a:avLst/>
          </a:prstGeom>
          <a:solidFill>
            <a:srgbClr val="FFF1C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FinQA-7B + RAG</a:t>
            </a:r>
          </a:p>
          <a:p>
            <a:pPr>
              <a:defRPr sz="1200">
                <a:solidFill>
                  <a:srgbClr val="1C2A3A"/>
                </a:solidFill>
                <a:latin typeface="Calibri"/>
              </a:defRPr>
            </a:pPr>
            <a:r>
              <a:t>93.3%  (28/30)</a:t>
            </a:r>
          </a:p>
        </p:txBody>
      </p:sp>
      <p:graphicFrame>
        <p:nvGraphicFramePr>
          <p:cNvPr id="8" name="Chart 7"/>
          <p:cNvGraphicFramePr>
            <a:graphicFrameLocks noGrp="1"/>
          </p:cNvGraphicFramePr>
          <p:nvPr/>
        </p:nvGraphicFramePr>
        <p:xfrm>
          <a:off x="457200" y="3108960"/>
          <a:ext cx="5486400" cy="3200400"/>
        </p:xfrm>
        <a:graphic>
          <a:graphicData uri="http://schemas.openxmlformats.org/drawingml/2006/chart">
            <c:chart xmlns:c="http://schemas.openxmlformats.org/drawingml/2006/chart" r:id="rId2"/>
          </a:graphicData>
        </a:graphic>
      </p:graphicFrame>
      <p:graphicFrame>
        <p:nvGraphicFramePr>
          <p:cNvPr id="9" name="Table 8"/>
          <p:cNvGraphicFramePr>
            <a:graphicFrameLocks noGrp="1"/>
          </p:cNvGraphicFramePr>
          <p:nvPr/>
        </p:nvGraphicFramePr>
        <p:xfrm>
          <a:off x="6217920" y="3108960"/>
          <a:ext cx="5486400" cy="3200400"/>
        </p:xfrm>
        <a:graphic>
          <a:graphicData uri="http://schemas.openxmlformats.org/drawingml/2006/table">
            <a:tbl>
              <a:tblPr firstRow="1" bandRow="1">
                <a:tableStyleId>{5C22544A-7EE6-4342-B048-85BDC9FD1C3A}</a:tableStyleId>
              </a:tblPr>
              <a:tblGrid>
                <a:gridCol w="914400"/>
                <a:gridCol w="914400"/>
                <a:gridCol w="914400"/>
                <a:gridCol w="914400"/>
                <a:gridCol w="914400"/>
                <a:gridCol w="914400"/>
              </a:tblGrid>
              <a:tr h="533400">
                <a:tc>
                  <a:txBody>
                    <a:bodyPr/>
                    <a:lstStyle/>
                    <a:p>
                      <a:pPr algn="ctr">
                        <a:defRPr sz="1200" b="1">
                          <a:solidFill>
                            <a:srgbClr val="FFFFFF"/>
                          </a:solidFill>
                          <a:latin typeface="Calibri"/>
                        </a:defRPr>
                      </a:pPr>
                      <a:r>
                        <a:t>Category</a:t>
                      </a:r>
                    </a:p>
                  </a:txBody>
                  <a:tcPr>
                    <a:solidFill>
                      <a:srgbClr val="2E86C1"/>
                    </a:solidFill>
                  </a:tcPr>
                </a:tc>
                <a:tc>
                  <a:txBody>
                    <a:bodyPr/>
                    <a:lstStyle/>
                    <a:p>
                      <a:pPr algn="ctr">
                        <a:defRPr sz="1200" b="1">
                          <a:solidFill>
                            <a:srgbClr val="FFFFFF"/>
                          </a:solidFill>
                          <a:latin typeface="Calibri"/>
                        </a:defRPr>
                      </a:pPr>
                      <a:r>
                        <a:t>Cases</a:t>
                      </a:r>
                    </a:p>
                  </a:txBody>
                  <a:tcPr>
                    <a:solidFill>
                      <a:srgbClr val="2E86C1"/>
                    </a:solidFill>
                  </a:tcPr>
                </a:tc>
                <a:tc>
                  <a:txBody>
                    <a:bodyPr/>
                    <a:lstStyle/>
                    <a:p>
                      <a:pPr algn="ctr">
                        <a:defRPr sz="1200" b="1">
                          <a:solidFill>
                            <a:srgbClr val="FFFFFF"/>
                          </a:solidFill>
                          <a:latin typeface="Calibri"/>
                        </a:defRPr>
                      </a:pPr>
                      <a:r>
                        <a:t>Base</a:t>
                      </a:r>
                    </a:p>
                  </a:txBody>
                  <a:tcPr>
                    <a:solidFill>
                      <a:srgbClr val="2E86C1"/>
                    </a:solidFill>
                  </a:tcPr>
                </a:tc>
                <a:tc>
                  <a:txBody>
                    <a:bodyPr/>
                    <a:lstStyle/>
                    <a:p>
                      <a:pPr algn="ctr">
                        <a:defRPr sz="1200" b="1">
                          <a:solidFill>
                            <a:srgbClr val="FFFFFF"/>
                          </a:solidFill>
                          <a:latin typeface="Calibri"/>
                        </a:defRPr>
                      </a:pPr>
                      <a:r>
                        <a:t>RAG</a:t>
                      </a:r>
                    </a:p>
                  </a:txBody>
                  <a:tcPr>
                    <a:solidFill>
                      <a:srgbClr val="2E86C1"/>
                    </a:solidFill>
                  </a:tcPr>
                </a:tc>
                <a:tc>
                  <a:txBody>
                    <a:bodyPr/>
                    <a:lstStyle/>
                    <a:p>
                      <a:pPr algn="ctr">
                        <a:defRPr sz="1200" b="1">
                          <a:solidFill>
                            <a:srgbClr val="FFFFFF"/>
                          </a:solidFill>
                          <a:latin typeface="Calibri"/>
                        </a:defRPr>
                      </a:pPr>
                      <a:r>
                        <a:t>FT</a:t>
                      </a:r>
                    </a:p>
                  </a:txBody>
                  <a:tcPr>
                    <a:solidFill>
                      <a:srgbClr val="2E86C1"/>
                    </a:solidFill>
                  </a:tcPr>
                </a:tc>
                <a:tc>
                  <a:txBody>
                    <a:bodyPr/>
                    <a:lstStyle/>
                    <a:p>
                      <a:pPr algn="ctr">
                        <a:defRPr sz="1200" b="1">
                          <a:solidFill>
                            <a:srgbClr val="FFFFFF"/>
                          </a:solidFill>
                          <a:latin typeface="Calibri"/>
                        </a:defRPr>
                      </a:pPr>
                      <a:r>
                        <a:t>Hybrid</a:t>
                      </a:r>
                    </a:p>
                  </a:txBody>
                  <a:tcPr>
                    <a:solidFill>
                      <a:srgbClr val="2E86C1"/>
                    </a:solidFill>
                  </a:tcPr>
                </a:tc>
              </a:tr>
              <a:tr h="533400">
                <a:tc>
                  <a:txBody>
                    <a:bodyPr/>
                    <a:lstStyle/>
                    <a:p>
                      <a:pPr>
                        <a:defRPr sz="1100">
                          <a:solidFill>
                            <a:srgbClr val="1C2A3A"/>
                          </a:solidFill>
                          <a:latin typeface="Calibri"/>
                        </a:defRPr>
                      </a:pPr>
                      <a:r>
                        <a:t>Contextual Interp.</a:t>
                      </a:r>
                    </a:p>
                  </a:txBody>
                  <a:tcPr>
                    <a:solidFill>
                      <a:srgbClr val="E0E3E8"/>
                    </a:solidFill>
                  </a:tcPr>
                </a:tc>
                <a:tc>
                  <a:txBody>
                    <a:bodyPr/>
                    <a:lstStyle/>
                    <a:p>
                      <a:pPr>
                        <a:defRPr sz="1100">
                          <a:solidFill>
                            <a:srgbClr val="1C2A3A"/>
                          </a:solidFill>
                          <a:latin typeface="Calibri"/>
                        </a:defRPr>
                      </a:pPr>
                      <a:r>
                        <a:t>4</a:t>
                      </a:r>
                    </a:p>
                  </a:txBody>
                  <a:tcPr>
                    <a:solidFill>
                      <a:srgbClr val="E0E3E8"/>
                    </a:solidFill>
                  </a:tcPr>
                </a:tc>
                <a:tc>
                  <a:txBody>
                    <a:bodyPr/>
                    <a:lstStyle/>
                    <a:p>
                      <a:pPr>
                        <a:defRPr sz="1100">
                          <a:solidFill>
                            <a:srgbClr val="1C2A3A"/>
                          </a:solidFill>
                          <a:latin typeface="Calibri"/>
                        </a:defRPr>
                      </a:pPr>
                      <a:r>
                        <a:t>50.0%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c>
                  <a:txBody>
                    <a:bodyPr/>
                    <a:lstStyle/>
                    <a:p>
                      <a:pPr>
                        <a:defRPr sz="1100">
                          <a:solidFill>
                            <a:srgbClr val="1C2A3A"/>
                          </a:solidFill>
                          <a:latin typeface="Calibri"/>
                        </a:defRPr>
                      </a:pPr>
                      <a:r>
                        <a:t>25.0%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r>
              <a:tr h="533400">
                <a:tc>
                  <a:txBody>
                    <a:bodyPr/>
                    <a:lstStyle/>
                    <a:p>
                      <a:pPr>
                        <a:defRPr sz="1100">
                          <a:solidFill>
                            <a:srgbClr val="1C2A3A"/>
                          </a:solidFill>
                          <a:latin typeface="Calibri"/>
                        </a:defRPr>
                      </a:pPr>
                      <a:r>
                        <a:t>Cross-Doc Synthesis</a:t>
                      </a:r>
                    </a:p>
                  </a:txBody>
                  <a:tcPr/>
                </a:tc>
                <a:tc>
                  <a:txBody>
                    <a:bodyPr/>
                    <a:lstStyle/>
                    <a:p>
                      <a:pPr>
                        <a:defRPr sz="1100">
                          <a:solidFill>
                            <a:srgbClr val="1C2A3A"/>
                          </a:solidFill>
                          <a:latin typeface="Calibri"/>
                        </a:defRPr>
                      </a:pPr>
                      <a:r>
                        <a:t>8</a:t>
                      </a:r>
                    </a:p>
                  </a:txBody>
                  <a:tcPr/>
                </a:tc>
                <a:tc>
                  <a:txBody>
                    <a:bodyPr/>
                    <a:lstStyle/>
                    <a:p>
                      <a:pPr>
                        <a:defRPr sz="1100">
                          <a:solidFill>
                            <a:srgbClr val="1C2A3A"/>
                          </a:solidFill>
                          <a:latin typeface="Calibri"/>
                        </a:defRPr>
                      </a:pPr>
                      <a:r>
                        <a:t>62.5%</a:t>
                      </a:r>
                    </a:p>
                  </a:txBody>
                  <a:tcPr/>
                </a:tc>
                <a:tc>
                  <a:txBody>
                    <a:bodyPr/>
                    <a:lstStyle/>
                    <a:p>
                      <a:pPr>
                        <a:defRPr sz="1100">
                          <a:solidFill>
                            <a:srgbClr val="1C2A3A"/>
                          </a:solidFill>
                          <a:latin typeface="Calibri"/>
                        </a:defRPr>
                      </a:pPr>
                      <a:r>
                        <a:t>87.5%</a:t>
                      </a:r>
                    </a:p>
                  </a:txBody>
                  <a:tcPr/>
                </a:tc>
                <a:tc>
                  <a:txBody>
                    <a:bodyPr/>
                    <a:lstStyle/>
                    <a:p>
                      <a:pPr>
                        <a:defRPr sz="1100">
                          <a:solidFill>
                            <a:srgbClr val="1C2A3A"/>
                          </a:solidFill>
                          <a:latin typeface="Calibri"/>
                        </a:defRPr>
                      </a:pPr>
                      <a:r>
                        <a:t>62.5%</a:t>
                      </a:r>
                    </a:p>
                  </a:txBody>
                  <a:tcPr/>
                </a:tc>
                <a:tc>
                  <a:txBody>
                    <a:bodyPr/>
                    <a:lstStyle/>
                    <a:p>
                      <a:pPr>
                        <a:defRPr sz="1100">
                          <a:solidFill>
                            <a:srgbClr val="1C2A3A"/>
                          </a:solidFill>
                          <a:latin typeface="Calibri"/>
                        </a:defRPr>
                      </a:pPr>
                      <a:r>
                        <a:t>100.0%</a:t>
                      </a:r>
                    </a:p>
                  </a:txBody>
                  <a:tcPr/>
                </a:tc>
              </a:tr>
              <a:tr h="533400">
                <a:tc>
                  <a:txBody>
                    <a:bodyPr/>
                    <a:lstStyle/>
                    <a:p>
                      <a:pPr>
                        <a:defRPr sz="1100">
                          <a:solidFill>
                            <a:srgbClr val="1C2A3A"/>
                          </a:solidFill>
                          <a:latin typeface="Calibri"/>
                        </a:defRPr>
                      </a:pPr>
                      <a:r>
                        <a:t>Direct Retrieval</a:t>
                      </a:r>
                    </a:p>
                  </a:txBody>
                  <a:tcPr>
                    <a:solidFill>
                      <a:srgbClr val="E0E3E8"/>
                    </a:solidFill>
                  </a:tcPr>
                </a:tc>
                <a:tc>
                  <a:txBody>
                    <a:bodyPr/>
                    <a:lstStyle/>
                    <a:p>
                      <a:pPr>
                        <a:defRPr sz="1100">
                          <a:solidFill>
                            <a:srgbClr val="1C2A3A"/>
                          </a:solidFill>
                          <a:latin typeface="Calibri"/>
                        </a:defRPr>
                      </a:pPr>
                      <a:r>
                        <a:t>8</a:t>
                      </a:r>
                    </a:p>
                  </a:txBody>
                  <a:tcPr>
                    <a:solidFill>
                      <a:srgbClr val="E0E3E8"/>
                    </a:solidFill>
                  </a:tcPr>
                </a:tc>
                <a:tc>
                  <a:txBody>
                    <a:bodyPr/>
                    <a:lstStyle/>
                    <a:p>
                      <a:pPr>
                        <a:defRPr sz="1100">
                          <a:solidFill>
                            <a:srgbClr val="1C2A3A"/>
                          </a:solidFill>
                          <a:latin typeface="Calibri"/>
                        </a:defRPr>
                      </a:pPr>
                      <a:r>
                        <a:t>12.5%</a:t>
                      </a:r>
                    </a:p>
                  </a:txBody>
                  <a:tcPr>
                    <a:solidFill>
                      <a:srgbClr val="E0E3E8"/>
                    </a:solidFill>
                  </a:tcPr>
                </a:tc>
                <a:tc>
                  <a:txBody>
                    <a:bodyPr/>
                    <a:lstStyle/>
                    <a:p>
                      <a:pPr>
                        <a:defRPr sz="1100">
                          <a:solidFill>
                            <a:srgbClr val="1C2A3A"/>
                          </a:solidFill>
                          <a:latin typeface="Calibri"/>
                        </a:defRPr>
                      </a:pPr>
                      <a:r>
                        <a:t>75.0%</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r>
              <a:tr h="533400">
                <a:tc>
                  <a:txBody>
                    <a:bodyPr/>
                    <a:lstStyle/>
                    <a:p>
                      <a:pPr>
                        <a:defRPr sz="1100">
                          <a:solidFill>
                            <a:srgbClr val="1C2A3A"/>
                          </a:solidFill>
                          <a:latin typeface="Calibri"/>
                        </a:defRPr>
                      </a:pPr>
                      <a:r>
                        <a:t>Formula + Aligned</a:t>
                      </a:r>
                    </a:p>
                  </a:txBody>
                  <a:tcPr/>
                </a:tc>
                <a:tc>
                  <a:txBody>
                    <a:bodyPr/>
                    <a:lstStyle/>
                    <a:p>
                      <a:pPr>
                        <a:defRPr sz="1100">
                          <a:solidFill>
                            <a:srgbClr val="1C2A3A"/>
                          </a:solidFill>
                          <a:latin typeface="Calibri"/>
                        </a:defRPr>
                      </a:pPr>
                      <a:r>
                        <a:t>6</a:t>
                      </a:r>
                    </a:p>
                  </a:txBody>
                  <a:tcPr/>
                </a:tc>
                <a:tc>
                  <a:txBody>
                    <a:bodyPr/>
                    <a:lstStyle/>
                    <a:p>
                      <a:pPr>
                        <a:defRPr sz="1100">
                          <a:solidFill>
                            <a:srgbClr val="1C2A3A"/>
                          </a:solidFill>
                          <a:latin typeface="Calibri"/>
                        </a:defRPr>
                      </a:pPr>
                      <a:r>
                        <a:t>16.7%</a:t>
                      </a:r>
                    </a:p>
                  </a:txBody>
                  <a:tcPr/>
                </a:tc>
                <a:tc>
                  <a:txBody>
                    <a:bodyPr/>
                    <a:lstStyle/>
                    <a:p>
                      <a:pPr>
                        <a:defRPr sz="1100">
                          <a:solidFill>
                            <a:srgbClr val="1C2A3A"/>
                          </a:solidFill>
                          <a:latin typeface="Calibri"/>
                        </a:defRPr>
                      </a:pPr>
                      <a:r>
                        <a:t>83.3%</a:t>
                      </a:r>
                    </a:p>
                  </a:txBody>
                  <a:tcPr/>
                </a:tc>
                <a:tc>
                  <a:txBody>
                    <a:bodyPr/>
                    <a:lstStyle/>
                    <a:p>
                      <a:pPr>
                        <a:defRPr sz="1100">
                          <a:solidFill>
                            <a:srgbClr val="1C2A3A"/>
                          </a:solidFill>
                          <a:latin typeface="Calibri"/>
                        </a:defRPr>
                      </a:pPr>
                      <a:r>
                        <a:t>33.3%</a:t>
                      </a:r>
                    </a:p>
                  </a:txBody>
                  <a:tcPr/>
                </a:tc>
                <a:tc>
                  <a:txBody>
                    <a:bodyPr/>
                    <a:lstStyle/>
                    <a:p>
                      <a:pPr>
                        <a:defRPr sz="1100">
                          <a:solidFill>
                            <a:srgbClr val="1C2A3A"/>
                          </a:solidFill>
                          <a:latin typeface="Calibri"/>
                        </a:defRPr>
                      </a:pPr>
                      <a:r>
                        <a:t>66.7%</a:t>
                      </a:r>
                    </a:p>
                  </a:txBody>
                  <a:tcPr/>
                </a:tc>
              </a:tr>
              <a:tr h="533400">
                <a:tc>
                  <a:txBody>
                    <a:bodyPr/>
                    <a:lstStyle/>
                    <a:p>
                      <a:pPr>
                        <a:defRPr sz="1100">
                          <a:solidFill>
                            <a:srgbClr val="1C2A3A"/>
                          </a:solidFill>
                          <a:latin typeface="Calibri"/>
                        </a:defRPr>
                      </a:pPr>
                      <a:r>
                        <a:t>Trend Analysis</a:t>
                      </a:r>
                    </a:p>
                  </a:txBody>
                  <a:tcPr>
                    <a:solidFill>
                      <a:srgbClr val="E0E3E8"/>
                    </a:solidFill>
                  </a:tcPr>
                </a:tc>
                <a:tc>
                  <a:txBody>
                    <a:bodyPr/>
                    <a:lstStyle/>
                    <a:p>
                      <a:pPr>
                        <a:defRPr sz="1100">
                          <a:solidFill>
                            <a:srgbClr val="1C2A3A"/>
                          </a:solidFill>
                          <a:latin typeface="Calibri"/>
                        </a:defRPr>
                      </a:pPr>
                      <a:r>
                        <a:t>4</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r>
            </a:tbl>
          </a:graphicData>
        </a:graphic>
      </p:graphicFrame>
      <p:sp>
        <p:nvSpPr>
          <p:cNvPr id="10" name="TextBox 9"/>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58/55</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RAG Advantage: Category Breakdown</a:t>
            </a:r>
          </a:p>
          <a:p>
            <a:pPr>
              <a:defRPr sz="1600">
                <a:solidFill>
                  <a:srgbClr val="ECEFF1"/>
                </a:solidFill>
                <a:latin typeface="Calibri"/>
              </a:defRPr>
            </a:pPr>
            <a:r>
              <a:t>How much does RAG improve over base and fine-tuned models?</a:t>
            </a:r>
          </a:p>
        </p:txBody>
      </p:sp>
      <p:graphicFrame>
        <p:nvGraphicFramePr>
          <p:cNvPr id="3" name="Chart 2"/>
          <p:cNvGraphicFramePr>
            <a:graphicFrameLocks noGrp="1"/>
          </p:cNvGraphicFramePr>
          <p:nvPr/>
        </p:nvGraphicFramePr>
        <p:xfrm>
          <a:off x="457200" y="1371600"/>
          <a:ext cx="6858000" cy="3657600"/>
        </p:xfrm>
        <a:graphic>
          <a:graphicData uri="http://schemas.openxmlformats.org/drawingml/2006/chart">
            <c:chart xmlns:c="http://schemas.openxmlformats.org/drawingml/2006/chart" r:id="rId2"/>
          </a:graphicData>
        </a:graphic>
      </p:graphicFrame>
      <p:sp>
        <p:nvSpPr>
          <p:cNvPr id="4" name="Rectangle 3"/>
          <p:cNvSpPr/>
          <p:nvPr/>
        </p:nvSpPr>
        <p:spPr>
          <a:xfrm>
            <a:off x="7589520" y="1371600"/>
            <a:ext cx="4114800" cy="100584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RAG: 86.7% vs Base: 43.3% -- +43pp from retrieval alone</a:t>
            </a:r>
          </a:p>
        </p:txBody>
      </p:sp>
      <p:sp>
        <p:nvSpPr>
          <p:cNvPr id="5" name="Rectangle 4"/>
          <p:cNvSpPr/>
          <p:nvPr/>
        </p:nvSpPr>
        <p:spPr>
          <a:xfrm>
            <a:off x="7589520" y="2560320"/>
            <a:ext cx="4114800" cy="100584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Hybrid: 93.3% -- combines retrieval + reasoning for best results</a:t>
            </a:r>
          </a:p>
        </p:txBody>
      </p:sp>
      <p:sp>
        <p:nvSpPr>
          <p:cNvPr id="6" name="Rectangle 5"/>
          <p:cNvSpPr/>
          <p:nvPr/>
        </p:nvSpPr>
        <p:spPr>
          <a:xfrm>
            <a:off x="7589520" y="3749039"/>
            <a:ext cx="4114800" cy="10058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Direct retrieval: base 12.5% vs RAG 75% -- RAG's biggest advantage</a:t>
            </a:r>
          </a:p>
        </p:txBody>
      </p:sp>
      <p:sp>
        <p:nvSpPr>
          <p:cNvPr id="7" name="Rectangle 6"/>
          <p:cNvSpPr/>
          <p:nvPr/>
        </p:nvSpPr>
        <p:spPr>
          <a:xfrm>
            <a:off x="7589520" y="4937760"/>
            <a:ext cx="4114800" cy="10058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Standard benchmark RAG: ~15% (conflicting data) vs here: 86.7% (aligned data)</a:t>
            </a:r>
          </a:p>
        </p:txBody>
      </p:sp>
      <p:sp>
        <p:nvSpPr>
          <p:cNvPr id="8" name="TextBox 7"/>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59/55</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LLM-as-Judge: RAG Strengths Quality Assessment</a:t>
            </a:r>
          </a:p>
          <a:p>
            <a:pPr>
              <a:defRPr sz="1600">
                <a:solidFill>
                  <a:srgbClr val="ECEFF1"/>
                </a:solidFill>
                <a:latin typeface="Calibri"/>
              </a:defRPr>
            </a:pPr>
            <a:r>
              <a:t>GPT-4o structured scoring across 30 retrieval QA cases</a:t>
            </a:r>
          </a:p>
        </p:txBody>
      </p:sp>
      <p:graphicFrame>
        <p:nvGraphicFramePr>
          <p:cNvPr id="3" name="Table 2"/>
          <p:cNvGraphicFramePr>
            <a:graphicFrameLocks noGrp="1"/>
          </p:cNvGraphicFramePr>
          <p:nvPr/>
        </p:nvGraphicFramePr>
        <p:xfrm>
          <a:off x="457200" y="1371600"/>
          <a:ext cx="6858000" cy="2286000"/>
        </p:xfrm>
        <a:graphic>
          <a:graphicData uri="http://schemas.openxmlformats.org/drawingml/2006/table">
            <a:tbl>
              <a:tblPr firstRow="1" bandRow="1">
                <a:tableStyleId>{5C22544A-7EE6-4342-B048-85BDC9FD1C3A}</a:tableStyleId>
              </a:tblPr>
              <a:tblGrid>
                <a:gridCol w="1371600"/>
                <a:gridCol w="1371600"/>
                <a:gridCol w="1371600"/>
                <a:gridCol w="1371600"/>
                <a:gridCol w="1371600"/>
              </a:tblGrid>
              <a:tr h="457200">
                <a:tc>
                  <a:txBody>
                    <a:bodyPr/>
                    <a:lstStyle/>
                    <a:p>
                      <a:pPr algn="ctr">
                        <a:defRPr sz="1200" b="1">
                          <a:solidFill>
                            <a:srgbClr val="FFFFFF"/>
                          </a:solidFill>
                          <a:latin typeface="Calibri"/>
                        </a:defRPr>
                      </a:pPr>
                      <a:r>
                        <a:t>Model</a:t>
                      </a:r>
                    </a:p>
                  </a:txBody>
                  <a:tcPr>
                    <a:solidFill>
                      <a:srgbClr val="2E86C1"/>
                    </a:solidFill>
                  </a:tcPr>
                </a:tc>
                <a:tc>
                  <a:txBody>
                    <a:bodyPr/>
                    <a:lstStyle/>
                    <a:p>
                      <a:pPr algn="ctr">
                        <a:defRPr sz="1200" b="1">
                          <a:solidFill>
                            <a:srgbClr val="FFFFFF"/>
                          </a:solidFill>
                          <a:latin typeface="Calibri"/>
                        </a:defRPr>
                      </a:pPr>
                      <a:r>
                        <a:t>Correctness</a:t>
                      </a:r>
                    </a:p>
                  </a:txBody>
                  <a:tcPr>
                    <a:solidFill>
                      <a:srgbClr val="2E86C1"/>
                    </a:solidFill>
                  </a:tcPr>
                </a:tc>
                <a:tc>
                  <a:txBody>
                    <a:bodyPr/>
                    <a:lstStyle/>
                    <a:p>
                      <a:pPr algn="ctr">
                        <a:defRPr sz="1200" b="1">
                          <a:solidFill>
                            <a:srgbClr val="FFFFFF"/>
                          </a:solidFill>
                          <a:latin typeface="Calibri"/>
                        </a:defRPr>
                      </a:pPr>
                      <a:r>
                        <a:t>Reasoning</a:t>
                      </a:r>
                    </a:p>
                  </a:txBody>
                  <a:tcPr>
                    <a:solidFill>
                      <a:srgbClr val="2E86C1"/>
                    </a:solidFill>
                  </a:tcPr>
                </a:tc>
                <a:tc>
                  <a:txBody>
                    <a:bodyPr/>
                    <a:lstStyle/>
                    <a:p>
                      <a:pPr algn="ctr">
                        <a:defRPr sz="1200" b="1">
                          <a:solidFill>
                            <a:srgbClr val="FFFFFF"/>
                          </a:solidFill>
                          <a:latin typeface="Calibri"/>
                        </a:defRPr>
                      </a:pPr>
                      <a:r>
                        <a:t>Faithfulness</a:t>
                      </a:r>
                    </a:p>
                  </a:txBody>
                  <a:tcPr>
                    <a:solidFill>
                      <a:srgbClr val="2E86C1"/>
                    </a:solidFill>
                  </a:tcPr>
                </a:tc>
                <a:tc>
                  <a:txBody>
                    <a:bodyPr/>
                    <a:lstStyle/>
                    <a:p>
                      <a:pPr algn="ctr">
                        <a:defRPr sz="1200" b="1">
                          <a:solidFill>
                            <a:srgbClr val="FFFFFF"/>
                          </a:solidFill>
                          <a:latin typeface="Calibri"/>
                        </a:defRPr>
                      </a:pPr>
                      <a:r>
                        <a:t>Overall</a:t>
                      </a:r>
                    </a:p>
                  </a:txBody>
                  <a:tcPr>
                    <a:solidFill>
                      <a:srgbClr val="2E86C1"/>
                    </a:solidFill>
                  </a:tcPr>
                </a:tc>
              </a:tr>
              <a:tr h="457200">
                <a:tc>
                  <a:txBody>
                    <a:bodyPr/>
                    <a:lstStyle/>
                    <a:p>
                      <a:pPr>
                        <a:defRPr sz="1100">
                          <a:solidFill>
                            <a:srgbClr val="1C2A3A"/>
                          </a:solidFill>
                          <a:latin typeface="Calibri"/>
                        </a:defRPr>
                      </a:pPr>
                      <a:r>
                        <a:t>Base Llama2-7B</a:t>
                      </a:r>
                    </a:p>
                  </a:txBody>
                  <a:tcPr>
                    <a:solidFill>
                      <a:srgbClr val="E0E3E8"/>
                    </a:solidFill>
                  </a:tcPr>
                </a:tc>
                <a:tc>
                  <a:txBody>
                    <a:bodyPr/>
                    <a:lstStyle/>
                    <a:p>
                      <a:pPr>
                        <a:defRPr sz="1100">
                          <a:solidFill>
                            <a:srgbClr val="1C2A3A"/>
                          </a:solidFill>
                          <a:latin typeface="Calibri"/>
                        </a:defRPr>
                      </a:pPr>
                      <a:r>
                        <a:t>1.5 / 5</a:t>
                      </a:r>
                    </a:p>
                  </a:txBody>
                  <a:tcPr>
                    <a:solidFill>
                      <a:srgbClr val="E0E3E8"/>
                    </a:solidFill>
                  </a:tcPr>
                </a:tc>
                <a:tc>
                  <a:txBody>
                    <a:bodyPr/>
                    <a:lstStyle/>
                    <a:p>
                      <a:pPr>
                        <a:defRPr sz="1100">
                          <a:solidFill>
                            <a:srgbClr val="1C2A3A"/>
                          </a:solidFill>
                          <a:latin typeface="Calibri"/>
                        </a:defRPr>
                      </a:pPr>
                      <a:r>
                        <a:t>2.6 / 5</a:t>
                      </a:r>
                    </a:p>
                  </a:txBody>
                  <a:tcPr>
                    <a:solidFill>
                      <a:srgbClr val="E0E3E8"/>
                    </a:solidFill>
                  </a:tcPr>
                </a:tc>
                <a:tc>
                  <a:txBody>
                    <a:bodyPr/>
                    <a:lstStyle/>
                    <a:p>
                      <a:pPr>
                        <a:defRPr sz="1100">
                          <a:solidFill>
                            <a:srgbClr val="1C2A3A"/>
                          </a:solidFill>
                          <a:latin typeface="Calibri"/>
                        </a:defRPr>
                      </a:pPr>
                      <a:r>
                        <a:t>1.9 / 5</a:t>
                      </a:r>
                    </a:p>
                  </a:txBody>
                  <a:tcPr>
                    <a:solidFill>
                      <a:srgbClr val="E0E3E8"/>
                    </a:solidFill>
                  </a:tcPr>
                </a:tc>
                <a:tc>
                  <a:txBody>
                    <a:bodyPr/>
                    <a:lstStyle/>
                    <a:p>
                      <a:pPr>
                        <a:defRPr sz="1100">
                          <a:solidFill>
                            <a:srgbClr val="1C2A3A"/>
                          </a:solidFill>
                          <a:latin typeface="Calibri"/>
                        </a:defRPr>
                      </a:pPr>
                      <a:r>
                        <a:t>1.92 / 5</a:t>
                      </a:r>
                    </a:p>
                  </a:txBody>
                  <a:tcPr>
                    <a:solidFill>
                      <a:srgbClr val="E0E3E8"/>
                    </a:solidFill>
                  </a:tcPr>
                </a:tc>
              </a:tr>
              <a:tr h="457200">
                <a:tc>
                  <a:txBody>
                    <a:bodyPr/>
                    <a:lstStyle/>
                    <a:p>
                      <a:pPr>
                        <a:defRPr sz="1100">
                          <a:solidFill>
                            <a:srgbClr val="1C2A3A"/>
                          </a:solidFill>
                          <a:latin typeface="Calibri"/>
                        </a:defRPr>
                      </a:pPr>
                      <a:r>
                        <a:t>Llama2-7B + RAG</a:t>
                      </a:r>
                    </a:p>
                  </a:txBody>
                  <a:tcPr/>
                </a:tc>
                <a:tc>
                  <a:txBody>
                    <a:bodyPr/>
                    <a:lstStyle/>
                    <a:p>
                      <a:pPr>
                        <a:defRPr sz="1100">
                          <a:solidFill>
                            <a:srgbClr val="1C2A3A"/>
                          </a:solidFill>
                          <a:latin typeface="Calibri"/>
                        </a:defRPr>
                      </a:pPr>
                      <a:r>
                        <a:t>3.4 / 5</a:t>
                      </a:r>
                    </a:p>
                  </a:txBody>
                  <a:tcPr/>
                </a:tc>
                <a:tc>
                  <a:txBody>
                    <a:bodyPr/>
                    <a:lstStyle/>
                    <a:p>
                      <a:pPr>
                        <a:defRPr sz="1100">
                          <a:solidFill>
                            <a:srgbClr val="1C2A3A"/>
                          </a:solidFill>
                          <a:latin typeface="Calibri"/>
                        </a:defRPr>
                      </a:pPr>
                      <a:r>
                        <a:t>3.4 / 5</a:t>
                      </a:r>
                    </a:p>
                  </a:txBody>
                  <a:tcPr/>
                </a:tc>
                <a:tc>
                  <a:txBody>
                    <a:bodyPr/>
                    <a:lstStyle/>
                    <a:p>
                      <a:pPr>
                        <a:defRPr sz="1100">
                          <a:solidFill>
                            <a:srgbClr val="1C2A3A"/>
                          </a:solidFill>
                          <a:latin typeface="Calibri"/>
                        </a:defRPr>
                      </a:pPr>
                      <a:r>
                        <a:t>3.8 / 5</a:t>
                      </a:r>
                    </a:p>
                  </a:txBody>
                  <a:tcPr/>
                </a:tc>
                <a:tc>
                  <a:txBody>
                    <a:bodyPr/>
                    <a:lstStyle/>
                    <a:p>
                      <a:pPr>
                        <a:defRPr sz="1100">
                          <a:solidFill>
                            <a:srgbClr val="1C2A3A"/>
                          </a:solidFill>
                          <a:latin typeface="Calibri"/>
                        </a:defRPr>
                      </a:pPr>
                      <a:r>
                        <a:t>3.49 / 5</a:t>
                      </a:r>
                    </a:p>
                  </a:txBody>
                  <a:tcPr/>
                </a:tc>
              </a:tr>
              <a:tr h="457200">
                <a:tc>
                  <a:txBody>
                    <a:bodyPr/>
                    <a:lstStyle/>
                    <a:p>
                      <a:pPr>
                        <a:defRPr sz="1100">
                          <a:solidFill>
                            <a:srgbClr val="1C2A3A"/>
                          </a:solidFill>
                          <a:latin typeface="Calibri"/>
                        </a:defRPr>
                      </a:pPr>
                      <a:r>
                        <a:t>FinQA-7B (FT)</a:t>
                      </a:r>
                    </a:p>
                  </a:txBody>
                  <a:tcPr>
                    <a:solidFill>
                      <a:srgbClr val="E0E3E8"/>
                    </a:solidFill>
                  </a:tcPr>
                </a:tc>
                <a:tc>
                  <a:txBody>
                    <a:bodyPr/>
                    <a:lstStyle/>
                    <a:p>
                      <a:pPr>
                        <a:defRPr sz="1100">
                          <a:solidFill>
                            <a:srgbClr val="1C2A3A"/>
                          </a:solidFill>
                          <a:latin typeface="Calibri"/>
                        </a:defRPr>
                      </a:pPr>
                      <a:r>
                        <a:t>1.6 / 5</a:t>
                      </a:r>
                    </a:p>
                  </a:txBody>
                  <a:tcPr>
                    <a:solidFill>
                      <a:srgbClr val="E0E3E8"/>
                    </a:solidFill>
                  </a:tcPr>
                </a:tc>
                <a:tc>
                  <a:txBody>
                    <a:bodyPr/>
                    <a:lstStyle/>
                    <a:p>
                      <a:pPr>
                        <a:defRPr sz="1100">
                          <a:solidFill>
                            <a:srgbClr val="1C2A3A"/>
                          </a:solidFill>
                          <a:latin typeface="Calibri"/>
                        </a:defRPr>
                      </a:pPr>
                      <a:r>
                        <a:t>2.6 / 5</a:t>
                      </a:r>
                    </a:p>
                  </a:txBody>
                  <a:tcPr>
                    <a:solidFill>
                      <a:srgbClr val="E0E3E8"/>
                    </a:solidFill>
                  </a:tcPr>
                </a:tc>
                <a:tc>
                  <a:txBody>
                    <a:bodyPr/>
                    <a:lstStyle/>
                    <a:p>
                      <a:pPr>
                        <a:defRPr sz="1100">
                          <a:solidFill>
                            <a:srgbClr val="1C2A3A"/>
                          </a:solidFill>
                          <a:latin typeface="Calibri"/>
                        </a:defRPr>
                      </a:pPr>
                      <a:r>
                        <a:t>2.1 / 5</a:t>
                      </a:r>
                    </a:p>
                  </a:txBody>
                  <a:tcPr>
                    <a:solidFill>
                      <a:srgbClr val="E0E3E8"/>
                    </a:solidFill>
                  </a:tcPr>
                </a:tc>
                <a:tc>
                  <a:txBody>
                    <a:bodyPr/>
                    <a:lstStyle/>
                    <a:p>
                      <a:pPr>
                        <a:defRPr sz="1100">
                          <a:solidFill>
                            <a:srgbClr val="1C2A3A"/>
                          </a:solidFill>
                          <a:latin typeface="Calibri"/>
                        </a:defRPr>
                      </a:pPr>
                      <a:r>
                        <a:t>2.00 / 5</a:t>
                      </a:r>
                    </a:p>
                  </a:txBody>
                  <a:tcPr>
                    <a:solidFill>
                      <a:srgbClr val="E0E3E8"/>
                    </a:solidFill>
                  </a:tcPr>
                </a:tc>
              </a:tr>
              <a:tr h="457200">
                <a:tc>
                  <a:txBody>
                    <a:bodyPr/>
                    <a:lstStyle/>
                    <a:p>
                      <a:pPr>
                        <a:defRPr sz="1100">
                          <a:solidFill>
                            <a:srgbClr val="1C2A3A"/>
                          </a:solidFill>
                          <a:latin typeface="Calibri"/>
                        </a:defRPr>
                      </a:pPr>
                      <a:r>
                        <a:t>FinQA-7B + RAG</a:t>
                      </a:r>
                    </a:p>
                  </a:txBody>
                  <a:tcPr/>
                </a:tc>
                <a:tc>
                  <a:txBody>
                    <a:bodyPr/>
                    <a:lstStyle/>
                    <a:p>
                      <a:pPr>
                        <a:defRPr sz="1100">
                          <a:solidFill>
                            <a:srgbClr val="1C2A3A"/>
                          </a:solidFill>
                          <a:latin typeface="Calibri"/>
                        </a:defRPr>
                      </a:pPr>
                      <a:r>
                        <a:t>3.6 / 5</a:t>
                      </a:r>
                    </a:p>
                  </a:txBody>
                  <a:tcPr/>
                </a:tc>
                <a:tc>
                  <a:txBody>
                    <a:bodyPr/>
                    <a:lstStyle/>
                    <a:p>
                      <a:pPr>
                        <a:defRPr sz="1100">
                          <a:solidFill>
                            <a:srgbClr val="1C2A3A"/>
                          </a:solidFill>
                          <a:latin typeface="Calibri"/>
                        </a:defRPr>
                      </a:pPr>
                      <a:r>
                        <a:t>3.6 / 5</a:t>
                      </a:r>
                    </a:p>
                  </a:txBody>
                  <a:tcPr/>
                </a:tc>
                <a:tc>
                  <a:txBody>
                    <a:bodyPr/>
                    <a:lstStyle/>
                    <a:p>
                      <a:pPr>
                        <a:defRPr sz="1100">
                          <a:solidFill>
                            <a:srgbClr val="1C2A3A"/>
                          </a:solidFill>
                          <a:latin typeface="Calibri"/>
                        </a:defRPr>
                      </a:pPr>
                      <a:r>
                        <a:t>3.8 / 5</a:t>
                      </a:r>
                    </a:p>
                  </a:txBody>
                  <a:tcPr/>
                </a:tc>
                <a:tc>
                  <a:txBody>
                    <a:bodyPr/>
                    <a:lstStyle/>
                    <a:p>
                      <a:pPr>
                        <a:defRPr sz="1100">
                          <a:solidFill>
                            <a:srgbClr val="1C2A3A"/>
                          </a:solidFill>
                          <a:latin typeface="Calibri"/>
                        </a:defRPr>
                      </a:pPr>
                      <a:r>
                        <a:t>3.64 / 5</a:t>
                      </a:r>
                    </a:p>
                  </a:txBody>
                  <a:tcPr/>
                </a:tc>
              </a:tr>
            </a:tbl>
          </a:graphicData>
        </a:graphic>
      </p:graphicFrame>
      <p:graphicFrame>
        <p:nvGraphicFramePr>
          <p:cNvPr id="4" name="Chart 3"/>
          <p:cNvGraphicFramePr>
            <a:graphicFrameLocks noGrp="1"/>
          </p:cNvGraphicFramePr>
          <p:nvPr/>
        </p:nvGraphicFramePr>
        <p:xfrm>
          <a:off x="457200" y="3840480"/>
          <a:ext cx="6858000" cy="2743200"/>
        </p:xfrm>
        <a:graphic>
          <a:graphicData uri="http://schemas.openxmlformats.org/drawingml/2006/chart">
            <c:chart xmlns:c="http://schemas.openxmlformats.org/drawingml/2006/chart" r:id="rId2"/>
          </a:graphicData>
        </a:graphic>
      </p:graphicFrame>
      <p:sp>
        <p:nvSpPr>
          <p:cNvPr id="5" name="Rectangle 4"/>
          <p:cNvSpPr/>
          <p:nvPr/>
        </p:nvSpPr>
        <p:spPr>
          <a:xfrm>
            <a:off x="7589520" y="1371600"/>
            <a:ext cx="4114800" cy="118872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Faithfulness: RAG's Key Advantage</a:t>
            </a:r>
          </a:p>
          <a:p>
            <a:pPr>
              <a:defRPr sz="1200">
                <a:solidFill>
                  <a:srgbClr val="1C2A3A"/>
                </a:solidFill>
                <a:latin typeface="Calibri"/>
              </a:defRPr>
            </a:pPr>
            <a:r>
              <a:t>RAG: 3.8 vs Base: 1.9 -- retrieval grounds responses in documents, reducing hallucination</a:t>
            </a:r>
          </a:p>
        </p:txBody>
      </p:sp>
      <p:sp>
        <p:nvSpPr>
          <p:cNvPr id="6" name="Rectangle 5"/>
          <p:cNvSpPr/>
          <p:nvPr/>
        </p:nvSpPr>
        <p:spPr>
          <a:xfrm>
            <a:off x="7589520" y="2743200"/>
            <a:ext cx="4114800" cy="11887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Overall Quality</a:t>
            </a:r>
          </a:p>
          <a:p>
            <a:pPr>
              <a:defRPr sz="1200">
                <a:solidFill>
                  <a:srgbClr val="1C2A3A"/>
                </a:solidFill>
                <a:latin typeface="Calibri"/>
              </a:defRPr>
            </a:pPr>
            <a:r>
              <a:t>Hybrid: 3.64/5 -- highest across all dimensions. RAG: 3.49/5 -- strong factual grounding</a:t>
            </a:r>
          </a:p>
        </p:txBody>
      </p:sp>
      <p:sp>
        <p:nvSpPr>
          <p:cNvPr id="7" name="Rectangle 6"/>
          <p:cNvSpPr/>
          <p:nvPr/>
        </p:nvSpPr>
        <p:spPr>
          <a:xfrm>
            <a:off x="7589520" y="4114800"/>
            <a:ext cx="4114800" cy="1188720"/>
          </a:xfrm>
          <a:prstGeom prst="rect">
            <a:avLst/>
          </a:prstGeom>
          <a:solidFill>
            <a:srgbClr val="FFF1C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Production Implication</a:t>
            </a:r>
          </a:p>
          <a:p>
            <a:pPr>
              <a:defRPr sz="1200">
                <a:solidFill>
                  <a:srgbClr val="1C2A3A"/>
                </a:solidFill>
                <a:latin typeface="Calibri"/>
              </a:defRPr>
            </a:pPr>
            <a:r>
              <a:t>RAG reduces hallucination risk by anchoring answers in retrieved documents -- critical for financial applications</a:t>
            </a:r>
          </a:p>
        </p:txBody>
      </p:sp>
      <p:sp>
        <p:nvSpPr>
          <p:cNvPr id="8" name="TextBox 7"/>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60/55</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RAG Strengths: Conclusions</a:t>
            </a:r>
          </a:p>
          <a:p>
            <a:pPr>
              <a:defRPr sz="1600">
                <a:solidFill>
                  <a:srgbClr val="ECEFF1"/>
                </a:solidFill>
                <a:latin typeface="Calibri"/>
              </a:defRPr>
            </a:pPr>
            <a:r>
              <a:t>When and why RAG provides clear value</a:t>
            </a:r>
          </a:p>
        </p:txBody>
      </p:sp>
      <p:sp>
        <p:nvSpPr>
          <p:cNvPr id="3" name="Rectangle 2"/>
          <p:cNvSpPr/>
          <p:nvPr/>
        </p:nvSpPr>
        <p:spPr>
          <a:xfrm>
            <a:off x="457200" y="1371600"/>
            <a:ext cx="11247120" cy="91440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RAG excels on factual retrieval</a:t>
            </a:r>
          </a:p>
          <a:p>
            <a:pPr>
              <a:defRPr sz="1200">
                <a:solidFill>
                  <a:srgbClr val="1C2A3A"/>
                </a:solidFill>
                <a:latin typeface="Calibri"/>
              </a:defRPr>
            </a:pPr>
            <a:r>
              <a:t>RAG achieves 86.7% when the KB has the answer -- +43pp over base, +47pp over fine-tuning</a:t>
            </a:r>
          </a:p>
        </p:txBody>
      </p:sp>
      <p:sp>
        <p:nvSpPr>
          <p:cNvPr id="4" name="Rectangle 3"/>
          <p:cNvSpPr/>
          <p:nvPr/>
        </p:nvSpPr>
        <p:spPr>
          <a:xfrm>
            <a:off x="457200" y="2423160"/>
            <a:ext cx="112471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Data alignment is critical</a:t>
            </a:r>
          </a:p>
          <a:p>
            <a:pPr>
              <a:defRPr sz="1200">
                <a:solidFill>
                  <a:srgbClr val="1C2A3A"/>
                </a:solidFill>
                <a:latin typeface="Calibri"/>
              </a:defRPr>
            </a:pPr>
            <a:r>
              <a:t>Standard benchmark RAG: ~15% (data conflict). This benchmark: 86.7% (aligned data). The problem was never RAG itself.</a:t>
            </a:r>
          </a:p>
        </p:txBody>
      </p:sp>
      <p:sp>
        <p:nvSpPr>
          <p:cNvPr id="5" name="Rectangle 4"/>
          <p:cNvSpPr/>
          <p:nvPr/>
        </p:nvSpPr>
        <p:spPr>
          <a:xfrm>
            <a:off x="457200" y="3474720"/>
            <a:ext cx="112471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Hybrid is best of both worlds</a:t>
            </a:r>
          </a:p>
          <a:p>
            <a:pPr>
              <a:defRPr sz="1200">
                <a:solidFill>
                  <a:srgbClr val="1C2A3A"/>
                </a:solidFill>
                <a:latin typeface="Calibri"/>
              </a:defRPr>
            </a:pPr>
            <a:r>
              <a:t>Hybrid: 93.3% -- fine-tuning provides reasoning skills, RAG provides factual grounding. Together: highest accuracy.</a:t>
            </a:r>
          </a:p>
        </p:txBody>
      </p:sp>
      <p:sp>
        <p:nvSpPr>
          <p:cNvPr id="6" name="Rectangle 5"/>
          <p:cNvSpPr/>
          <p:nvPr/>
        </p:nvSpPr>
        <p:spPr>
          <a:xfrm>
            <a:off x="457200" y="4526279"/>
            <a:ext cx="11247120" cy="91440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RAG reduces hallucination</a:t>
            </a:r>
          </a:p>
          <a:p>
            <a:pPr>
              <a:defRPr sz="1200">
                <a:solidFill>
                  <a:srgbClr val="1C2A3A"/>
                </a:solidFill>
                <a:latin typeface="Calibri"/>
              </a:defRPr>
            </a:pPr>
            <a:r>
              <a:t>Judge faithfulness: RAG 3.8/5 vs Base 1.9/5. Retrieved documents anchor responses in facts.</a:t>
            </a:r>
          </a:p>
        </p:txBody>
      </p:sp>
      <p:sp>
        <p:nvSpPr>
          <p:cNvPr id="7" name="Rectangle 6"/>
          <p:cNvSpPr/>
          <p:nvPr/>
        </p:nvSpPr>
        <p:spPr>
          <a:xfrm>
            <a:off x="457200" y="5577840"/>
            <a:ext cx="11247120" cy="914400"/>
          </a:xfrm>
          <a:prstGeom prst="rect">
            <a:avLst/>
          </a:prstGeom>
          <a:solidFill>
            <a:srgbClr val="FFF1C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Know your use case</a:t>
            </a:r>
          </a:p>
          <a:p>
            <a:pPr>
              <a:defRPr sz="1200">
                <a:solidFill>
                  <a:srgbClr val="1C2A3A"/>
                </a:solidFill>
                <a:latin typeface="Calibri"/>
              </a:defRPr>
            </a:pPr>
            <a:r>
              <a:t>Proprietary documents -&gt; RAG. Domain reasoning -&gt; Fine-tuning. Both -&gt; Hybrid. Each solves a different problem.</a:t>
            </a:r>
          </a:p>
        </p:txBody>
      </p:sp>
      <p:sp>
        <p:nvSpPr>
          <p:cNvPr id="8" name="TextBox 7"/>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61/55</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High-Level Architecture</a:t>
            </a:r>
          </a:p>
          <a:p>
            <a:pPr>
              <a:defRPr sz="1600">
                <a:solidFill>
                  <a:srgbClr val="ECEFF1"/>
                </a:solidFill>
                <a:latin typeface="Calibri"/>
              </a:defRPr>
            </a:pPr>
            <a:r>
              <a:t>4-way comparison: same architecture, different strategy</a:t>
            </a:r>
          </a:p>
        </p:txBody>
      </p:sp>
      <p:pic>
        <p:nvPicPr>
          <p:cNvPr id="3" name="Picture 2" descr="architecture_overview.png"/>
          <p:cNvPicPr>
            <a:picLocks noChangeAspect="1"/>
          </p:cNvPicPr>
          <p:nvPr/>
        </p:nvPicPr>
        <p:blipFill>
          <a:blip r:embed="rId2"/>
          <a:stretch>
            <a:fillRect/>
          </a:stretch>
        </p:blipFill>
        <p:spPr>
          <a:xfrm>
            <a:off x="457200" y="1280160"/>
            <a:ext cx="10972800" cy="5029200"/>
          </a:xfrm>
          <a:prstGeom prst="rect">
            <a:avLst/>
          </a:prstGeom>
        </p:spPr>
      </p:pic>
      <p:sp>
        <p:nvSpPr>
          <p:cNvPr id="4" name="TextBox 3"/>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62/55</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The Formula Trap: Why RAG Appears to Fail</a:t>
            </a:r>
          </a:p>
          <a:p>
            <a:pPr>
              <a:defRPr sz="1600">
                <a:solidFill>
                  <a:srgbClr val="ECEFF1"/>
                </a:solidFill>
                <a:latin typeface="Calibri"/>
              </a:defRPr>
            </a:pPr>
            <a:r>
              <a:t>Same model, same RAG pipeline — +71.4pp swing from data alignment alone</a:t>
            </a:r>
          </a:p>
        </p:txBody>
      </p:sp>
      <p:pic>
        <p:nvPicPr>
          <p:cNvPr id="3" name="Picture 2" descr="formula_trap.png"/>
          <p:cNvPicPr>
            <a:picLocks noChangeAspect="1"/>
          </p:cNvPicPr>
          <p:nvPr/>
        </p:nvPicPr>
        <p:blipFill>
          <a:blip r:embed="rId2"/>
          <a:stretch>
            <a:fillRect/>
          </a:stretch>
        </p:blipFill>
        <p:spPr>
          <a:xfrm>
            <a:off x="274320" y="1188720"/>
            <a:ext cx="11430000" cy="3657600"/>
          </a:xfrm>
          <a:prstGeom prst="rect">
            <a:avLst/>
          </a:prstGeom>
        </p:spPr>
      </p:pic>
      <p:sp>
        <p:nvSpPr>
          <p:cNvPr id="4" name="Rectangle 3"/>
          <p:cNvSpPr/>
          <p:nvPr/>
        </p:nvSpPr>
        <p:spPr>
          <a:xfrm>
            <a:off x="457200" y="5029200"/>
            <a:ext cx="5303520" cy="1371600"/>
          </a:xfrm>
          <a:prstGeom prst="rect">
            <a:avLst/>
          </a:prstGeom>
          <a:solidFill>
            <a:srgbClr val="FCCECE"/>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The Problem:</a:t>
            </a:r>
          </a:p>
          <a:p>
            <a:pPr>
              <a:defRPr sz="1200">
                <a:solidFill>
                  <a:srgbClr val="1C2A3A"/>
                </a:solidFill>
                <a:latin typeface="Calibri"/>
              </a:defRPr>
            </a:pPr>
            <a:r>
              <a:t>Most benchmarks provide test data that conflicts with RAG-retrieved data. The model receives competing numbers and gets confused. This is a benchmark design flaw, not a RAG limitation.</a:t>
            </a:r>
          </a:p>
        </p:txBody>
      </p:sp>
      <p:sp>
        <p:nvSpPr>
          <p:cNvPr id="5" name="Rectangle 4"/>
          <p:cNvSpPr/>
          <p:nvPr/>
        </p:nvSpPr>
        <p:spPr>
          <a:xfrm>
            <a:off x="6217920" y="5029200"/>
            <a:ext cx="5303520" cy="13716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The Fix:</a:t>
            </a:r>
          </a:p>
          <a:p>
            <a:pPr>
              <a:defRPr sz="1200">
                <a:solidFill>
                  <a:srgbClr val="1C2A3A"/>
                </a:solidFill>
                <a:latin typeface="Calibri"/>
              </a:defRPr>
            </a:pPr>
            <a:r>
              <a:t>When questions ask about data actually in the KB (the production case), RAG jumps from 15% to 86.7% and Hybrid reaches 93.3%.</a:t>
            </a:r>
          </a:p>
        </p:txBody>
      </p:sp>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63/55</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Benchmark Methodology</a:t>
            </a:r>
          </a:p>
          <a:p>
            <a:pPr>
              <a:defRPr sz="1600">
                <a:solidFill>
                  <a:srgbClr val="ECEFF1"/>
                </a:solidFill>
                <a:latin typeface="Calibri"/>
              </a:defRPr>
            </a:pPr>
            <a:r>
              <a:t>6 suites, 253 test cases, 3-axis LLM-as-Judge evaluation</a:t>
            </a:r>
          </a:p>
        </p:txBody>
      </p:sp>
      <p:pic>
        <p:nvPicPr>
          <p:cNvPr id="3" name="Picture 2" descr="methodology.png"/>
          <p:cNvPicPr>
            <a:picLocks noChangeAspect="1"/>
          </p:cNvPicPr>
          <p:nvPr/>
        </p:nvPicPr>
        <p:blipFill>
          <a:blip r:embed="rId2"/>
          <a:stretch>
            <a:fillRect/>
          </a:stretch>
        </p:blipFill>
        <p:spPr>
          <a:xfrm>
            <a:off x="457200" y="1280160"/>
            <a:ext cx="10972800" cy="5029200"/>
          </a:xfrm>
          <a:prstGeom prst="rect">
            <a:avLst/>
          </a:prstGeom>
        </p:spPr>
      </p:pic>
      <p:sp>
        <p:nvSpPr>
          <p:cNvPr id="4" name="TextBox 3"/>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64/55</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Adversarial Stress Test: 120 Cases</a:t>
            </a:r>
          </a:p>
          <a:p>
            <a:pPr>
              <a:defRPr sz="1600">
                <a:solidFill>
                  <a:srgbClr val="ECEFF1"/>
                </a:solidFill>
                <a:latin typeface="Calibri"/>
              </a:defRPr>
            </a:pPr>
            <a:r>
              <a:t>3 attack vectors x 4 task types — where models break</a:t>
            </a:r>
          </a:p>
        </p:txBody>
      </p:sp>
      <p:pic>
        <p:nvPicPr>
          <p:cNvPr id="3" name="Picture 2" descr="adversarial.png"/>
          <p:cNvPicPr>
            <a:picLocks noChangeAspect="1"/>
          </p:cNvPicPr>
          <p:nvPr/>
        </p:nvPicPr>
        <p:blipFill>
          <a:blip r:embed="rId2"/>
          <a:stretch>
            <a:fillRect/>
          </a:stretch>
        </p:blipFill>
        <p:spPr>
          <a:xfrm>
            <a:off x="457200" y="1188720"/>
            <a:ext cx="10972800" cy="3840480"/>
          </a:xfrm>
          <a:prstGeom prst="rect">
            <a:avLst/>
          </a:prstGeom>
        </p:spPr>
      </p:pic>
      <p:sp>
        <p:nvSpPr>
          <p:cNvPr id="4" name="Rectangle 3"/>
          <p:cNvSpPr/>
          <p:nvPr/>
        </p:nvSpPr>
        <p:spPr>
          <a:xfrm>
            <a:off x="457200" y="5212080"/>
            <a:ext cx="11247120" cy="1097280"/>
          </a:xfrm>
          <a:prstGeom prst="rect">
            <a:avLst/>
          </a:prstGeom>
          <a:solidFill>
            <a:srgbClr val="FFF1C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Key Insight:</a:t>
            </a:r>
          </a:p>
          <a:p>
            <a:pPr>
              <a:defRPr sz="1200">
                <a:solidFill>
                  <a:srgbClr val="1C2A3A"/>
                </a:solidFill>
                <a:latin typeface="Calibri"/>
              </a:defRPr>
            </a:pPr>
            <a:r>
              <a:t>On reasoning tasks, adding more context through RAG DEGRADES performance -- Hybrid scores worst (1.86/5). But on classification tasks, fine-tuning and RAG provide complementary robustness. Context helps classification but hurts computation.</a:t>
            </a:r>
          </a:p>
        </p:txBody>
      </p:sp>
      <p:sp>
        <p:nvSpPr>
          <p:cNvPr id="5" name="TextBox 4"/>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65/55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The Fundamental Asymmetry: Knowledge vs Skill</a:t>
            </a:r>
          </a:p>
          <a:p>
            <a:pPr>
              <a:defRPr sz="1600">
                <a:solidFill>
                  <a:srgbClr val="ECEFF1"/>
                </a:solidFill>
                <a:latin typeface="Calibri"/>
              </a:defRPr>
            </a:pPr>
            <a:r>
              <a:t>What each approach provides — measured across 253 experiments</a:t>
            </a:r>
          </a:p>
        </p:txBody>
      </p:sp>
      <p:pic>
        <p:nvPicPr>
          <p:cNvPr id="3" name="Picture 2" descr="knowledge_vs_skill.png"/>
          <p:cNvPicPr>
            <a:picLocks noChangeAspect="1"/>
          </p:cNvPicPr>
          <p:nvPr/>
        </p:nvPicPr>
        <p:blipFill>
          <a:blip r:embed="rId2"/>
          <a:stretch>
            <a:fillRect/>
          </a:stretch>
        </p:blipFill>
        <p:spPr>
          <a:xfrm>
            <a:off x="274320" y="1188720"/>
            <a:ext cx="6400800" cy="5029200"/>
          </a:xfrm>
          <a:prstGeom prst="rect">
            <a:avLst/>
          </a:prstGeom>
        </p:spPr>
      </p:pic>
      <p:sp>
        <p:nvSpPr>
          <p:cNvPr id="4" name="Rectangle 3"/>
          <p:cNvSpPr/>
          <p:nvPr/>
        </p:nvSpPr>
        <p:spPr>
          <a:xfrm>
            <a:off x="6858000" y="1371600"/>
            <a:ext cx="4846320" cy="13716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Fine-Tuning teaches SKILLS</a:t>
            </a:r>
          </a:p>
          <a:p>
            <a:pPr>
              <a:defRPr sz="1200">
                <a:solidFill>
                  <a:srgbClr val="1C2A3A"/>
                </a:solidFill>
                <a:latin typeface="Calibri"/>
              </a:defRPr>
            </a:pPr>
            <a:r>
              <a:t>+25pp on sentiment (45% → 70%)</a:t>
            </a:r>
            <a:br/>
            <a:r>
              <a:t>+46pp on numerical (15% → 61%)</a:t>
            </a:r>
            <a:br/>
            <a:r>
              <a:t>100% on domain jargon (vs RAG 0%)</a:t>
            </a:r>
          </a:p>
        </p:txBody>
      </p:sp>
      <p:sp>
        <p:nvSpPr>
          <p:cNvPr id="5" name="Rectangle 4"/>
          <p:cNvSpPr/>
          <p:nvPr/>
        </p:nvSpPr>
        <p:spPr>
          <a:xfrm>
            <a:off x="6858000" y="2926080"/>
            <a:ext cx="4846320" cy="137160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RAG provides KNOWLEDGE</a:t>
            </a:r>
          </a:p>
          <a:p>
            <a:pPr>
              <a:defRPr sz="1200">
                <a:solidFill>
                  <a:srgbClr val="1C2A3A"/>
                </a:solidFill>
                <a:latin typeface="Calibri"/>
              </a:defRPr>
            </a:pPr>
            <a:r>
              <a:t>86.7% on factual retrieval</a:t>
            </a:r>
            <a:br/>
            <a:r>
              <a:t>3.8/5 faithfulness (2x over base)</a:t>
            </a:r>
            <a:br/>
            <a:r>
              <a:t>75-100% on direct document Q&amp;A</a:t>
            </a:r>
          </a:p>
        </p:txBody>
      </p:sp>
      <p:sp>
        <p:nvSpPr>
          <p:cNvPr id="6" name="Rectangle 5"/>
          <p:cNvSpPr/>
          <p:nvPr/>
        </p:nvSpPr>
        <p:spPr>
          <a:xfrm>
            <a:off x="6858000" y="4480560"/>
            <a:ext cx="4846320" cy="1371600"/>
          </a:xfrm>
          <a:prstGeom prst="rect">
            <a:avLst/>
          </a:prstGeom>
          <a:solidFill>
            <a:srgbClr val="D7C8F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HYBRID wins overall</a:t>
            </a:r>
          </a:p>
          <a:p>
            <a:pPr>
              <a:defRPr sz="1200">
                <a:solidFill>
                  <a:srgbClr val="1C2A3A"/>
                </a:solidFill>
                <a:latin typeface="Calibri"/>
              </a:defRPr>
            </a:pPr>
            <a:r>
              <a:t>93.3% on RAG strengths</a:t>
            </a:r>
            <a:br/>
            <a:r>
              <a:t>95% on spam detection</a:t>
            </a:r>
            <a:br/>
            <a:r>
              <a:t>100% cross-doc synthesis &amp; direct retrieval</a:t>
            </a:r>
          </a:p>
        </p:txBody>
      </p:sp>
      <p:sp>
        <p:nvSpPr>
          <p:cNvPr id="7" name="TextBox 6"/>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66/55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What RAG Actually Retrieves: 7-Category Taxonomy</a:t>
            </a:r>
          </a:p>
          <a:p>
            <a:pPr>
              <a:defRPr sz="1600">
                <a:solidFill>
                  <a:srgbClr val="ECEFF1"/>
                </a:solidFill>
                <a:latin typeface="Calibri"/>
              </a:defRPr>
            </a:pPr>
            <a:r>
              <a:t>From 96% accuracy to actively harmful — it depends on data alignment</a:t>
            </a:r>
          </a:p>
        </p:txBody>
      </p:sp>
      <p:pic>
        <p:nvPicPr>
          <p:cNvPr id="3" name="Picture 2" descr="taxonomy.png"/>
          <p:cNvPicPr>
            <a:picLocks noChangeAspect="1"/>
          </p:cNvPicPr>
          <p:nvPr/>
        </p:nvPicPr>
        <p:blipFill>
          <a:blip r:embed="rId2"/>
          <a:stretch>
            <a:fillRect/>
          </a:stretch>
        </p:blipFill>
        <p:spPr>
          <a:xfrm>
            <a:off x="274320" y="1188720"/>
            <a:ext cx="11430000" cy="4114800"/>
          </a:xfrm>
          <a:prstGeom prst="rect">
            <a:avLst/>
          </a:prstGeom>
        </p:spPr>
      </p:pic>
      <p:sp>
        <p:nvSpPr>
          <p:cNvPr id="4" name="Rectangle 3"/>
          <p:cNvSpPr/>
          <p:nvPr/>
        </p:nvSpPr>
        <p:spPr>
          <a:xfrm>
            <a:off x="457200" y="5486400"/>
            <a:ext cx="11247120" cy="914400"/>
          </a:xfrm>
          <a:prstGeom prst="rect">
            <a:avLst/>
          </a:prstGeom>
          <a:solidFill>
            <a:srgbClr val="FCCECE"/>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Critical finding:</a:t>
            </a:r>
          </a:p>
          <a:p>
            <a:pPr>
              <a:defRPr sz="1200">
                <a:solidFill>
                  <a:srgbClr val="1C2A3A"/>
                </a:solidFill>
                <a:latin typeface="Calibri"/>
              </a:defRPr>
            </a:pPr>
            <a:r>
              <a:t>Only 20% of test cases are properly covered by the RAG KB, and ~30% are actively harmed by retrieval. RAG performance is entirely determined by KB quality and data alignment.</a:t>
            </a:r>
          </a:p>
        </p:txBody>
      </p:sp>
      <p:sp>
        <p:nvSpPr>
          <p:cNvPr id="5" name="TextBox 4"/>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67/55</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Decision Framework: Evidence-Based</a:t>
            </a:r>
          </a:p>
          <a:p>
            <a:pPr>
              <a:defRPr sz="1600">
                <a:solidFill>
                  <a:srgbClr val="ECEFF1"/>
                </a:solidFill>
                <a:latin typeface="Calibri"/>
              </a:defRPr>
            </a:pPr>
            <a:r>
              <a:t>When to use each approach — backed by 253 experiments</a:t>
            </a:r>
          </a:p>
        </p:txBody>
      </p:sp>
      <p:pic>
        <p:nvPicPr>
          <p:cNvPr id="3" name="Picture 2" descr="decision_evidence.png"/>
          <p:cNvPicPr>
            <a:picLocks noChangeAspect="1"/>
          </p:cNvPicPr>
          <p:nvPr/>
        </p:nvPicPr>
        <p:blipFill>
          <a:blip r:embed="rId2"/>
          <a:stretch>
            <a:fillRect/>
          </a:stretch>
        </p:blipFill>
        <p:spPr>
          <a:xfrm>
            <a:off x="914400" y="1188720"/>
            <a:ext cx="10058400" cy="5029200"/>
          </a:xfrm>
          <a:prstGeom prst="rect">
            <a:avLst/>
          </a:prstGeom>
        </p:spPr>
      </p:pic>
      <p:sp>
        <p:nvSpPr>
          <p:cNvPr id="4" name="TextBox 3"/>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68/55</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From Prototype to Production</a:t>
            </a:r>
          </a:p>
          <a:p>
            <a:pPr>
              <a:defRPr sz="1600">
                <a:solidFill>
                  <a:srgbClr val="ECEFF1"/>
                </a:solidFill>
                <a:latin typeface="Calibri"/>
              </a:defRPr>
            </a:pPr>
            <a:r>
              <a:t>The practical 4-phase workflow validated by our benchmark results</a:t>
            </a:r>
          </a:p>
        </p:txBody>
      </p:sp>
      <p:pic>
        <p:nvPicPr>
          <p:cNvPr id="3" name="Picture 2" descr="workflow.png"/>
          <p:cNvPicPr>
            <a:picLocks noChangeAspect="1"/>
          </p:cNvPicPr>
          <p:nvPr/>
        </p:nvPicPr>
        <p:blipFill>
          <a:blip r:embed="rId2"/>
          <a:stretch>
            <a:fillRect/>
          </a:stretch>
        </p:blipFill>
        <p:spPr>
          <a:xfrm>
            <a:off x="274320" y="1188720"/>
            <a:ext cx="11430000" cy="2743200"/>
          </a:xfrm>
          <a:prstGeom prst="rect">
            <a:avLst/>
          </a:prstGeom>
        </p:spPr>
      </p:pic>
      <p:sp>
        <p:nvSpPr>
          <p:cNvPr id="4" name="Rectangle 3"/>
          <p:cNvSpPr/>
          <p:nvPr/>
        </p:nvSpPr>
        <p:spPr>
          <a:xfrm>
            <a:off x="274320" y="4114800"/>
            <a:ext cx="2743200" cy="228600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Phase 1: RAG</a:t>
            </a:r>
          </a:p>
          <a:p>
            <a:pPr>
              <a:defRPr sz="1200">
                <a:solidFill>
                  <a:srgbClr val="1C2A3A"/>
                </a:solidFill>
                <a:latin typeface="Calibri"/>
              </a:defRPr>
            </a:pPr>
            <a:r>
              <a:t>Fastest path to value. 86.7% accuracy on factual retrieval with zero training. Deploy in days, not weeks.</a:t>
            </a:r>
          </a:p>
        </p:txBody>
      </p:sp>
      <p:sp>
        <p:nvSpPr>
          <p:cNvPr id="5" name="Rectangle 4"/>
          <p:cNvSpPr/>
          <p:nvPr/>
        </p:nvSpPr>
        <p:spPr>
          <a:xfrm>
            <a:off x="3200400" y="4114800"/>
            <a:ext cx="2743200" cy="2286000"/>
          </a:xfrm>
          <a:prstGeom prst="rect">
            <a:avLst/>
          </a:prstGeom>
          <a:solidFill>
            <a:srgbClr val="FFF1C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Phase 2: Find Gaps</a:t>
            </a:r>
          </a:p>
          <a:p>
            <a:pPr>
              <a:defRPr sz="1200">
                <a:solidFill>
                  <a:srgbClr val="1C2A3A"/>
                </a:solidFill>
                <a:latin typeface="Calibri"/>
              </a:defRPr>
            </a:pPr>
            <a:r>
              <a:t>RAG fails on: domain jargon (0%), numerical reasoning (15%), adversarial cases (3% KB coverage). Collect failures as training data.</a:t>
            </a:r>
          </a:p>
        </p:txBody>
      </p:sp>
      <p:sp>
        <p:nvSpPr>
          <p:cNvPr id="6" name="Rectangle 5"/>
          <p:cNvSpPr/>
          <p:nvPr/>
        </p:nvSpPr>
        <p:spPr>
          <a:xfrm>
            <a:off x="6126480" y="4114800"/>
            <a:ext cx="2743200" cy="22860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Phase 3: Fine-Tune</a:t>
            </a:r>
          </a:p>
          <a:p>
            <a:pPr>
              <a:defRPr sz="1200">
                <a:solidFill>
                  <a:srgbClr val="1C2A3A"/>
                </a:solidFill>
                <a:latin typeface="Calibri"/>
              </a:defRPr>
            </a:pPr>
            <a:r>
              <a:t>QLoRA on consumer GPU in &lt;4h. FinBERT: 5K examples → +25pp. FinQA-7B: 8K examples → +46pp. $5-25 on AWS.</a:t>
            </a:r>
          </a:p>
        </p:txBody>
      </p:sp>
      <p:sp>
        <p:nvSpPr>
          <p:cNvPr id="7" name="Rectangle 6"/>
          <p:cNvSpPr/>
          <p:nvPr/>
        </p:nvSpPr>
        <p:spPr>
          <a:xfrm>
            <a:off x="9052560" y="4114800"/>
            <a:ext cx="2743200" cy="2286000"/>
          </a:xfrm>
          <a:prstGeom prst="rect">
            <a:avLst/>
          </a:prstGeom>
          <a:solidFill>
            <a:srgbClr val="D7C8F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Phase 4: Hybrid</a:t>
            </a:r>
          </a:p>
          <a:p>
            <a:pPr>
              <a:defRPr sz="1200">
                <a:solidFill>
                  <a:srgbClr val="1C2A3A"/>
                </a:solidFill>
                <a:latin typeface="Calibri"/>
              </a:defRPr>
            </a:pPr>
            <a:r>
              <a:t>93.3% accuracy + 3.8/5 faithfulness + source citations. The strongest system in every benchmark.</a:t>
            </a:r>
          </a:p>
        </p:txBody>
      </p:sp>
      <p:sp>
        <p:nvSpPr>
          <p:cNvPr id="8" name="TextBox 7"/>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69/55</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1C2A3A"/>
        </a:solidFill>
        <a:effectLst/>
      </p:bgPr>
    </p:bg>
    <p:spTree>
      <p:nvGrpSpPr>
        <p:cNvPr id="1" name=""/>
        <p:cNvGrpSpPr/>
        <p:nvPr/>
      </p:nvGrpSpPr>
      <p:grpSpPr/>
      <p:sp>
        <p:nvSpPr>
          <p:cNvPr id="2" name="TextBox 1"/>
          <p:cNvSpPr txBox="1"/>
          <p:nvPr/>
        </p:nvSpPr>
        <p:spPr>
          <a:xfrm>
            <a:off x="914400" y="1828800"/>
            <a:ext cx="10058400" cy="1371600"/>
          </a:xfrm>
          <a:prstGeom prst="rect">
            <a:avLst/>
          </a:prstGeom>
          <a:noFill/>
        </p:spPr>
        <p:txBody>
          <a:bodyPr wrap="square">
            <a:spAutoFit/>
          </a:bodyPr>
          <a:lstStyle/>
          <a:p>
            <a:pPr algn="ctr">
              <a:defRPr sz="5200" b="1">
                <a:solidFill>
                  <a:srgbClr val="5DAEF2"/>
                </a:solidFill>
                <a:latin typeface="Calibri"/>
              </a:defRPr>
            </a:pPr>
            <a:r>
              <a:t>Thank You</a:t>
            </a:r>
          </a:p>
        </p:txBody>
      </p:sp>
      <p:sp>
        <p:nvSpPr>
          <p:cNvPr id="3" name="TextBox 2"/>
          <p:cNvSpPr txBox="1"/>
          <p:nvPr/>
        </p:nvSpPr>
        <p:spPr>
          <a:xfrm>
            <a:off x="914400" y="3200400"/>
            <a:ext cx="10058400" cy="914400"/>
          </a:xfrm>
          <a:prstGeom prst="rect">
            <a:avLst/>
          </a:prstGeom>
          <a:noFill/>
        </p:spPr>
        <p:txBody>
          <a:bodyPr wrap="square">
            <a:spAutoFit/>
          </a:bodyPr>
          <a:lstStyle/>
          <a:p>
            <a:pPr algn="ctr">
              <a:defRPr sz="2800" b="0">
                <a:solidFill>
                  <a:srgbClr val="ECEFF1"/>
                </a:solidFill>
                <a:latin typeface="Calibri"/>
              </a:defRPr>
            </a:pPr>
            <a:r>
              <a:t>Questions &amp; Discussion</a:t>
            </a:r>
          </a:p>
        </p:txBody>
      </p:sp>
      <p:sp>
        <p:nvSpPr>
          <p:cNvPr id="4" name="TextBox 3"/>
          <p:cNvSpPr txBox="1"/>
          <p:nvPr/>
        </p:nvSpPr>
        <p:spPr>
          <a:xfrm>
            <a:off x="914400" y="4572000"/>
            <a:ext cx="10058400" cy="1371600"/>
          </a:xfrm>
          <a:prstGeom prst="rect">
            <a:avLst/>
          </a:prstGeom>
          <a:noFill/>
        </p:spPr>
        <p:txBody>
          <a:bodyPr wrap="square">
            <a:spAutoFit/>
          </a:bodyPr>
          <a:lstStyle/>
          <a:p>
            <a:pPr algn="ctr">
              <a:defRPr sz="1800" b="0">
                <a:solidFill>
                  <a:srgbClr val="A8C7E8"/>
                </a:solidFill>
                <a:latin typeface="Calibri"/>
              </a:defRPr>
            </a:pPr>
            <a:r>
              <a:t>"Fine-tuning teaches SKILLS. RAG provides INFORMATION.</a:t>
            </a:r>
            <a:br/>
            <a:r>
              <a:t>The best systems combine both."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