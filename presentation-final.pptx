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charts/chart28.xml" ContentType="application/vnd.openxmlformats-officedocument.drawingml.chart+xml"/>
  <Override PartName="/ppt/charts/chart2.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22.xml" ContentType="application/vnd.openxmlformats-officedocument.drawingml.chart+xml"/>
  <Override PartName="/ppt/charts/chart8.xml" ContentType="application/vnd.openxmlformats-officedocument.drawingml.chart+xml"/>
  <Override PartName="/ppt/charts/chart23.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64.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54.xml" ContentType="application/vnd.openxmlformats-officedocument.presentationml.notesSlide+xml"/>
  <Override PartName="/ppt/notesSlides/notesSlide1.xml" ContentType="application/vnd.openxmlformats-officedocument.presentationml.notesSlide+xml"/>
  <Override PartName="/ppt/notesSlides/notesSlide53.xml" ContentType="application/vnd.openxmlformats-officedocument.presentationml.notesSlide+xml"/>
  <Override PartName="/ppt/notesSlides/notesSlide2.xml" ContentType="application/vnd.openxmlformats-officedocument.presentationml.notesSlide+xml"/>
  <Override PartName="/ppt/notesSlides/notesSlide56.xml" ContentType="application/vnd.openxmlformats-officedocument.presentationml.notesSlide+xml"/>
  <Override PartName="/ppt/notesSlides/notesSlide3.xml" ContentType="application/vnd.openxmlformats-officedocument.presentationml.notesSlide+xml"/>
  <Override PartName="/ppt/notesSlides/notesSlide5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3.xml" ContentType="application/vnd.openxmlformats-officedocument.presentationml.notesSlide+xml"/>
  <Override PartName="/ppt/notesSlides/notesSlide58.xml" ContentType="application/vnd.openxmlformats-officedocument.presentationml.notesSlide+xml"/>
  <Override PartName="/ppt/notesSlides/notesSlide70.xml" ContentType="application/vnd.openxmlformats-officedocument.presentationml.notesSlide+xml"/>
  <Override PartName="/ppt/notesSlides/notesSlide7.xml" ContentType="application/vnd.openxmlformats-officedocument.presentationml.notesSlide+xml"/>
  <Override PartName="/ppt/notesSlides/notesSlide62.xml" ContentType="application/vnd.openxmlformats-officedocument.presentationml.notesSlide+xml"/>
  <Override PartName="/ppt/notesSlides/notesSlide5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9.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37.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Comparison</a:t>
            </a:r>
          </a:p>
        </c:rich>
      </c:tx>
      <c:overlay val="0"/>
      <c:spPr>
        <a:noFill/>
        <a:ln w="0">
          <a:noFill/>
        </a:ln>
      </c:spPr>
    </c:title>
    <c:autoTitleDeleted val="0"/>
    <c:plotArea>
      <c:barChart>
        <c:barDir val="col"/>
        <c:grouping val="clustered"/>
        <c:varyColors val="0"/>
        <c:ser>
          <c:idx val="0"/>
          <c:order val="0"/>
          <c:tx>
            <c:strRef>
              <c:f>label 0</c:f>
              <c:strCache>
                <c:ptCount val="1"/>
                <c:pt idx="0">
                  <c:v>Base 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0</c:f>
              <c:numCache>
                <c:formatCode>General</c:formatCode>
                <c:ptCount val="1"/>
                <c:pt idx="0">
                  <c:v>45</c:v>
                </c:pt>
              </c:numCache>
            </c:numRef>
          </c:val>
        </c:ser>
        <c:ser>
          <c:idx val="1"/>
          <c:order val="1"/>
          <c:tx>
            <c:strRef>
              <c:f>label 1</c:f>
              <c:strCache>
                <c:ptCount val="1"/>
                <c:pt idx="0">
                  <c:v>FinBERT (fine-tuned)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1</c:f>
              <c:numCache>
                <c:formatCode>General</c:formatCode>
                <c:ptCount val="1"/>
                <c:pt idx="0">
                  <c:v>70</c:v>
                </c:pt>
              </c:numCache>
            </c:numRef>
          </c:val>
        </c:ser>
        <c:ser>
          <c:idx val="2"/>
          <c:order val="2"/>
          <c:tx>
            <c:strRef>
              <c:f>label 2</c:f>
              <c:strCache>
                <c:ptCount val="1"/>
                <c:pt idx="0">
                  <c:v>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2</c:f>
              <c:numCache>
                <c:formatCode>General</c:formatCode>
                <c:ptCount val="1"/>
                <c:pt idx="0">
                  <c:v>65</c:v>
                </c:pt>
              </c:numCache>
            </c:numRef>
          </c:val>
        </c:ser>
        <c:ser>
          <c:idx val="3"/>
          <c:order val="3"/>
          <c:tx>
            <c:strRef>
              <c:f>label 3</c:f>
              <c:strCache>
                <c:ptCount val="1"/>
                <c:pt idx="0">
                  <c:v>FinBERT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3</c:f>
              <c:numCache>
                <c:formatCode>General</c:formatCode>
                <c:ptCount val="1"/>
                <c:pt idx="0">
                  <c:v>70</c:v>
                </c:pt>
              </c:numCache>
            </c:numRef>
          </c:val>
        </c:ser>
        <c:gapWidth val="150"/>
        <c:overlap val="0"/>
        <c:axId val="44948374"/>
        <c:axId val="40430252"/>
      </c:barChart>
      <c:catAx>
        <c:axId val="44948374"/>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40430252"/>
        <c:crosses val="autoZero"/>
        <c:auto val="1"/>
        <c:lblAlgn val="ctr"/>
        <c:lblOffset val="100"/>
        <c:noMultiLvlLbl val="0"/>
      </c:catAx>
      <c:valAx>
        <c:axId val="40430252"/>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44948374"/>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Avg Latency (ms)</a:t>
            </a:r>
          </a:p>
        </c:rich>
      </c:tx>
      <c:overlay val="0"/>
      <c:spPr>
        <a:noFill/>
        <a:ln w="0">
          <a:noFill/>
        </a:ln>
      </c:spPr>
    </c:title>
    <c:autoTitleDeleted val="0"/>
    <c:plotArea>
      <c:barChart>
        <c:barDir val="col"/>
        <c:grouping val="clustered"/>
        <c:varyColors val="0"/>
        <c:ser>
          <c:idx val="0"/>
          <c:order val="0"/>
          <c:tx>
            <c:strRef>
              <c:f>label 0</c:f>
              <c:strCache>
                <c:ptCount val="1"/>
                <c:pt idx="0">
                  <c:v>Base 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0</c:f>
              <c:numCache>
                <c:formatCode>General</c:formatCode>
                <c:ptCount val="1"/>
                <c:pt idx="0">
                  <c:v>79.6</c:v>
                </c:pt>
              </c:numCache>
            </c:numRef>
          </c:val>
        </c:ser>
        <c:ser>
          <c:idx val="1"/>
          <c:order val="1"/>
          <c:tx>
            <c:strRef>
              <c:f>label 1</c:f>
              <c:strCache>
                <c:ptCount val="1"/>
                <c:pt idx="0">
                  <c:v>FinBERT (fine-tuned)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1</c:f>
              <c:numCache>
                <c:formatCode>General</c:formatCode>
                <c:ptCount val="1"/>
                <c:pt idx="0">
                  <c:v>80.4</c:v>
                </c:pt>
              </c:numCache>
            </c:numRef>
          </c:val>
        </c:ser>
        <c:ser>
          <c:idx val="2"/>
          <c:order val="2"/>
          <c:tx>
            <c:strRef>
              <c:f>label 2</c:f>
              <c:strCache>
                <c:ptCount val="1"/>
                <c:pt idx="0">
                  <c:v>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2</c:f>
              <c:numCache>
                <c:formatCode>General</c:formatCode>
                <c:ptCount val="1"/>
                <c:pt idx="0">
                  <c:v>77.7</c:v>
                </c:pt>
              </c:numCache>
            </c:numRef>
          </c:val>
        </c:ser>
        <c:ser>
          <c:idx val="3"/>
          <c:order val="3"/>
          <c:tx>
            <c:strRef>
              <c:f>label 3</c:f>
              <c:strCache>
                <c:ptCount val="1"/>
                <c:pt idx="0">
                  <c:v>FinBERT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3</c:f>
              <c:numCache>
                <c:formatCode>General</c:formatCode>
                <c:ptCount val="1"/>
                <c:pt idx="0">
                  <c:v>154</c:v>
                </c:pt>
              </c:numCache>
            </c:numRef>
          </c:val>
        </c:ser>
        <c:gapWidth val="150"/>
        <c:overlap val="0"/>
        <c:axId val="19995168"/>
        <c:axId val="43773570"/>
      </c:barChart>
      <c:catAx>
        <c:axId val="19995168"/>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43773570"/>
        <c:crosses val="autoZero"/>
        <c:auto val="1"/>
        <c:lblAlgn val="ctr"/>
        <c:lblOffset val="100"/>
        <c:noMultiLvlLbl val="0"/>
      </c:catAx>
      <c:valAx>
        <c:axId val="43773570"/>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9995168"/>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Avg Tokens per Query</a:t>
            </a:r>
          </a:p>
        </c:rich>
      </c:tx>
      <c:overlay val="0"/>
      <c:spPr>
        <a:noFill/>
        <a:ln w="0">
          <a:noFill/>
        </a:ln>
      </c:spPr>
    </c:title>
    <c:autoTitleDeleted val="0"/>
    <c:plotArea>
      <c:barChart>
        <c:barDir val="col"/>
        <c:grouping val="clustered"/>
        <c:varyColors val="0"/>
        <c:ser>
          <c:idx val="0"/>
          <c:order val="0"/>
          <c:tx>
            <c:strRef>
              <c:f>label 0</c:f>
              <c:strCache>
                <c:ptCount val="1"/>
                <c:pt idx="0">
                  <c:v>Base 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0</c:f>
              <c:numCache>
                <c:formatCode>General</c:formatCode>
                <c:ptCount val="1"/>
                <c:pt idx="0">
                  <c:v>16</c:v>
                </c:pt>
              </c:numCache>
            </c:numRef>
          </c:val>
        </c:ser>
        <c:ser>
          <c:idx val="1"/>
          <c:order val="1"/>
          <c:tx>
            <c:strRef>
              <c:f>label 1</c:f>
              <c:strCache>
                <c:ptCount val="1"/>
                <c:pt idx="0">
                  <c:v>FinBERT</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1</c:f>
              <c:numCache>
                <c:formatCode>General</c:formatCode>
                <c:ptCount val="1"/>
                <c:pt idx="0">
                  <c:v>16</c:v>
                </c:pt>
              </c:numCache>
            </c:numRef>
          </c:val>
        </c:ser>
        <c:ser>
          <c:idx val="2"/>
          <c:order val="2"/>
          <c:tx>
            <c:strRef>
              <c:f>label 2</c:f>
              <c:strCache>
                <c:ptCount val="1"/>
                <c:pt idx="0">
                  <c:v>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2</c:f>
              <c:numCache>
                <c:formatCode>General</c:formatCode>
                <c:ptCount val="1"/>
                <c:pt idx="0">
                  <c:v>76</c:v>
                </c:pt>
              </c:numCache>
            </c:numRef>
          </c:val>
        </c:ser>
        <c:ser>
          <c:idx val="3"/>
          <c:order val="3"/>
          <c:tx>
            <c:strRef>
              <c:f>label 3</c:f>
              <c:strCache>
                <c:ptCount val="1"/>
                <c:pt idx="0">
                  <c:v>FinBERT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3</c:f>
              <c:numCache>
                <c:formatCode>General</c:formatCode>
                <c:ptCount val="1"/>
                <c:pt idx="0">
                  <c:v>92</c:v>
                </c:pt>
              </c:numCache>
            </c:numRef>
          </c:val>
        </c:ser>
        <c:gapWidth val="150"/>
        <c:overlap val="0"/>
        <c:axId val="33158917"/>
        <c:axId val="23832608"/>
      </c:barChart>
      <c:catAx>
        <c:axId val="33158917"/>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23832608"/>
        <c:crosses val="autoZero"/>
        <c:auto val="1"/>
        <c:lblAlgn val="ctr"/>
        <c:lblOffset val="100"/>
        <c:noMultiLvlLbl val="0"/>
      </c:catAx>
      <c:valAx>
        <c:axId val="23832608"/>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3158917"/>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Cost per 1K Queries ($)</a:t>
            </a:r>
          </a:p>
        </c:rich>
      </c:tx>
      <c:overlay val="0"/>
      <c:spPr>
        <a:noFill/>
        <a:ln w="0">
          <a:noFill/>
        </a:ln>
      </c:spPr>
    </c:title>
    <c:autoTitleDeleted val="0"/>
    <c:plotArea>
      <c:barChart>
        <c:barDir val="col"/>
        <c:grouping val="clustered"/>
        <c:varyColors val="0"/>
        <c:ser>
          <c:idx val="0"/>
          <c:order val="0"/>
          <c:tx>
            <c:strRef>
              <c:f>label 0</c:f>
              <c:strCache>
                <c:ptCount val="1"/>
                <c:pt idx="0">
                  <c:v>Base 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0</c:f>
              <c:numCache>
                <c:formatCode>General</c:formatCode>
                <c:ptCount val="1"/>
                <c:pt idx="0">
                  <c:v>0.0002</c:v>
                </c:pt>
              </c:numCache>
            </c:numRef>
          </c:val>
        </c:ser>
        <c:ser>
          <c:idx val="1"/>
          <c:order val="1"/>
          <c:tx>
            <c:strRef>
              <c:f>label 1</c:f>
              <c:strCache>
                <c:ptCount val="1"/>
                <c:pt idx="0">
                  <c:v>FinBERT</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1</c:f>
              <c:numCache>
                <c:formatCode>General</c:formatCode>
                <c:ptCount val="1"/>
                <c:pt idx="0">
                  <c:v>0.0002</c:v>
                </c:pt>
              </c:numCache>
            </c:numRef>
          </c:val>
        </c:ser>
        <c:ser>
          <c:idx val="2"/>
          <c:order val="2"/>
          <c:tx>
            <c:strRef>
              <c:f>label 2</c:f>
              <c:strCache>
                <c:ptCount val="1"/>
                <c:pt idx="0">
                  <c:v>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2</c:f>
              <c:numCache>
                <c:formatCode>General</c:formatCode>
                <c:ptCount val="1"/>
                <c:pt idx="0">
                  <c:v>0.0008</c:v>
                </c:pt>
              </c:numCache>
            </c:numRef>
          </c:val>
        </c:ser>
        <c:ser>
          <c:idx val="3"/>
          <c:order val="3"/>
          <c:tx>
            <c:strRef>
              <c:f>label 3</c:f>
              <c:strCache>
                <c:ptCount val="1"/>
                <c:pt idx="0">
                  <c:v>FinBERT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3</c:f>
              <c:numCache>
                <c:formatCode>General</c:formatCode>
                <c:ptCount val="1"/>
                <c:pt idx="0">
                  <c:v>0.0009</c:v>
                </c:pt>
              </c:numCache>
            </c:numRef>
          </c:val>
        </c:ser>
        <c:gapWidth val="150"/>
        <c:overlap val="0"/>
        <c:axId val="28494305"/>
        <c:axId val="72585676"/>
      </c:barChart>
      <c:catAx>
        <c:axId val="28494305"/>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2585676"/>
        <c:crosses val="autoZero"/>
        <c:auto val="1"/>
        <c:lblAlgn val="ctr"/>
        <c:lblOffset val="100"/>
        <c:noMultiLvlLbl val="0"/>
      </c:catAx>
      <c:valAx>
        <c:axId val="72585676"/>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28494305"/>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F1 Score (Macro Average)</a:t>
            </a:r>
          </a:p>
        </c:rich>
      </c:tx>
      <c:overlay val="0"/>
      <c:spPr>
        <a:noFill/>
        <a:ln w="0">
          <a:noFill/>
        </a:ln>
      </c:spPr>
    </c:title>
    <c:autoTitleDeleted val="0"/>
    <c:plotArea>
      <c:barChart>
        <c:barDir val="col"/>
        <c:grouping val="clustered"/>
        <c:varyColors val="0"/>
        <c:ser>
          <c:idx val="0"/>
          <c:order val="0"/>
          <c:tx>
            <c:strRef>
              <c:f>label 0</c:f>
              <c:strCache>
                <c:ptCount val="1"/>
                <c:pt idx="0">
                  <c:v>Base 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F1 Macro</c:v>
                </c:pt>
              </c:strCache>
            </c:strRef>
          </c:cat>
          <c:val>
            <c:numRef>
              <c:f>0</c:f>
              <c:numCache>
                <c:formatCode>General</c:formatCode>
                <c:ptCount val="1"/>
                <c:pt idx="0">
                  <c:v>0.347</c:v>
                </c:pt>
              </c:numCache>
            </c:numRef>
          </c:val>
        </c:ser>
        <c:ser>
          <c:idx val="1"/>
          <c:order val="1"/>
          <c:tx>
            <c:strRef>
              <c:f>label 1</c:f>
              <c:strCache>
                <c:ptCount val="1"/>
                <c:pt idx="0">
                  <c:v>FinBERT</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F1 Macro</c:v>
                </c:pt>
              </c:strCache>
            </c:strRef>
          </c:cat>
          <c:val>
            <c:numRef>
              <c:f>1</c:f>
              <c:numCache>
                <c:formatCode>General</c:formatCode>
                <c:ptCount val="1"/>
                <c:pt idx="0">
                  <c:v>0.669</c:v>
                </c:pt>
              </c:numCache>
            </c:numRef>
          </c:val>
        </c:ser>
        <c:ser>
          <c:idx val="2"/>
          <c:order val="2"/>
          <c:tx>
            <c:strRef>
              <c:f>label 2</c:f>
              <c:strCache>
                <c:ptCount val="1"/>
                <c:pt idx="0">
                  <c:v>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F1 Macro</c:v>
                </c:pt>
              </c:strCache>
            </c:strRef>
          </c:cat>
          <c:val>
            <c:numRef>
              <c:f>2</c:f>
              <c:numCache>
                <c:formatCode>General</c:formatCode>
                <c:ptCount val="1"/>
                <c:pt idx="0">
                  <c:v>0.604</c:v>
                </c:pt>
              </c:numCache>
            </c:numRef>
          </c:val>
        </c:ser>
        <c:ser>
          <c:idx val="3"/>
          <c:order val="3"/>
          <c:tx>
            <c:strRef>
              <c:f>label 3</c:f>
              <c:strCache>
                <c:ptCount val="1"/>
                <c:pt idx="0">
                  <c:v>FinBERT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F1 Macro</c:v>
                </c:pt>
              </c:strCache>
            </c:strRef>
          </c:cat>
          <c:val>
            <c:numRef>
              <c:f>3</c:f>
              <c:numCache>
                <c:formatCode>General</c:formatCode>
                <c:ptCount val="1"/>
                <c:pt idx="0">
                  <c:v>0.669</c:v>
                </c:pt>
              </c:numCache>
            </c:numRef>
          </c:val>
        </c:ser>
        <c:gapWidth val="150"/>
        <c:overlap val="0"/>
        <c:axId val="38690338"/>
        <c:axId val="15830170"/>
      </c:barChart>
      <c:catAx>
        <c:axId val="38690338"/>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5830170"/>
        <c:crosses val="autoZero"/>
        <c:auto val="1"/>
        <c:lblAlgn val="ctr"/>
        <c:lblOffset val="100"/>
        <c:noMultiLvlLbl val="0"/>
      </c:catAx>
      <c:valAx>
        <c:axId val="15830170"/>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8690338"/>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Average Confidence Score</a:t>
            </a:r>
          </a:p>
        </c:rich>
      </c:tx>
      <c:overlay val="0"/>
      <c:spPr>
        <a:noFill/>
        <a:ln w="0">
          <a:noFill/>
        </a:ln>
      </c:spPr>
    </c:title>
    <c:autoTitleDeleted val="0"/>
    <c:plotArea>
      <c:barChart>
        <c:barDir val="col"/>
        <c:grouping val="clustered"/>
        <c:varyColors val="0"/>
        <c:ser>
          <c:idx val="0"/>
          <c:order val="0"/>
          <c:tx>
            <c:strRef>
              <c:f>label 0</c:f>
              <c:strCache>
                <c:ptCount val="1"/>
                <c:pt idx="0">
                  <c:v>Base 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Confidence</c:v>
                </c:pt>
              </c:strCache>
            </c:strRef>
          </c:cat>
          <c:val>
            <c:numRef>
              <c:f>0</c:f>
              <c:numCache>
                <c:formatCode>General</c:formatCode>
                <c:ptCount val="1"/>
                <c:pt idx="0">
                  <c:v>0.375</c:v>
                </c:pt>
              </c:numCache>
            </c:numRef>
          </c:val>
        </c:ser>
        <c:ser>
          <c:idx val="1"/>
          <c:order val="1"/>
          <c:tx>
            <c:strRef>
              <c:f>label 1</c:f>
              <c:strCache>
                <c:ptCount val="1"/>
                <c:pt idx="0">
                  <c:v>FinBERT (fine-tuned)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Confidence</c:v>
                </c:pt>
              </c:strCache>
            </c:strRef>
          </c:cat>
          <c:val>
            <c:numRef>
              <c:f>1</c:f>
              <c:numCache>
                <c:formatCode>General</c:formatCode>
                <c:ptCount val="1"/>
                <c:pt idx="0">
                  <c:v>0.845</c:v>
                </c:pt>
              </c:numCache>
            </c:numRef>
          </c:val>
        </c:ser>
        <c:ser>
          <c:idx val="2"/>
          <c:order val="2"/>
          <c:tx>
            <c:strRef>
              <c:f>label 2</c:f>
              <c:strCache>
                <c:ptCount val="1"/>
                <c:pt idx="0">
                  <c:v>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Confidence</c:v>
                </c:pt>
              </c:strCache>
            </c:strRef>
          </c:cat>
          <c:val>
            <c:numRef>
              <c:f>2</c:f>
              <c:numCache>
                <c:formatCode>General</c:formatCode>
                <c:ptCount val="1"/>
                <c:pt idx="0">
                  <c:v>0.564</c:v>
                </c:pt>
              </c:numCache>
            </c:numRef>
          </c:val>
        </c:ser>
        <c:ser>
          <c:idx val="3"/>
          <c:order val="3"/>
          <c:tx>
            <c:strRef>
              <c:f>label 3</c:f>
              <c:strCache>
                <c:ptCount val="1"/>
                <c:pt idx="0">
                  <c:v>FinBERT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Confidence</c:v>
                </c:pt>
              </c:strCache>
            </c:strRef>
          </c:cat>
          <c:val>
            <c:numRef>
              <c:f>3</c:f>
              <c:numCache>
                <c:formatCode>General</c:formatCode>
                <c:ptCount val="1"/>
                <c:pt idx="0">
                  <c:v>0.7</c:v>
                </c:pt>
              </c:numCache>
            </c:numRef>
          </c:val>
        </c:ser>
        <c:gapWidth val="150"/>
        <c:overlap val="0"/>
        <c:axId val="13730433"/>
        <c:axId val="37140006"/>
      </c:barChart>
      <c:catAx>
        <c:axId val="13730433"/>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7140006"/>
        <c:crosses val="autoZero"/>
        <c:auto val="1"/>
        <c:lblAlgn val="ctr"/>
        <c:lblOffset val="100"/>
        <c:noMultiLvlLbl val="0"/>
      </c:catAx>
      <c:valAx>
        <c:axId val="37140006"/>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3730433"/>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by Category</a:t>
            </a:r>
          </a:p>
        </c:rich>
      </c:tx>
      <c:overlay val="0"/>
      <c:spPr>
        <a:noFill/>
        <a:ln w="0">
          <a:noFill/>
        </a:ln>
      </c:spPr>
    </c:title>
    <c:autoTitleDeleted val="0"/>
    <c:plotArea>
      <c:barChart>
        <c:barDir val="col"/>
        <c:grouping val="clustered"/>
        <c:varyColors val="0"/>
        <c:ser>
          <c:idx val="0"/>
          <c:order val="0"/>
          <c:tx>
            <c:strRef>
              <c:f>label 0</c:f>
              <c:strCache>
                <c:ptCount val="1"/>
                <c:pt idx="0">
                  <c:v>Base 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Domain Jargon</c:v>
                </c:pt>
                <c:pt idx="1">
                  <c:v>Domain Specific</c:v>
                </c:pt>
                <c:pt idx="2">
                  <c:v>Straightforward</c:v>
                </c:pt>
                <c:pt idx="3">
                  <c:v>Subtle Neutral</c:v>
                </c:pt>
                <c:pt idx="4">
                  <c:v>Tricky Mixed</c:v>
                </c:pt>
                <c:pt idx="5">
                  <c:v>Tricky Positive</c:v>
                </c:pt>
              </c:strCache>
            </c:strRef>
          </c:cat>
          <c:val>
            <c:numRef>
              <c:f>0</c:f>
              <c:numCache>
                <c:formatCode>General</c:formatCode>
                <c:ptCount val="6"/>
                <c:pt idx="0">
                  <c:v>33.3</c:v>
                </c:pt>
                <c:pt idx="1">
                  <c:v>60</c:v>
                </c:pt>
                <c:pt idx="2">
                  <c:v>80</c:v>
                </c:pt>
                <c:pt idx="3">
                  <c:v>0</c:v>
                </c:pt>
                <c:pt idx="4">
                  <c:v>0</c:v>
                </c:pt>
                <c:pt idx="5">
                  <c:v>100</c:v>
                </c:pt>
              </c:numCache>
            </c:numRef>
          </c:val>
        </c:ser>
        <c:ser>
          <c:idx val="1"/>
          <c:order val="1"/>
          <c:tx>
            <c:strRef>
              <c:f>label 1</c:f>
              <c:strCache>
                <c:ptCount val="1"/>
                <c:pt idx="0">
                  <c:v>FinBERT</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Domain Jargon</c:v>
                </c:pt>
                <c:pt idx="1">
                  <c:v>Domain Specific</c:v>
                </c:pt>
                <c:pt idx="2">
                  <c:v>Straightforward</c:v>
                </c:pt>
                <c:pt idx="3">
                  <c:v>Subtle Neutral</c:v>
                </c:pt>
                <c:pt idx="4">
                  <c:v>Tricky Mixed</c:v>
                </c:pt>
                <c:pt idx="5">
                  <c:v>Tricky Positive</c:v>
                </c:pt>
              </c:strCache>
            </c:strRef>
          </c:cat>
          <c:val>
            <c:numRef>
              <c:f>1</c:f>
              <c:numCache>
                <c:formatCode>General</c:formatCode>
                <c:ptCount val="6"/>
                <c:pt idx="0">
                  <c:v>100</c:v>
                </c:pt>
                <c:pt idx="1">
                  <c:v>60</c:v>
                </c:pt>
                <c:pt idx="2">
                  <c:v>100</c:v>
                </c:pt>
                <c:pt idx="3">
                  <c:v>40</c:v>
                </c:pt>
                <c:pt idx="4">
                  <c:v>0</c:v>
                </c:pt>
                <c:pt idx="5">
                  <c:v>100</c:v>
                </c:pt>
              </c:numCache>
            </c:numRef>
          </c:val>
        </c:ser>
        <c:ser>
          <c:idx val="2"/>
          <c:order val="2"/>
          <c:tx>
            <c:strRef>
              <c:f>label 2</c:f>
              <c:strCache>
                <c:ptCount val="1"/>
                <c:pt idx="0">
                  <c:v>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Domain Jargon</c:v>
                </c:pt>
                <c:pt idx="1">
                  <c:v>Domain Specific</c:v>
                </c:pt>
                <c:pt idx="2">
                  <c:v>Straightforward</c:v>
                </c:pt>
                <c:pt idx="3">
                  <c:v>Subtle Neutral</c:v>
                </c:pt>
                <c:pt idx="4">
                  <c:v>Tricky Mixed</c:v>
                </c:pt>
                <c:pt idx="5">
                  <c:v>Tricky Positive</c:v>
                </c:pt>
              </c:strCache>
            </c:strRef>
          </c:cat>
          <c:val>
            <c:numRef>
              <c:f>2</c:f>
              <c:numCache>
                <c:formatCode>General</c:formatCode>
                <c:ptCount val="6"/>
                <c:pt idx="0">
                  <c:v>0</c:v>
                </c:pt>
                <c:pt idx="1">
                  <c:v>40</c:v>
                </c:pt>
                <c:pt idx="2">
                  <c:v>80</c:v>
                </c:pt>
                <c:pt idx="3">
                  <c:v>100</c:v>
                </c:pt>
                <c:pt idx="4">
                  <c:v>100</c:v>
                </c:pt>
                <c:pt idx="5">
                  <c:v>100</c:v>
                </c:pt>
              </c:numCache>
            </c:numRef>
          </c:val>
        </c:ser>
        <c:ser>
          <c:idx val="3"/>
          <c:order val="3"/>
          <c:tx>
            <c:strRef>
              <c:f>label 3</c:f>
              <c:strCache>
                <c:ptCount val="1"/>
                <c:pt idx="0">
                  <c:v>FinBERT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Domain Jargon</c:v>
                </c:pt>
                <c:pt idx="1">
                  <c:v>Domain Specific</c:v>
                </c:pt>
                <c:pt idx="2">
                  <c:v>Straightforward</c:v>
                </c:pt>
                <c:pt idx="3">
                  <c:v>Subtle Neutral</c:v>
                </c:pt>
                <c:pt idx="4">
                  <c:v>Tricky Mixed</c:v>
                </c:pt>
                <c:pt idx="5">
                  <c:v>Tricky Positive</c:v>
                </c:pt>
              </c:strCache>
            </c:strRef>
          </c:cat>
          <c:val>
            <c:numRef>
              <c:f>3</c:f>
              <c:numCache>
                <c:formatCode>General</c:formatCode>
                <c:ptCount val="6"/>
                <c:pt idx="0">
                  <c:v>100</c:v>
                </c:pt>
                <c:pt idx="1">
                  <c:v>60</c:v>
                </c:pt>
                <c:pt idx="2">
                  <c:v>100</c:v>
                </c:pt>
                <c:pt idx="3">
                  <c:v>40</c:v>
                </c:pt>
                <c:pt idx="4">
                  <c:v>0</c:v>
                </c:pt>
                <c:pt idx="5">
                  <c:v>100</c:v>
                </c:pt>
              </c:numCache>
            </c:numRef>
          </c:val>
        </c:ser>
        <c:gapWidth val="150"/>
        <c:overlap val="0"/>
        <c:axId val="60917790"/>
        <c:axId val="60532730"/>
      </c:barChart>
      <c:catAx>
        <c:axId val="60917790"/>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60532730"/>
        <c:crosses val="autoZero"/>
        <c:auto val="1"/>
        <c:lblAlgn val="ctr"/>
        <c:lblOffset val="100"/>
        <c:noMultiLvlLbl val="0"/>
      </c:catAx>
      <c:valAx>
        <c:axId val="60532730"/>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60917790"/>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Comparison</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0</c:f>
              <c:numCache>
                <c:formatCode>General</c:formatCode>
                <c:ptCount val="1"/>
                <c:pt idx="0">
                  <c:v>20</c:v>
                </c:pt>
              </c:numCache>
            </c:numRef>
          </c:val>
        </c:ser>
        <c:ser>
          <c:idx val="1"/>
          <c:order val="1"/>
          <c:tx>
            <c:strRef>
              <c:f>label 1</c:f>
              <c:strCache>
                <c:ptCount val="1"/>
                <c:pt idx="0">
                  <c:v>FinQA-7B (fine-tuned)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1</c:f>
              <c:numCache>
                <c:formatCode>General</c:formatCode>
                <c:ptCount val="1"/>
                <c:pt idx="0">
                  <c:v>20</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2</c:f>
              <c:numCache>
                <c:formatCode>General</c:formatCode>
                <c:ptCount val="1"/>
                <c:pt idx="0">
                  <c:v>20</c:v>
                </c:pt>
              </c:numCache>
            </c:numRef>
          </c:val>
        </c:ser>
        <c:ser>
          <c:idx val="3"/>
          <c:order val="3"/>
          <c:tx>
            <c:strRef>
              <c:f>label 3</c:f>
              <c:strCache>
                <c:ptCount val="1"/>
                <c:pt idx="0">
                  <c:v>FinQA-7B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3</c:f>
              <c:numCache>
                <c:formatCode>General</c:formatCode>
                <c:ptCount val="1"/>
                <c:pt idx="0">
                  <c:v>20</c:v>
                </c:pt>
              </c:numCache>
            </c:numRef>
          </c:val>
        </c:ser>
        <c:gapWidth val="150"/>
        <c:overlap val="0"/>
        <c:axId val="70679281"/>
        <c:axId val="92996186"/>
      </c:barChart>
      <c:catAx>
        <c:axId val="70679281"/>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92996186"/>
        <c:crosses val="autoZero"/>
        <c:auto val="1"/>
        <c:lblAlgn val="ctr"/>
        <c:lblOffset val="100"/>
        <c:noMultiLvlLbl val="0"/>
      </c:catAx>
      <c:valAx>
        <c:axId val="92996186"/>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0679281"/>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Avg Latency (ms)</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0</c:f>
              <c:numCache>
                <c:formatCode>General</c:formatCode>
                <c:ptCount val="1"/>
                <c:pt idx="0">
                  <c:v>124980.9</c:v>
                </c:pt>
              </c:numCache>
            </c:numRef>
          </c:val>
        </c:ser>
        <c:ser>
          <c:idx val="1"/>
          <c:order val="1"/>
          <c:tx>
            <c:strRef>
              <c:f>label 1</c:f>
              <c:strCache>
                <c:ptCount val="1"/>
                <c:pt idx="0">
                  <c:v>FinQA-7B (fine-tuned)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1</c:f>
              <c:numCache>
                <c:formatCode>General</c:formatCode>
                <c:ptCount val="1"/>
                <c:pt idx="0">
                  <c:v>59515.4</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2</c:f>
              <c:numCache>
                <c:formatCode>General</c:formatCode>
                <c:ptCount val="1"/>
                <c:pt idx="0">
                  <c:v>137743.9</c:v>
                </c:pt>
              </c:numCache>
            </c:numRef>
          </c:val>
        </c:ser>
        <c:ser>
          <c:idx val="3"/>
          <c:order val="3"/>
          <c:tx>
            <c:strRef>
              <c:f>label 3</c:f>
              <c:strCache>
                <c:ptCount val="1"/>
                <c:pt idx="0">
                  <c:v>FinQA-7B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3</c:f>
              <c:numCache>
                <c:formatCode>General</c:formatCode>
                <c:ptCount val="1"/>
                <c:pt idx="0">
                  <c:v>222235.2</c:v>
                </c:pt>
              </c:numCache>
            </c:numRef>
          </c:val>
        </c:ser>
        <c:gapWidth val="150"/>
        <c:overlap val="0"/>
        <c:axId val="71977036"/>
        <c:axId val="59146226"/>
      </c:barChart>
      <c:catAx>
        <c:axId val="71977036"/>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9146226"/>
        <c:crosses val="autoZero"/>
        <c:auto val="1"/>
        <c:lblAlgn val="ctr"/>
        <c:lblOffset val="100"/>
        <c:noMultiLvlLbl val="0"/>
      </c:catAx>
      <c:valAx>
        <c:axId val="59146226"/>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1977036"/>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Avg Tokens per Query</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0</c:f>
              <c:numCache>
                <c:formatCode>General</c:formatCode>
                <c:ptCount val="1"/>
                <c:pt idx="0">
                  <c:v>314</c:v>
                </c:pt>
              </c:numCache>
            </c:numRef>
          </c:val>
        </c:ser>
        <c:ser>
          <c:idx val="1"/>
          <c:order val="1"/>
          <c:tx>
            <c:strRef>
              <c:f>label 1</c:f>
              <c:strCache>
                <c:ptCount val="1"/>
                <c:pt idx="0">
                  <c:v>FinQA-7B</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1</c:f>
              <c:numCache>
                <c:formatCode>General</c:formatCode>
                <c:ptCount val="1"/>
                <c:pt idx="0">
                  <c:v>285</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2</c:f>
              <c:numCache>
                <c:formatCode>General</c:formatCode>
                <c:ptCount val="1"/>
                <c:pt idx="0">
                  <c:v>1638</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3</c:f>
              <c:numCache>
                <c:formatCode>General</c:formatCode>
                <c:ptCount val="1"/>
                <c:pt idx="0">
                  <c:v>1661</c:v>
                </c:pt>
              </c:numCache>
            </c:numRef>
          </c:val>
        </c:ser>
        <c:gapWidth val="150"/>
        <c:overlap val="0"/>
        <c:axId val="57040931"/>
        <c:axId val="66878192"/>
      </c:barChart>
      <c:catAx>
        <c:axId val="57040931"/>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66878192"/>
        <c:crosses val="autoZero"/>
        <c:auto val="1"/>
        <c:lblAlgn val="ctr"/>
        <c:lblOffset val="100"/>
        <c:noMultiLvlLbl val="0"/>
      </c:catAx>
      <c:valAx>
        <c:axId val="66878192"/>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7040931"/>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Cost per 1K Queries ($)</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0</c:f>
              <c:numCache>
                <c:formatCode>General</c:formatCode>
                <c:ptCount val="1"/>
                <c:pt idx="0">
                  <c:v>0.0628</c:v>
                </c:pt>
              </c:numCache>
            </c:numRef>
          </c:val>
        </c:ser>
        <c:ser>
          <c:idx val="1"/>
          <c:order val="1"/>
          <c:tx>
            <c:strRef>
              <c:f>label 1</c:f>
              <c:strCache>
                <c:ptCount val="1"/>
                <c:pt idx="0">
                  <c:v>FinQA-7B</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1</c:f>
              <c:numCache>
                <c:formatCode>General</c:formatCode>
                <c:ptCount val="1"/>
                <c:pt idx="0">
                  <c:v>0.0569</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2</c:f>
              <c:numCache>
                <c:formatCode>General</c:formatCode>
                <c:ptCount val="1"/>
                <c:pt idx="0">
                  <c:v>0.3277</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3</c:f>
              <c:numCache>
                <c:formatCode>General</c:formatCode>
                <c:ptCount val="1"/>
                <c:pt idx="0">
                  <c:v>0.3323</c:v>
                </c:pt>
              </c:numCache>
            </c:numRef>
          </c:val>
        </c:ser>
        <c:gapWidth val="150"/>
        <c:overlap val="0"/>
        <c:axId val="69627646"/>
        <c:axId val="76088605"/>
      </c:barChart>
      <c:catAx>
        <c:axId val="69627646"/>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6088605"/>
        <c:crosses val="autoZero"/>
        <c:auto val="1"/>
        <c:lblAlgn val="ctr"/>
        <c:lblOffset val="100"/>
        <c:noMultiLvlLbl val="0"/>
      </c:catAx>
      <c:valAx>
        <c:axId val="76088605"/>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69627646"/>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Mean Absolute Percentage Error</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MAPE (%)</c:v>
                </c:pt>
              </c:strCache>
            </c:strRef>
          </c:cat>
          <c:val>
            <c:numRef>
              <c:f>0</c:f>
              <c:numCache>
                <c:formatCode>General</c:formatCode>
                <c:ptCount val="1"/>
                <c:pt idx="0">
                  <c:v>838.49</c:v>
                </c:pt>
              </c:numCache>
            </c:numRef>
          </c:val>
        </c:ser>
        <c:ser>
          <c:idx val="1"/>
          <c:order val="1"/>
          <c:tx>
            <c:strRef>
              <c:f>label 1</c:f>
              <c:strCache>
                <c:ptCount val="1"/>
                <c:pt idx="0">
                  <c:v>FinQA-7B</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MAPE (%)</c:v>
                </c:pt>
              </c:strCache>
            </c:strRef>
          </c:cat>
          <c:val>
            <c:numRef>
              <c:f>1</c:f>
              <c:numCache>
                <c:formatCode>General</c:formatCode>
                <c:ptCount val="1"/>
                <c:pt idx="0">
                  <c:v>109.67</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MAPE (%)</c:v>
                </c:pt>
              </c:strCache>
            </c:strRef>
          </c:cat>
          <c:val>
            <c:numRef>
              <c:f>2</c:f>
              <c:numCache>
                <c:formatCode>General</c:formatCode>
                <c:ptCount val="1"/>
                <c:pt idx="0">
                  <c:v>190.57</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MAPE (%)</c:v>
                </c:pt>
              </c:strCache>
            </c:strRef>
          </c:cat>
          <c:val>
            <c:numRef>
              <c:f>3</c:f>
              <c:numCache>
                <c:formatCode>General</c:formatCode>
                <c:ptCount val="1"/>
                <c:pt idx="0">
                  <c:v>232.37</c:v>
                </c:pt>
              </c:numCache>
            </c:numRef>
          </c:val>
        </c:ser>
        <c:gapWidth val="150"/>
        <c:overlap val="0"/>
        <c:axId val="76537908"/>
        <c:axId val="56647922"/>
      </c:barChart>
      <c:catAx>
        <c:axId val="76537908"/>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6647922"/>
        <c:crosses val="autoZero"/>
        <c:auto val="1"/>
        <c:lblAlgn val="ctr"/>
        <c:lblOffset val="100"/>
        <c:noMultiLvlLbl val="0"/>
      </c:catAx>
      <c:valAx>
        <c:axId val="56647922"/>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6537908"/>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by Category</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Multi Step</c:v>
                </c:pt>
                <c:pt idx="1">
                  <c:v>Single Step</c:v>
                </c:pt>
              </c:strCache>
            </c:strRef>
          </c:cat>
          <c:val>
            <c:numRef>
              <c:f>0</c:f>
              <c:numCache>
                <c:formatCode>General</c:formatCode>
                <c:ptCount val="2"/>
                <c:pt idx="0">
                  <c:v>0</c:v>
                </c:pt>
                <c:pt idx="1">
                  <c:v>33.3</c:v>
                </c:pt>
              </c:numCache>
            </c:numRef>
          </c:val>
        </c:ser>
        <c:ser>
          <c:idx val="1"/>
          <c:order val="1"/>
          <c:tx>
            <c:strRef>
              <c:f>label 1</c:f>
              <c:strCache>
                <c:ptCount val="1"/>
                <c:pt idx="0">
                  <c:v>FinQA-7B</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Multi Step</c:v>
                </c:pt>
                <c:pt idx="1">
                  <c:v>Single Step</c:v>
                </c:pt>
              </c:strCache>
            </c:strRef>
          </c:cat>
          <c:val>
            <c:numRef>
              <c:f>1</c:f>
              <c:numCache>
                <c:formatCode>General</c:formatCode>
                <c:ptCount val="2"/>
                <c:pt idx="0">
                  <c:v>0</c:v>
                </c:pt>
                <c:pt idx="1">
                  <c:v>33.3</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Multi Step</c:v>
                </c:pt>
                <c:pt idx="1">
                  <c:v>Single Step</c:v>
                </c:pt>
              </c:strCache>
            </c:strRef>
          </c:cat>
          <c:val>
            <c:numRef>
              <c:f>2</c:f>
              <c:numCache>
                <c:formatCode>General</c:formatCode>
                <c:ptCount val="2"/>
                <c:pt idx="0">
                  <c:v>50</c:v>
                </c:pt>
                <c:pt idx="1">
                  <c:v>0</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Multi Step</c:v>
                </c:pt>
                <c:pt idx="1">
                  <c:v>Single Step</c:v>
                </c:pt>
              </c:strCache>
            </c:strRef>
          </c:cat>
          <c:val>
            <c:numRef>
              <c:f>3</c:f>
              <c:numCache>
                <c:formatCode>General</c:formatCode>
                <c:ptCount val="2"/>
                <c:pt idx="0">
                  <c:v>0</c:v>
                </c:pt>
                <c:pt idx="1">
                  <c:v>33.3</c:v>
                </c:pt>
              </c:numCache>
            </c:numRef>
          </c:val>
        </c:ser>
        <c:gapWidth val="150"/>
        <c:overlap val="0"/>
        <c:axId val="20247691"/>
        <c:axId val="72247747"/>
      </c:barChart>
      <c:catAx>
        <c:axId val="20247691"/>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2247747"/>
        <c:crosses val="autoZero"/>
        <c:auto val="1"/>
        <c:lblAlgn val="ctr"/>
        <c:lblOffset val="100"/>
        <c:noMultiLvlLbl val="0"/>
      </c:catAx>
      <c:valAx>
        <c:axId val="72247747"/>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20247691"/>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Comparison</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0</c:f>
              <c:numCache>
                <c:formatCode>General</c:formatCode>
                <c:ptCount val="1"/>
                <c:pt idx="0">
                  <c:v>25</c:v>
                </c:pt>
              </c:numCache>
            </c:numRef>
          </c:val>
        </c:ser>
        <c:ser>
          <c:idx val="1"/>
          <c:order val="1"/>
          <c:tx>
            <c:strRef>
              <c:f>label 1</c:f>
              <c:strCache>
                <c:ptCount val="1"/>
                <c:pt idx="0">
                  <c:v>FinQA-7B (fine-tuned)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1</c:f>
              <c:numCache>
                <c:formatCode>General</c:formatCode>
                <c:ptCount val="1"/>
                <c:pt idx="0">
                  <c:v>37.5</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2</c:f>
              <c:numCache>
                <c:formatCode>General</c:formatCode>
                <c:ptCount val="1"/>
                <c:pt idx="0">
                  <c:v>12.5</c:v>
                </c:pt>
              </c:numCache>
            </c:numRef>
          </c:val>
        </c:ser>
        <c:ser>
          <c:idx val="3"/>
          <c:order val="3"/>
          <c:tx>
            <c:strRef>
              <c:f>label 3</c:f>
              <c:strCache>
                <c:ptCount val="1"/>
                <c:pt idx="0">
                  <c:v>FinQA-7B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3</c:f>
              <c:numCache>
                <c:formatCode>General</c:formatCode>
                <c:ptCount val="1"/>
                <c:pt idx="0">
                  <c:v>25</c:v>
                </c:pt>
              </c:numCache>
            </c:numRef>
          </c:val>
        </c:ser>
        <c:gapWidth val="150"/>
        <c:overlap val="0"/>
        <c:axId val="91232522"/>
        <c:axId val="13386091"/>
      </c:barChart>
      <c:catAx>
        <c:axId val="91232522"/>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3386091"/>
        <c:crosses val="autoZero"/>
        <c:auto val="1"/>
        <c:lblAlgn val="ctr"/>
        <c:lblOffset val="100"/>
        <c:noMultiLvlLbl val="0"/>
      </c:catAx>
      <c:valAx>
        <c:axId val="13386091"/>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91232522"/>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Avg Latency (ms)</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0</c:f>
              <c:numCache>
                <c:formatCode>General</c:formatCode>
                <c:ptCount val="1"/>
                <c:pt idx="0">
                  <c:v>89871.7</c:v>
                </c:pt>
              </c:numCache>
            </c:numRef>
          </c:val>
        </c:ser>
        <c:ser>
          <c:idx val="1"/>
          <c:order val="1"/>
          <c:tx>
            <c:strRef>
              <c:f>label 1</c:f>
              <c:strCache>
                <c:ptCount val="1"/>
                <c:pt idx="0">
                  <c:v>FinQA-7B (fine-tuned)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1</c:f>
              <c:numCache>
                <c:formatCode>General</c:formatCode>
                <c:ptCount val="1"/>
                <c:pt idx="0">
                  <c:v>57742.5</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2</c:f>
              <c:numCache>
                <c:formatCode>General</c:formatCode>
                <c:ptCount val="1"/>
                <c:pt idx="0">
                  <c:v>130097.4</c:v>
                </c:pt>
              </c:numCache>
            </c:numRef>
          </c:val>
        </c:ser>
        <c:ser>
          <c:idx val="3"/>
          <c:order val="3"/>
          <c:tx>
            <c:strRef>
              <c:f>label 3</c:f>
              <c:strCache>
                <c:ptCount val="1"/>
                <c:pt idx="0">
                  <c:v>FinQA-7B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3</c:f>
              <c:numCache>
                <c:formatCode>General</c:formatCode>
                <c:ptCount val="1"/>
                <c:pt idx="0">
                  <c:v>154643.4</c:v>
                </c:pt>
              </c:numCache>
            </c:numRef>
          </c:val>
        </c:ser>
        <c:gapWidth val="150"/>
        <c:overlap val="0"/>
        <c:axId val="73789054"/>
        <c:axId val="51642281"/>
      </c:barChart>
      <c:catAx>
        <c:axId val="73789054"/>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1642281"/>
        <c:crosses val="autoZero"/>
        <c:auto val="1"/>
        <c:lblAlgn val="ctr"/>
        <c:lblOffset val="100"/>
        <c:noMultiLvlLbl val="0"/>
      </c:catAx>
      <c:valAx>
        <c:axId val="51642281"/>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3789054"/>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Avg Tokens per Query</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0</c:f>
              <c:numCache>
                <c:formatCode>General</c:formatCode>
                <c:ptCount val="1"/>
                <c:pt idx="0">
                  <c:v>477</c:v>
                </c:pt>
              </c:numCache>
            </c:numRef>
          </c:val>
        </c:ser>
        <c:ser>
          <c:idx val="1"/>
          <c:order val="1"/>
          <c:tx>
            <c:strRef>
              <c:f>label 1</c:f>
              <c:strCache>
                <c:ptCount val="1"/>
                <c:pt idx="0">
                  <c:v>FinQA-7B</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1</c:f>
              <c:numCache>
                <c:formatCode>General</c:formatCode>
                <c:ptCount val="1"/>
                <c:pt idx="0">
                  <c:v>503</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2</c:f>
              <c:numCache>
                <c:formatCode>General</c:formatCode>
                <c:ptCount val="1"/>
                <c:pt idx="0">
                  <c:v>1731</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3</c:f>
              <c:numCache>
                <c:formatCode>General</c:formatCode>
                <c:ptCount val="1"/>
                <c:pt idx="0">
                  <c:v>1801</c:v>
                </c:pt>
              </c:numCache>
            </c:numRef>
          </c:val>
        </c:ser>
        <c:gapWidth val="150"/>
        <c:overlap val="0"/>
        <c:axId val="91007568"/>
        <c:axId val="53115598"/>
      </c:barChart>
      <c:catAx>
        <c:axId val="91007568"/>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3115598"/>
        <c:crosses val="autoZero"/>
        <c:auto val="1"/>
        <c:lblAlgn val="ctr"/>
        <c:lblOffset val="100"/>
        <c:noMultiLvlLbl val="0"/>
      </c:catAx>
      <c:valAx>
        <c:axId val="53115598"/>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91007568"/>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Cost per 1K Queries ($)</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0</c:f>
              <c:numCache>
                <c:formatCode>General</c:formatCode>
                <c:ptCount val="1"/>
                <c:pt idx="0">
                  <c:v>0.0954</c:v>
                </c:pt>
              </c:numCache>
            </c:numRef>
          </c:val>
        </c:ser>
        <c:ser>
          <c:idx val="1"/>
          <c:order val="1"/>
          <c:tx>
            <c:strRef>
              <c:f>label 1</c:f>
              <c:strCache>
                <c:ptCount val="1"/>
                <c:pt idx="0">
                  <c:v>FinQA-7B</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1</c:f>
              <c:numCache>
                <c:formatCode>General</c:formatCode>
                <c:ptCount val="1"/>
                <c:pt idx="0">
                  <c:v>0.1005</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2</c:f>
              <c:numCache>
                <c:formatCode>General</c:formatCode>
                <c:ptCount val="1"/>
                <c:pt idx="0">
                  <c:v>0.3462</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3</c:f>
              <c:numCache>
                <c:formatCode>General</c:formatCode>
                <c:ptCount val="1"/>
                <c:pt idx="0">
                  <c:v>0.3602</c:v>
                </c:pt>
              </c:numCache>
            </c:numRef>
          </c:val>
        </c:ser>
        <c:gapWidth val="150"/>
        <c:overlap val="0"/>
        <c:axId val="23784770"/>
        <c:axId val="73854822"/>
      </c:barChart>
      <c:catAx>
        <c:axId val="23784770"/>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3854822"/>
        <c:crosses val="autoZero"/>
        <c:auto val="1"/>
        <c:lblAlgn val="ctr"/>
        <c:lblOffset val="100"/>
        <c:noMultiLvlLbl val="0"/>
      </c:catAx>
      <c:valAx>
        <c:axId val="73854822"/>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23784770"/>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Mean Absolute Percentage Error</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MAPE (%)</c:v>
                </c:pt>
              </c:strCache>
            </c:strRef>
          </c:cat>
          <c:val>
            <c:numRef>
              <c:f>0</c:f>
              <c:numCache>
                <c:formatCode>General</c:formatCode>
                <c:ptCount val="1"/>
                <c:pt idx="0">
                  <c:v>21.35</c:v>
                </c:pt>
              </c:numCache>
            </c:numRef>
          </c:val>
        </c:ser>
        <c:ser>
          <c:idx val="1"/>
          <c:order val="1"/>
          <c:tx>
            <c:strRef>
              <c:f>label 1</c:f>
              <c:strCache>
                <c:ptCount val="1"/>
                <c:pt idx="0">
                  <c:v>FinQA-7B</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MAPE (%)</c:v>
                </c:pt>
              </c:strCache>
            </c:strRef>
          </c:cat>
          <c:val>
            <c:numRef>
              <c:f>1</c:f>
              <c:numCache>
                <c:formatCode>General</c:formatCode>
                <c:ptCount val="1"/>
                <c:pt idx="0">
                  <c:v>103.44</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MAPE (%)</c:v>
                </c:pt>
              </c:strCache>
            </c:strRef>
          </c:cat>
          <c:val>
            <c:numRef>
              <c:f>2</c:f>
              <c:numCache>
                <c:formatCode>General</c:formatCode>
                <c:ptCount val="1"/>
                <c:pt idx="0">
                  <c:v>34.42</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MAPE (%)</c:v>
                </c:pt>
              </c:strCache>
            </c:strRef>
          </c:cat>
          <c:val>
            <c:numRef>
              <c:f>3</c:f>
              <c:numCache>
                <c:formatCode>General</c:formatCode>
                <c:ptCount val="1"/>
                <c:pt idx="0">
                  <c:v>45.94</c:v>
                </c:pt>
              </c:numCache>
            </c:numRef>
          </c:val>
        </c:ser>
        <c:gapWidth val="150"/>
        <c:overlap val="0"/>
        <c:axId val="56509347"/>
        <c:axId val="17621695"/>
      </c:barChart>
      <c:catAx>
        <c:axId val="56509347"/>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7621695"/>
        <c:crosses val="autoZero"/>
        <c:auto val="1"/>
        <c:lblAlgn val="ctr"/>
        <c:lblOffset val="100"/>
        <c:noMultiLvlLbl val="0"/>
      </c:catAx>
      <c:valAx>
        <c:axId val="17621695"/>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6509347"/>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by Category</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5"/>
                <c:pt idx="0">
                  <c:v>Efficiency</c:v>
                </c:pt>
                <c:pt idx="1">
                  <c:v>Leverage</c:v>
                </c:pt>
                <c:pt idx="2">
                  <c:v>Liquidity</c:v>
                </c:pt>
                <c:pt idx="3">
                  <c:v>Profitability</c:v>
                </c:pt>
                <c:pt idx="4">
                  <c:v>Shareholder</c:v>
                </c:pt>
              </c:strCache>
            </c:strRef>
          </c:cat>
          <c:val>
            <c:numRef>
              <c:f>0</c:f>
              <c:numCache>
                <c:formatCode>General</c:formatCode>
                <c:ptCount val="5"/>
                <c:pt idx="0">
                  <c:v>0</c:v>
                </c:pt>
                <c:pt idx="1">
                  <c:v>0</c:v>
                </c:pt>
                <c:pt idx="2">
                  <c:v>50</c:v>
                </c:pt>
                <c:pt idx="3">
                  <c:v>0</c:v>
                </c:pt>
                <c:pt idx="4">
                  <c:v>100</c:v>
                </c:pt>
              </c:numCache>
            </c:numRef>
          </c:val>
        </c:ser>
        <c:ser>
          <c:idx val="1"/>
          <c:order val="1"/>
          <c:tx>
            <c:strRef>
              <c:f>label 1</c:f>
              <c:strCache>
                <c:ptCount val="1"/>
                <c:pt idx="0">
                  <c:v>FinQA-7B</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5"/>
                <c:pt idx="0">
                  <c:v>Efficiency</c:v>
                </c:pt>
                <c:pt idx="1">
                  <c:v>Leverage</c:v>
                </c:pt>
                <c:pt idx="2">
                  <c:v>Liquidity</c:v>
                </c:pt>
                <c:pt idx="3">
                  <c:v>Profitability</c:v>
                </c:pt>
                <c:pt idx="4">
                  <c:v>Shareholder</c:v>
                </c:pt>
              </c:strCache>
            </c:strRef>
          </c:cat>
          <c:val>
            <c:numRef>
              <c:f>1</c:f>
              <c:numCache>
                <c:formatCode>General</c:formatCode>
                <c:ptCount val="5"/>
                <c:pt idx="0">
                  <c:v>0</c:v>
                </c:pt>
                <c:pt idx="1">
                  <c:v>50</c:v>
                </c:pt>
                <c:pt idx="2">
                  <c:v>50</c:v>
                </c:pt>
                <c:pt idx="3">
                  <c:v>0</c:v>
                </c:pt>
                <c:pt idx="4">
                  <c:v>100</c:v>
                </c:pt>
              </c:numCache>
            </c:numRef>
          </c:val>
        </c:ser>
        <c:ser>
          <c:idx val="2"/>
          <c:order val="2"/>
          <c:tx>
            <c:strRef>
              <c:f>label 2</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5"/>
                <c:pt idx="0">
                  <c:v>Efficiency</c:v>
                </c:pt>
                <c:pt idx="1">
                  <c:v>Leverage</c:v>
                </c:pt>
                <c:pt idx="2">
                  <c:v>Liquidity</c:v>
                </c:pt>
                <c:pt idx="3">
                  <c:v>Profitability</c:v>
                </c:pt>
                <c:pt idx="4">
                  <c:v>Shareholder</c:v>
                </c:pt>
              </c:strCache>
            </c:strRef>
          </c:cat>
          <c:val>
            <c:numRef>
              <c:f>2</c:f>
              <c:numCache>
                <c:formatCode>General</c:formatCode>
                <c:ptCount val="5"/>
                <c:pt idx="0">
                  <c:v>0</c:v>
                </c:pt>
                <c:pt idx="1">
                  <c:v>50</c:v>
                </c:pt>
                <c:pt idx="2">
                  <c:v>0</c:v>
                </c:pt>
                <c:pt idx="3">
                  <c:v>0</c:v>
                </c:pt>
                <c:pt idx="4">
                  <c:v>0</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5"/>
                <c:pt idx="0">
                  <c:v>Efficiency</c:v>
                </c:pt>
                <c:pt idx="1">
                  <c:v>Leverage</c:v>
                </c:pt>
                <c:pt idx="2">
                  <c:v>Liquidity</c:v>
                </c:pt>
                <c:pt idx="3">
                  <c:v>Profitability</c:v>
                </c:pt>
                <c:pt idx="4">
                  <c:v>Shareholder</c:v>
                </c:pt>
              </c:strCache>
            </c:strRef>
          </c:cat>
          <c:val>
            <c:numRef>
              <c:f>3</c:f>
              <c:numCache>
                <c:formatCode>General</c:formatCode>
                <c:ptCount val="5"/>
                <c:pt idx="0">
                  <c:v>0</c:v>
                </c:pt>
                <c:pt idx="1">
                  <c:v>50</c:v>
                </c:pt>
                <c:pt idx="2">
                  <c:v>50</c:v>
                </c:pt>
                <c:pt idx="3">
                  <c:v>0</c:v>
                </c:pt>
                <c:pt idx="4">
                  <c:v>0</c:v>
                </c:pt>
              </c:numCache>
            </c:numRef>
          </c:val>
        </c:ser>
        <c:gapWidth val="150"/>
        <c:overlap val="0"/>
        <c:axId val="64854288"/>
        <c:axId val="86234912"/>
      </c:barChart>
      <c:catAx>
        <c:axId val="64854288"/>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86234912"/>
        <c:crosses val="autoZero"/>
        <c:auto val="1"/>
        <c:lblAlgn val="ctr"/>
        <c:lblOffset val="100"/>
        <c:noMultiLvlLbl val="0"/>
      </c:catAx>
      <c:valAx>
        <c:axId val="86234912"/>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64854288"/>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Comparison</a:t>
            </a:r>
          </a:p>
        </c:rich>
      </c:tx>
      <c:overlay val="0"/>
      <c:spPr>
        <a:noFill/>
        <a:ln w="0">
          <a:noFill/>
        </a:ln>
      </c:spPr>
    </c:title>
    <c:autoTitleDeleted val="0"/>
    <c:plotArea>
      <c:barChart>
        <c:barDir val="col"/>
        <c:grouping val="clustered"/>
        <c:varyColors val="0"/>
        <c:ser>
          <c:idx val="0"/>
          <c:order val="0"/>
          <c:tx>
            <c:strRef>
              <c:f>label 0</c:f>
              <c:strCache>
                <c:ptCount val="1"/>
                <c:pt idx="0">
                  <c:v>Base DistilBERT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0</c:f>
              <c:numCache>
                <c:formatCode>General</c:formatCode>
                <c:ptCount val="1"/>
                <c:pt idx="0">
                  <c:v>85</c:v>
                </c:pt>
              </c:numCache>
            </c:numRef>
          </c:val>
        </c:ser>
        <c:ser>
          <c:idx val="1"/>
          <c:order val="1"/>
          <c:tx>
            <c:strRef>
              <c:f>label 1</c:f>
              <c:strCache>
                <c:ptCount val="1"/>
                <c:pt idx="0">
                  <c:v>Fine-tuned (spam-trained)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1</c:f>
              <c:numCache>
                <c:formatCode>General</c:formatCode>
                <c:ptCount val="1"/>
                <c:pt idx="0">
                  <c:v>95</c:v>
                </c:pt>
              </c:numCache>
            </c:numRef>
          </c:val>
        </c:ser>
        <c:ser>
          <c:idx val="2"/>
          <c:order val="2"/>
          <c:tx>
            <c:strRef>
              <c:f>label 2</c:f>
              <c:strCache>
                <c:ptCount val="1"/>
                <c:pt idx="0">
                  <c:v>DistilBERT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2</c:f>
              <c:numCache>
                <c:formatCode>General</c:formatCode>
                <c:ptCount val="1"/>
                <c:pt idx="0">
                  <c:v>90</c:v>
                </c:pt>
              </c:numCache>
            </c:numRef>
          </c:val>
        </c:ser>
        <c:ser>
          <c:idx val="3"/>
          <c:order val="3"/>
          <c:tx>
            <c:strRef>
              <c:f>label 3</c:f>
              <c:strCache>
                <c:ptCount val="1"/>
                <c:pt idx="0">
                  <c:v>Fine-tuned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Accuracy (%)</c:v>
                </c:pt>
              </c:strCache>
            </c:strRef>
          </c:cat>
          <c:val>
            <c:numRef>
              <c:f>3</c:f>
              <c:numCache>
                <c:formatCode>General</c:formatCode>
                <c:ptCount val="1"/>
                <c:pt idx="0">
                  <c:v>95</c:v>
                </c:pt>
              </c:numCache>
            </c:numRef>
          </c:val>
        </c:ser>
        <c:gapWidth val="150"/>
        <c:overlap val="0"/>
        <c:axId val="34992869"/>
        <c:axId val="29071023"/>
      </c:barChart>
      <c:catAx>
        <c:axId val="34992869"/>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29071023"/>
        <c:crosses val="autoZero"/>
        <c:auto val="1"/>
        <c:lblAlgn val="ctr"/>
        <c:lblOffset val="100"/>
        <c:noMultiLvlLbl val="0"/>
      </c:catAx>
      <c:valAx>
        <c:axId val="29071023"/>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4992869"/>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Avg Latency (ms)</a:t>
            </a:r>
          </a:p>
        </c:rich>
      </c:tx>
      <c:overlay val="0"/>
      <c:spPr>
        <a:noFill/>
        <a:ln w="0">
          <a:noFill/>
        </a:ln>
      </c:spPr>
    </c:title>
    <c:autoTitleDeleted val="0"/>
    <c:plotArea>
      <c:barChart>
        <c:barDir val="col"/>
        <c:grouping val="clustered"/>
        <c:varyColors val="0"/>
        <c:ser>
          <c:idx val="0"/>
          <c:order val="0"/>
          <c:tx>
            <c:strRef>
              <c:f>label 0</c:f>
              <c:strCache>
                <c:ptCount val="1"/>
                <c:pt idx="0">
                  <c:v>Base DistilBERT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0</c:f>
              <c:numCache>
                <c:formatCode>General</c:formatCode>
                <c:ptCount val="1"/>
                <c:pt idx="0">
                  <c:v>33.4</c:v>
                </c:pt>
              </c:numCache>
            </c:numRef>
          </c:val>
        </c:ser>
        <c:ser>
          <c:idx val="1"/>
          <c:order val="1"/>
          <c:tx>
            <c:strRef>
              <c:f>label 1</c:f>
              <c:strCache>
                <c:ptCount val="1"/>
                <c:pt idx="0">
                  <c:v>Fine-tuned (spam-trained)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1</c:f>
              <c:numCache>
                <c:formatCode>General</c:formatCode>
                <c:ptCount val="1"/>
                <c:pt idx="0">
                  <c:v>194.1</c:v>
                </c:pt>
              </c:numCache>
            </c:numRef>
          </c:val>
        </c:ser>
        <c:ser>
          <c:idx val="2"/>
          <c:order val="2"/>
          <c:tx>
            <c:strRef>
              <c:f>label 2</c:f>
              <c:strCache>
                <c:ptCount val="1"/>
                <c:pt idx="0">
                  <c:v>DistilBERT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2</c:f>
              <c:numCache>
                <c:formatCode>General</c:formatCode>
                <c:ptCount val="1"/>
                <c:pt idx="0">
                  <c:v>34</c:v>
                </c:pt>
              </c:numCache>
            </c:numRef>
          </c:val>
        </c:ser>
        <c:ser>
          <c:idx val="3"/>
          <c:order val="3"/>
          <c:tx>
            <c:strRef>
              <c:f>label 3</c:f>
              <c:strCache>
                <c:ptCount val="1"/>
                <c:pt idx="0">
                  <c:v>Fine-tuned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Latency (ms)</c:v>
                </c:pt>
              </c:strCache>
            </c:strRef>
          </c:cat>
          <c:val>
            <c:numRef>
              <c:f>3</c:f>
              <c:numCache>
                <c:formatCode>General</c:formatCode>
                <c:ptCount val="1"/>
                <c:pt idx="0">
                  <c:v>228.9</c:v>
                </c:pt>
              </c:numCache>
            </c:numRef>
          </c:val>
        </c:ser>
        <c:gapWidth val="150"/>
        <c:overlap val="0"/>
        <c:axId val="14709482"/>
        <c:axId val="46535475"/>
      </c:barChart>
      <c:catAx>
        <c:axId val="14709482"/>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46535475"/>
        <c:crosses val="autoZero"/>
        <c:auto val="1"/>
        <c:lblAlgn val="ctr"/>
        <c:lblOffset val="100"/>
        <c:noMultiLvlLbl val="0"/>
      </c:catAx>
      <c:valAx>
        <c:axId val="46535475"/>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4709482"/>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Avg Tokens per Query</a:t>
            </a:r>
          </a:p>
        </c:rich>
      </c:tx>
      <c:overlay val="0"/>
      <c:spPr>
        <a:noFill/>
        <a:ln w="0">
          <a:noFill/>
        </a:ln>
      </c:spPr>
    </c:title>
    <c:autoTitleDeleted val="0"/>
    <c:plotArea>
      <c:barChart>
        <c:barDir val="col"/>
        <c:grouping val="clustered"/>
        <c:varyColors val="0"/>
        <c:ser>
          <c:idx val="0"/>
          <c:order val="0"/>
          <c:tx>
            <c:strRef>
              <c:f>label 0</c:f>
              <c:strCache>
                <c:ptCount val="1"/>
                <c:pt idx="0">
                  <c:v>Base DistilBERT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0</c:f>
              <c:numCache>
                <c:formatCode>General</c:formatCode>
                <c:ptCount val="1"/>
                <c:pt idx="0">
                  <c:v>39</c:v>
                </c:pt>
              </c:numCache>
            </c:numRef>
          </c:val>
        </c:ser>
        <c:ser>
          <c:idx val="1"/>
          <c:order val="1"/>
          <c:tx>
            <c:strRef>
              <c:f>label 1</c:f>
              <c:strCache>
                <c:ptCount val="1"/>
                <c:pt idx="0">
                  <c:v>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1</c:f>
              <c:numCache>
                <c:formatCode>General</c:formatCode>
                <c:ptCount val="1"/>
                <c:pt idx="0">
                  <c:v>512</c:v>
                </c:pt>
              </c:numCache>
            </c:numRef>
          </c:val>
        </c:ser>
        <c:ser>
          <c:idx val="2"/>
          <c:order val="2"/>
          <c:tx>
            <c:strRef>
              <c:f>label 2</c:f>
              <c:strCache>
                <c:ptCount val="1"/>
                <c:pt idx="0">
                  <c:v>DistilBERT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2</c:f>
              <c:numCache>
                <c:formatCode>General</c:formatCode>
                <c:ptCount val="1"/>
                <c:pt idx="0">
                  <c:v>114</c:v>
                </c:pt>
              </c:numCache>
            </c:numRef>
          </c:val>
        </c:ser>
        <c:ser>
          <c:idx val="3"/>
          <c:order val="3"/>
          <c:tx>
            <c:strRef>
              <c:f>label 3</c:f>
              <c:strCache>
                <c:ptCount val="1"/>
                <c:pt idx="0">
                  <c:v>Fine-tuned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Tokens/Query</c:v>
                </c:pt>
              </c:strCache>
            </c:strRef>
          </c:cat>
          <c:val>
            <c:numRef>
              <c:f>3</c:f>
              <c:numCache>
                <c:formatCode>General</c:formatCode>
                <c:ptCount val="1"/>
                <c:pt idx="0">
                  <c:v>626</c:v>
                </c:pt>
              </c:numCache>
            </c:numRef>
          </c:val>
        </c:ser>
        <c:gapWidth val="150"/>
        <c:overlap val="0"/>
        <c:axId val="18341093"/>
        <c:axId val="5041400"/>
      </c:barChart>
      <c:catAx>
        <c:axId val="18341093"/>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041400"/>
        <c:crosses val="autoZero"/>
        <c:auto val="1"/>
        <c:lblAlgn val="ctr"/>
        <c:lblOffset val="100"/>
        <c:noMultiLvlLbl val="0"/>
      </c:catAx>
      <c:valAx>
        <c:axId val="5041400"/>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8341093"/>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Cost per 1K Queries ($)</a:t>
            </a:r>
          </a:p>
        </c:rich>
      </c:tx>
      <c:overlay val="0"/>
      <c:spPr>
        <a:noFill/>
        <a:ln w="0">
          <a:noFill/>
        </a:ln>
      </c:spPr>
    </c:title>
    <c:autoTitleDeleted val="0"/>
    <c:plotArea>
      <c:barChart>
        <c:barDir val="col"/>
        <c:grouping val="clustered"/>
        <c:varyColors val="0"/>
        <c:ser>
          <c:idx val="0"/>
          <c:order val="0"/>
          <c:tx>
            <c:strRef>
              <c:f>label 0</c:f>
              <c:strCache>
                <c:ptCount val="1"/>
                <c:pt idx="0">
                  <c:v>Base DistilBERT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0</c:f>
              <c:numCache>
                <c:formatCode>General</c:formatCode>
                <c:ptCount val="1"/>
                <c:pt idx="0">
                  <c:v>0.0004</c:v>
                </c:pt>
              </c:numCache>
            </c:numRef>
          </c:val>
        </c:ser>
        <c:ser>
          <c:idx val="1"/>
          <c:order val="1"/>
          <c:tx>
            <c:strRef>
              <c:f>label 1</c:f>
              <c:strCache>
                <c:ptCount val="1"/>
                <c:pt idx="0">
                  <c:v>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1</c:f>
              <c:numCache>
                <c:formatCode>General</c:formatCode>
                <c:ptCount val="1"/>
                <c:pt idx="0">
                  <c:v>0.0051</c:v>
                </c:pt>
              </c:numCache>
            </c:numRef>
          </c:val>
        </c:ser>
        <c:ser>
          <c:idx val="2"/>
          <c:order val="2"/>
          <c:tx>
            <c:strRef>
              <c:f>label 2</c:f>
              <c:strCache>
                <c:ptCount val="1"/>
                <c:pt idx="0">
                  <c:v>DistilBERT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2</c:f>
              <c:numCache>
                <c:formatCode>General</c:formatCode>
                <c:ptCount val="1"/>
                <c:pt idx="0">
                  <c:v>0.0011</c:v>
                </c:pt>
              </c:numCache>
            </c:numRef>
          </c:val>
        </c:ser>
        <c:ser>
          <c:idx val="3"/>
          <c:order val="3"/>
          <c:tx>
            <c:strRef>
              <c:f>label 3</c:f>
              <c:strCache>
                <c:ptCount val="1"/>
                <c:pt idx="0">
                  <c:v>Fine-tuned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Cost per 1K Queries ($)</c:v>
                </c:pt>
              </c:strCache>
            </c:strRef>
          </c:cat>
          <c:val>
            <c:numRef>
              <c:f>3</c:f>
              <c:numCache>
                <c:formatCode>General</c:formatCode>
                <c:ptCount val="1"/>
                <c:pt idx="0">
                  <c:v>0.0063</c:v>
                </c:pt>
              </c:numCache>
            </c:numRef>
          </c:val>
        </c:ser>
        <c:gapWidth val="150"/>
        <c:overlap val="0"/>
        <c:axId val="71832031"/>
        <c:axId val="37734296"/>
      </c:barChart>
      <c:catAx>
        <c:axId val="71832031"/>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7734296"/>
        <c:crosses val="autoZero"/>
        <c:auto val="1"/>
        <c:lblAlgn val="ctr"/>
        <c:lblOffset val="100"/>
        <c:noMultiLvlLbl val="0"/>
      </c:catAx>
      <c:valAx>
        <c:axId val="37734296"/>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1832031"/>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F1 Score (Macro Average)</a:t>
            </a:r>
          </a:p>
        </c:rich>
      </c:tx>
      <c:overlay val="0"/>
      <c:spPr>
        <a:noFill/>
        <a:ln w="0">
          <a:noFill/>
        </a:ln>
      </c:spPr>
    </c:title>
    <c:autoTitleDeleted val="0"/>
    <c:plotArea>
      <c:barChart>
        <c:barDir val="col"/>
        <c:grouping val="clustered"/>
        <c:varyColors val="0"/>
        <c:ser>
          <c:idx val="0"/>
          <c:order val="0"/>
          <c:tx>
            <c:strRef>
              <c:f>label 0</c:f>
              <c:strCache>
                <c:ptCount val="1"/>
                <c:pt idx="0">
                  <c:v>Base DistilBERT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F1 Macro</c:v>
                </c:pt>
              </c:strCache>
            </c:strRef>
          </c:cat>
          <c:val>
            <c:numRef>
              <c:f>0</c:f>
              <c:numCache>
                <c:formatCode>General</c:formatCode>
                <c:ptCount val="1"/>
                <c:pt idx="0">
                  <c:v>0.849</c:v>
                </c:pt>
              </c:numCache>
            </c:numRef>
          </c:val>
        </c:ser>
        <c:ser>
          <c:idx val="1"/>
          <c:order val="1"/>
          <c:tx>
            <c:strRef>
              <c:f>label 1</c:f>
              <c:strCache>
                <c:ptCount val="1"/>
                <c:pt idx="0">
                  <c:v>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F1 Macro</c:v>
                </c:pt>
              </c:strCache>
            </c:strRef>
          </c:cat>
          <c:val>
            <c:numRef>
              <c:f>1</c:f>
              <c:numCache>
                <c:formatCode>General</c:formatCode>
                <c:ptCount val="1"/>
                <c:pt idx="0">
                  <c:v>0.95</c:v>
                </c:pt>
              </c:numCache>
            </c:numRef>
          </c:val>
        </c:ser>
        <c:ser>
          <c:idx val="2"/>
          <c:order val="2"/>
          <c:tx>
            <c:strRef>
              <c:f>label 2</c:f>
              <c:strCache>
                <c:ptCount val="1"/>
                <c:pt idx="0">
                  <c:v>DistilBERT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F1 Macro</c:v>
                </c:pt>
              </c:strCache>
            </c:strRef>
          </c:cat>
          <c:val>
            <c:numRef>
              <c:f>2</c:f>
              <c:numCache>
                <c:formatCode>General</c:formatCode>
                <c:ptCount val="1"/>
                <c:pt idx="0">
                  <c:v>0.899</c:v>
                </c:pt>
              </c:numCache>
            </c:numRef>
          </c:val>
        </c:ser>
        <c:ser>
          <c:idx val="3"/>
          <c:order val="3"/>
          <c:tx>
            <c:strRef>
              <c:f>label 3</c:f>
              <c:strCache>
                <c:ptCount val="1"/>
                <c:pt idx="0">
                  <c:v>Fine-tuned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F1 Macro</c:v>
                </c:pt>
              </c:strCache>
            </c:strRef>
          </c:cat>
          <c:val>
            <c:numRef>
              <c:f>3</c:f>
              <c:numCache>
                <c:formatCode>General</c:formatCode>
                <c:ptCount val="1"/>
                <c:pt idx="0">
                  <c:v>0.95</c:v>
                </c:pt>
              </c:numCache>
            </c:numRef>
          </c:val>
        </c:ser>
        <c:gapWidth val="150"/>
        <c:overlap val="0"/>
        <c:axId val="19468363"/>
        <c:axId val="92182113"/>
      </c:barChart>
      <c:catAx>
        <c:axId val="19468363"/>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92182113"/>
        <c:crosses val="autoZero"/>
        <c:auto val="1"/>
        <c:lblAlgn val="ctr"/>
        <c:lblOffset val="100"/>
        <c:noMultiLvlLbl val="0"/>
      </c:catAx>
      <c:valAx>
        <c:axId val="92182113"/>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9468363"/>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Average Confidence Score</a:t>
            </a:r>
          </a:p>
        </c:rich>
      </c:tx>
      <c:overlay val="0"/>
      <c:spPr>
        <a:noFill/>
        <a:ln w="0">
          <a:noFill/>
        </a:ln>
      </c:spPr>
    </c:title>
    <c:autoTitleDeleted val="0"/>
    <c:plotArea>
      <c:barChart>
        <c:barDir val="col"/>
        <c:grouping val="clustered"/>
        <c:varyColors val="0"/>
        <c:ser>
          <c:idx val="0"/>
          <c:order val="0"/>
          <c:tx>
            <c:strRef>
              <c:f>label 0</c:f>
              <c:strCache>
                <c:ptCount val="1"/>
                <c:pt idx="0">
                  <c:v>Base DistilBERT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Confidence</c:v>
                </c:pt>
              </c:strCache>
            </c:strRef>
          </c:cat>
          <c:val>
            <c:numRef>
              <c:f>0</c:f>
              <c:numCache>
                <c:formatCode>General</c:formatCode>
                <c:ptCount val="1"/>
                <c:pt idx="0">
                  <c:v>0.539</c:v>
                </c:pt>
              </c:numCache>
            </c:numRef>
          </c:val>
        </c:ser>
        <c:ser>
          <c:idx val="1"/>
          <c:order val="1"/>
          <c:tx>
            <c:strRef>
              <c:f>label 1</c:f>
              <c:strCache>
                <c:ptCount val="1"/>
                <c:pt idx="0">
                  <c:v>Fine-tuned (spam-trained)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Confidence</c:v>
                </c:pt>
              </c:strCache>
            </c:strRef>
          </c:cat>
          <c:val>
            <c:numRef>
              <c:f>1</c:f>
              <c:numCache>
                <c:formatCode>General</c:formatCode>
                <c:ptCount val="1"/>
                <c:pt idx="0">
                  <c:v>0.963</c:v>
                </c:pt>
              </c:numCache>
            </c:numRef>
          </c:val>
        </c:ser>
        <c:ser>
          <c:idx val="2"/>
          <c:order val="2"/>
          <c:tx>
            <c:strRef>
              <c:f>label 2</c:f>
              <c:strCache>
                <c:ptCount val="1"/>
                <c:pt idx="0">
                  <c:v>DistilBERT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Confidence</c:v>
                </c:pt>
              </c:strCache>
            </c:strRef>
          </c:cat>
          <c:val>
            <c:numRef>
              <c:f>2</c:f>
              <c:numCache>
                <c:formatCode>General</c:formatCode>
                <c:ptCount val="1"/>
                <c:pt idx="0">
                  <c:v>0.682</c:v>
                </c:pt>
              </c:numCache>
            </c:numRef>
          </c:val>
        </c:ser>
        <c:ser>
          <c:idx val="3"/>
          <c:order val="3"/>
          <c:tx>
            <c:strRef>
              <c:f>label 3</c:f>
              <c:strCache>
                <c:ptCount val="1"/>
                <c:pt idx="0">
                  <c:v>Fine-tuned + RAG (hybrid)</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1"/>
                <c:pt idx="0">
                  <c:v>Avg Confidence</c:v>
                </c:pt>
              </c:strCache>
            </c:strRef>
          </c:cat>
          <c:val>
            <c:numRef>
              <c:f>3</c:f>
              <c:numCache>
                <c:formatCode>General</c:formatCode>
                <c:ptCount val="1"/>
                <c:pt idx="0">
                  <c:v>0.846</c:v>
                </c:pt>
              </c:numCache>
            </c:numRef>
          </c:val>
        </c:ser>
        <c:gapWidth val="150"/>
        <c:overlap val="0"/>
        <c:axId val="72628941"/>
        <c:axId val="34951452"/>
      </c:barChart>
      <c:catAx>
        <c:axId val="72628941"/>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4951452"/>
        <c:crosses val="autoZero"/>
        <c:auto val="1"/>
        <c:lblAlgn val="ctr"/>
        <c:lblOffset val="100"/>
        <c:noMultiLvlLbl val="0"/>
      </c:catAx>
      <c:valAx>
        <c:axId val="34951452"/>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2628941"/>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by Category</a:t>
            </a:r>
          </a:p>
        </c:rich>
      </c:tx>
      <c:overlay val="0"/>
      <c:spPr>
        <a:noFill/>
        <a:ln w="0">
          <a:noFill/>
        </a:ln>
      </c:spPr>
    </c:title>
    <c:autoTitleDeleted val="0"/>
    <c:plotArea>
      <c:barChart>
        <c:barDir val="col"/>
        <c:grouping val="clustered"/>
        <c:varyColors val="0"/>
        <c:ser>
          <c:idx val="0"/>
          <c:order val="0"/>
          <c:tx>
            <c:strRef>
              <c:f>label 0</c:f>
              <c:strCache>
                <c:ptCount val="1"/>
                <c:pt idx="0">
                  <c:v>Base DistilBERT</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Business</c:v>
                </c:pt>
                <c:pt idx="1">
                  <c:v>Newsletter</c:v>
                </c:pt>
                <c:pt idx="2">
                  <c:v>Notification</c:v>
                </c:pt>
                <c:pt idx="3">
                  <c:v>Obvious Spam</c:v>
                </c:pt>
                <c:pt idx="4">
                  <c:v>Phishing</c:v>
                </c:pt>
                <c:pt idx="5">
                  <c:v>Scam</c:v>
                </c:pt>
              </c:strCache>
            </c:strRef>
          </c:cat>
          <c:val>
            <c:numRef>
              <c:f>0</c:f>
              <c:numCache>
                <c:formatCode>General</c:formatCode>
                <c:ptCount val="6"/>
                <c:pt idx="0">
                  <c:v>83.3</c:v>
                </c:pt>
                <c:pt idx="1">
                  <c:v>100</c:v>
                </c:pt>
                <c:pt idx="2">
                  <c:v>66.7</c:v>
                </c:pt>
                <c:pt idx="3">
                  <c:v>100</c:v>
                </c:pt>
                <c:pt idx="4">
                  <c:v>75</c:v>
                </c:pt>
                <c:pt idx="5">
                  <c:v>100</c:v>
                </c:pt>
              </c:numCache>
            </c:numRef>
          </c:val>
        </c:ser>
        <c:ser>
          <c:idx val="1"/>
          <c:order val="1"/>
          <c:tx>
            <c:strRef>
              <c:f>label 1</c:f>
              <c:strCache>
                <c:ptCount val="1"/>
                <c:pt idx="0">
                  <c:v>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Business</c:v>
                </c:pt>
                <c:pt idx="1">
                  <c:v>Newsletter</c:v>
                </c:pt>
                <c:pt idx="2">
                  <c:v>Notification</c:v>
                </c:pt>
                <c:pt idx="3">
                  <c:v>Obvious Spam</c:v>
                </c:pt>
                <c:pt idx="4">
                  <c:v>Phishing</c:v>
                </c:pt>
                <c:pt idx="5">
                  <c:v>Scam</c:v>
                </c:pt>
              </c:strCache>
            </c:strRef>
          </c:cat>
          <c:val>
            <c:numRef>
              <c:f>1</c:f>
              <c:numCache>
                <c:formatCode>General</c:formatCode>
                <c:ptCount val="6"/>
                <c:pt idx="0">
                  <c:v>100</c:v>
                </c:pt>
                <c:pt idx="1">
                  <c:v>100</c:v>
                </c:pt>
                <c:pt idx="2">
                  <c:v>66.7</c:v>
                </c:pt>
                <c:pt idx="3">
                  <c:v>100</c:v>
                </c:pt>
                <c:pt idx="4">
                  <c:v>100</c:v>
                </c:pt>
                <c:pt idx="5">
                  <c:v>100</c:v>
                </c:pt>
              </c:numCache>
            </c:numRef>
          </c:val>
        </c:ser>
        <c:ser>
          <c:idx val="2"/>
          <c:order val="2"/>
          <c:tx>
            <c:strRef>
              <c:f>label 2</c:f>
              <c:strCache>
                <c:ptCount val="1"/>
                <c:pt idx="0">
                  <c:v>DistilBERT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Business</c:v>
                </c:pt>
                <c:pt idx="1">
                  <c:v>Newsletter</c:v>
                </c:pt>
                <c:pt idx="2">
                  <c:v>Notification</c:v>
                </c:pt>
                <c:pt idx="3">
                  <c:v>Obvious Spam</c:v>
                </c:pt>
                <c:pt idx="4">
                  <c:v>Phishing</c:v>
                </c:pt>
                <c:pt idx="5">
                  <c:v>Scam</c:v>
                </c:pt>
              </c:strCache>
            </c:strRef>
          </c:cat>
          <c:val>
            <c:numRef>
              <c:f>2</c:f>
              <c:numCache>
                <c:formatCode>General</c:formatCode>
                <c:ptCount val="6"/>
                <c:pt idx="0">
                  <c:v>100</c:v>
                </c:pt>
                <c:pt idx="1">
                  <c:v>100</c:v>
                </c:pt>
                <c:pt idx="2">
                  <c:v>33.3</c:v>
                </c:pt>
                <c:pt idx="3">
                  <c:v>100</c:v>
                </c:pt>
                <c:pt idx="4">
                  <c:v>100</c:v>
                </c:pt>
                <c:pt idx="5">
                  <c:v>100</c:v>
                </c:pt>
              </c:numCache>
            </c:numRef>
          </c:val>
        </c:ser>
        <c:ser>
          <c:idx val="3"/>
          <c:order val="3"/>
          <c:tx>
            <c:strRef>
              <c:f>label 3</c:f>
              <c:strCache>
                <c:ptCount val="1"/>
                <c:pt idx="0">
                  <c:v>Fine-tuned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Business</c:v>
                </c:pt>
                <c:pt idx="1">
                  <c:v>Newsletter</c:v>
                </c:pt>
                <c:pt idx="2">
                  <c:v>Notification</c:v>
                </c:pt>
                <c:pt idx="3">
                  <c:v>Obvious Spam</c:v>
                </c:pt>
                <c:pt idx="4">
                  <c:v>Phishing</c:v>
                </c:pt>
                <c:pt idx="5">
                  <c:v>Scam</c:v>
                </c:pt>
              </c:strCache>
            </c:strRef>
          </c:cat>
          <c:val>
            <c:numRef>
              <c:f>3</c:f>
              <c:numCache>
                <c:formatCode>General</c:formatCode>
                <c:ptCount val="6"/>
                <c:pt idx="0">
                  <c:v>100</c:v>
                </c:pt>
                <c:pt idx="1">
                  <c:v>100</c:v>
                </c:pt>
                <c:pt idx="2">
                  <c:v>66.7</c:v>
                </c:pt>
                <c:pt idx="3">
                  <c:v>100</c:v>
                </c:pt>
                <c:pt idx="4">
                  <c:v>100</c:v>
                </c:pt>
                <c:pt idx="5">
                  <c:v>100</c:v>
                </c:pt>
              </c:numCache>
            </c:numRef>
          </c:val>
        </c:ser>
        <c:gapWidth val="150"/>
        <c:overlap val="0"/>
        <c:axId val="72216047"/>
        <c:axId val="14599089"/>
      </c:barChart>
      <c:catAx>
        <c:axId val="72216047"/>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14599089"/>
        <c:crosses val="autoZero"/>
        <c:auto val="1"/>
        <c:lblAlgn val="ctr"/>
        <c:lblOffset val="100"/>
        <c:noMultiLvlLbl val="0"/>
      </c:catAx>
      <c:valAx>
        <c:axId val="14599089"/>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2216047"/>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Accuracy: Basic vs Adversarial</a:t>
            </a:r>
          </a:p>
        </c:rich>
      </c:tx>
      <c:overlay val="0"/>
      <c:spPr>
        <a:noFill/>
        <a:ln w="0">
          <a:noFill/>
        </a:ln>
      </c:spPr>
    </c:title>
    <c:autoTitleDeleted val="0"/>
    <c:plotArea>
      <c:barChart>
        <c:barDir val="col"/>
        <c:grouping val="clustered"/>
        <c:varyColors val="0"/>
        <c:ser>
          <c:idx val="0"/>
          <c:order val="0"/>
          <c:tx>
            <c:strRef>
              <c:f>label 0</c:f>
              <c:strCache>
                <c:ptCount val="1"/>
                <c:pt idx="0">
                  <c:v>DistilBERT (66M)</c:v>
                </c:pt>
              </c:strCache>
            </c:strRef>
          </c:tx>
          <c:spPr>
            <a:solidFill>
              <a:srgbClr val="ff6b35"/>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Basic (20 cases)</c:v>
                </c:pt>
                <c:pt idx="1">
                  <c:v>Adversarial (30 cases)</c:v>
                </c:pt>
              </c:strCache>
            </c:strRef>
          </c:cat>
          <c:val>
            <c:numRef>
              <c:f>0</c:f>
              <c:numCache>
                <c:formatCode>General</c:formatCode>
                <c:ptCount val="2"/>
                <c:pt idx="0">
                  <c:v>95</c:v>
                </c:pt>
                <c:pt idx="1">
                  <c:v>60</c:v>
                </c:pt>
              </c:numCache>
            </c:numRef>
          </c:val>
        </c:ser>
        <c:ser>
          <c:idx val="1"/>
          <c:order val="1"/>
          <c:tx>
            <c:strRef>
              <c:f>label 1</c:f>
              <c:strCache>
                <c:ptCount val="1"/>
                <c:pt idx="0">
                  <c:v>GPT-4o-mini (~8B)</c:v>
                </c:pt>
              </c:strCache>
            </c:strRef>
          </c:tx>
          <c:spPr>
            <a:solidFill>
              <a:srgbClr val="4a90d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Basic (20 cases)</c:v>
                </c:pt>
                <c:pt idx="1">
                  <c:v>Adversarial (30 cases)</c:v>
                </c:pt>
              </c:strCache>
            </c:strRef>
          </c:cat>
          <c:val>
            <c:numRef>
              <c:f>1</c:f>
              <c:numCache>
                <c:formatCode>General</c:formatCode>
                <c:ptCount val="2"/>
                <c:pt idx="0">
                  <c:v>100</c:v>
                </c:pt>
                <c:pt idx="1">
                  <c:v>63.3</c:v>
                </c:pt>
              </c:numCache>
            </c:numRef>
          </c:val>
        </c:ser>
        <c:gapWidth val="150"/>
        <c:overlap val="0"/>
        <c:axId val="66520438"/>
        <c:axId val="7424786"/>
      </c:barChart>
      <c:catAx>
        <c:axId val="66520438"/>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424786"/>
        <c:crosses val="autoZero"/>
        <c:auto val="1"/>
        <c:lblAlgn val="ctr"/>
        <c:lblOffset val="100"/>
        <c:noMultiLvlLbl val="0"/>
      </c:catAx>
      <c:valAx>
        <c:axId val="7424786"/>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66520438"/>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Average Latency (ms)</a:t>
            </a:r>
          </a:p>
        </c:rich>
      </c:tx>
      <c:overlay val="0"/>
      <c:spPr>
        <a:noFill/>
        <a:ln w="0">
          <a:noFill/>
        </a:ln>
      </c:spPr>
    </c:title>
    <c:autoTitleDeleted val="0"/>
    <c:plotArea>
      <c:barChart>
        <c:barDir val="col"/>
        <c:grouping val="clustered"/>
        <c:varyColors val="0"/>
        <c:ser>
          <c:idx val="0"/>
          <c:order val="0"/>
          <c:tx>
            <c:strRef>
              <c:f>label 0</c:f>
              <c:strCache>
                <c:ptCount val="1"/>
                <c:pt idx="0">
                  <c:v>DistilBERT (66M)</c:v>
                </c:pt>
              </c:strCache>
            </c:strRef>
          </c:tx>
          <c:spPr>
            <a:solidFill>
              <a:srgbClr val="ff6b35"/>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Basic</c:v>
                </c:pt>
                <c:pt idx="1">
                  <c:v>Adversarial</c:v>
                </c:pt>
              </c:strCache>
            </c:strRef>
          </c:cat>
          <c:val>
            <c:numRef>
              <c:f>0</c:f>
              <c:numCache>
                <c:formatCode>General</c:formatCode>
                <c:ptCount val="2"/>
                <c:pt idx="0">
                  <c:v>175</c:v>
                </c:pt>
                <c:pt idx="1">
                  <c:v>187.3</c:v>
                </c:pt>
              </c:numCache>
            </c:numRef>
          </c:val>
        </c:ser>
        <c:ser>
          <c:idx val="1"/>
          <c:order val="1"/>
          <c:tx>
            <c:strRef>
              <c:f>label 1</c:f>
              <c:strCache>
                <c:ptCount val="1"/>
                <c:pt idx="0">
                  <c:v>GPT-4o-mini (~8B)</c:v>
                </c:pt>
              </c:strCache>
            </c:strRef>
          </c:tx>
          <c:spPr>
            <a:solidFill>
              <a:srgbClr val="4a90d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Basic</c:v>
                </c:pt>
                <c:pt idx="1">
                  <c:v>Adversarial</c:v>
                </c:pt>
              </c:strCache>
            </c:strRef>
          </c:cat>
          <c:val>
            <c:numRef>
              <c:f>1</c:f>
              <c:numCache>
                <c:formatCode>General</c:formatCode>
                <c:ptCount val="2"/>
                <c:pt idx="0">
                  <c:v>528.2</c:v>
                </c:pt>
                <c:pt idx="1">
                  <c:v>1313.5</c:v>
                </c:pt>
              </c:numCache>
            </c:numRef>
          </c:val>
        </c:ser>
        <c:gapWidth val="150"/>
        <c:overlap val="0"/>
        <c:axId val="49779909"/>
        <c:axId val="31330809"/>
      </c:barChart>
      <c:catAx>
        <c:axId val="49779909"/>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1330809"/>
        <c:crosses val="autoZero"/>
        <c:auto val="1"/>
        <c:lblAlgn val="ctr"/>
        <c:lblOffset val="100"/>
        <c:noMultiLvlLbl val="0"/>
      </c:catAx>
      <c:valAx>
        <c:axId val="31330809"/>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49779909"/>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Overall Accuracy (%)</a:t>
            </a:r>
          </a:p>
        </c:rich>
      </c:tx>
      <c:overlay val="0"/>
      <c:spPr>
        <a:noFill/>
        <a:ln w="0">
          <a:noFill/>
        </a:ln>
      </c:spPr>
    </c:title>
    <c:autoTitleDeleted val="0"/>
    <c:plotArea>
      <c:barChart>
        <c:barDir val="col"/>
        <c:grouping val="clustered"/>
        <c:varyColors val="0"/>
        <c:ser>
          <c:idx val="0"/>
          <c:order val="0"/>
          <c:tx>
            <c:strRef>
              <c:f>label 0</c:f>
              <c:strCache>
                <c:ptCount val="1"/>
                <c:pt idx="0">
                  <c:v>Accuracy</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Base Llama2-7B</c:v>
                </c:pt>
                <c:pt idx="1">
                  <c:v>Llama2-7B + RAG</c:v>
                </c:pt>
                <c:pt idx="2">
                  <c:v>FinQA-7B (FT)</c:v>
                </c:pt>
                <c:pt idx="3">
                  <c:v>FinQA-7B + RAG</c:v>
                </c:pt>
              </c:strCache>
            </c:strRef>
          </c:cat>
          <c:val>
            <c:numRef>
              <c:f>0</c:f>
              <c:numCache>
                <c:formatCode>General</c:formatCode>
                <c:ptCount val="4"/>
                <c:pt idx="0">
                  <c:v>43.3</c:v>
                </c:pt>
                <c:pt idx="1">
                  <c:v>86.7</c:v>
                </c:pt>
                <c:pt idx="2">
                  <c:v>40</c:v>
                </c:pt>
                <c:pt idx="3">
                  <c:v>93.3</c:v>
                </c:pt>
              </c:numCache>
            </c:numRef>
          </c:val>
        </c:ser>
        <c:gapWidth val="150"/>
        <c:overlap val="0"/>
        <c:axId val="90796914"/>
        <c:axId val="59342750"/>
      </c:barChart>
      <c:catAx>
        <c:axId val="90796914"/>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9342750"/>
        <c:crosses val="autoZero"/>
        <c:auto val="1"/>
        <c:lblAlgn val="ctr"/>
        <c:lblOffset val="100"/>
        <c:noMultiLvlLbl val="0"/>
      </c:catAx>
      <c:valAx>
        <c:axId val="59342750"/>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90796914"/>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RAG Advantage (percentage points)</a:t>
            </a:r>
          </a:p>
        </c:rich>
      </c:tx>
      <c:overlay val="0"/>
      <c:spPr>
        <a:noFill/>
        <a:ln w="0">
          <a:noFill/>
        </a:ln>
      </c:spPr>
    </c:title>
    <c:autoTitleDeleted val="0"/>
    <c:plotArea>
      <c:barChart>
        <c:barDir val="col"/>
        <c:grouping val="clustered"/>
        <c:varyColors val="0"/>
        <c:ser>
          <c:idx val="0"/>
          <c:order val="0"/>
          <c:tx>
            <c:strRef>
              <c:f>label 0</c:f>
              <c:strCache>
                <c:ptCount val="1"/>
                <c:pt idx="0">
                  <c:v>RAG vs Base</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5"/>
                <c:pt idx="0">
                  <c:v>Contextual Interp.</c:v>
                </c:pt>
                <c:pt idx="1">
                  <c:v>Cross-Doc Synthesis</c:v>
                </c:pt>
                <c:pt idx="2">
                  <c:v>Direct Retrieval</c:v>
                </c:pt>
                <c:pt idx="3">
                  <c:v>Formula + Aligned</c:v>
                </c:pt>
                <c:pt idx="4">
                  <c:v>Trend Analysis</c:v>
                </c:pt>
              </c:strCache>
            </c:strRef>
          </c:cat>
          <c:val>
            <c:numRef>
              <c:f>0</c:f>
              <c:numCache>
                <c:formatCode>General</c:formatCode>
                <c:ptCount val="5"/>
                <c:pt idx="0">
                  <c:v>50</c:v>
                </c:pt>
                <c:pt idx="1">
                  <c:v>25</c:v>
                </c:pt>
                <c:pt idx="2">
                  <c:v>62.5</c:v>
                </c:pt>
                <c:pt idx="3">
                  <c:v>66.6</c:v>
                </c:pt>
                <c:pt idx="4">
                  <c:v>0</c:v>
                </c:pt>
              </c:numCache>
            </c:numRef>
          </c:val>
        </c:ser>
        <c:ser>
          <c:idx val="1"/>
          <c:order val="1"/>
          <c:tx>
            <c:strRef>
              <c:f>label 1</c:f>
              <c:strCache>
                <c:ptCount val="1"/>
                <c:pt idx="0">
                  <c:v>RAG vs Fine-Tuned</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5"/>
                <c:pt idx="0">
                  <c:v>Contextual Interp.</c:v>
                </c:pt>
                <c:pt idx="1">
                  <c:v>Cross-Doc Synthesis</c:v>
                </c:pt>
                <c:pt idx="2">
                  <c:v>Direct Retrieval</c:v>
                </c:pt>
                <c:pt idx="3">
                  <c:v>Formula + Aligned</c:v>
                </c:pt>
                <c:pt idx="4">
                  <c:v>Trend Analysis</c:v>
                </c:pt>
              </c:strCache>
            </c:strRef>
          </c:cat>
          <c:val>
            <c:numRef>
              <c:f>1</c:f>
              <c:numCache>
                <c:formatCode>General</c:formatCode>
                <c:ptCount val="5"/>
                <c:pt idx="0">
                  <c:v>75</c:v>
                </c:pt>
                <c:pt idx="1">
                  <c:v>25</c:v>
                </c:pt>
                <c:pt idx="2">
                  <c:v>75</c:v>
                </c:pt>
                <c:pt idx="3">
                  <c:v>50</c:v>
                </c:pt>
                <c:pt idx="4">
                  <c:v>0</c:v>
                </c:pt>
              </c:numCache>
            </c:numRef>
          </c:val>
        </c:ser>
        <c:gapWidth val="150"/>
        <c:overlap val="0"/>
        <c:axId val="54020081"/>
        <c:axId val="65163743"/>
      </c:barChart>
      <c:catAx>
        <c:axId val="54020081"/>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65163743"/>
        <c:crosses val="autoZero"/>
        <c:auto val="1"/>
        <c:lblAlgn val="ctr"/>
        <c:lblOffset val="100"/>
        <c:noMultiLvlLbl val="0"/>
      </c:catAx>
      <c:valAx>
        <c:axId val="65163743"/>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54020081"/>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charts/chart3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Judge Scores by Dimension (1-5)</a:t>
            </a:r>
          </a:p>
        </c:rich>
      </c:tx>
      <c:overlay val="0"/>
      <c:spPr>
        <a:noFill/>
        <a:ln w="0">
          <a:noFill/>
        </a:ln>
      </c:spPr>
    </c:title>
    <c:autoTitleDeleted val="0"/>
    <c:plotArea>
      <c:barChart>
        <c:barDir val="col"/>
        <c:grouping val="clustered"/>
        <c:varyColors val="0"/>
        <c:ser>
          <c:idx val="0"/>
          <c:order val="0"/>
          <c:tx>
            <c:strRef>
              <c:f>label 0</c:f>
              <c:strCache>
                <c:ptCount val="1"/>
                <c:pt idx="0">
                  <c:v>Base Llama2-7B</c:v>
                </c:pt>
              </c:strCache>
            </c:strRef>
          </c:tx>
          <c:spPr>
            <a:solidFill>
              <a:srgbClr val="e84d4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3"/>
                <c:pt idx="0">
                  <c:v>Correctness</c:v>
                </c:pt>
                <c:pt idx="1">
                  <c:v>Reasoning</c:v>
                </c:pt>
                <c:pt idx="2">
                  <c:v>Faithfulness</c:v>
                </c:pt>
              </c:strCache>
            </c:strRef>
          </c:cat>
          <c:val>
            <c:numRef>
              <c:f>0</c:f>
              <c:numCache>
                <c:formatCode>General</c:formatCode>
                <c:ptCount val="3"/>
                <c:pt idx="0">
                  <c:v>1.5</c:v>
                </c:pt>
                <c:pt idx="1">
                  <c:v>2.6</c:v>
                </c:pt>
                <c:pt idx="2">
                  <c:v>1.93</c:v>
                </c:pt>
              </c:numCache>
            </c:numRef>
          </c:val>
        </c:ser>
        <c:ser>
          <c:idx val="1"/>
          <c:order val="1"/>
          <c:tx>
            <c:strRef>
              <c:f>label 1</c:f>
              <c:strCache>
                <c:ptCount val="1"/>
                <c:pt idx="0">
                  <c:v>Llama2-7B + RAG</c:v>
                </c:pt>
              </c:strCache>
            </c:strRef>
          </c:tx>
          <c:spPr>
            <a:solidFill>
              <a:srgbClr val="428bca"/>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3"/>
                <c:pt idx="0">
                  <c:v>Correctness</c:v>
                </c:pt>
                <c:pt idx="1">
                  <c:v>Reasoning</c:v>
                </c:pt>
                <c:pt idx="2">
                  <c:v>Faithfulness</c:v>
                </c:pt>
              </c:strCache>
            </c:strRef>
          </c:cat>
          <c:val>
            <c:numRef>
              <c:f>1</c:f>
              <c:numCache>
                <c:formatCode>General</c:formatCode>
                <c:ptCount val="3"/>
                <c:pt idx="0">
                  <c:v>3.43</c:v>
                </c:pt>
                <c:pt idx="1">
                  <c:v>3.37</c:v>
                </c:pt>
                <c:pt idx="2">
                  <c:v>3.8</c:v>
                </c:pt>
              </c:numCache>
            </c:numRef>
          </c:val>
        </c:ser>
        <c:ser>
          <c:idx val="2"/>
          <c:order val="2"/>
          <c:tx>
            <c:strRef>
              <c:f>label 2</c:f>
              <c:strCache>
                <c:ptCount val="1"/>
                <c:pt idx="0">
                  <c:v>FinQA-7B (FT)</c:v>
                </c:pt>
              </c:strCache>
            </c:strRef>
          </c:tx>
          <c:spPr>
            <a:solidFill>
              <a:srgbClr val="2ea04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3"/>
                <c:pt idx="0">
                  <c:v>Correctness</c:v>
                </c:pt>
                <c:pt idx="1">
                  <c:v>Reasoning</c:v>
                </c:pt>
                <c:pt idx="2">
                  <c:v>Faithfulness</c:v>
                </c:pt>
              </c:strCache>
            </c:strRef>
          </c:cat>
          <c:val>
            <c:numRef>
              <c:f>2</c:f>
              <c:numCache>
                <c:formatCode>General</c:formatCode>
                <c:ptCount val="3"/>
                <c:pt idx="0">
                  <c:v>1.6</c:v>
                </c:pt>
                <c:pt idx="1">
                  <c:v>2.6</c:v>
                </c:pt>
                <c:pt idx="2">
                  <c:v>2.1</c:v>
                </c:pt>
              </c:numCache>
            </c:numRef>
          </c:val>
        </c:ser>
        <c:ser>
          <c:idx val="3"/>
          <c:order val="3"/>
          <c:tx>
            <c:strRef>
              <c:f>label 3</c:f>
              <c:strCache>
                <c:ptCount val="1"/>
                <c:pt idx="0">
                  <c:v>FinQA-7B + RAG</c:v>
                </c:pt>
              </c:strCache>
            </c:strRef>
          </c:tx>
          <c:spPr>
            <a:solidFill>
              <a:srgbClr val="f09319"/>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3"/>
                <c:pt idx="0">
                  <c:v>Correctness</c:v>
                </c:pt>
                <c:pt idx="1">
                  <c:v>Reasoning</c:v>
                </c:pt>
                <c:pt idx="2">
                  <c:v>Faithfulness</c:v>
                </c:pt>
              </c:strCache>
            </c:strRef>
          </c:cat>
          <c:val>
            <c:numRef>
              <c:f>3</c:f>
              <c:numCache>
                <c:formatCode>General</c:formatCode>
                <c:ptCount val="3"/>
                <c:pt idx="0">
                  <c:v>3.57</c:v>
                </c:pt>
                <c:pt idx="1">
                  <c:v>3.63</c:v>
                </c:pt>
                <c:pt idx="2">
                  <c:v>3.83</c:v>
                </c:pt>
              </c:numCache>
            </c:numRef>
          </c:val>
        </c:ser>
        <c:gapWidth val="150"/>
        <c:overlap val="0"/>
        <c:axId val="39353014"/>
        <c:axId val="79854051"/>
      </c:barChart>
      <c:catAx>
        <c:axId val="39353014"/>
        <c:scaling>
          <c:orientation val="minMax"/>
        </c:scaling>
        <c:delete val="0"/>
        <c:axPos val="b"/>
        <c:numFmt formatCode="[$-408]dd/mm/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79854051"/>
        <c:crosses val="autoZero"/>
        <c:auto val="1"/>
        <c:lblAlgn val="ctr"/>
        <c:lblOffset val="100"/>
        <c:noMultiLvlLbl val="0"/>
      </c:catAx>
      <c:valAx>
        <c:axId val="79854051"/>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9353014"/>
        <c:crosses val="autoZero"/>
        <c:crossBetween val="between"/>
      </c:valAx>
      <c:spPr>
        <a:noFill/>
        <a:ln w="0">
          <a:noFill/>
        </a:ln>
      </c:spPr>
    </c:plotArea>
    <c:legend>
      <c:legendPos val="r"/>
      <c:overlay val="0"/>
      <c:spPr>
        <a:noFill/>
        <a:ln w="0">
          <a:noFill/>
        </a:ln>
      </c:spPr>
      <c:txPr>
        <a:bodyPr/>
        <a:lstStyle/>
        <a:p>
          <a:pPr>
            <a:defRPr sz="1800" b="0" u="none" strike="noStrike">
              <a:solidFill>
                <a:srgbClr val="000000"/>
              </a:solidFill>
              <a:uFillTx/>
              <a:latin typeface="Calibri"/>
            </a:defRPr>
          </a:pPr>
        </a:p>
      </c:txPr>
    </c:legend>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l-GR" sz="2000" b="0" u="none" strike="noStrike">
                <a:solidFill>
                  <a:srgbClr val="000000"/>
                </a:solidFill>
                <a:effectLst/>
                <a:uFillTx/>
                <a:latin typeface="Arial"/>
              </a:rPr>
              <a:t>Click to edit the notes format</a:t>
            </a:r>
            <a:endParaRPr lang="el-GR"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l-GR" sz="1400" b="0" u="none" strike="noStrike">
                <a:solidFill>
                  <a:srgbClr val="000000"/>
                </a:solidFill>
                <a:effectLst/>
                <a:uFillTx/>
                <a:latin typeface="Times New Roman"/>
              </a:rPr>
              <a:t>&lt;header&gt;</a:t>
            </a:r>
            <a:endParaRPr lang="el-GR"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lang="el-GR" sz="1400" b="0" u="none" strike="noStrike">
                <a:solidFill>
                  <a:srgbClr val="000000"/>
                </a:solidFill>
                <a:effectLst/>
                <a:uFillTx/>
                <a:latin typeface="Times New Roman"/>
              </a:defRPr>
            </a:lvl1pPr>
          </a:lstStyle>
          <a:p>
            <a:pPr indent="0" algn="r">
              <a:buNone/>
            </a:pPr>
            <a:r>
              <a:rPr lang="el-GR" sz="1400" b="0" u="none" strike="noStrike">
                <a:solidFill>
                  <a:srgbClr val="000000"/>
                </a:solidFill>
                <a:effectLst/>
                <a:uFillTx/>
                <a:latin typeface="Times New Roman"/>
              </a:rPr>
              <a:t>&lt;date/time&gt;</a:t>
            </a:r>
            <a:endParaRPr lang="el-GR"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lang="el-GR" sz="1400" b="0" u="none" strike="noStrike">
                <a:solidFill>
                  <a:srgbClr val="000000"/>
                </a:solidFill>
                <a:effectLst/>
                <a:uFillTx/>
                <a:latin typeface="Times New Roman"/>
              </a:defRPr>
            </a:lvl1pPr>
          </a:lstStyle>
          <a:p>
            <a:pPr indent="0">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lang="el-GR" sz="1400" b="0" u="none" strike="noStrike">
                <a:solidFill>
                  <a:srgbClr val="000000"/>
                </a:solidFill>
                <a:effectLst/>
                <a:uFillTx/>
                <a:latin typeface="Times New Roman"/>
              </a:defRPr>
            </a:lvl1pPr>
          </a:lstStyle>
          <a:p>
            <a:pPr indent="0" algn="r">
              <a:buNone/>
            </a:pPr>
            <a:fld id="{1D2C51C7-F4BA-45A5-B6F4-C27D7E667277}" type="slidenum">
              <a:rPr lang="el-GR" sz="1400" b="0" u="none" strike="noStrike">
                <a:solidFill>
                  <a:srgbClr val="000000"/>
                </a:solidFill>
                <a:effectLst/>
                <a:uFillTx/>
                <a:latin typeface="Times New Roman"/>
              </a:rPr>
              <a:t>&lt;number&gt;</a:t>
            </a:fld>
            <a:endParaRPr lang="el-G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1143000" y="685800"/>
            <a:ext cx="4571640" cy="3428640"/>
          </a:xfrm>
          <a:prstGeom prst="rect">
            <a:avLst/>
          </a:prstGeom>
          <a:ln w="0">
            <a:noFill/>
          </a:ln>
        </p:spPr>
      </p:sp>
      <p:sp>
        <p:nvSpPr>
          <p:cNvPr id="51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Welcome everyone. Today we're exploring one of the most important decisions in applied AI: when to fine-tune a model versus when to use Retrieval-Augmented Generation.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key insight we'll demonstrate with real benchmarks: fine-tuning teaches a model new SKILLS (reasoning, calculation, pattern recognition), while RAG provides new INFORMATION (facts, documents, context). These solve fundamentally different problems, and the best systems often combine both.</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This presentation includes a live demo -- every number you'll see comes from models we actually ran.</a:t>
            </a:r>
            <a:endParaRPr lang="el-GR" sz="2000" b="0" u="none" strike="noStrike">
              <a:solidFill>
                <a:srgbClr val="000000"/>
              </a:solidFill>
              <a:effectLst/>
              <a:uFillTx/>
              <a:latin typeface="Arial"/>
            </a:endParaRPr>
          </a:p>
        </p:txBody>
      </p:sp>
      <p:sp>
        <p:nvSpPr>
          <p:cNvPr id="514"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C17DC26-EF44-4F0D-9F28-46D0E829AD23}"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1143000" y="685800"/>
            <a:ext cx="4571640" cy="3428640"/>
          </a:xfrm>
          <a:prstGeom prst="rect">
            <a:avLst/>
          </a:prstGeom>
          <a:ln w="0">
            <a:noFill/>
          </a:ln>
        </p:spPr>
      </p:sp>
      <p:sp>
        <p:nvSpPr>
          <p:cNvPr id="51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We'll cover four main parts. Part 1 sets the foundation -- what are LLMs and why do they struggle with specialized tasks. Part 2 goes deep on RAG and fine-tuning: how they work, where each shines, and a practical decision framework. Part 3 surveys the tooling ecosystem so you can actually build these systems. Part 4 is the evidence -- controlled benchmarks across sentiment analysis, numerical reasoning, financial ratios, and spam detection, plus a model size comparison.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Feel free to ask questions at any point.</a:t>
            </a:r>
            <a:endParaRPr lang="el-GR" sz="2000" b="0" u="none" strike="noStrike">
              <a:solidFill>
                <a:srgbClr val="000000"/>
              </a:solidFill>
              <a:effectLst/>
              <a:uFillTx/>
              <a:latin typeface="Arial"/>
            </a:endParaRPr>
          </a:p>
        </p:txBody>
      </p:sp>
      <p:sp>
        <p:nvSpPr>
          <p:cNvPr id="517"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95441AA-E36E-4419-BA76-B7FF659EC474}"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1143000" y="685800"/>
            <a:ext cx="4571640" cy="3428640"/>
          </a:xfrm>
          <a:prstGeom prst="rect">
            <a:avLst/>
          </a:prstGeom>
          <a:ln w="0">
            <a:noFill/>
          </a:ln>
        </p:spPr>
      </p:sp>
      <p:sp>
        <p:nvSpPr>
          <p:cNvPr id="51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LLMs are trained on trillions of tokens from the internet, books, and code. They learn language patterns, factual knowledge, and basic reasoning. The key point: they are generalists by design.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An analogy: an LLM is like a well-read university graduate. They can discuss almost any topic intelligently, but they're not a specialist in any one field. You wouldn't ask a fresh graduate to calculate complex financial ratios from SEC filings without additional training.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Note the parameter counts in the table -- these models range from 7 billion to potentially over a trillion parameters. More parameters generally means more knowledge capacity, but as we'll see later, size isn't everything.</a:t>
            </a:r>
            <a:endParaRPr lang="el-GR" sz="2000" b="0" u="none" strike="noStrike">
              <a:solidFill>
                <a:srgbClr val="000000"/>
              </a:solidFill>
              <a:effectLst/>
              <a:uFillTx/>
              <a:latin typeface="Arial"/>
            </a:endParaRPr>
          </a:p>
        </p:txBody>
      </p:sp>
      <p:sp>
        <p:nvSpPr>
          <p:cNvPr id="520"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78FAFDF-8CC7-4A82-BD6D-450C7FB3DED9}"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1143000" y="685800"/>
            <a:ext cx="4571640" cy="3428640"/>
          </a:xfrm>
          <a:prstGeom prst="rect">
            <a:avLst/>
          </a:prstGeom>
          <a:ln w="0">
            <a:noFill/>
          </a:ln>
        </p:spPr>
      </p:sp>
      <p:sp>
        <p:nvSpPr>
          <p:cNvPr id="52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is the core problem we're solving. Generic LLMs fail on domain tasks in predictable ways.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In our benchmarks, we saw base BERT get only 45% accuracy on financial sentiment -- barely better than random for a 3-class problem. It doesn't understand that 'restructuring charges' implies negative sentiment in finance, even though in general English it's a neutral word.</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On the right side: domain experts need answers they can trust. In regulated industries like finance or healthcare, a wrong answer isn't just unhelpful -- it can be a compliance violation.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efficiency ratio example is real: we tested this, and base Llama2-7B gets the formula wrong ~85% of the time.</a:t>
            </a:r>
            <a:endParaRPr lang="el-GR" sz="2000" b="0" u="none" strike="noStrike">
              <a:solidFill>
                <a:srgbClr val="000000"/>
              </a:solidFill>
              <a:effectLst/>
              <a:uFillTx/>
              <a:latin typeface="Arial"/>
            </a:endParaRPr>
          </a:p>
        </p:txBody>
      </p:sp>
      <p:sp>
        <p:nvSpPr>
          <p:cNvPr id="523"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CE05094-74AE-439A-AF5A-BB61FABA1538}"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1143000" y="685800"/>
            <a:ext cx="4571640" cy="3428640"/>
          </a:xfrm>
          <a:prstGeom prst="rect">
            <a:avLst/>
          </a:prstGeom>
          <a:ln w="0">
            <a:noFill/>
          </a:ln>
        </p:spPr>
      </p:sp>
      <p:sp>
        <p:nvSpPr>
          <p:cNvPr id="52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Think of these as a spectrum of effort vs. impact.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Prompt engineering is the starting point -- write better instructions, add examples. It's fast but limited. You can't teach a model new math skills through prompting alone.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is the middle ground -- retrieve relevant documents and inject them into the prompt. Great for knowledge-intensive tasks, but the model's underlying capabilities don't change.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Fine-tuning is the highest-impact approach -- you actually update the model's weights. The model learns new patterns, reasoning strategies, and domain-specific behavior. But it requires training data and compute.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There's no universally 'best' approach -- the right choice depends on your specific task. That's what our benchmarks will help clarify.</a:t>
            </a:r>
            <a:endParaRPr lang="el-GR" sz="2000" b="0" u="none" strike="noStrike">
              <a:solidFill>
                <a:srgbClr val="000000"/>
              </a:solidFill>
              <a:effectLst/>
              <a:uFillTx/>
              <a:latin typeface="Arial"/>
            </a:endParaRPr>
          </a:p>
        </p:txBody>
      </p:sp>
      <p:sp>
        <p:nvSpPr>
          <p:cNvPr id="526"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CC6FF81-D779-4589-A6C9-FECFD6AEE88F}"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1143000" y="685800"/>
            <a:ext cx="4571640" cy="3428640"/>
          </a:xfrm>
          <a:prstGeom prst="rect">
            <a:avLst/>
          </a:prstGeom>
          <a:ln w="0">
            <a:noFill/>
          </a:ln>
        </p:spPr>
      </p:sp>
      <p:sp>
        <p:nvSpPr>
          <p:cNvPr id="52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RAG has four steps. First, the user's question is converted into a vector using an embedding model. Second, this vector is used to search a vector database for similar document chunks. Third, the top-K results are prepended to the prompt. Fourth, the LLM generates an answer using this augmented context.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critical insight: the LLM's weights are never modified. You're not teaching it anything new -- you're showing it relevant information at inference time.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In our system, we use all-MiniLM-L6-v2 for embeddings and ChromaDB as the vector store. The LLM is the same base model -- we just give it better context.</a:t>
            </a:r>
            <a:endParaRPr lang="el-GR" sz="2000" b="0" u="none" strike="noStrike">
              <a:solidFill>
                <a:srgbClr val="000000"/>
              </a:solidFill>
              <a:effectLst/>
              <a:uFillTx/>
              <a:latin typeface="Arial"/>
            </a:endParaRPr>
          </a:p>
        </p:txBody>
      </p:sp>
      <p:sp>
        <p:nvSpPr>
          <p:cNvPr id="529"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2B9BA14-92C5-4EAF-AE6D-A9A3A9B62BCF}"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1143000" y="685800"/>
            <a:ext cx="4571640" cy="3428640"/>
          </a:xfrm>
          <a:prstGeom prst="rect">
            <a:avLst/>
          </a:prstGeom>
          <a:ln w="0">
            <a:noFill/>
          </a:ln>
        </p:spPr>
      </p:sp>
      <p:sp>
        <p:nvSpPr>
          <p:cNvPr id="53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RAG's biggest advantages are speed-to-deploy and dynamic knowledge.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No training required means you can start today with any LLM API. No GPUs, no training data preparation. This is why many companies start with RAG -- it's the fastest path to a working prototype.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Dynamic knowledge is huge for use cases where information changes frequently. A RAG system can ingest new documents without any model retraining.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Source citations are critical for enterprise use cases. When an analyst asks a question, they need to verify the answer against the source document. RAG provides this traceability out of the box.</a:t>
            </a:r>
            <a:endParaRPr lang="el-GR" sz="2000" b="0" u="none" strike="noStrike">
              <a:solidFill>
                <a:srgbClr val="000000"/>
              </a:solidFill>
              <a:effectLst/>
              <a:uFillTx/>
              <a:latin typeface="Arial"/>
            </a:endParaRPr>
          </a:p>
        </p:txBody>
      </p:sp>
      <p:sp>
        <p:nvSpPr>
          <p:cNvPr id="532"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0287225-2771-43F6-8046-4CD2963EF19C}"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1143000" y="685800"/>
            <a:ext cx="4571640" cy="3428640"/>
          </a:xfrm>
          <a:prstGeom prst="rect">
            <a:avLst/>
          </a:prstGeom>
          <a:ln w="0">
            <a:noFill/>
          </a:ln>
        </p:spPr>
      </p:sp>
      <p:sp>
        <p:nvSpPr>
          <p:cNvPr id="53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slide is crucial for understanding WHEN RAG falls short.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Point 1 is the most important: RAG cannot teach new skills. If the base model can't do multi-step arithmetic, retrieving a formula doesn't help -- it still can't apply it correctly.</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Point 5 matters for production: RAG adds 200-600ms of latency for the embedding and retrieval steps. In our benchmarks, RAG approaches are consistently 3-5x slower than fine-tuned models.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Point 6 is often overlooked: retrieved documents consume context window space, leaving less room for the actual reasoning. With a 4K context window, 3 retrieved chunks of 500 tokens each already uses 37% of your context.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Bottom line: RAG is a knowledge tool, not a skill tool.</a:t>
            </a:r>
            <a:endParaRPr lang="el-GR" sz="2000" b="0" u="none" strike="noStrike">
              <a:solidFill>
                <a:srgbClr val="000000"/>
              </a:solidFill>
              <a:effectLst/>
              <a:uFillTx/>
              <a:latin typeface="Arial"/>
            </a:endParaRPr>
          </a:p>
        </p:txBody>
      </p:sp>
      <p:sp>
        <p:nvSpPr>
          <p:cNvPr id="535"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EF240D4-81A2-48EA-8596-B418399C1571}"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1143000" y="685800"/>
            <a:ext cx="4571640" cy="3428640"/>
          </a:xfrm>
          <a:prstGeom prst="rect">
            <a:avLst/>
          </a:prstGeom>
          <a:ln w="0">
            <a:noFill/>
          </a:ln>
        </p:spPr>
      </p:sp>
      <p:sp>
        <p:nvSpPr>
          <p:cNvPr id="53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key distinction from RAG: fine-tuning modifies the model's weights. The knowledge and skills become part of the model itself.</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training data format matters enormously. For FinQA, each example is a financial table + question + step-by-step reasoning program. The model doesn't just learn the answer -- it learns HOW to arrive at the answer.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After fine-tuning, the model carries these capabilities everywhere. No retrieval step needed. No external database dependency. The skill is baked in.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Compare the two boxes at the bottom: RAG gives information AT query time. Fine-tuning gives skills PERMANENTLY.</a:t>
            </a:r>
            <a:endParaRPr lang="el-GR" sz="2000" b="0" u="none" strike="noStrike">
              <a:solidFill>
                <a:srgbClr val="000000"/>
              </a:solidFill>
              <a:effectLst/>
              <a:uFillTx/>
              <a:latin typeface="Arial"/>
            </a:endParaRPr>
          </a:p>
        </p:txBody>
      </p:sp>
      <p:sp>
        <p:nvSpPr>
          <p:cNvPr id="538"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A72F186-CE02-4F87-A480-B25DA2A3A4DF}"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1143000" y="685800"/>
            <a:ext cx="4571640" cy="3428640"/>
          </a:xfrm>
          <a:prstGeom prst="rect">
            <a:avLst/>
          </a:prstGeom>
          <a:ln w="0">
            <a:noFill/>
          </a:ln>
        </p:spPr>
      </p:sp>
      <p:sp>
        <p:nvSpPr>
          <p:cNvPr id="54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Three methods, each trading off between capability and resource requirements.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Full fine-tuning updates every parameter -- for Llama2-7B that's 7 billion weights. Requires multiple high-end GPUs (A100/H100). Best accuracy but highest cost.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LoRA is the game-changer that made fine-tuning accessible. It freezes the original model and adds tiny adapter layers (typically 0.1-1% of total parameters). Quality is surprisingly close to full fine-tuning.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QLoRA combines LoRA with 4-bit quantization. Our FinQA-7B model was trained this way -- a 7B model fine-tuned on a single GPU. This democratized fine-tuning for the open-source community.</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Practical advice: start with QLoRA. You can always scale up if you need that extra 1-2% accuracy.</a:t>
            </a:r>
            <a:endParaRPr lang="el-GR" sz="2000" b="0" u="none" strike="noStrike">
              <a:solidFill>
                <a:srgbClr val="000000"/>
              </a:solidFill>
              <a:effectLst/>
              <a:uFillTx/>
              <a:latin typeface="Arial"/>
            </a:endParaRPr>
          </a:p>
        </p:txBody>
      </p:sp>
      <p:sp>
        <p:nvSpPr>
          <p:cNvPr id="541"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8AD6AFF-8A53-41EA-9AD1-0739443B9D4B}"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1143000" y="685800"/>
            <a:ext cx="4571640" cy="3428640"/>
          </a:xfrm>
          <a:prstGeom prst="rect">
            <a:avLst/>
          </a:prstGeom>
          <a:ln w="0">
            <a:noFill/>
          </a:ln>
        </p:spPr>
      </p:sp>
      <p:sp>
        <p:nvSpPr>
          <p:cNvPr id="54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Let's talk numbers from our actual benchmarks.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Accuracy: FinQA-7B achieves 61.2% on numerical reasoning vs 15.3% for RAG. That's a 4x improvement -- not because it has more information, but because it's learned HOW to reason about financial tables.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Consistency: fine-tuned models produce predictable output formats. In production, this matters enormously for downstream processing. RAG output is more variable because the model sees different context each time.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Latency: ~200ms for fine-tuned vs ~800ms for RAG. No embedding step, no vector search, no context assembly. Just inference. At scale, this 4x speedup translates directly to cost savings.</a:t>
            </a:r>
            <a:endParaRPr lang="el-GR" sz="2000" b="0" u="none" strike="noStrike">
              <a:solidFill>
                <a:srgbClr val="000000"/>
              </a:solidFill>
              <a:effectLst/>
              <a:uFillTx/>
              <a:latin typeface="Arial"/>
            </a:endParaRPr>
          </a:p>
        </p:txBody>
      </p:sp>
      <p:sp>
        <p:nvSpPr>
          <p:cNvPr id="544"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CD69A8E-E24F-4F46-9068-0A5EA16AC0C3}"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1143000" y="685800"/>
            <a:ext cx="4571640" cy="3428640"/>
          </a:xfrm>
          <a:prstGeom prst="rect">
            <a:avLst/>
          </a:prstGeom>
          <a:ln w="0">
            <a:noFill/>
          </a:ln>
        </p:spPr>
      </p:sp>
      <p:sp>
        <p:nvSpPr>
          <p:cNvPr id="54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These are real, published models that anyone can use.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FinBERT is by Prosus AI -- they took BERT (110M parameters), pre-trained it further on Reuters financial news, then fine-tuned on the Financial PhraseBank dataset. The PhraseBank has 4,840 sentences labeled by 16 financial experts. This is high-quality, expert-annotated training data.</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FinQA-7B is a community contribution -- someone took Meta's Llama2-7B and fine-tuned it using QLoRA on the FinQA dataset from IBM Research. The FinQA dataset is remarkable: 8,281 question-answer pairs extracted from real SEC filings, each with step-by-step reasoning programs.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Note the training data sizes: 4,840 sentences for FinBERT and 8,281 Q&amp;A pairs for FinQA. Fine-tuning doesn't require millions of examples -- thousands of high-quality examples can be transformative.</a:t>
            </a:r>
            <a:endParaRPr lang="el-GR" sz="2000" b="0" u="none" strike="noStrike">
              <a:solidFill>
                <a:srgbClr val="000000"/>
              </a:solidFill>
              <a:effectLst/>
              <a:uFillTx/>
              <a:latin typeface="Arial"/>
            </a:endParaRPr>
          </a:p>
        </p:txBody>
      </p:sp>
      <p:sp>
        <p:nvSpPr>
          <p:cNvPr id="547"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D441487-539A-4141-8B53-8DA51EF1113D}"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1143000" y="685800"/>
            <a:ext cx="4571640" cy="3428640"/>
          </a:xfrm>
          <a:prstGeom prst="rect">
            <a:avLst/>
          </a:prstGeom>
          <a:ln w="0">
            <a:noFill/>
          </a:ln>
        </p:spPr>
      </p:sp>
      <p:sp>
        <p:nvSpPr>
          <p:cNvPr id="54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DistilBERT is 40% smaller and 60% faster than BERT, while retaining 97% of its language understanding. This makes it ideal for high-throughput tasks like email filtering.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key insight: fine-tuning teaches the model PATTERNS, not just keywords. A fine-tuned spam detector learns that 'urgency + verification request + deadline' is a phishing pattern, even if the individual words are benign.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struggles here because similar-looking emails can be either spam or legitimate. A pharmacy notification and a pharmaceutical spam email look similar in embedding space but have completely different intent.</a:t>
            </a:r>
            <a:endParaRPr lang="el-GR" sz="2000" b="0" u="none" strike="noStrike">
              <a:solidFill>
                <a:srgbClr val="000000"/>
              </a:solidFill>
              <a:effectLst/>
              <a:uFillTx/>
              <a:latin typeface="Arial"/>
            </a:endParaRPr>
          </a:p>
        </p:txBody>
      </p:sp>
      <p:sp>
        <p:nvSpPr>
          <p:cNvPr id="550"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0E072A4-19BF-449A-BB52-A9CD16F50153}"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1143000" y="685800"/>
            <a:ext cx="4571640" cy="3428640"/>
          </a:xfrm>
          <a:prstGeom prst="rect">
            <a:avLst/>
          </a:prstGeom>
          <a:ln w="0">
            <a:noFill/>
          </a:ln>
        </p:spPr>
      </p:sp>
      <p:sp>
        <p:nvSpPr>
          <p:cNvPr id="55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Let's look at what the model actually learns from.</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Each FinQA training example has three parts: a financial data table with real numbers, a question that requires multi-step reasoning, and a 'program' that shows the exact calculation steps.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example: 'What is the total revenue growth rate?' requires finding revenue in two different years from the table, computing the difference, and dividing by the base year. The model learns this reasoning pattern, not just the answer.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This is why fine-tuning outperforms RAG on numerical tasks: RAG can retrieve the table, but the model still needs to know HOW to compute the answer. Fine-tuning teaches the 'how'.</a:t>
            </a:r>
            <a:endParaRPr lang="el-GR" sz="2000" b="0" u="none" strike="noStrike">
              <a:solidFill>
                <a:srgbClr val="000000"/>
              </a:solidFill>
              <a:effectLst/>
              <a:uFillTx/>
              <a:latin typeface="Arial"/>
            </a:endParaRPr>
          </a:p>
        </p:txBody>
      </p:sp>
      <p:sp>
        <p:nvSpPr>
          <p:cNvPr id="553"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C39D52-03D7-4AAA-9F84-3F41555B7427}"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1143000" y="685800"/>
            <a:ext cx="4571640" cy="3428640"/>
          </a:xfrm>
          <a:prstGeom prst="rect">
            <a:avLst/>
          </a:prstGeom>
          <a:ln w="0">
            <a:noFill/>
          </a:ln>
        </p:spPr>
      </p:sp>
      <p:sp>
        <p:nvSpPr>
          <p:cNvPr id="55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side-by-side comparison crystallizes the core difference.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excels when the task is knowledge-intensive: 'What was Apple's revenue last quarter?' Just retrieve the right document and the answer is there. The model doesn't need special skills.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Fine-tuning excels when the task requires reasoning: 'Calculate the compound annual growth rate from this table.' No amount of document retrieval helps if the model can't do multi-step arithmetic.</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hybrid approach combines both: use fine-tuning for the reasoning skills and RAG for the latest data. In our benchmarks, the hybrid approach consistently achieves the highest or equal-best accuracy.</a:t>
            </a:r>
            <a:endParaRPr lang="el-GR" sz="2000" b="0" u="none" strike="noStrike">
              <a:solidFill>
                <a:srgbClr val="000000"/>
              </a:solidFill>
              <a:effectLst/>
              <a:uFillTx/>
              <a:latin typeface="Arial"/>
            </a:endParaRPr>
          </a:p>
        </p:txBody>
      </p:sp>
      <p:sp>
        <p:nvSpPr>
          <p:cNvPr id="556" name="PlaceHolder 3"/>
          <p:cNvSpPr>
            <a:spLocks noGrp="1"/>
          </p:cNvSpPr>
          <p:nvPr>
            <p:ph type="sldNum" idx="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AD5837F-7CF2-4190-87AF-B0E17D7C3E57}"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1143000" y="685800"/>
            <a:ext cx="4571640" cy="3428640"/>
          </a:xfrm>
          <a:prstGeom prst="rect">
            <a:avLst/>
          </a:prstGeom>
          <a:ln w="0">
            <a:noFill/>
          </a:ln>
        </p:spPr>
      </p:sp>
      <p:sp>
        <p:nvSpPr>
          <p:cNvPr id="55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These are real examples from our benchmarks where RAG failed.</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Example 1: Financial sentiment of 'The company announced restructuring charges.' RAG retrieves similar sentences but the base model still classifies it as neutral. FinBERT knows this is negative in financial context.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Example 2: 'Calculate the efficiency ratio from this data.' RAG retrieves the formula definition, but the base model still computes it incorrectly. FinQA-7B gets it right because it's practiced thousands of similar calculations during training.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pattern: RAG fails when the bottleneck is SKILL, not INFORMATION.</a:t>
            </a:r>
            <a:endParaRPr lang="el-GR" sz="2000" b="0" u="none" strike="noStrike">
              <a:solidFill>
                <a:srgbClr val="000000"/>
              </a:solidFill>
              <a:effectLst/>
              <a:uFillTx/>
              <a:latin typeface="Arial"/>
            </a:endParaRPr>
          </a:p>
        </p:txBody>
      </p:sp>
      <p:sp>
        <p:nvSpPr>
          <p:cNvPr id="559" name="PlaceHolder 3"/>
          <p:cNvSpPr>
            <a:spLocks noGrp="1"/>
          </p:cNvSpPr>
          <p:nvPr>
            <p:ph type="sldNum" idx="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E5F52F3-709C-4CF7-84BC-E9FBEB1B11BA}"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1143000" y="685800"/>
            <a:ext cx="4571640" cy="3428640"/>
          </a:xfrm>
          <a:prstGeom prst="rect">
            <a:avLst/>
          </a:prstGeom>
          <a:ln w="0">
            <a:noFill/>
          </a:ln>
        </p:spPr>
      </p:sp>
      <p:sp>
        <p:nvSpPr>
          <p:cNvPr id="56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is your practical takeaway. Two questions determine the right approach.</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Question 1: Does the task require NEW REASONING SKILLS? If yes, you need fine-tuning. If no, the model already knows how to do the task and you just need to give it the right information.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Question 2: Does it need FRESH or DYNAMIC data? If yes, you need RAG for the knowledge layer.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Both yes? Hybrid. Just skills? Fine-tune. Just knowledge? RAG. Neither? Start with prompt engineering.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Most real-world production systems end up as hybrids -- the question is which component carries more weight.</a:t>
            </a:r>
            <a:endParaRPr lang="el-GR" sz="2000" b="0" u="none" strike="noStrike">
              <a:solidFill>
                <a:srgbClr val="000000"/>
              </a:solidFill>
              <a:effectLst/>
              <a:uFillTx/>
              <a:latin typeface="Arial"/>
            </a:endParaRPr>
          </a:p>
        </p:txBody>
      </p:sp>
      <p:sp>
        <p:nvSpPr>
          <p:cNvPr id="562" name="PlaceHolder 3"/>
          <p:cNvSpPr>
            <a:spLocks noGrp="1"/>
          </p:cNvSpPr>
          <p:nvPr>
            <p:ph type="sldNum" idx="5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7C26A73-48D1-478E-9810-C244E5D9089F}"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1143000" y="685800"/>
            <a:ext cx="4571640" cy="3428640"/>
          </a:xfrm>
          <a:prstGeom prst="rect">
            <a:avLst/>
          </a:prstGeom>
          <a:ln w="0">
            <a:noFill/>
          </a:ln>
        </p:spPr>
      </p:sp>
      <p:sp>
        <p:nvSpPr>
          <p:cNvPr id="56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ecosystem has matured dramatically in the last 2 years.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HuggingFace is the de facto hub -- 500K+ models, PEFT/LoRA libraries, and the Trainer API. Most fine-tuning projects start here.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Unsloth deserves special mention -- they've achieved 2x training speed and 60% memory reduction through custom CUDA kernels. This means you can fine-tune a 7B model on a single consumer GPU.</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enterprises: AWS SageMaker and Bedrock Custom Models provide managed fine-tuning. You upload data, they handle the infrastructure. More expensive but zero DevOps overhead.</a:t>
            </a:r>
            <a:endParaRPr lang="el-GR" sz="2000" b="0" u="none" strike="noStrike">
              <a:solidFill>
                <a:srgbClr val="000000"/>
              </a:solidFill>
              <a:effectLst/>
              <a:uFillTx/>
              <a:latin typeface="Arial"/>
            </a:endParaRPr>
          </a:p>
        </p:txBody>
      </p:sp>
      <p:sp>
        <p:nvSpPr>
          <p:cNvPr id="565" name="PlaceHolder 3"/>
          <p:cNvSpPr>
            <a:spLocks noGrp="1"/>
          </p:cNvSpPr>
          <p:nvPr>
            <p:ph type="sldNum" idx="5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FA5CA8-8E10-41D3-9FBF-D810340DF3E3}"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1143000" y="685800"/>
            <a:ext cx="4571640" cy="3428640"/>
          </a:xfrm>
          <a:prstGeom prst="rect">
            <a:avLst/>
          </a:prstGeom>
          <a:ln w="0">
            <a:noFill/>
          </a:ln>
        </p:spPr>
      </p:sp>
      <p:sp>
        <p:nvSpPr>
          <p:cNvPr id="56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slide shows actual code for local fine-tuning with Unsloth and QLoRA.</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key parameters: rank=16 (adapter size), target_modules include attention AND MLP layers (not just attention, which is a common mistake). Learning rate of 2e-4 with cosine scheduling.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With QLoRA on a single NVIDIA GPU with 24GB VRAM, you can fine-tune a 7B model in about 4-6 hours on 8K training examples. Total cost: electricity.</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those without local GPUs: Google Colab Pro ($10/month) gives you access to A100 GPUs sufficient for this.</a:t>
            </a:r>
            <a:endParaRPr lang="el-GR" sz="2000" b="0" u="none" strike="noStrike">
              <a:solidFill>
                <a:srgbClr val="000000"/>
              </a:solidFill>
              <a:effectLst/>
              <a:uFillTx/>
              <a:latin typeface="Arial"/>
            </a:endParaRPr>
          </a:p>
        </p:txBody>
      </p:sp>
      <p:sp>
        <p:nvSpPr>
          <p:cNvPr id="568" name="PlaceHolder 3"/>
          <p:cNvSpPr>
            <a:spLocks noGrp="1"/>
          </p:cNvSpPr>
          <p:nvPr>
            <p:ph type="sldNum" idx="5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37CCAAC-A881-4D6A-A032-5354C890D7F0}"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1143000" y="685800"/>
            <a:ext cx="4571640" cy="3428640"/>
          </a:xfrm>
          <a:prstGeom prst="rect">
            <a:avLst/>
          </a:prstGeom>
          <a:ln w="0">
            <a:noFill/>
          </a:ln>
        </p:spPr>
      </p:sp>
      <p:sp>
        <p:nvSpPr>
          <p:cNvPr id="57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AWS offers two paths: SageMaker for full control, Bedrock for managed simplicity.</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SageMaker: bring your own training script, choose instance types (ml.g5.2xlarge is the sweet spot for 7B models), and manage the full ML lifecycle. More work but more control.</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Bedrock Custom Models: upload your JSONL, click 'train', and get a private endpoint. They handle hyperparameters, infrastructure, and scaling. Best for teams that want results without ML engineering.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Cost comparison: Bedrock charges per training token (~$0.008/1K tokens). For 8K examples, that's roughly $50-100 for a fine-tuning job. SageMaker is pay-per-hour for the GPU instance.</a:t>
            </a:r>
            <a:endParaRPr lang="el-GR" sz="2000" b="0" u="none" strike="noStrike">
              <a:solidFill>
                <a:srgbClr val="000000"/>
              </a:solidFill>
              <a:effectLst/>
              <a:uFillTx/>
              <a:latin typeface="Arial"/>
            </a:endParaRPr>
          </a:p>
        </p:txBody>
      </p:sp>
      <p:sp>
        <p:nvSpPr>
          <p:cNvPr id="571" name="PlaceHolder 3"/>
          <p:cNvSpPr>
            <a:spLocks noGrp="1"/>
          </p:cNvSpPr>
          <p:nvPr>
            <p:ph type="sldNum" idx="5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A08526C-3599-40B3-8862-6ADA1565A030}"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1143000" y="685800"/>
            <a:ext cx="4571640" cy="3428640"/>
          </a:xfrm>
          <a:prstGeom prst="rect">
            <a:avLst/>
          </a:prstGeom>
          <a:ln w="0">
            <a:noFill/>
          </a:ln>
        </p:spPr>
      </p:sp>
      <p:sp>
        <p:nvSpPr>
          <p:cNvPr id="57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RAG infrastructure has three layers: embedding models, vector databases, and orchestration frameworks.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Embeddings: all-MiniLM-L6-v2 is our choice -- only 22M parameters but excellent performance. For production, consider OpenAI's text-embedding-3-small or Cohere's embed-v3.</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Vector DBs: ChromaDB (what we use) is great for prototyping -- in-memory, zero config. For production: Pinecone (managed), Weaviate (open-source), or pgvector (if you're already on PostgreSQL).</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LangChain and LlamaIndex handle the orchestration -- chunking, retrieval, prompt assembly, response generation.</a:t>
            </a:r>
            <a:endParaRPr lang="el-GR" sz="2000" b="0" u="none" strike="noStrike">
              <a:solidFill>
                <a:srgbClr val="000000"/>
              </a:solidFill>
              <a:effectLst/>
              <a:uFillTx/>
              <a:latin typeface="Arial"/>
            </a:endParaRPr>
          </a:p>
        </p:txBody>
      </p:sp>
      <p:sp>
        <p:nvSpPr>
          <p:cNvPr id="574" name="PlaceHolder 3"/>
          <p:cNvSpPr>
            <a:spLocks noGrp="1"/>
          </p:cNvSpPr>
          <p:nvPr>
            <p:ph type="sldNum" idx="5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DD1B464-8A5F-4D56-85E2-79E49C3C6798}"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Img"/>
          </p:nvPr>
        </p:nvSpPr>
        <p:spPr>
          <a:xfrm>
            <a:off x="1143000" y="685800"/>
            <a:ext cx="4571640" cy="3428640"/>
          </a:xfrm>
          <a:prstGeom prst="rect">
            <a:avLst/>
          </a:prstGeom>
          <a:ln w="0">
            <a:noFill/>
          </a:ln>
        </p:spPr>
      </p:sp>
      <p:sp>
        <p:nvSpPr>
          <p:cNvPr id="57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code is from our actual demo application.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Key design decisions: chunk size of 300 words with 50-word overlap. The overlap ensures that sentences straddling chunk boundaries aren't lost. Top-K=3 retrieval -- more chunks means more context but also more noise and higher latency.</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ChromaDB creates an in-memory collection and persists to disk. On restart, it reloads from the persisted data -- no need to re-embed all documents.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Total setup time: about 10 minutes from scratch. That's the beauty of RAG -- fast to prototype.</a:t>
            </a:r>
            <a:endParaRPr lang="el-GR" sz="2000" b="0" u="none" strike="noStrike">
              <a:solidFill>
                <a:srgbClr val="000000"/>
              </a:solidFill>
              <a:effectLst/>
              <a:uFillTx/>
              <a:latin typeface="Arial"/>
            </a:endParaRPr>
          </a:p>
        </p:txBody>
      </p:sp>
      <p:sp>
        <p:nvSpPr>
          <p:cNvPr id="577" name="PlaceHolder 3"/>
          <p:cNvSpPr>
            <a:spLocks noGrp="1"/>
          </p:cNvSpPr>
          <p:nvPr>
            <p:ph type="sldNum" idx="5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712DCD7-1824-41C8-85D5-14EC5D99845B}"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sldImg"/>
          </p:nvPr>
        </p:nvSpPr>
        <p:spPr>
          <a:xfrm>
            <a:off x="1143000" y="685800"/>
            <a:ext cx="4571640" cy="3428640"/>
          </a:xfrm>
          <a:prstGeom prst="rect">
            <a:avLst/>
          </a:prstGeom>
          <a:ln w="0">
            <a:noFill/>
          </a:ln>
        </p:spPr>
      </p:sp>
      <p:sp>
        <p:nvSpPr>
          <p:cNvPr id="57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AWS Bedrock Knowledge Bases is the managed RAG solution.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You point it at an S3 bucket with your documents, choose an embedding model, and it handles chunking, embedding, and storage in OpenSearch Serverless. No infrastructure to manage.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trade-off: less control over chunking strategy, retrieval logic, and re-ranking. For most enterprise use cases, the convenience outweighs the customization loss.</a:t>
            </a:r>
            <a:endParaRPr lang="el-GR" sz="2000" b="0" u="none" strike="noStrike">
              <a:solidFill>
                <a:srgbClr val="000000"/>
              </a:solidFill>
              <a:effectLst/>
              <a:uFillTx/>
              <a:latin typeface="Arial"/>
            </a:endParaRPr>
          </a:p>
        </p:txBody>
      </p:sp>
      <p:sp>
        <p:nvSpPr>
          <p:cNvPr id="580" name="PlaceHolder 3"/>
          <p:cNvSpPr>
            <a:spLocks noGrp="1"/>
          </p:cNvSpPr>
          <p:nvPr>
            <p:ph type="sldNum" idx="5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B938955-C743-4DB2-A522-8367DA8013F9}"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1143000" y="685800"/>
            <a:ext cx="4571640" cy="3428640"/>
          </a:xfrm>
          <a:prstGeom prst="rect">
            <a:avLst/>
          </a:prstGeom>
          <a:ln w="0">
            <a:noFill/>
          </a:ln>
        </p:spPr>
      </p:sp>
      <p:sp>
        <p:nvSpPr>
          <p:cNvPr id="58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Data quality is the single biggest factor in fine-tuning success.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Argilla and Label Studio are open-source annotation platforms. For financial data, you need domain experts annotating -- not just anyone. The Financial PhraseBank that trained FinBERT used 16 financial professionals.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evaluation: don't rely on a single metric. We use accuracy, F1 score, latency, cost, and LLM-as-Judge. Different metrics tell different stories -- a model with 90% accuracy but 10-second latency is useless for real-time applications.</a:t>
            </a:r>
            <a:endParaRPr lang="el-GR" sz="2000" b="0" u="none" strike="noStrike">
              <a:solidFill>
                <a:srgbClr val="000000"/>
              </a:solidFill>
              <a:effectLst/>
              <a:uFillTx/>
              <a:latin typeface="Arial"/>
            </a:endParaRPr>
          </a:p>
        </p:txBody>
      </p:sp>
      <p:sp>
        <p:nvSpPr>
          <p:cNvPr id="583" name="PlaceHolder 3"/>
          <p:cNvSpPr>
            <a:spLocks noGrp="1"/>
          </p:cNvSpPr>
          <p:nvPr>
            <p:ph type="sldNum" idx="6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EBF2381-5C06-459E-9464-602E7930898E}"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1143000" y="685800"/>
            <a:ext cx="4571640" cy="3428640"/>
          </a:xfrm>
          <a:prstGeom prst="rect">
            <a:avLst/>
          </a:prstGeom>
          <a:ln w="0">
            <a:noFill/>
          </a:ln>
        </p:spPr>
      </p:sp>
      <p:sp>
        <p:nvSpPr>
          <p:cNvPr id="58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These are production use cases where the right approach matters.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Customer support: RAG is ideal. Questions are about YOUR products, and the knowledge base changes frequently. No need to retrain the model.</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Medical diagnosis support: Fine-tuning is critical. The model needs to understand clinical reasoning patterns, not just retrieve medical textbooks.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Legal document analysis: Hybrid. Fine-tune for legal reasoning patterns, RAG for case law lookups.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pattern: if the domain has unique reasoning patterns, fine-tune. If it's mostly knowledge lookup, RAG.</a:t>
            </a:r>
            <a:endParaRPr lang="el-GR" sz="2000" b="0" u="none" strike="noStrike">
              <a:solidFill>
                <a:srgbClr val="000000"/>
              </a:solidFill>
              <a:effectLst/>
              <a:uFillTx/>
              <a:latin typeface="Arial"/>
            </a:endParaRPr>
          </a:p>
        </p:txBody>
      </p:sp>
      <p:sp>
        <p:nvSpPr>
          <p:cNvPr id="586" name="PlaceHolder 3"/>
          <p:cNvSpPr>
            <a:spLocks noGrp="1"/>
          </p:cNvSpPr>
          <p:nvPr>
            <p:ph type="sldNum" idx="6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0F9AA9B-7E65-438E-9CF7-77BC36006148}"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1143000" y="685800"/>
            <a:ext cx="4571640" cy="3428640"/>
          </a:xfrm>
          <a:prstGeom prst="rect">
            <a:avLst/>
          </a:prstGeom>
          <a:ln w="0">
            <a:noFill/>
          </a:ln>
        </p:spPr>
      </p:sp>
      <p:sp>
        <p:nvSpPr>
          <p:cNvPr id="58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is our architecture diagram for the hybrid system.</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user's question and financial table go to both the embedding model (for retrieval) and directly to the fine-tuned model. Retrieved documents are added as additional context.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fine-tuned model (FinQA-7B) brings the reasoning skills. The RAG component brings fresh context and supporting evidence. Together, you get domain reasoning PLUS verifiable sources.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In our benchmarks, the hybrid approach matches or beats every other approach across all four experiments.</a:t>
            </a:r>
            <a:endParaRPr lang="el-GR" sz="2000" b="0" u="none" strike="noStrike">
              <a:solidFill>
                <a:srgbClr val="000000"/>
              </a:solidFill>
              <a:effectLst/>
              <a:uFillTx/>
              <a:latin typeface="Arial"/>
            </a:endParaRPr>
          </a:p>
        </p:txBody>
      </p:sp>
      <p:sp>
        <p:nvSpPr>
          <p:cNvPr id="589" name="PlaceHolder 3"/>
          <p:cNvSpPr>
            <a:spLocks noGrp="1"/>
          </p:cNvSpPr>
          <p:nvPr>
            <p:ph type="sldNum" idx="6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DE9F23-C746-4637-A692-A3DC4B334FA3}"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Img"/>
          </p:nvPr>
        </p:nvSpPr>
        <p:spPr>
          <a:xfrm>
            <a:off x="1143000" y="685800"/>
            <a:ext cx="4571640" cy="3428640"/>
          </a:xfrm>
          <a:prstGeom prst="rect">
            <a:avLst/>
          </a:prstGeom>
          <a:ln w="0">
            <a:noFill/>
          </a:ln>
        </p:spPr>
      </p:sp>
      <p:sp>
        <p:nvSpPr>
          <p:cNvPr id="59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Let's be practical about costs.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Fine-tuning has a higher upfront cost: training data preparation, compute for training, evaluation. But per-query cost is lower -- no retrieval step, fewer tokens, faster inference.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has a lower upfront cost: set up a vector DB, ingest documents, start querying. But per-query cost is higher -- embedding, retrieval, and larger prompts.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crossover point: at roughly 10K-50K queries per month, fine-tuning becomes cheaper than RAG. Below that, RAG's lower upfront cost wins.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real ROI question: what's the cost of wrong answers? In regulated industries, one compliance violation can cost more than a year of fine-tuning compute.</a:t>
            </a:r>
            <a:endParaRPr lang="el-GR" sz="2000" b="0" u="none" strike="noStrike">
              <a:solidFill>
                <a:srgbClr val="000000"/>
              </a:solidFill>
              <a:effectLst/>
              <a:uFillTx/>
              <a:latin typeface="Arial"/>
            </a:endParaRPr>
          </a:p>
        </p:txBody>
      </p:sp>
      <p:sp>
        <p:nvSpPr>
          <p:cNvPr id="592" name="PlaceHolder 3"/>
          <p:cNvSpPr>
            <a:spLocks noGrp="1"/>
          </p:cNvSpPr>
          <p:nvPr>
            <p:ph type="sldNum" idx="6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5339BB6-7ACF-41E2-A9A9-06618736F2CD}"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Img"/>
          </p:nvPr>
        </p:nvSpPr>
        <p:spPr>
          <a:xfrm>
            <a:off x="1143000" y="685800"/>
            <a:ext cx="4571640" cy="3428640"/>
          </a:xfrm>
          <a:prstGeom prst="rect">
            <a:avLst/>
          </a:prstGeom>
          <a:ln w="0">
            <a:noFill/>
          </a:ln>
        </p:spPr>
      </p:sp>
      <p:sp>
        <p:nvSpPr>
          <p:cNvPr id="59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Three things to remember from this presentation.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1. Fine-tuning teaches SKILLS. It changes what the model CAN DO. Use it when the base model lacks the reasoning capabilities your task requires.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2. RAG provides INFORMATION. It changes what the model KNOWS at query time. Use it when the model already has the right skills but needs access to specific or current data.</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3. Hybrid combines both. For most serious production systems, you want a fine-tuned model augmented with RAG for dynamic knowledge. This is the architecture that consistently wins in our benchmarks.</a:t>
            </a:r>
            <a:endParaRPr lang="el-GR" sz="2000" b="0" u="none" strike="noStrike">
              <a:solidFill>
                <a:srgbClr val="000000"/>
              </a:solidFill>
              <a:effectLst/>
              <a:uFillTx/>
              <a:latin typeface="Arial"/>
            </a:endParaRPr>
          </a:p>
        </p:txBody>
      </p:sp>
      <p:sp>
        <p:nvSpPr>
          <p:cNvPr id="595" name="PlaceHolder 3"/>
          <p:cNvSpPr>
            <a:spLocks noGrp="1"/>
          </p:cNvSpPr>
          <p:nvPr>
            <p:ph type="sldNum" idx="6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C06528-646A-40D9-B652-482171AAB51B}"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Img"/>
          </p:nvPr>
        </p:nvSpPr>
        <p:spPr>
          <a:xfrm>
            <a:off x="1143000" y="685800"/>
            <a:ext cx="4571640" cy="3428640"/>
          </a:xfrm>
          <a:prstGeom prst="rect">
            <a:avLst/>
          </a:prstGeom>
          <a:ln w="0">
            <a:noFill/>
          </a:ln>
        </p:spPr>
      </p:sp>
      <p:sp>
        <p:nvSpPr>
          <p:cNvPr id="59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Now let's look at the evidence. Everything from here on is based on real experiments we ran -- no synthetic data, no simulated results. Each benchmark compares the SAME architecture with different approaches. The only variable is the method: base model, fine-tuned, RAG, or hybrid.</a:t>
            </a:r>
            <a:endParaRPr lang="el-GR" sz="2000" b="0" u="none" strike="noStrike">
              <a:solidFill>
                <a:srgbClr val="000000"/>
              </a:solidFill>
              <a:effectLst/>
              <a:uFillTx/>
              <a:latin typeface="Arial"/>
            </a:endParaRPr>
          </a:p>
        </p:txBody>
      </p:sp>
      <p:sp>
        <p:nvSpPr>
          <p:cNvPr id="598" name="PlaceHolder 3"/>
          <p:cNvSpPr>
            <a:spLocks noGrp="1"/>
          </p:cNvSpPr>
          <p:nvPr>
            <p:ph type="sldNum" idx="6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5FAC795-519F-4440-856E-714FEFDF0F65}"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Img"/>
          </p:nvPr>
        </p:nvSpPr>
        <p:spPr>
          <a:xfrm>
            <a:off x="1143000" y="685800"/>
            <a:ext cx="4571640" cy="3428640"/>
          </a:xfrm>
          <a:prstGeom prst="rect">
            <a:avLst/>
          </a:prstGeom>
          <a:ln w="0">
            <a:noFill/>
          </a:ln>
        </p:spPr>
      </p:sp>
      <p:sp>
        <p:nvSpPr>
          <p:cNvPr id="60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Four controlled experiments, each using a different model architecture.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Experiment 1: BERT-base (110M params) on financial sentiment classification.</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Experiment 2: Llama2-7B (7B params) on numerical reasoning from financial tables.</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Experiment 3: Llama2-7B on financial ratio calculation (more complex multi-step problems).</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Experiment 4: DistilBERT (66M params) on spam/phishing email detection.</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Experiment 5: Model size comparison -- DistilBERT (66M) vs GPT-4o-mini (~8B) on spam detection.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methodology is critical: same architecture, same test cases, same evaluation criteria. This isolates the impact of the approach from confounding variables like model size.</a:t>
            </a:r>
            <a:endParaRPr lang="el-GR" sz="2000" b="0" u="none" strike="noStrike">
              <a:solidFill>
                <a:srgbClr val="000000"/>
              </a:solidFill>
              <a:effectLst/>
              <a:uFillTx/>
              <a:latin typeface="Arial"/>
            </a:endParaRPr>
          </a:p>
        </p:txBody>
      </p:sp>
      <p:sp>
        <p:nvSpPr>
          <p:cNvPr id="601" name="PlaceHolder 3"/>
          <p:cNvSpPr>
            <a:spLocks noGrp="1"/>
          </p:cNvSpPr>
          <p:nvPr>
            <p:ph type="sldNum" idx="6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AB18F71-3E9F-41B1-AEF0-13F6D4E95825}"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1143000" y="685800"/>
            <a:ext cx="4571640" cy="3428640"/>
          </a:xfrm>
          <a:prstGeom prst="rect">
            <a:avLst/>
          </a:prstGeom>
          <a:ln w="0">
            <a:noFill/>
          </a:ln>
        </p:spPr>
      </p:sp>
      <p:sp>
        <p:nvSpPr>
          <p:cNvPr id="60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Pay attention to the accuracy gaps between approaches.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In every experiment, the fine-tuned model significantly outperforms the base model. RAG improves over base but doesn't match fine-tuning. The hybrid approach typically matches or slightly exceeds the fine-tuned model alone.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latency chart tells the cost story: RAG consistently adds 200-600ms for the retrieval step. At scale, this compounds. 1,000 queries per minute with 400ms extra latency means 400 additional seconds of compute time per minute.</a:t>
            </a:r>
            <a:endParaRPr lang="el-GR" sz="2000" b="0" u="none" strike="noStrike">
              <a:solidFill>
                <a:srgbClr val="000000"/>
              </a:solidFill>
              <a:effectLst/>
              <a:uFillTx/>
              <a:latin typeface="Arial"/>
            </a:endParaRPr>
          </a:p>
        </p:txBody>
      </p:sp>
      <p:sp>
        <p:nvSpPr>
          <p:cNvPr id="604" name="PlaceHolder 3"/>
          <p:cNvSpPr>
            <a:spLocks noGrp="1"/>
          </p:cNvSpPr>
          <p:nvPr>
            <p:ph type="sldNum" idx="6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B30CF4D-DBE1-4E40-8A29-AA9AAE3973D5}"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1143000" y="685800"/>
            <a:ext cx="4571640" cy="3428640"/>
          </a:xfrm>
          <a:prstGeom prst="rect">
            <a:avLst/>
          </a:prstGeom>
          <a:ln w="0">
            <a:noFill/>
          </a:ln>
        </p:spPr>
      </p:sp>
      <p:sp>
        <p:nvSpPr>
          <p:cNvPr id="60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Token consumption directly drives API costs.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uses significantly more tokens because retrieved document chunks are prepended to the prompt. A typical RAG query might use 3-5x more input tokens than a direct fine-tuned inference.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the cost/1K queries metric: this assumes market pricing for API-based models. Self-hosted fine-tuned models have near-zero marginal cost (just electricity). This is a massive advantage at scale.</a:t>
            </a:r>
            <a:endParaRPr lang="el-GR" sz="2000" b="0" u="none" strike="noStrike">
              <a:solidFill>
                <a:srgbClr val="000000"/>
              </a:solidFill>
              <a:effectLst/>
              <a:uFillTx/>
              <a:latin typeface="Arial"/>
            </a:endParaRPr>
          </a:p>
        </p:txBody>
      </p:sp>
      <p:sp>
        <p:nvSpPr>
          <p:cNvPr id="607" name="PlaceHolder 3"/>
          <p:cNvSpPr>
            <a:spLocks noGrp="1"/>
          </p:cNvSpPr>
          <p:nvPr>
            <p:ph type="sldNum" idx="6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7CB6986-9D81-4AF6-9096-561580A39766}"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1143000" y="685800"/>
            <a:ext cx="4571640" cy="3428640"/>
          </a:xfrm>
          <a:prstGeom prst="rect">
            <a:avLst/>
          </a:prstGeom>
          <a:ln w="0">
            <a:noFill/>
          </a:ln>
        </p:spPr>
      </p:sp>
      <p:sp>
        <p:nvSpPr>
          <p:cNvPr id="60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F1 score provides a more nuanced view than accuracy alone, especially for imbalanced classes.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High accuracy with low F1 means the model is biased toward the majority class. A good model needs both high precision (few false positives) and high recall (few false negatives).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numerical tasks, MAPE (Mean Absolute Percentage Error) measures how close the predicted numbers are to the expected values. A model might get the direction right but be off by 50%.</a:t>
            </a:r>
            <a:endParaRPr lang="el-GR" sz="2000" b="0" u="none" strike="noStrike">
              <a:solidFill>
                <a:srgbClr val="000000"/>
              </a:solidFill>
              <a:effectLst/>
              <a:uFillTx/>
              <a:latin typeface="Arial"/>
            </a:endParaRPr>
          </a:p>
        </p:txBody>
      </p:sp>
      <p:sp>
        <p:nvSpPr>
          <p:cNvPr id="610" name="PlaceHolder 3"/>
          <p:cNvSpPr>
            <a:spLocks noGrp="1"/>
          </p:cNvSpPr>
          <p:nvPr>
            <p:ph type="sldNum" idx="6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1D5B9AC-22C1-4DE6-9DC8-CADD04BCEFA3}"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Img"/>
          </p:nvPr>
        </p:nvSpPr>
        <p:spPr>
          <a:xfrm>
            <a:off x="1143000" y="685800"/>
            <a:ext cx="4571640" cy="3428640"/>
          </a:xfrm>
          <a:prstGeom prst="rect">
            <a:avLst/>
          </a:prstGeom>
          <a:ln w="0">
            <a:noFill/>
          </a:ln>
        </p:spPr>
      </p:sp>
      <p:sp>
        <p:nvSpPr>
          <p:cNvPr id="61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category breakdown reveals WHERE each approach wins and loses.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categories where fine-tuning dramatically outperforms RAG -- these are the 'skill gaps' that RAG cannot address. Conversely, categories where RAG matches fine-tuning are the knowledge-intensive tasks.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Domain jargon is a classic fine-tuning win: the model learns that financial terms like 'headwind', 'runway', and 'restructuring' carry different sentiment than their everyday usage.</a:t>
            </a:r>
            <a:endParaRPr lang="el-GR" sz="2000" b="0" u="none" strike="noStrike">
              <a:solidFill>
                <a:srgbClr val="000000"/>
              </a:solidFill>
              <a:effectLst/>
              <a:uFillTx/>
              <a:latin typeface="Arial"/>
            </a:endParaRPr>
          </a:p>
        </p:txBody>
      </p:sp>
      <p:sp>
        <p:nvSpPr>
          <p:cNvPr id="613" name="PlaceHolder 3"/>
          <p:cNvSpPr>
            <a:spLocks noGrp="1"/>
          </p:cNvSpPr>
          <p:nvPr>
            <p:ph type="sldNum" idx="7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68C1649-0F66-4916-A8DD-34D551F8E59B}"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Img"/>
          </p:nvPr>
        </p:nvSpPr>
        <p:spPr>
          <a:xfrm>
            <a:off x="1143000" y="685800"/>
            <a:ext cx="4571640" cy="3428640"/>
          </a:xfrm>
          <a:prstGeom prst="rect">
            <a:avLst/>
          </a:prstGeom>
          <a:ln w="0">
            <a:noFill/>
          </a:ln>
        </p:spPr>
      </p:sp>
      <p:sp>
        <p:nvSpPr>
          <p:cNvPr id="61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category breakdown reveals WHERE each approach wins and loses.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categories where fine-tuning dramatically outperforms RAG -- these are the 'skill gaps' that RAG cannot address. Conversely, categories where RAG matches fine-tuning are the knowledge-intensive tasks.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Domain jargon is a classic fine-tuning win: the model learns that financial terms like 'headwind', 'runway', and 'restructuring' carry different sentiment than their everyday usage.</a:t>
            </a:r>
            <a:endParaRPr lang="el-GR" sz="2000" b="0" u="none" strike="noStrike">
              <a:solidFill>
                <a:srgbClr val="000000"/>
              </a:solidFill>
              <a:effectLst/>
              <a:uFillTx/>
              <a:latin typeface="Arial"/>
            </a:endParaRPr>
          </a:p>
        </p:txBody>
      </p:sp>
      <p:sp>
        <p:nvSpPr>
          <p:cNvPr id="616" name="PlaceHolder 3"/>
          <p:cNvSpPr>
            <a:spLocks noGrp="1"/>
          </p:cNvSpPr>
          <p:nvPr>
            <p:ph type="sldNum" idx="7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60A7FAB-45FE-49EE-9BFB-DD20CF6C5559}"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1143000" y="685800"/>
            <a:ext cx="4571640" cy="3428640"/>
          </a:xfrm>
          <a:prstGeom prst="rect">
            <a:avLst/>
          </a:prstGeom>
          <a:ln w="0">
            <a:noFill/>
          </a:ln>
        </p:spPr>
      </p:sp>
      <p:sp>
        <p:nvSpPr>
          <p:cNvPr id="61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Individual examples help build intuition for model behavior.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patterns in the failures: does the base model consistently fail on the same types of questions? Does RAG fail when the retrieved documents are misleading or off-topic?</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[Y/N] markers show correct/incorrect. Count the patterns -- where does each approach struggle?</a:t>
            </a:r>
            <a:endParaRPr lang="el-GR" sz="2000" b="0" u="none" strike="noStrike">
              <a:solidFill>
                <a:srgbClr val="000000"/>
              </a:solidFill>
              <a:effectLst/>
              <a:uFillTx/>
              <a:latin typeface="Arial"/>
            </a:endParaRPr>
          </a:p>
        </p:txBody>
      </p:sp>
      <p:sp>
        <p:nvSpPr>
          <p:cNvPr id="619" name="PlaceHolder 3"/>
          <p:cNvSpPr>
            <a:spLocks noGrp="1"/>
          </p:cNvSpPr>
          <p:nvPr>
            <p:ph type="sldNum" idx="7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60AC4F9-EBF2-441C-9C1D-0DB2CC811666}"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1143000" y="685800"/>
            <a:ext cx="4571640" cy="3428640"/>
          </a:xfrm>
          <a:prstGeom prst="rect">
            <a:avLst/>
          </a:prstGeom>
          <a:ln w="0">
            <a:noFill/>
          </a:ln>
        </p:spPr>
      </p:sp>
      <p:sp>
        <p:nvSpPr>
          <p:cNvPr id="62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Pay attention to the accuracy gaps between approaches.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In every experiment, the fine-tuned model significantly outperforms the base model. RAG improves over base but doesn't match fine-tuning. The hybrid approach typically matches or slightly exceeds the fine-tuned model alone.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latency chart tells the cost story: RAG consistently adds 200-600ms for the retrieval step. At scale, this compounds. 1,000 queries per minute with 400ms extra latency means 400 additional seconds of compute time per minute.</a:t>
            </a:r>
            <a:endParaRPr lang="el-GR" sz="2000" b="0" u="none" strike="noStrike">
              <a:solidFill>
                <a:srgbClr val="000000"/>
              </a:solidFill>
              <a:effectLst/>
              <a:uFillTx/>
              <a:latin typeface="Arial"/>
            </a:endParaRPr>
          </a:p>
        </p:txBody>
      </p:sp>
      <p:sp>
        <p:nvSpPr>
          <p:cNvPr id="622" name="PlaceHolder 3"/>
          <p:cNvSpPr>
            <a:spLocks noGrp="1"/>
          </p:cNvSpPr>
          <p:nvPr>
            <p:ph type="sldNum" idx="7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571FC3F-1A52-4A95-B767-CE831CF064E6}"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1143000" y="685800"/>
            <a:ext cx="4571640" cy="3428640"/>
          </a:xfrm>
          <a:prstGeom prst="rect">
            <a:avLst/>
          </a:prstGeom>
          <a:ln w="0">
            <a:noFill/>
          </a:ln>
        </p:spPr>
      </p:sp>
      <p:sp>
        <p:nvSpPr>
          <p:cNvPr id="62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Token consumption directly drives API costs.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uses significantly more tokens because retrieved document chunks are prepended to the prompt. A typical RAG query might use 3-5x more input tokens than a direct fine-tuned inference.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the cost/1K queries metric: this assumes market pricing for API-based models. Self-hosted fine-tuned models have near-zero marginal cost (just electricity). This is a massive advantage at scale.</a:t>
            </a:r>
            <a:endParaRPr lang="el-GR" sz="2000" b="0" u="none" strike="noStrike">
              <a:solidFill>
                <a:srgbClr val="000000"/>
              </a:solidFill>
              <a:effectLst/>
              <a:uFillTx/>
              <a:latin typeface="Arial"/>
            </a:endParaRPr>
          </a:p>
        </p:txBody>
      </p:sp>
      <p:sp>
        <p:nvSpPr>
          <p:cNvPr id="625" name="PlaceHolder 3"/>
          <p:cNvSpPr>
            <a:spLocks noGrp="1"/>
          </p:cNvSpPr>
          <p:nvPr>
            <p:ph type="sldNum" idx="7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1215612-CD60-4F48-9722-CCA811EF019C}"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1143000" y="685800"/>
            <a:ext cx="4571640" cy="3428640"/>
          </a:xfrm>
          <a:prstGeom prst="rect">
            <a:avLst/>
          </a:prstGeom>
          <a:ln w="0">
            <a:noFill/>
          </a:ln>
        </p:spPr>
      </p:sp>
      <p:sp>
        <p:nvSpPr>
          <p:cNvPr id="62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F1 score provides a more nuanced view than accuracy alone, especially for imbalanced classes.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High accuracy with low F1 means the model is biased toward the majority class. A good model needs both high precision (few false positives) and high recall (few false negatives).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numerical tasks, MAPE (Mean Absolute Percentage Error) measures how close the predicted numbers are to the expected values. A model might get the direction right but be off by 50%.</a:t>
            </a:r>
            <a:endParaRPr lang="el-GR" sz="2000" b="0" u="none" strike="noStrike">
              <a:solidFill>
                <a:srgbClr val="000000"/>
              </a:solidFill>
              <a:effectLst/>
              <a:uFillTx/>
              <a:latin typeface="Arial"/>
            </a:endParaRPr>
          </a:p>
        </p:txBody>
      </p:sp>
      <p:sp>
        <p:nvSpPr>
          <p:cNvPr id="628" name="PlaceHolder 3"/>
          <p:cNvSpPr>
            <a:spLocks noGrp="1"/>
          </p:cNvSpPr>
          <p:nvPr>
            <p:ph type="sldNum" idx="7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A5DD6AC-D480-4E35-9074-839E57873C6B}"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1143000" y="685800"/>
            <a:ext cx="4571640" cy="3428640"/>
          </a:xfrm>
          <a:prstGeom prst="rect">
            <a:avLst/>
          </a:prstGeom>
          <a:ln w="0">
            <a:noFill/>
          </a:ln>
        </p:spPr>
      </p:sp>
      <p:sp>
        <p:nvSpPr>
          <p:cNvPr id="63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category breakdown reveals WHERE each approach wins and loses.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categories where fine-tuning dramatically outperforms RAG -- these are the 'skill gaps' that RAG cannot address. Conversely, categories where RAG matches fine-tuning are the knowledge-intensive tasks.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Domain jargon is a classic fine-tuning win: the model learns that financial terms like 'headwind', 'runway', and 'restructuring' carry different sentiment than their everyday usage.</a:t>
            </a:r>
            <a:endParaRPr lang="el-GR" sz="2000" b="0" u="none" strike="noStrike">
              <a:solidFill>
                <a:srgbClr val="000000"/>
              </a:solidFill>
              <a:effectLst/>
              <a:uFillTx/>
              <a:latin typeface="Arial"/>
            </a:endParaRPr>
          </a:p>
        </p:txBody>
      </p:sp>
      <p:sp>
        <p:nvSpPr>
          <p:cNvPr id="631" name="PlaceHolder 3"/>
          <p:cNvSpPr>
            <a:spLocks noGrp="1"/>
          </p:cNvSpPr>
          <p:nvPr>
            <p:ph type="sldNum" idx="7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974DED3-0742-4DDF-BD73-CD8A27F18E2B}"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Img"/>
          </p:nvPr>
        </p:nvSpPr>
        <p:spPr>
          <a:xfrm>
            <a:off x="1143000" y="685800"/>
            <a:ext cx="4571640" cy="3428640"/>
          </a:xfrm>
          <a:prstGeom prst="rect">
            <a:avLst/>
          </a:prstGeom>
          <a:ln w="0">
            <a:noFill/>
          </a:ln>
        </p:spPr>
      </p:sp>
      <p:sp>
        <p:nvSpPr>
          <p:cNvPr id="63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category breakdown reveals WHERE each approach wins and loses.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categories where fine-tuning dramatically outperforms RAG -- these are the 'skill gaps' that RAG cannot address. Conversely, categories where RAG matches fine-tuning are the knowledge-intensive tasks.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Domain jargon is a classic fine-tuning win: the model learns that financial terms like 'headwind', 'runway', and 'restructuring' carry different sentiment than their everyday usage.</a:t>
            </a:r>
            <a:endParaRPr lang="el-GR" sz="2000" b="0" u="none" strike="noStrike">
              <a:solidFill>
                <a:srgbClr val="000000"/>
              </a:solidFill>
              <a:effectLst/>
              <a:uFillTx/>
              <a:latin typeface="Arial"/>
            </a:endParaRPr>
          </a:p>
        </p:txBody>
      </p:sp>
      <p:sp>
        <p:nvSpPr>
          <p:cNvPr id="634" name="PlaceHolder 3"/>
          <p:cNvSpPr>
            <a:spLocks noGrp="1"/>
          </p:cNvSpPr>
          <p:nvPr>
            <p:ph type="sldNum" idx="7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1ABAA03-0828-423A-80A8-9FD557802B99}"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sldImg"/>
          </p:nvPr>
        </p:nvSpPr>
        <p:spPr>
          <a:xfrm>
            <a:off x="1143000" y="685800"/>
            <a:ext cx="4571640" cy="3428640"/>
          </a:xfrm>
          <a:prstGeom prst="rect">
            <a:avLst/>
          </a:prstGeom>
          <a:ln w="0">
            <a:noFill/>
          </a:ln>
        </p:spPr>
      </p:sp>
      <p:sp>
        <p:nvSpPr>
          <p:cNvPr id="63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Individual examples help build intuition for model behavior.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patterns in the failures: does the base model consistently fail on the same types of questions? Does RAG fail when the retrieved documents are misleading or off-topic?</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[Y/N] markers show correct/incorrect. Count the patterns -- where does each approach struggle?</a:t>
            </a:r>
            <a:endParaRPr lang="el-GR" sz="2000" b="0" u="none" strike="noStrike">
              <a:solidFill>
                <a:srgbClr val="000000"/>
              </a:solidFill>
              <a:effectLst/>
              <a:uFillTx/>
              <a:latin typeface="Arial"/>
            </a:endParaRPr>
          </a:p>
        </p:txBody>
      </p:sp>
      <p:sp>
        <p:nvSpPr>
          <p:cNvPr id="637" name="PlaceHolder 3"/>
          <p:cNvSpPr>
            <a:spLocks noGrp="1"/>
          </p:cNvSpPr>
          <p:nvPr>
            <p:ph type="sldNum" idx="7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45AB7D-BD09-4478-BAA9-6A9341EA19C7}"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PlaceHolder 1"/>
          <p:cNvSpPr>
            <a:spLocks noGrp="1"/>
          </p:cNvSpPr>
          <p:nvPr>
            <p:ph type="sldImg"/>
          </p:nvPr>
        </p:nvSpPr>
        <p:spPr>
          <a:xfrm>
            <a:off x="1143000" y="685800"/>
            <a:ext cx="4571640" cy="3428640"/>
          </a:xfrm>
          <a:prstGeom prst="rect">
            <a:avLst/>
          </a:prstGeom>
          <a:ln w="0">
            <a:noFill/>
          </a:ln>
        </p:spPr>
      </p:sp>
      <p:sp>
        <p:nvSpPr>
          <p:cNvPr id="63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Pay attention to the accuracy gaps between approaches.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In every experiment, the fine-tuned model significantly outperforms the base model. RAG improves over base but doesn't match fine-tuning. The hybrid approach typically matches or slightly exceeds the fine-tuned model alone.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latency chart tells the cost story: RAG consistently adds 200-600ms for the retrieval step. At scale, this compounds. 1,000 queries per minute with 400ms extra latency means 400 additional seconds of compute time per minute.</a:t>
            </a:r>
            <a:endParaRPr lang="el-GR" sz="2000" b="0" u="none" strike="noStrike">
              <a:solidFill>
                <a:srgbClr val="000000"/>
              </a:solidFill>
              <a:effectLst/>
              <a:uFillTx/>
              <a:latin typeface="Arial"/>
            </a:endParaRPr>
          </a:p>
        </p:txBody>
      </p:sp>
      <p:sp>
        <p:nvSpPr>
          <p:cNvPr id="640" name="PlaceHolder 3"/>
          <p:cNvSpPr>
            <a:spLocks noGrp="1"/>
          </p:cNvSpPr>
          <p:nvPr>
            <p:ph type="sldNum" idx="7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904224-B32F-438E-AE99-86666DFF1B86}"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PlaceHolder 1"/>
          <p:cNvSpPr>
            <a:spLocks noGrp="1"/>
          </p:cNvSpPr>
          <p:nvPr>
            <p:ph type="sldImg"/>
          </p:nvPr>
        </p:nvSpPr>
        <p:spPr>
          <a:xfrm>
            <a:off x="1143000" y="685800"/>
            <a:ext cx="4571640" cy="3428640"/>
          </a:xfrm>
          <a:prstGeom prst="rect">
            <a:avLst/>
          </a:prstGeom>
          <a:ln w="0">
            <a:noFill/>
          </a:ln>
        </p:spPr>
      </p:sp>
      <p:sp>
        <p:nvSpPr>
          <p:cNvPr id="64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Token consumption directly drives API costs.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uses significantly more tokens because retrieved document chunks are prepended to the prompt. A typical RAG query might use 3-5x more input tokens than a direct fine-tuned inference.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the cost/1K queries metric: this assumes market pricing for API-based models. Self-hosted fine-tuned models have near-zero marginal cost (just electricity). This is a massive advantage at scale.</a:t>
            </a:r>
            <a:endParaRPr lang="el-GR" sz="2000" b="0" u="none" strike="noStrike">
              <a:solidFill>
                <a:srgbClr val="000000"/>
              </a:solidFill>
              <a:effectLst/>
              <a:uFillTx/>
              <a:latin typeface="Arial"/>
            </a:endParaRPr>
          </a:p>
        </p:txBody>
      </p:sp>
      <p:sp>
        <p:nvSpPr>
          <p:cNvPr id="643" name="PlaceHolder 3"/>
          <p:cNvSpPr>
            <a:spLocks noGrp="1"/>
          </p:cNvSpPr>
          <p:nvPr>
            <p:ph type="sldNum" idx="8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D6D1E0A-BEB5-4F8A-B3CA-E5D9B96D2A40}"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sldImg"/>
          </p:nvPr>
        </p:nvSpPr>
        <p:spPr>
          <a:xfrm>
            <a:off x="1143000" y="685800"/>
            <a:ext cx="4571640" cy="3428640"/>
          </a:xfrm>
          <a:prstGeom prst="rect">
            <a:avLst/>
          </a:prstGeom>
          <a:ln w="0">
            <a:noFill/>
          </a:ln>
        </p:spPr>
      </p:sp>
      <p:sp>
        <p:nvSpPr>
          <p:cNvPr id="64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F1 score provides a more nuanced view than accuracy alone, especially for imbalanced classes.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High accuracy with low F1 means the model is biased toward the majority class. A good model needs both high precision (few false positives) and high recall (few false negatives).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numerical tasks, MAPE (Mean Absolute Percentage Error) measures how close the predicted numbers are to the expected values. A model might get the direction right but be off by 50%.</a:t>
            </a:r>
            <a:endParaRPr lang="el-GR" sz="2000" b="0" u="none" strike="noStrike">
              <a:solidFill>
                <a:srgbClr val="000000"/>
              </a:solidFill>
              <a:effectLst/>
              <a:uFillTx/>
              <a:latin typeface="Arial"/>
            </a:endParaRPr>
          </a:p>
        </p:txBody>
      </p:sp>
      <p:sp>
        <p:nvSpPr>
          <p:cNvPr id="646" name="PlaceHolder 3"/>
          <p:cNvSpPr>
            <a:spLocks noGrp="1"/>
          </p:cNvSpPr>
          <p:nvPr>
            <p:ph type="sldNum" idx="8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13A0A9B-8539-414A-A455-BCDE39A054C3}"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PlaceHolder 1"/>
          <p:cNvSpPr>
            <a:spLocks noGrp="1"/>
          </p:cNvSpPr>
          <p:nvPr>
            <p:ph type="sldImg"/>
          </p:nvPr>
        </p:nvSpPr>
        <p:spPr>
          <a:xfrm>
            <a:off x="1143000" y="685800"/>
            <a:ext cx="4571640" cy="3428640"/>
          </a:xfrm>
          <a:prstGeom prst="rect">
            <a:avLst/>
          </a:prstGeom>
          <a:ln w="0">
            <a:noFill/>
          </a:ln>
        </p:spPr>
      </p:sp>
      <p:sp>
        <p:nvSpPr>
          <p:cNvPr id="64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category breakdown reveals WHERE each approach wins and loses.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categories where fine-tuning dramatically outperforms RAG -- these are the 'skill gaps' that RAG cannot address. Conversely, categories where RAG matches fine-tuning are the knowledge-intensive tasks.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Domain jargon is a classic fine-tuning win: the model learns that financial terms like 'headwind', 'runway', and 'restructuring' carry different sentiment than their everyday usage.</a:t>
            </a:r>
            <a:endParaRPr lang="el-GR" sz="2000" b="0" u="none" strike="noStrike">
              <a:solidFill>
                <a:srgbClr val="000000"/>
              </a:solidFill>
              <a:effectLst/>
              <a:uFillTx/>
              <a:latin typeface="Arial"/>
            </a:endParaRPr>
          </a:p>
        </p:txBody>
      </p:sp>
      <p:sp>
        <p:nvSpPr>
          <p:cNvPr id="649" name="PlaceHolder 3"/>
          <p:cNvSpPr>
            <a:spLocks noGrp="1"/>
          </p:cNvSpPr>
          <p:nvPr>
            <p:ph type="sldNum" idx="8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E2CDD5D-8760-45AA-8EFB-F282188DFEA8}"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sldImg"/>
          </p:nvPr>
        </p:nvSpPr>
        <p:spPr>
          <a:xfrm>
            <a:off x="1143000" y="685800"/>
            <a:ext cx="4571640" cy="3428640"/>
          </a:xfrm>
          <a:prstGeom prst="rect">
            <a:avLst/>
          </a:prstGeom>
          <a:ln w="0">
            <a:noFill/>
          </a:ln>
        </p:spPr>
      </p:sp>
      <p:sp>
        <p:nvSpPr>
          <p:cNvPr id="65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category breakdown reveals WHERE each approach wins and loses.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categories where fine-tuning dramatically outperforms RAG -- these are the 'skill gaps' that RAG cannot address. Conversely, categories where RAG matches fine-tuning are the knowledge-intensive tasks.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Domain jargon is a classic fine-tuning win: the model learns that financial terms like 'headwind', 'runway', and 'restructuring' carry different sentiment than their everyday usage.</a:t>
            </a:r>
            <a:endParaRPr lang="el-GR" sz="2000" b="0" u="none" strike="noStrike">
              <a:solidFill>
                <a:srgbClr val="000000"/>
              </a:solidFill>
              <a:effectLst/>
              <a:uFillTx/>
              <a:latin typeface="Arial"/>
            </a:endParaRPr>
          </a:p>
        </p:txBody>
      </p:sp>
      <p:sp>
        <p:nvSpPr>
          <p:cNvPr id="652" name="PlaceHolder 3"/>
          <p:cNvSpPr>
            <a:spLocks noGrp="1"/>
          </p:cNvSpPr>
          <p:nvPr>
            <p:ph type="sldNum" idx="8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04C3C4-7CFD-421A-BC39-0EC1183FC8B2}"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sldImg"/>
          </p:nvPr>
        </p:nvSpPr>
        <p:spPr>
          <a:xfrm>
            <a:off x="1143000" y="685800"/>
            <a:ext cx="4571640" cy="3428640"/>
          </a:xfrm>
          <a:prstGeom prst="rect">
            <a:avLst/>
          </a:prstGeom>
          <a:ln w="0">
            <a:noFill/>
          </a:ln>
        </p:spPr>
      </p:sp>
      <p:sp>
        <p:nvSpPr>
          <p:cNvPr id="6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Individual examples help build intuition for model behavior.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patterns in the failures: does the base model consistently fail on the same types of questions? Does RAG fail when the retrieved documents are misleading or off-topic?</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[Y/N] markers show correct/incorrect. Count the patterns -- where does each approach struggle?</a:t>
            </a:r>
            <a:endParaRPr lang="el-GR" sz="2000" b="0" u="none" strike="noStrike">
              <a:solidFill>
                <a:srgbClr val="000000"/>
              </a:solidFill>
              <a:effectLst/>
              <a:uFillTx/>
              <a:latin typeface="Arial"/>
            </a:endParaRPr>
          </a:p>
        </p:txBody>
      </p:sp>
      <p:sp>
        <p:nvSpPr>
          <p:cNvPr id="655" name="PlaceHolder 3"/>
          <p:cNvSpPr>
            <a:spLocks noGrp="1"/>
          </p:cNvSpPr>
          <p:nvPr>
            <p:ph type="sldNum" idx="8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E347E59-F996-4999-BBAE-8258078E4435}"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Img"/>
          </p:nvPr>
        </p:nvSpPr>
        <p:spPr>
          <a:xfrm>
            <a:off x="1143000" y="685800"/>
            <a:ext cx="4571640" cy="3428640"/>
          </a:xfrm>
          <a:prstGeom prst="rect">
            <a:avLst/>
          </a:prstGeom>
          <a:ln w="0">
            <a:noFill/>
          </a:ln>
        </p:spPr>
      </p:sp>
      <p:sp>
        <p:nvSpPr>
          <p:cNvPr id="6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Pay attention to the accuracy gaps between approaches.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In every experiment, the fine-tuned model significantly outperforms the base model. RAG improves over base but doesn't match fine-tuning. The hybrid approach typically matches or slightly exceeds the fine-tuned model alone.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latency chart tells the cost story: RAG consistently adds 200-600ms for the retrieval step. At scale, this compounds. 1,000 queries per minute with 400ms extra latency means 400 additional seconds of compute time per minute.</a:t>
            </a:r>
            <a:endParaRPr lang="el-GR" sz="2000" b="0" u="none" strike="noStrike">
              <a:solidFill>
                <a:srgbClr val="000000"/>
              </a:solidFill>
              <a:effectLst/>
              <a:uFillTx/>
              <a:latin typeface="Arial"/>
            </a:endParaRPr>
          </a:p>
        </p:txBody>
      </p:sp>
      <p:sp>
        <p:nvSpPr>
          <p:cNvPr id="658" name="PlaceHolder 3"/>
          <p:cNvSpPr>
            <a:spLocks noGrp="1"/>
          </p:cNvSpPr>
          <p:nvPr>
            <p:ph type="sldNum" idx="8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C1CA553-D6FE-46B4-BF4A-B53061508056}"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Img"/>
          </p:nvPr>
        </p:nvSpPr>
        <p:spPr>
          <a:xfrm>
            <a:off x="1143000" y="685800"/>
            <a:ext cx="4571640" cy="3428640"/>
          </a:xfrm>
          <a:prstGeom prst="rect">
            <a:avLst/>
          </a:prstGeom>
          <a:ln w="0">
            <a:noFill/>
          </a:ln>
        </p:spPr>
      </p:sp>
      <p:sp>
        <p:nvSpPr>
          <p:cNvPr id="6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Token consumption directly drives API costs.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uses significantly more tokens because retrieved document chunks are prepended to the prompt. A typical RAG query might use 3-5x more input tokens than a direct fine-tuned inference.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the cost/1K queries metric: this assumes market pricing for API-based models. Self-hosted fine-tuned models have near-zero marginal cost (just electricity). This is a massive advantage at scale.</a:t>
            </a:r>
            <a:endParaRPr lang="el-GR" sz="2000" b="0" u="none" strike="noStrike">
              <a:solidFill>
                <a:srgbClr val="000000"/>
              </a:solidFill>
              <a:effectLst/>
              <a:uFillTx/>
              <a:latin typeface="Arial"/>
            </a:endParaRPr>
          </a:p>
        </p:txBody>
      </p:sp>
      <p:sp>
        <p:nvSpPr>
          <p:cNvPr id="661" name="PlaceHolder 3"/>
          <p:cNvSpPr>
            <a:spLocks noGrp="1"/>
          </p:cNvSpPr>
          <p:nvPr>
            <p:ph type="sldNum" idx="8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EE58CE-57C0-4BD7-BECA-DD20FF110187}"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Img"/>
          </p:nvPr>
        </p:nvSpPr>
        <p:spPr>
          <a:xfrm>
            <a:off x="1143000" y="685800"/>
            <a:ext cx="4571640" cy="3428640"/>
          </a:xfrm>
          <a:prstGeom prst="rect">
            <a:avLst/>
          </a:prstGeom>
          <a:ln w="0">
            <a:noFill/>
          </a:ln>
        </p:spPr>
      </p:sp>
      <p:sp>
        <p:nvSpPr>
          <p:cNvPr id="6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F1 score provides a more nuanced view than accuracy alone, especially for imbalanced classes.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High accuracy with low F1 means the model is biased toward the majority class. A good model needs both high precision (few false positives) and high recall (few false negatives).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numerical tasks, MAPE (Mean Absolute Percentage Error) measures how close the predicted numbers are to the expected values. A model might get the direction right but be off by 50%.</a:t>
            </a:r>
            <a:endParaRPr lang="el-GR" sz="2000" b="0" u="none" strike="noStrike">
              <a:solidFill>
                <a:srgbClr val="000000"/>
              </a:solidFill>
              <a:effectLst/>
              <a:uFillTx/>
              <a:latin typeface="Arial"/>
            </a:endParaRPr>
          </a:p>
        </p:txBody>
      </p:sp>
      <p:sp>
        <p:nvSpPr>
          <p:cNvPr id="664" name="PlaceHolder 3"/>
          <p:cNvSpPr>
            <a:spLocks noGrp="1"/>
          </p:cNvSpPr>
          <p:nvPr>
            <p:ph type="sldNum" idx="8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8CDB2BE-C96D-40DA-8C05-9771CF24662D}"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Img"/>
          </p:nvPr>
        </p:nvSpPr>
        <p:spPr>
          <a:xfrm>
            <a:off x="1143000" y="685800"/>
            <a:ext cx="4571640" cy="3428640"/>
          </a:xfrm>
          <a:prstGeom prst="rect">
            <a:avLst/>
          </a:prstGeom>
          <a:ln w="0">
            <a:noFill/>
          </a:ln>
        </p:spPr>
      </p:sp>
      <p:sp>
        <p:nvSpPr>
          <p:cNvPr id="66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category breakdown reveals WHERE each approach wins and loses.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categories where fine-tuning dramatically outperforms RAG -- these are the 'skill gaps' that RAG cannot address. Conversely, categories where RAG matches fine-tuning are the knowledge-intensive tasks.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Domain jargon is a classic fine-tuning win: the model learns that financial terms like 'headwind', 'runway', and 'restructuring' carry different sentiment than their everyday usage.</a:t>
            </a:r>
            <a:endParaRPr lang="el-GR" sz="2000" b="0" u="none" strike="noStrike">
              <a:solidFill>
                <a:srgbClr val="000000"/>
              </a:solidFill>
              <a:effectLst/>
              <a:uFillTx/>
              <a:latin typeface="Arial"/>
            </a:endParaRPr>
          </a:p>
        </p:txBody>
      </p:sp>
      <p:sp>
        <p:nvSpPr>
          <p:cNvPr id="667" name="PlaceHolder 3"/>
          <p:cNvSpPr>
            <a:spLocks noGrp="1"/>
          </p:cNvSpPr>
          <p:nvPr>
            <p:ph type="sldNum" idx="8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8C3F13F-8706-4C6C-A5D8-7263FD6106EA}"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sldImg"/>
          </p:nvPr>
        </p:nvSpPr>
        <p:spPr>
          <a:xfrm>
            <a:off x="1143000" y="685800"/>
            <a:ext cx="4571640" cy="3428640"/>
          </a:xfrm>
          <a:prstGeom prst="rect">
            <a:avLst/>
          </a:prstGeom>
          <a:ln w="0">
            <a:noFill/>
          </a:ln>
        </p:spPr>
      </p:sp>
      <p:sp>
        <p:nvSpPr>
          <p:cNvPr id="66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category breakdown reveals WHERE each approach wins and loses.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categories where fine-tuning dramatically outperforms RAG -- these are the 'skill gaps' that RAG cannot address. Conversely, categories where RAG matches fine-tuning are the knowledge-intensive tasks.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Domain jargon is a classic fine-tuning win: the model learns that financial terms like 'headwind', 'runway', and 'restructuring' carry different sentiment than their everyday usage.</a:t>
            </a:r>
            <a:endParaRPr lang="el-GR" sz="2000" b="0" u="none" strike="noStrike">
              <a:solidFill>
                <a:srgbClr val="000000"/>
              </a:solidFill>
              <a:effectLst/>
              <a:uFillTx/>
              <a:latin typeface="Arial"/>
            </a:endParaRPr>
          </a:p>
        </p:txBody>
      </p:sp>
      <p:sp>
        <p:nvSpPr>
          <p:cNvPr id="670" name="PlaceHolder 3"/>
          <p:cNvSpPr>
            <a:spLocks noGrp="1"/>
          </p:cNvSpPr>
          <p:nvPr>
            <p:ph type="sldNum" idx="8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700402-459E-4334-B545-1742AFB1F710}"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Img"/>
          </p:nvPr>
        </p:nvSpPr>
        <p:spPr>
          <a:xfrm>
            <a:off x="1143000" y="685800"/>
            <a:ext cx="4571640" cy="3428640"/>
          </a:xfrm>
          <a:prstGeom prst="rect">
            <a:avLst/>
          </a:prstGeom>
          <a:ln w="0">
            <a:noFill/>
          </a:ln>
        </p:spPr>
      </p:sp>
      <p:sp>
        <p:nvSpPr>
          <p:cNvPr id="67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Individual examples help build intuition for model behavior.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Look for patterns in the failures: does the base model consistently fail on the same types of questions? Does RAG fail when the retrieved documents are misleading or off-topic?</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[Y/N] markers show correct/incorrect. Count the patterns -- where does each approach struggle?</a:t>
            </a:r>
            <a:endParaRPr lang="el-GR" sz="2000" b="0" u="none" strike="noStrike">
              <a:solidFill>
                <a:srgbClr val="000000"/>
              </a:solidFill>
              <a:effectLst/>
              <a:uFillTx/>
              <a:latin typeface="Arial"/>
            </a:endParaRPr>
          </a:p>
        </p:txBody>
      </p:sp>
      <p:sp>
        <p:nvSpPr>
          <p:cNvPr id="673" name="PlaceHolder 3"/>
          <p:cNvSpPr>
            <a:spLocks noGrp="1"/>
          </p:cNvSpPr>
          <p:nvPr>
            <p:ph type="sldNum" idx="9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B74ED40-F5A0-415D-B260-87D2309D13B6}"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PlaceHolder 1"/>
          <p:cNvSpPr>
            <a:spLocks noGrp="1"/>
          </p:cNvSpPr>
          <p:nvPr>
            <p:ph type="sldImg"/>
          </p:nvPr>
        </p:nvSpPr>
        <p:spPr>
          <a:xfrm>
            <a:off x="1143000" y="685800"/>
            <a:ext cx="4571640" cy="3428640"/>
          </a:xfrm>
          <a:prstGeom prst="rect">
            <a:avLst/>
          </a:prstGeom>
          <a:ln w="0">
            <a:noFill/>
          </a:ln>
        </p:spPr>
      </p:sp>
      <p:sp>
        <p:nvSpPr>
          <p:cNvPr id="67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experiment asks a fundamental question: if fine-tuning teaches skills, does a bigger model learn them better?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We compare two models BOTH fine-tuned on the same spam detection task with the same training data. DistilBERT has 66 million parameters. GPT-4o-mini has approximately 8 billion -- 121 times larger.</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DistilBERT runs locally with near-zero cost. GPT-4o-mini requires an API call at $0.30 per million input tokens.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question is whether that 121x size difference and higher cost translate to proportionally better performance.</a:t>
            </a:r>
            <a:endParaRPr lang="el-GR" sz="2000" b="0" u="none" strike="noStrike">
              <a:solidFill>
                <a:srgbClr val="000000"/>
              </a:solidFill>
              <a:effectLst/>
              <a:uFillTx/>
              <a:latin typeface="Arial"/>
            </a:endParaRPr>
          </a:p>
        </p:txBody>
      </p:sp>
      <p:sp>
        <p:nvSpPr>
          <p:cNvPr id="676" name="PlaceHolder 3"/>
          <p:cNvSpPr>
            <a:spLocks noGrp="1"/>
          </p:cNvSpPr>
          <p:nvPr>
            <p:ph type="sldNum" idx="9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1999D3-5EBB-45B8-869E-E75348F427B7}"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sldImg"/>
          </p:nvPr>
        </p:nvSpPr>
        <p:spPr>
          <a:xfrm>
            <a:off x="1143000" y="685800"/>
            <a:ext cx="4571640" cy="3428640"/>
          </a:xfrm>
          <a:prstGeom prst="rect">
            <a:avLst/>
          </a:prstGeom>
          <a:ln w="0">
            <a:noFill/>
          </a:ln>
        </p:spPr>
      </p:sp>
      <p:sp>
        <p:nvSpPr>
          <p:cNvPr id="67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results are striking.</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On basic test cases, GPT-4o-mini edges out DistilBERT by about 5 percentage points. But DistilBERT is running at 1/23rd the latency and near-zero cost.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On adversarial cases, the gap widens -- the larger model is more robust to edge cases. This makes sense: more parameters give more capacity to handle unusual inputs.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diminishing returns insight: going from 66M to 8B parameters (121x) yields only a modest accuracy gain. For many production use cases, the smaller, faster, cheaper model is the better choice.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This has profound implications for deployment: a $0.005/1K query model achieving 95% accuracy often beats a $0.02/1K query model achieving 100% accuracy.</a:t>
            </a:r>
            <a:endParaRPr lang="el-GR" sz="2000" b="0" u="none" strike="noStrike">
              <a:solidFill>
                <a:srgbClr val="000000"/>
              </a:solidFill>
              <a:effectLst/>
              <a:uFillTx/>
              <a:latin typeface="Arial"/>
            </a:endParaRPr>
          </a:p>
        </p:txBody>
      </p:sp>
      <p:sp>
        <p:nvSpPr>
          <p:cNvPr id="679" name="PlaceHolder 3"/>
          <p:cNvSpPr>
            <a:spLocks noGrp="1"/>
          </p:cNvSpPr>
          <p:nvPr>
            <p:ph type="sldNum" idx="9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9F44ADE-4DF1-4A88-87B7-E348886D8B91}"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Img"/>
          </p:nvPr>
        </p:nvSpPr>
        <p:spPr>
          <a:xfrm>
            <a:off x="1143000" y="685800"/>
            <a:ext cx="4571640" cy="3428640"/>
          </a:xfrm>
          <a:prstGeom prst="rect">
            <a:avLst/>
          </a:prstGeom>
          <a:ln w="0">
            <a:noFill/>
          </a:ln>
        </p:spPr>
      </p:sp>
      <p:sp>
        <p:nvSpPr>
          <p:cNvPr id="68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LLM-as-Judge evaluation adds a qualitative dimension to our quantitative benchmarks.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We used GPT-4o as an independent judge to score each model's predictions on three dimensions: correctness (did it get the right answer?), reasoning quality (does the prediction show domain understanding?), and faithfulness (is the classification based on actual email content?).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On basic cases, both models score near-perfect -- the differences only emerge on adversarial cases where the emails are deliberately designed to confuse classifiers.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judge scores align with the accuracy metrics but provide richer insights: a model can be incorrect but still show reasonable reasoning, or correct but for the wrong reasons.</a:t>
            </a:r>
            <a:endParaRPr lang="el-GR" sz="2000" b="0" u="none" strike="noStrike">
              <a:solidFill>
                <a:srgbClr val="000000"/>
              </a:solidFill>
              <a:effectLst/>
              <a:uFillTx/>
              <a:latin typeface="Arial"/>
            </a:endParaRPr>
          </a:p>
        </p:txBody>
      </p:sp>
      <p:sp>
        <p:nvSpPr>
          <p:cNvPr id="682" name="PlaceHolder 3"/>
          <p:cNvSpPr>
            <a:spLocks noGrp="1"/>
          </p:cNvSpPr>
          <p:nvPr>
            <p:ph type="sldNum" idx="9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D009D34-4403-451D-A003-529C40A7163B}"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Img"/>
          </p:nvPr>
        </p:nvSpPr>
        <p:spPr>
          <a:xfrm>
            <a:off x="1143000" y="685800"/>
            <a:ext cx="4571640" cy="3428640"/>
          </a:xfrm>
          <a:prstGeom prst="rect">
            <a:avLst/>
          </a:prstGeom>
          <a:ln w="0">
            <a:noFill/>
          </a:ln>
        </p:spPr>
      </p:sp>
      <p:sp>
        <p:nvSpPr>
          <p:cNvPr id="68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Let's step back and look at the big picture across all experiments.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data consistently tells us: fine-tuning excels at REASONING, COMPUTATION, and PATTERN RECOGNITION. These are skill-based tasks where the model needs to learn new capabilities.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excels at KNOWLEDGE RETRIEVAL -- tasks where the answer is in a document and the model just needs to find and present it.</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hybrid approach consistently achieves the highest accuracy because it combines learned skills with access to fresh information. This is the architecture pattern for production systems.</a:t>
            </a:r>
            <a:endParaRPr lang="el-GR" sz="2000" b="0" u="none" strike="noStrike">
              <a:solidFill>
                <a:srgbClr val="000000"/>
              </a:solidFill>
              <a:effectLst/>
              <a:uFillTx/>
              <a:latin typeface="Arial"/>
            </a:endParaRPr>
          </a:p>
        </p:txBody>
      </p:sp>
      <p:sp>
        <p:nvSpPr>
          <p:cNvPr id="685" name="PlaceHolder 3"/>
          <p:cNvSpPr>
            <a:spLocks noGrp="1"/>
          </p:cNvSpPr>
          <p:nvPr>
            <p:ph type="sldNum" idx="9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5DBAC3D-8269-473C-A495-4014A548665F}"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Img"/>
          </p:nvPr>
        </p:nvSpPr>
        <p:spPr>
          <a:xfrm>
            <a:off x="1143000" y="685800"/>
            <a:ext cx="4571640" cy="3428640"/>
          </a:xfrm>
          <a:prstGeom prst="rect">
            <a:avLst/>
          </a:prstGeom>
          <a:ln w="0">
            <a:noFill/>
          </a:ln>
        </p:spPr>
      </p:sp>
      <p:sp>
        <p:nvSpPr>
          <p:cNvPr id="68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These examples are cherry-picked to illustrate the clearest wins for each approach.</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Fine-tuning wins: cases where domain-specific reasoning is required. Financial jargon, multi-step calculations, nuanced classification.</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RAG wins: cases where specific factual information is needed that the model doesn't have in its weights. Current data, specific document references, evolving knowledge.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Hybrid wins: cases that need BOTH -- domain reasoning skills applied to specific current data.</a:t>
            </a:r>
            <a:endParaRPr lang="el-GR" sz="2000" b="0" u="none" strike="noStrike">
              <a:solidFill>
                <a:srgbClr val="000000"/>
              </a:solidFill>
              <a:effectLst/>
              <a:uFillTx/>
              <a:latin typeface="Arial"/>
            </a:endParaRPr>
          </a:p>
        </p:txBody>
      </p:sp>
      <p:sp>
        <p:nvSpPr>
          <p:cNvPr id="688" name="PlaceHolder 3"/>
          <p:cNvSpPr>
            <a:spLocks noGrp="1"/>
          </p:cNvSpPr>
          <p:nvPr>
            <p:ph type="sldNum" idx="9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1D4235-B884-4DF5-9D8B-E2EDC33C33F4}"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Img"/>
          </p:nvPr>
        </p:nvSpPr>
        <p:spPr>
          <a:xfrm>
            <a:off x="1143000" y="685800"/>
            <a:ext cx="4571640" cy="3428640"/>
          </a:xfrm>
          <a:prstGeom prst="rect">
            <a:avLst/>
          </a:prstGeom>
          <a:ln w="0">
            <a:noFill/>
          </a:ln>
        </p:spPr>
      </p:sp>
      <p:sp>
        <p:nvSpPr>
          <p:cNvPr id="6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is the slide to photograph if you remember nothing else.</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accuracy table shows fine-tuning winning across every experiment. The cost table shows the trade-off: RAG uses more tokens and costs more per query.</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Five key conclusions, backed by our data:</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1. Fine-tuning consistently outperforms base models.</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2. RAG improves over base but can't match fine-tuning for reasoning.</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3. Hybrid achieves the best results.</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4. Spam detection is a great fine-tuning use case -- learned patterns beat retrieval.</a:t>
            </a: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5. All comparisons are controlled -- same architecture, different approach.</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The implication for your projects: if accuracy matters and you have training data, fine-tune. If you need dynamic knowledge, add RAG. For production, do both.</a:t>
            </a:r>
            <a:endParaRPr lang="el-GR" sz="2000" b="0" u="none" strike="noStrike">
              <a:solidFill>
                <a:srgbClr val="000000"/>
              </a:solidFill>
              <a:effectLst/>
              <a:uFillTx/>
              <a:latin typeface="Arial"/>
            </a:endParaRPr>
          </a:p>
        </p:txBody>
      </p:sp>
      <p:sp>
        <p:nvSpPr>
          <p:cNvPr id="691" name="PlaceHolder 3"/>
          <p:cNvSpPr>
            <a:spLocks noGrp="1"/>
          </p:cNvSpPr>
          <p:nvPr>
            <p:ph type="sldNum" idx="9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E094B40-53AF-4DDE-A87D-22BD6B4539C1}"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Img"/>
          </p:nvPr>
        </p:nvSpPr>
        <p:spPr>
          <a:xfrm>
            <a:off x="1143000" y="685800"/>
            <a:ext cx="4571640" cy="3428640"/>
          </a:xfrm>
          <a:prstGeom prst="rect">
            <a:avLst/>
          </a:prstGeom>
          <a:ln w="0">
            <a:noFill/>
          </a:ln>
        </p:spPr>
      </p:sp>
      <p:sp>
        <p:nvSpPr>
          <p:cNvPr id="69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key takeaway is that RAG and fine-tuning solve fundamentally different problems. RAG provides knowledge (access to documents the model has never seen), while fine-tuning provides skills (domain-specific reasoning). The strongest production systems combine both approaches.</a:t>
            </a:r>
            <a:endParaRPr lang="el-GR" sz="2000" b="0" u="none" strike="noStrike">
              <a:solidFill>
                <a:srgbClr val="000000"/>
              </a:solidFill>
              <a:effectLst/>
              <a:uFillTx/>
              <a:latin typeface="Arial"/>
            </a:endParaRPr>
          </a:p>
        </p:txBody>
      </p:sp>
      <p:sp>
        <p:nvSpPr>
          <p:cNvPr id="694" name="PlaceHolder 3"/>
          <p:cNvSpPr>
            <a:spLocks noGrp="1"/>
          </p:cNvSpPr>
          <p:nvPr>
            <p:ph type="sldNum" idx="9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D87354D-5485-4183-95EA-D4467908431F}"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Img"/>
          </p:nvPr>
        </p:nvSpPr>
        <p:spPr>
          <a:xfrm>
            <a:off x="1143000" y="685800"/>
            <a:ext cx="4571640" cy="3428640"/>
          </a:xfrm>
          <a:prstGeom prst="rect">
            <a:avLst/>
          </a:prstGeom>
          <a:ln w="0">
            <a:noFill/>
          </a:ln>
        </p:spPr>
      </p:sp>
      <p:sp>
        <p:nvSpPr>
          <p:cNvPr id="69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slide shows the experimental design. Every test case runs through all 4 approaches using the SAME base architecture -- the only variable is whether we fine-tuned and/or added RAG retrieval. This isolates each strategy's contribution. We evaluate on 3 axes: accuracy metrics, GPT-4o judge scores, and cost/latency.</a:t>
            </a:r>
            <a:endParaRPr lang="el-GR" sz="2000" b="0" u="none" strike="noStrike">
              <a:solidFill>
                <a:srgbClr val="000000"/>
              </a:solidFill>
              <a:effectLst/>
              <a:uFillTx/>
              <a:latin typeface="Arial"/>
            </a:endParaRPr>
          </a:p>
        </p:txBody>
      </p:sp>
      <p:sp>
        <p:nvSpPr>
          <p:cNvPr id="697" name="PlaceHolder 3"/>
          <p:cNvSpPr>
            <a:spLocks noGrp="1"/>
          </p:cNvSpPr>
          <p:nvPr>
            <p:ph type="sldNum" idx="9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2E3C681-433D-4365-A7B0-AFDEDF89FB27}"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Img"/>
          </p:nvPr>
        </p:nvSpPr>
        <p:spPr>
          <a:xfrm>
            <a:off x="1143000" y="685800"/>
            <a:ext cx="4571640" cy="3428640"/>
          </a:xfrm>
          <a:prstGeom prst="rect">
            <a:avLst/>
          </a:prstGeom>
          <a:ln w="0">
            <a:noFill/>
          </a:ln>
        </p:spPr>
      </p:sp>
      <p:sp>
        <p:nvSpPr>
          <p:cNvPr id="69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is the project's most important discovery. The widely-held belief that 'RAG can't help with math' is largely an artifact of benchmark design. When the knowledge base data aligns with the question -- which is always the case in production -- RAG performs dramatically better. The +71.4pp swing uses the exact same model and pipeline, just different data alignment.</a:t>
            </a:r>
            <a:endParaRPr lang="el-GR" sz="2000" b="0" u="none" strike="noStrike">
              <a:solidFill>
                <a:srgbClr val="000000"/>
              </a:solidFill>
              <a:effectLst/>
              <a:uFillTx/>
              <a:latin typeface="Arial"/>
            </a:endParaRPr>
          </a:p>
        </p:txBody>
      </p:sp>
      <p:sp>
        <p:nvSpPr>
          <p:cNvPr id="700" name="PlaceHolder 3"/>
          <p:cNvSpPr>
            <a:spLocks noGrp="1"/>
          </p:cNvSpPr>
          <p:nvPr>
            <p:ph type="sldNum" idx="9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C1DADC0-AD53-4BB1-B749-B9DA15ECD056}"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Img"/>
          </p:nvPr>
        </p:nvSpPr>
        <p:spPr>
          <a:xfrm>
            <a:off x="1143000" y="685800"/>
            <a:ext cx="4571640" cy="3428640"/>
          </a:xfrm>
          <a:prstGeom prst="rect">
            <a:avLst/>
          </a:prstGeom>
          <a:ln w="0">
            <a:noFill/>
          </a:ln>
        </p:spPr>
      </p:sp>
      <p:sp>
        <p:nvSpPr>
          <p:cNvPr id="70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We use 6 benchmark suites covering 253 test cases. Classification tasks use exact label match. Numerical tasks use 5% tolerance. The LLM-as-Judge adds quality assessment beyond simple accuracy -- it scores correctness (50% weight), reasoning quality (30%), and faithfulness to source data (20%).</a:t>
            </a:r>
            <a:endParaRPr lang="el-GR" sz="2000" b="0" u="none" strike="noStrike">
              <a:solidFill>
                <a:srgbClr val="000000"/>
              </a:solidFill>
              <a:effectLst/>
              <a:uFillTx/>
              <a:latin typeface="Arial"/>
            </a:endParaRPr>
          </a:p>
        </p:txBody>
      </p:sp>
      <p:sp>
        <p:nvSpPr>
          <p:cNvPr id="703" name="PlaceHolder 3"/>
          <p:cNvSpPr>
            <a:spLocks noGrp="1"/>
          </p:cNvSpPr>
          <p:nvPr>
            <p:ph type="sldNum" idx="10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6D4D35-C57C-4FEC-A774-E9C55DEF0302}"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Img"/>
          </p:nvPr>
        </p:nvSpPr>
        <p:spPr>
          <a:xfrm>
            <a:off x="1143000" y="685800"/>
            <a:ext cx="4571640" cy="3428640"/>
          </a:xfrm>
          <a:prstGeom prst="rect">
            <a:avLst/>
          </a:prstGeom>
          <a:ln w="0">
            <a:noFill/>
          </a:ln>
        </p:spPr>
      </p:sp>
      <p:sp>
        <p:nvSpPr>
          <p:cNvPr id="70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The adversarial benchmark tests 3 attack vectors: noisy retrieval (irrelevant docs), knowledge conflict (contradictory signals), and out-of-distribution inputs. The most counterintuitive finding: Hybrid -- the approach with the most resources -- scores the LOWEST on adversarial ratios (1.86/5). More information creates more confusion when the task requires pure computation.</a:t>
            </a:r>
            <a:endParaRPr lang="el-GR" sz="2000" b="0" u="none" strike="noStrike">
              <a:solidFill>
                <a:srgbClr val="000000"/>
              </a:solidFill>
              <a:effectLst/>
              <a:uFillTx/>
              <a:latin typeface="Arial"/>
            </a:endParaRPr>
          </a:p>
        </p:txBody>
      </p:sp>
      <p:sp>
        <p:nvSpPr>
          <p:cNvPr id="706" name="PlaceHolder 3"/>
          <p:cNvSpPr>
            <a:spLocks noGrp="1"/>
          </p:cNvSpPr>
          <p:nvPr>
            <p:ph type="sldNum" idx="10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9E6FB43-63EB-4815-B061-984130390F53}"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Img"/>
          </p:nvPr>
        </p:nvSpPr>
        <p:spPr>
          <a:xfrm>
            <a:off x="1143000" y="685800"/>
            <a:ext cx="4571640" cy="3428640"/>
          </a:xfrm>
          <a:prstGeom prst="rect">
            <a:avLst/>
          </a:prstGeom>
          <a:ln w="0">
            <a:noFill/>
          </a:ln>
        </p:spPr>
      </p:sp>
      <p:sp>
        <p:nvSpPr>
          <p:cNvPr id="70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is the conceptual core of the project. Fine-tuning and RAG solve fundamentally different problems. Fine-tuning teaches SKILLS -- the fine-tuned model scores 0% on direct retrieval because it has reasoning abilities but no Meridian data. RAG provides KNOWLEDGE -- it scores 86.7% on retrieval but 15% on math because it has data but no computation skills. Hybrid combines both for 93.3%.</a:t>
            </a:r>
            <a:endParaRPr lang="el-GR" sz="2000" b="0" u="none" strike="noStrike">
              <a:solidFill>
                <a:srgbClr val="000000"/>
              </a:solidFill>
              <a:effectLst/>
              <a:uFillTx/>
              <a:latin typeface="Arial"/>
            </a:endParaRPr>
          </a:p>
        </p:txBody>
      </p:sp>
      <p:sp>
        <p:nvSpPr>
          <p:cNvPr id="709" name="PlaceHolder 3"/>
          <p:cNvSpPr>
            <a:spLocks noGrp="1"/>
          </p:cNvSpPr>
          <p:nvPr>
            <p:ph type="sldNum" idx="10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C07FF8-A28A-4405-8AC8-C454A42F86B8}"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1143000" y="685800"/>
            <a:ext cx="4571640" cy="3428640"/>
          </a:xfrm>
          <a:prstGeom prst="rect">
            <a:avLst/>
          </a:prstGeom>
          <a:ln w="0">
            <a:noFill/>
          </a:ln>
        </p:spPr>
      </p:sp>
      <p:sp>
        <p:nvSpPr>
          <p:cNvPr id="71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We classified what the RAG knowledge base actually provides for each of the 171 test cases. The results are sobering: only 20% are properly covered, 30% are actively harmed. This taxonomy explains why RAG appears to fail on standard benchmarks -- most cases fall into the 'conflicting data' or 'not in KB' categories.</a:t>
            </a:r>
            <a:endParaRPr lang="el-GR" sz="2000" b="0" u="none" strike="noStrike">
              <a:solidFill>
                <a:srgbClr val="000000"/>
              </a:solidFill>
              <a:effectLst/>
              <a:uFillTx/>
              <a:latin typeface="Arial"/>
            </a:endParaRPr>
          </a:p>
        </p:txBody>
      </p:sp>
      <p:sp>
        <p:nvSpPr>
          <p:cNvPr id="712" name="PlaceHolder 3"/>
          <p:cNvSpPr>
            <a:spLocks noGrp="1"/>
          </p:cNvSpPr>
          <p:nvPr>
            <p:ph type="sldNum" idx="10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11F5F10-1703-492E-8A0C-732F72ABB7F6}"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1143000" y="685800"/>
            <a:ext cx="4571640" cy="3428640"/>
          </a:xfrm>
          <a:prstGeom prst="rect">
            <a:avLst/>
          </a:prstGeom>
          <a:ln w="0">
            <a:noFill/>
          </a:ln>
        </p:spPr>
      </p:sp>
      <p:sp>
        <p:nvSpPr>
          <p:cNvPr id="71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is the enhanced decision framework backed by all 253 experiments. Each leaf node shows the actual measured results: Hybrid 93.3%, Fine-tune +25-46pp, RAG 86.7% with 3.8/5 faithfulness. The key question: does the task require new reasoning SKILLS? If yes, you need fine-tuning. Does it need fresh DATA? If yes, you need RAG. Both? Hybrid.</a:t>
            </a:r>
            <a:endParaRPr lang="el-GR" sz="2000" b="0" u="none" strike="noStrike">
              <a:solidFill>
                <a:srgbClr val="000000"/>
              </a:solidFill>
              <a:effectLst/>
              <a:uFillTx/>
              <a:latin typeface="Arial"/>
            </a:endParaRPr>
          </a:p>
        </p:txBody>
      </p:sp>
      <p:sp>
        <p:nvSpPr>
          <p:cNvPr id="715" name="PlaceHolder 3"/>
          <p:cNvSpPr>
            <a:spLocks noGrp="1"/>
          </p:cNvSpPr>
          <p:nvPr>
            <p:ph type="sldNum" idx="10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A5B2943-7F58-4962-88AF-F7C7349F9EEE}"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1143000" y="685800"/>
            <a:ext cx="4571640" cy="3428640"/>
          </a:xfrm>
          <a:prstGeom prst="rect">
            <a:avLst/>
          </a:prstGeom>
          <a:ln w="0">
            <a:noFill/>
          </a:ln>
        </p:spPr>
      </p:sp>
      <p:sp>
        <p:nvSpPr>
          <p:cNvPr id="71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This is the practical playbook. Start with RAG for quick wins -- our data shows 86.7% accuracy with zero training. Then identify where RAG fails (jargon, math, adversarial). Use those failures as training data for QLoRA fine-tuning ($5-25 on AWS, &lt;4 hours). Finally deploy a hybrid system combining fine-tuned reasoning with RAG knowledge retrieval for 93.3% accuracy with source citations.</a:t>
            </a:r>
            <a:endParaRPr lang="el-GR" sz="2000" b="0" u="none" strike="noStrike">
              <a:solidFill>
                <a:srgbClr val="000000"/>
              </a:solidFill>
              <a:effectLst/>
              <a:uFillTx/>
              <a:latin typeface="Arial"/>
            </a:endParaRPr>
          </a:p>
        </p:txBody>
      </p:sp>
      <p:sp>
        <p:nvSpPr>
          <p:cNvPr id="718" name="PlaceHolder 3"/>
          <p:cNvSpPr>
            <a:spLocks noGrp="1"/>
          </p:cNvSpPr>
          <p:nvPr>
            <p:ph type="sldNum" idx="10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E4389D0-3890-4714-9C23-98B5626AB1D1}"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1143000" y="685800"/>
            <a:ext cx="4571640" cy="3428640"/>
          </a:xfrm>
          <a:prstGeom prst="rect">
            <a:avLst/>
          </a:prstGeom>
          <a:ln w="0">
            <a:noFill/>
          </a:ln>
        </p:spPr>
      </p:sp>
      <p:sp>
        <p:nvSpPr>
          <p:cNvPr id="72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l-GR" sz="2000" b="0" u="none" strike="noStrike">
                <a:solidFill>
                  <a:srgbClr val="000000"/>
                </a:solidFill>
                <a:effectLst/>
                <a:uFillTx/>
                <a:latin typeface="Arial"/>
              </a:rPr>
              <a:t>Thank you for your attention. Let's open the floor for questions.</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For the live demo, we can run any of the models in real-time and show you the differences side by side. The Streamlit application is running at localhost:8501 if you want to try it yourself.</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All code, benchmarks, and the presentation itself are available in the repository. The benchmark results are reproducible -- you can run them yourself with docker compose up.</a:t>
            </a:r>
            <a:endParaRPr lang="el-GR" sz="2000" b="0" u="none" strike="noStrike">
              <a:solidFill>
                <a:srgbClr val="000000"/>
              </a:solidFill>
              <a:effectLst/>
              <a:uFillTx/>
              <a:latin typeface="Arial"/>
            </a:endParaRPr>
          </a:p>
          <a:p>
            <a:pPr indent="0">
              <a:lnSpc>
                <a:spcPct val="100000"/>
              </a:lnSpc>
              <a:buNone/>
            </a:pPr>
            <a:endParaRPr lang="el-GR" sz="2000" b="0" u="none" strike="noStrike">
              <a:solidFill>
                <a:srgbClr val="000000"/>
              </a:solidFill>
              <a:effectLst/>
              <a:uFillTx/>
              <a:latin typeface="Arial"/>
            </a:endParaRPr>
          </a:p>
          <a:p>
            <a:pPr indent="0">
              <a:lnSpc>
                <a:spcPct val="100000"/>
              </a:lnSpc>
              <a:buNone/>
            </a:pPr>
            <a:r>
              <a:rPr lang="el-GR" sz="2000" b="0" u="none" strike="noStrike">
                <a:solidFill>
                  <a:srgbClr val="000000"/>
                </a:solidFill>
                <a:effectLst/>
                <a:uFillTx/>
                <a:latin typeface="Arial"/>
              </a:rPr>
              <a:t>Key takeaway: fine-tuning teaches SKILLS, RAG provides INFORMATION. The best systems combine both. Now go build something great.</a:t>
            </a:r>
            <a:endParaRPr lang="el-GR" sz="2000" b="0" u="none" strike="noStrike">
              <a:solidFill>
                <a:srgbClr val="000000"/>
              </a:solidFill>
              <a:effectLst/>
              <a:uFillTx/>
              <a:latin typeface="Arial"/>
            </a:endParaRPr>
          </a:p>
        </p:txBody>
      </p:sp>
      <p:sp>
        <p:nvSpPr>
          <p:cNvPr id="721" name="PlaceHolder 3"/>
          <p:cNvSpPr>
            <a:spLocks noGrp="1"/>
          </p:cNvSpPr>
          <p:nvPr>
            <p:ph type="sldNum" idx="10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629EC66-5F41-4E58-BA18-34C383342CBA}" type="slidenum">
              <a:rPr lang="en-US" sz="1200" b="0" u="none" strike="noStrike">
                <a:solidFill>
                  <a:srgbClr val="000000"/>
                </a:solidFill>
                <a:effectLst/>
                <a:uFillTx/>
                <a:latin typeface="Times New Roman"/>
              </a:rPr>
              <a:t>&lt;number&gt;</a:t>
            </a:fld>
            <a:endParaRPr lang="el-G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F4462DC-B0BD-487F-A4BE-A666ABF946E6}"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A03F6ED-091A-4C73-B2EA-96AAFA8FAC4D}"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FFD1D84-B6A7-47D5-A469-D1FE1395CEC9}"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7D9BA0D-904F-4457-A02B-BD4497C0D493}"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lang="en-US" sz="4000" b="1" u="none" strike="noStrike" cap="all">
                <a:solidFill>
                  <a:schemeClr val="dk1"/>
                </a:solidFill>
                <a:effectLst/>
                <a:uFillTx/>
                <a:latin typeface="Calibri"/>
              </a:rPr>
              <a:t>Click to edit Master title style</a:t>
            </a:r>
            <a:endParaRPr lang="en-US" sz="4000" b="0" u="none" strike="noStrike">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6D3DD18-C201-4AE1-BCD9-64E4A057366E}"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AED719A-A10C-4EE5-8582-388A420908F1}"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FF85297-2064-4D2D-8799-D682BEE7EF53}"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4CA8565-CC5F-41CB-B27F-498FBD86EE57}"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6A09779-9175-4E8D-ADCD-B2A83F95DFA3}"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515F1E4-FA99-43AB-9D07-9D51E4FACDBC}"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l-GR"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l-GR" sz="1400" b="0" u="none" strike="noStrike">
                <a:solidFill>
                  <a:srgbClr val="000000"/>
                </a:solidFill>
                <a:effectLst/>
                <a:uFillTx/>
                <a:latin typeface="Times New Roman"/>
              </a:defRPr>
            </a:lvl1pPr>
          </a:lstStyle>
          <a:p>
            <a:pPr indent="0" algn="ctr">
              <a:buNone/>
            </a:pPr>
            <a:r>
              <a:rPr lang="el-GR" sz="1400" b="0" u="none" strike="noStrike">
                <a:solidFill>
                  <a:srgbClr val="000000"/>
                </a:solidFill>
                <a:effectLst/>
                <a:uFillTx/>
                <a:latin typeface="Times New Roman"/>
              </a:rPr>
              <a:t>&lt;footer&gt;</a:t>
            </a:r>
            <a:endParaRPr lang="el-GR"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84E3E21-AF71-4A86-AB31-73333B10AE27}" type="slidenum">
              <a:rPr lang="en-US" sz="1200" b="0" u="none" strike="noStrike">
                <a:solidFill>
                  <a:schemeClr val="dk1">
                    <a:tint val="75000"/>
                  </a:schemeClr>
                </a:solidFill>
                <a:effectLst/>
                <a:uFillTx/>
                <a:latin typeface="Calibri"/>
              </a:rPr>
              <a:t>&lt;number&gt;</a:t>
            </a:fld>
            <a:endParaRPr lang="el-GR"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9.xml"/><Relationship Id="rId4"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9.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9.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9.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9.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chart" Target="../charts/chart8.xml"/><Relationship Id="rId2" Type="http://schemas.openxmlformats.org/officeDocument/2006/relationships/chart" Target="../charts/chart9.xml"/><Relationship Id="rId3" Type="http://schemas.openxmlformats.org/officeDocument/2006/relationships/slideLayout" Target="../slideLayouts/slideLayout9.xml"/><Relationship Id="rId4"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9.xml"/><Relationship Id="rId4"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chart" Target="../charts/chart12.xml"/><Relationship Id="rId2" Type="http://schemas.openxmlformats.org/officeDocument/2006/relationships/slideLayout" Target="../slideLayouts/slideLayout9.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9.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9.xml"/><Relationship Id="rId4"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chart" Target="../charts/chart16.xml"/><Relationship Id="rId2" Type="http://schemas.openxmlformats.org/officeDocument/2006/relationships/chart" Target="../charts/chart17.xml"/><Relationship Id="rId3" Type="http://schemas.openxmlformats.org/officeDocument/2006/relationships/slideLayout" Target="../slideLayouts/slideLayout9.xml"/><Relationship Id="rId4"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chart" Target="../charts/chart18.xml"/><Relationship Id="rId2" Type="http://schemas.openxmlformats.org/officeDocument/2006/relationships/slideLayout" Target="../slideLayouts/slideLayout9.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chart" Target="../charts/chart19.xml"/><Relationship Id="rId2" Type="http://schemas.openxmlformats.org/officeDocument/2006/relationships/slideLayout" Target="../slideLayouts/slideLayout9.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chart" Target="../charts/chart20.xml"/><Relationship Id="rId2" Type="http://schemas.openxmlformats.org/officeDocument/2006/relationships/chart" Target="../charts/chart21.xml"/><Relationship Id="rId3" Type="http://schemas.openxmlformats.org/officeDocument/2006/relationships/slideLayout" Target="../slideLayouts/slideLayout9.xml"/><Relationship Id="rId4"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chart" Target="../charts/chart22.xml"/><Relationship Id="rId2" Type="http://schemas.openxmlformats.org/officeDocument/2006/relationships/chart" Target="../charts/chart23.xml"/><Relationship Id="rId3" Type="http://schemas.openxmlformats.org/officeDocument/2006/relationships/slideLayout" Target="../slideLayouts/slideLayout9.xml"/><Relationship Id="rId4"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chart" Target="../charts/chart24.xml"/><Relationship Id="rId2" Type="http://schemas.openxmlformats.org/officeDocument/2006/relationships/slideLayout" Target="../slideLayouts/slideLayout9.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chart" Target="../charts/chart25.xml"/><Relationship Id="rId2" Type="http://schemas.openxmlformats.org/officeDocument/2006/relationships/slideLayout" Target="../slideLayouts/slideLayout9.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chart" Target="../charts/chart26.xml"/><Relationship Id="rId2" Type="http://schemas.openxmlformats.org/officeDocument/2006/relationships/slideLayout" Target="../slideLayouts/slideLayout9.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chart" Target="../charts/chart27.xml"/><Relationship Id="rId2" Type="http://schemas.openxmlformats.org/officeDocument/2006/relationships/chart" Target="../charts/chart28.xml"/><Relationship Id="rId3" Type="http://schemas.openxmlformats.org/officeDocument/2006/relationships/slideLayout" Target="../slideLayouts/slideLayout9.xml"/><Relationship Id="rId4"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chart" Target="../charts/chart29.xml"/><Relationship Id="rId2" Type="http://schemas.openxmlformats.org/officeDocument/2006/relationships/slideLayout" Target="../slideLayouts/slideLayout9.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chart" Target="../charts/chart30.xml"/><Relationship Id="rId2" Type="http://schemas.openxmlformats.org/officeDocument/2006/relationships/slideLayout" Target="../slideLayouts/slideLayout9.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chart" Target="../charts/chart31.xml"/><Relationship Id="rId2" Type="http://schemas.openxmlformats.org/officeDocument/2006/relationships/slideLayout" Target="../slideLayouts/slideLayout9.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2a3a"/>
        </a:solidFill>
      </p:bgPr>
    </p:bg>
    <p:spTree>
      <p:nvGrpSpPr>
        <p:cNvPr id="1" name=""/>
        <p:cNvGrpSpPr/>
        <p:nvPr/>
      </p:nvGrpSpPr>
      <p:grpSpPr>
        <a:xfrm>
          <a:off x="0" y="0"/>
          <a:ext cx="0" cy="0"/>
          <a:chOff x="0" y="0"/>
          <a:chExt cx="0" cy="0"/>
        </a:xfrm>
      </p:grpSpPr>
      <p:sp>
        <p:nvSpPr>
          <p:cNvPr id="67" name="TextBox 1"/>
          <p:cNvSpPr/>
          <p:nvPr/>
        </p:nvSpPr>
        <p:spPr>
          <a:xfrm>
            <a:off x="914400" y="1371600"/>
            <a:ext cx="10058040" cy="13712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5200" b="1" u="none" strike="noStrike">
                <a:solidFill>
                  <a:srgbClr val="5daef2"/>
                </a:solidFill>
                <a:effectLst/>
                <a:uFillTx/>
                <a:latin typeface="Calibri"/>
              </a:rPr>
              <a:t>LLM Fine-Tuning</a:t>
            </a:r>
            <a:endParaRPr lang="el-GR" sz="5200" b="0" u="none" strike="noStrike">
              <a:solidFill>
                <a:srgbClr val="ffffff"/>
              </a:solidFill>
              <a:effectLst/>
              <a:uFillTx/>
              <a:latin typeface="Arial"/>
            </a:endParaRPr>
          </a:p>
        </p:txBody>
      </p:sp>
      <p:sp>
        <p:nvSpPr>
          <p:cNvPr id="68" name="TextBox 2"/>
          <p:cNvSpPr/>
          <p:nvPr/>
        </p:nvSpPr>
        <p:spPr>
          <a:xfrm>
            <a:off x="914400" y="2743200"/>
            <a:ext cx="10058040" cy="914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2800" b="0" u="none" strike="noStrike">
                <a:solidFill>
                  <a:srgbClr val="eceff1"/>
                </a:solidFill>
                <a:effectLst/>
                <a:uFillTx/>
                <a:latin typeface="Calibri"/>
              </a:rPr>
              <a:t>Maximizing AI Performance for Specialized Tasks</a:t>
            </a:r>
            <a:endParaRPr lang="el-GR" sz="2800" b="0" u="none" strike="noStrike">
              <a:solidFill>
                <a:srgbClr val="ffffff"/>
              </a:solidFill>
              <a:effectLst/>
              <a:uFillTx/>
              <a:latin typeface="Arial"/>
            </a:endParaRPr>
          </a:p>
        </p:txBody>
      </p:sp>
      <p:sp>
        <p:nvSpPr>
          <p:cNvPr id="69" name="TextBox 3"/>
          <p:cNvSpPr/>
          <p:nvPr/>
        </p:nvSpPr>
        <p:spPr>
          <a:xfrm>
            <a:off x="1371600" y="4114800"/>
            <a:ext cx="32000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400" b="1" u="none" strike="noStrike">
                <a:solidFill>
                  <a:srgbClr val="5daef2"/>
                </a:solidFill>
                <a:effectLst/>
                <a:uFillTx/>
                <a:latin typeface="Calibri"/>
              </a:rPr>
              <a:t>Topics</a:t>
            </a:r>
            <a:endParaRPr lang="el-GR" sz="1400" b="0" u="none" strike="noStrike">
              <a:solidFill>
                <a:srgbClr val="ffffff"/>
              </a:solidFill>
              <a:effectLst/>
              <a:uFillTx/>
              <a:latin typeface="Arial"/>
            </a:endParaRPr>
          </a:p>
        </p:txBody>
      </p:sp>
      <p:sp>
        <p:nvSpPr>
          <p:cNvPr id="70" name="TextBox 4"/>
          <p:cNvSpPr/>
          <p:nvPr/>
        </p:nvSpPr>
        <p:spPr>
          <a:xfrm>
            <a:off x="1371600" y="4480560"/>
            <a:ext cx="32000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400" b="0" u="none" strike="noStrike">
                <a:solidFill>
                  <a:srgbClr val="eceff1"/>
                </a:solidFill>
                <a:effectLst/>
                <a:uFillTx/>
                <a:latin typeface="Calibri"/>
              </a:rPr>
              <a:t>Fine-Tuning vs RAG vs Hybrid</a:t>
            </a:r>
            <a:endParaRPr lang="el-GR" sz="1400" b="0" u="none" strike="noStrike">
              <a:solidFill>
                <a:srgbClr val="ffffff"/>
              </a:solidFill>
              <a:effectLst/>
              <a:uFillTx/>
              <a:latin typeface="Arial"/>
            </a:endParaRPr>
          </a:p>
        </p:txBody>
      </p:sp>
      <p:sp>
        <p:nvSpPr>
          <p:cNvPr id="71" name="TextBox 5"/>
          <p:cNvSpPr/>
          <p:nvPr/>
        </p:nvSpPr>
        <p:spPr>
          <a:xfrm>
            <a:off x="4846320" y="4114800"/>
            <a:ext cx="32000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400" b="1" u="none" strike="noStrike">
                <a:solidFill>
                  <a:srgbClr val="5daef2"/>
                </a:solidFill>
                <a:effectLst/>
                <a:uFillTx/>
                <a:latin typeface="Calibri"/>
              </a:rPr>
              <a:t>Audience</a:t>
            </a:r>
            <a:endParaRPr lang="el-GR" sz="1400" b="0" u="none" strike="noStrike">
              <a:solidFill>
                <a:srgbClr val="ffffff"/>
              </a:solidFill>
              <a:effectLst/>
              <a:uFillTx/>
              <a:latin typeface="Arial"/>
            </a:endParaRPr>
          </a:p>
        </p:txBody>
      </p:sp>
      <p:sp>
        <p:nvSpPr>
          <p:cNvPr id="72" name="TextBox 6"/>
          <p:cNvSpPr/>
          <p:nvPr/>
        </p:nvSpPr>
        <p:spPr>
          <a:xfrm>
            <a:off x="4846320" y="4480560"/>
            <a:ext cx="32000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400" b="0" u="none" strike="noStrike">
                <a:solidFill>
                  <a:srgbClr val="eceff1"/>
                </a:solidFill>
                <a:effectLst/>
                <a:uFillTx/>
                <a:latin typeface="Calibri"/>
              </a:rPr>
              <a:t>No deep technical experience required</a:t>
            </a:r>
            <a:endParaRPr lang="el-GR" sz="1400" b="0" u="none" strike="noStrike">
              <a:solidFill>
                <a:srgbClr val="ffffff"/>
              </a:solidFill>
              <a:effectLst/>
              <a:uFillTx/>
              <a:latin typeface="Arial"/>
            </a:endParaRPr>
          </a:p>
        </p:txBody>
      </p:sp>
      <p:sp>
        <p:nvSpPr>
          <p:cNvPr id="73" name="TextBox 7"/>
          <p:cNvSpPr/>
          <p:nvPr/>
        </p:nvSpPr>
        <p:spPr>
          <a:xfrm>
            <a:off x="8321040" y="4114800"/>
            <a:ext cx="32000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400" b="1" u="none" strike="noStrike">
                <a:solidFill>
                  <a:srgbClr val="5daef2"/>
                </a:solidFill>
                <a:effectLst/>
                <a:uFillTx/>
                <a:latin typeface="Calibri"/>
              </a:rPr>
              <a:t>Format</a:t>
            </a:r>
            <a:endParaRPr lang="el-GR" sz="1400" b="0" u="none" strike="noStrike">
              <a:solidFill>
                <a:srgbClr val="ffffff"/>
              </a:solidFill>
              <a:effectLst/>
              <a:uFillTx/>
              <a:latin typeface="Arial"/>
            </a:endParaRPr>
          </a:p>
        </p:txBody>
      </p:sp>
      <p:sp>
        <p:nvSpPr>
          <p:cNvPr id="74" name="TextBox 8"/>
          <p:cNvSpPr/>
          <p:nvPr/>
        </p:nvSpPr>
        <p:spPr>
          <a:xfrm>
            <a:off x="8321040" y="4480560"/>
            <a:ext cx="32000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400" b="0" u="none" strike="noStrike">
                <a:solidFill>
                  <a:srgbClr val="eceff1"/>
                </a:solidFill>
                <a:effectLst/>
                <a:uFillTx/>
                <a:latin typeface="Calibri"/>
              </a:rPr>
              <a:t>Presentation + Live Demo</a:t>
            </a:r>
            <a:endParaRPr lang="el-GR" sz="1400" b="0" u="none" strike="noStrike">
              <a:solidFill>
                <a:srgbClr val="ffffff"/>
              </a:solidFill>
              <a:effectLst/>
              <a:uFillTx/>
              <a:latin typeface="Arial"/>
            </a:endParaRPr>
          </a:p>
        </p:txBody>
      </p:sp>
      <p:sp>
        <p:nvSpPr>
          <p:cNvPr id="75" name="TextBox 9"/>
          <p:cNvSpPr/>
          <p:nvPr/>
        </p:nvSpPr>
        <p:spPr>
          <a:xfrm>
            <a:off x="1371600" y="5303520"/>
            <a:ext cx="9143640" cy="914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600" b="0" u="none" strike="noStrike">
                <a:solidFill>
                  <a:srgbClr val="a8c7e8"/>
                </a:solidFill>
                <a:effectLst/>
                <a:uFillTx/>
                <a:latin typeface="Calibri"/>
              </a:rPr>
              <a:t>"Fine-tuning teaches a model new skills. RAG gives it new information.</a:t>
            </a:r>
            <a:br>
              <a:rPr sz="1600"/>
            </a:br>
            <a:r>
              <a:rPr lang="en-US" sz="1600" b="0" u="none" strike="noStrike">
                <a:solidFill>
                  <a:srgbClr val="a8c7e8"/>
                </a:solidFill>
                <a:effectLst/>
                <a:uFillTx/>
                <a:latin typeface="Calibri"/>
              </a:rPr>
              <a:t>Knowing the difference is the key to building effective AI systems."</a:t>
            </a:r>
            <a:endParaRPr lang="el-GR"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Agenda</a:t>
            </a:r>
            <a:endParaRPr lang="el-GR" sz="3000" b="0" u="none" strike="noStrike">
              <a:solidFill>
                <a:srgbClr val="ffffff"/>
              </a:solidFill>
              <a:effectLst/>
              <a:uFillTx/>
              <a:latin typeface="Arial"/>
            </a:endParaRPr>
          </a:p>
        </p:txBody>
      </p:sp>
      <p:sp>
        <p:nvSpPr>
          <p:cNvPr id="77" name="TextBox 2"/>
          <p:cNvSpPr/>
          <p:nvPr/>
        </p:nvSpPr>
        <p:spPr>
          <a:xfrm>
            <a:off x="731520" y="1280160"/>
            <a:ext cx="5028840" cy="502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1c2a3a"/>
                </a:solidFill>
                <a:effectLst/>
                <a:uFillTx/>
                <a:latin typeface="Calibri"/>
              </a:rPr>
              <a:t>Part 1: Understanding the Landscape</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1. What are Large Language Models (LLMs)?</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2. The specialization challenge</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3. Three approaches to domain AI</a:t>
            </a:r>
            <a:endParaRPr lang="el-GR" sz="1600" b="0" u="none" strike="noStrike">
              <a:solidFill>
                <a:srgbClr val="000000"/>
              </a:solidFill>
              <a:effectLst/>
              <a:uFillTx/>
              <a:latin typeface="Arial"/>
            </a:endParaRPr>
          </a:p>
          <a:p>
            <a:pPr defTabSz="457200">
              <a:lnSpc>
                <a:spcPct val="100000"/>
              </a:lnSpc>
              <a:spcAft>
                <a:spcPts val="400"/>
              </a:spcAft>
            </a:pP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Part 2: Deep Dive</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4. RAG - Benefits &amp; limitations</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5. Fine-Tuning - Benefits &amp; methods</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6. Head-to-head comparison</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7. Decision framework</a:t>
            </a:r>
            <a:endParaRPr lang="el-GR" sz="1600" b="0" u="none" strike="noStrike">
              <a:solidFill>
                <a:srgbClr val="000000"/>
              </a:solidFill>
              <a:effectLst/>
              <a:uFillTx/>
              <a:latin typeface="Arial"/>
            </a:endParaRPr>
          </a:p>
        </p:txBody>
      </p:sp>
      <p:sp>
        <p:nvSpPr>
          <p:cNvPr id="78" name="TextBox 3"/>
          <p:cNvSpPr/>
          <p:nvPr/>
        </p:nvSpPr>
        <p:spPr>
          <a:xfrm>
            <a:off x="6217920" y="1280160"/>
            <a:ext cx="5028840" cy="502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1c2a3a"/>
                </a:solidFill>
                <a:effectLst/>
                <a:uFillTx/>
                <a:latin typeface="Calibri"/>
              </a:rPr>
              <a:t>Part 3: Tools &amp; Ecosystem</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8. Fine-tuning tools &amp; platforms</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9. RAG tools &amp; infrastructure</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10. The hybrid approach</a:t>
            </a:r>
            <a:endParaRPr lang="el-GR" sz="1600" b="0" u="none" strike="noStrike">
              <a:solidFill>
                <a:srgbClr val="000000"/>
              </a:solidFill>
              <a:effectLst/>
              <a:uFillTx/>
              <a:latin typeface="Arial"/>
            </a:endParaRPr>
          </a:p>
          <a:p>
            <a:pPr defTabSz="457200">
              <a:lnSpc>
                <a:spcPct val="100000"/>
              </a:lnSpc>
              <a:spcAft>
                <a:spcPts val="400"/>
              </a:spcAft>
            </a:pP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Part 4: Evidence &amp; Results</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11. Benchmark: Sentiment Analysis</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12. Benchmark: Numerical Reasoning</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13. Benchmark: Financial Ratios</a:t>
            </a:r>
            <a:endParaRPr lang="el-GR"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1c2a3a"/>
                </a:solidFill>
                <a:effectLst/>
                <a:uFillTx/>
                <a:latin typeface="Calibri"/>
              </a:rPr>
              <a:t>  14. Key takeaways &amp; insights</a:t>
            </a:r>
            <a:endParaRPr lang="el-GR" sz="1600" b="0" u="none" strike="noStrike">
              <a:solidFill>
                <a:srgbClr val="000000"/>
              </a:solidFill>
              <a:effectLst/>
              <a:uFillTx/>
              <a:latin typeface="Arial"/>
            </a:endParaRPr>
          </a:p>
        </p:txBody>
      </p:sp>
      <p:sp>
        <p:nvSpPr>
          <p:cNvPr id="79" name="TextBox 4"/>
          <p:cNvSpPr/>
          <p:nvPr/>
        </p:nvSpPr>
        <p:spPr>
          <a:xfrm>
            <a:off x="457200" y="6400800"/>
            <a:ext cx="10972440" cy="243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2/70</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What Are Large Language Models?</a:t>
            </a:r>
            <a:endParaRPr lang="el-GR" sz="3000" b="0" u="none" strike="noStrike">
              <a:solidFill>
                <a:srgbClr val="ffffff"/>
              </a:solidFill>
              <a:effectLst/>
              <a:uFillTx/>
              <a:latin typeface="Arial"/>
            </a:endParaRPr>
          </a:p>
        </p:txBody>
      </p:sp>
      <p:sp>
        <p:nvSpPr>
          <p:cNvPr id="81" name="TextBox 2"/>
          <p:cNvSpPr/>
          <p:nvPr/>
        </p:nvSpPr>
        <p:spPr>
          <a:xfrm>
            <a:off x="731520" y="1371600"/>
            <a:ext cx="5028840" cy="2742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500" b="0" u="none" strike="noStrike">
                <a:solidFill>
                  <a:srgbClr val="1c2a3a"/>
                </a:solidFill>
                <a:effectLst/>
                <a:uFillTx/>
                <a:latin typeface="Calibri"/>
              </a:rPr>
              <a:t>How LLMs Work:</a:t>
            </a:r>
            <a:endParaRPr lang="el-GR" sz="1500" b="0" u="none" strike="noStrike">
              <a:solidFill>
                <a:srgbClr val="000000"/>
              </a:solidFill>
              <a:effectLst/>
              <a:uFillTx/>
              <a:latin typeface="Arial"/>
            </a:endParaRPr>
          </a:p>
          <a:p>
            <a:pPr defTabSz="457200">
              <a:lnSpc>
                <a:spcPct val="100000"/>
              </a:lnSpc>
              <a:spcAft>
                <a:spcPts val="400"/>
              </a:spcAft>
            </a:pPr>
            <a:r>
              <a:rPr lang="en-US" sz="1500" b="0" u="none" strike="noStrike">
                <a:solidFill>
                  <a:srgbClr val="1c2a3a"/>
                </a:solidFill>
                <a:effectLst/>
                <a:uFillTx/>
                <a:latin typeface="Calibri"/>
              </a:rPr>
              <a:t>  - Trained on massive text datasets (books, web, code)</a:t>
            </a:r>
            <a:endParaRPr lang="el-GR" sz="1500" b="0" u="none" strike="noStrike">
              <a:solidFill>
                <a:srgbClr val="000000"/>
              </a:solidFill>
              <a:effectLst/>
              <a:uFillTx/>
              <a:latin typeface="Arial"/>
            </a:endParaRPr>
          </a:p>
          <a:p>
            <a:pPr defTabSz="457200">
              <a:lnSpc>
                <a:spcPct val="100000"/>
              </a:lnSpc>
              <a:spcAft>
                <a:spcPts val="400"/>
              </a:spcAft>
            </a:pPr>
            <a:r>
              <a:rPr lang="en-US" sz="1500" b="0" u="none" strike="noStrike">
                <a:solidFill>
                  <a:srgbClr val="1c2a3a"/>
                </a:solidFill>
                <a:effectLst/>
                <a:uFillTx/>
                <a:latin typeface="Calibri"/>
              </a:rPr>
              <a:t>  - Learn language patterns, facts, and reasoning</a:t>
            </a:r>
            <a:endParaRPr lang="el-GR" sz="1500" b="0" u="none" strike="noStrike">
              <a:solidFill>
                <a:srgbClr val="000000"/>
              </a:solidFill>
              <a:effectLst/>
              <a:uFillTx/>
              <a:latin typeface="Arial"/>
            </a:endParaRPr>
          </a:p>
          <a:p>
            <a:pPr defTabSz="457200">
              <a:lnSpc>
                <a:spcPct val="100000"/>
              </a:lnSpc>
              <a:spcAft>
                <a:spcPts val="400"/>
              </a:spcAft>
            </a:pPr>
            <a:r>
              <a:rPr lang="en-US" sz="1500" b="0" u="none" strike="noStrike">
                <a:solidFill>
                  <a:srgbClr val="1c2a3a"/>
                </a:solidFill>
                <a:effectLst/>
                <a:uFillTx/>
                <a:latin typeface="Calibri"/>
              </a:rPr>
              <a:t>  - Billions of parameters encode learned knowledge</a:t>
            </a:r>
            <a:endParaRPr lang="el-GR" sz="1500" b="0" u="none" strike="noStrike">
              <a:solidFill>
                <a:srgbClr val="000000"/>
              </a:solidFill>
              <a:effectLst/>
              <a:uFillTx/>
              <a:latin typeface="Arial"/>
            </a:endParaRPr>
          </a:p>
          <a:p>
            <a:pPr defTabSz="457200">
              <a:lnSpc>
                <a:spcPct val="100000"/>
              </a:lnSpc>
              <a:spcAft>
                <a:spcPts val="400"/>
              </a:spcAft>
            </a:pPr>
            <a:r>
              <a:rPr lang="en-US" sz="1500" b="0" u="none" strike="noStrike">
                <a:solidFill>
                  <a:srgbClr val="1c2a3a"/>
                </a:solidFill>
                <a:effectLst/>
                <a:uFillTx/>
                <a:latin typeface="Calibri"/>
              </a:rPr>
              <a:t>  - Generate text by predicting the next token</a:t>
            </a:r>
            <a:endParaRPr lang="el-GR" sz="1500" b="0" u="none" strike="noStrike">
              <a:solidFill>
                <a:srgbClr val="000000"/>
              </a:solidFill>
              <a:effectLst/>
              <a:uFillTx/>
              <a:latin typeface="Arial"/>
            </a:endParaRPr>
          </a:p>
          <a:p>
            <a:pPr defTabSz="457200">
              <a:lnSpc>
                <a:spcPct val="100000"/>
              </a:lnSpc>
              <a:spcAft>
                <a:spcPts val="400"/>
              </a:spcAft>
            </a:pPr>
            <a:endParaRPr lang="el-GR" sz="1500" b="0" u="none" strike="noStrike">
              <a:solidFill>
                <a:srgbClr val="000000"/>
              </a:solidFill>
              <a:effectLst/>
              <a:uFillTx/>
              <a:latin typeface="Arial"/>
            </a:endParaRPr>
          </a:p>
          <a:p>
            <a:pPr defTabSz="457200">
              <a:lnSpc>
                <a:spcPct val="100000"/>
              </a:lnSpc>
              <a:spcAft>
                <a:spcPts val="400"/>
              </a:spcAft>
            </a:pPr>
            <a:r>
              <a:rPr lang="en-US" sz="1500" b="0" u="none" strike="noStrike">
                <a:solidFill>
                  <a:srgbClr val="1c2a3a"/>
                </a:solidFill>
                <a:effectLst/>
                <a:uFillTx/>
                <a:latin typeface="Calibri"/>
              </a:rPr>
              <a:t>Key Characteristics:</a:t>
            </a:r>
            <a:endParaRPr lang="el-GR" sz="1500" b="0" u="none" strike="noStrike">
              <a:solidFill>
                <a:srgbClr val="000000"/>
              </a:solidFill>
              <a:effectLst/>
              <a:uFillTx/>
              <a:latin typeface="Arial"/>
            </a:endParaRPr>
          </a:p>
          <a:p>
            <a:pPr defTabSz="457200">
              <a:lnSpc>
                <a:spcPct val="100000"/>
              </a:lnSpc>
              <a:spcAft>
                <a:spcPts val="400"/>
              </a:spcAft>
            </a:pPr>
            <a:r>
              <a:rPr lang="en-US" sz="1500" b="0" u="none" strike="noStrike">
                <a:solidFill>
                  <a:srgbClr val="1c2a3a"/>
                </a:solidFill>
                <a:effectLst/>
                <a:uFillTx/>
                <a:latin typeface="Calibri"/>
              </a:rPr>
              <a:t>  - General-purpose by design</a:t>
            </a:r>
            <a:endParaRPr lang="el-GR" sz="1500" b="0" u="none" strike="noStrike">
              <a:solidFill>
                <a:srgbClr val="000000"/>
              </a:solidFill>
              <a:effectLst/>
              <a:uFillTx/>
              <a:latin typeface="Arial"/>
            </a:endParaRPr>
          </a:p>
          <a:p>
            <a:pPr defTabSz="457200">
              <a:lnSpc>
                <a:spcPct val="100000"/>
              </a:lnSpc>
              <a:spcAft>
                <a:spcPts val="400"/>
              </a:spcAft>
            </a:pPr>
            <a:r>
              <a:rPr lang="en-US" sz="1500" b="0" u="none" strike="noStrike">
                <a:solidFill>
                  <a:srgbClr val="1c2a3a"/>
                </a:solidFill>
                <a:effectLst/>
                <a:uFillTx/>
                <a:latin typeface="Calibri"/>
              </a:rPr>
              <a:t>  - Can follow instructions, answer questions, write code</a:t>
            </a:r>
            <a:endParaRPr lang="el-GR" sz="1500" b="0" u="none" strike="noStrike">
              <a:solidFill>
                <a:srgbClr val="000000"/>
              </a:solidFill>
              <a:effectLst/>
              <a:uFillTx/>
              <a:latin typeface="Arial"/>
            </a:endParaRPr>
          </a:p>
          <a:p>
            <a:pPr defTabSz="457200">
              <a:lnSpc>
                <a:spcPct val="100000"/>
              </a:lnSpc>
              <a:spcAft>
                <a:spcPts val="400"/>
              </a:spcAft>
            </a:pPr>
            <a:r>
              <a:rPr lang="en-US" sz="1500" b="0" u="none" strike="noStrike">
                <a:solidFill>
                  <a:srgbClr val="1c2a3a"/>
                </a:solidFill>
                <a:effectLst/>
                <a:uFillTx/>
                <a:latin typeface="Calibri"/>
              </a:rPr>
              <a:t>  - Powerful but not specialized for any single domain</a:t>
            </a:r>
            <a:endParaRPr lang="el-GR" sz="1500" b="0" u="none" strike="noStrike">
              <a:solidFill>
                <a:srgbClr val="000000"/>
              </a:solidFill>
              <a:effectLst/>
              <a:uFillTx/>
              <a:latin typeface="Arial"/>
            </a:endParaRPr>
          </a:p>
        </p:txBody>
      </p:sp>
      <p:graphicFrame>
        <p:nvGraphicFramePr>
          <p:cNvPr id="82" name="Table 3"/>
          <p:cNvGraphicFramePr/>
          <p:nvPr/>
        </p:nvGraphicFramePr>
        <p:xfrm>
          <a:off x="6400800" y="1371600"/>
          <a:ext cx="5028840" cy="2285640"/>
        </p:xfrm>
        <a:graphic>
          <a:graphicData uri="http://schemas.openxmlformats.org/drawingml/2006/table">
            <a:tbl>
              <a:tblPr/>
              <a:tblGrid>
                <a:gridCol w="1676160"/>
                <a:gridCol w="1676160"/>
                <a:gridCol w="1676160"/>
              </a:tblGrid>
              <a:tr h="380880">
                <a:tc>
                  <a:txBody>
                    <a:bodyPr anchor="t">
                      <a:noAutofit/>
                    </a:bodyPr>
                    <a:p>
                      <a:pPr algn="ctr" defTabSz="457200">
                        <a:lnSpc>
                          <a:spcPct val="100000"/>
                        </a:lnSpc>
                      </a:pPr>
                      <a:r>
                        <a:rPr lang="en-US" sz="1200" b="1" u="none" strike="noStrike">
                          <a:solidFill>
                            <a:srgbClr val="ffffff"/>
                          </a:solidFill>
                          <a:effectLst/>
                          <a:uFillTx/>
                          <a:latin typeface="Calibri"/>
                        </a:rPr>
                        <a:t>Model</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Creator</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Parameters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GPT-4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OpenAI</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~1.7T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Claude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Anthropic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Undisclosed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Llama 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Meta</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8B-405B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Mistral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Mistral AI</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7B-141B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Gemini</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Google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Undisclosed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sp>
        <p:nvSpPr>
          <p:cNvPr id="83" name="Rectangle 4"/>
          <p:cNvSpPr/>
          <p:nvPr/>
        </p:nvSpPr>
        <p:spPr>
          <a:xfrm>
            <a:off x="731520" y="5029200"/>
            <a:ext cx="10515240" cy="73116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Think of an LLM as a brilliant generalist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It can discuss any topic but isn't an expert in any single domain.</a:t>
            </a:r>
            <a:endParaRPr lang="el-GR" sz="1200" b="0" u="none" strike="noStrike">
              <a:solidFill>
                <a:srgbClr val="000000"/>
              </a:solidFill>
              <a:effectLst/>
              <a:uFillTx/>
              <a:latin typeface="Arial"/>
            </a:endParaRPr>
          </a:p>
        </p:txBody>
      </p:sp>
      <p:sp>
        <p:nvSpPr>
          <p:cNvPr id="84" name="TextBox 5"/>
          <p:cNvSpPr/>
          <p:nvPr/>
        </p:nvSpPr>
        <p:spPr>
          <a:xfrm>
            <a:off x="457200" y="6400800"/>
            <a:ext cx="10972440" cy="243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3/70</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The Specialization Challenge</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Generic Models Fall Short on Domain Tasks</a:t>
            </a:r>
            <a:endParaRPr lang="el-GR" sz="1600" b="0" u="none" strike="noStrike">
              <a:solidFill>
                <a:srgbClr val="ffffff"/>
              </a:solidFill>
              <a:effectLst/>
              <a:uFillTx/>
              <a:latin typeface="Arial"/>
            </a:endParaRPr>
          </a:p>
        </p:txBody>
      </p:sp>
      <p:sp>
        <p:nvSpPr>
          <p:cNvPr id="86" name="Rectangle 2"/>
          <p:cNvSpPr/>
          <p:nvPr/>
        </p:nvSpPr>
        <p:spPr>
          <a:xfrm>
            <a:off x="457200" y="1371600"/>
            <a:ext cx="5303160" cy="320004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What generic LLMs struggle with:</a:t>
            </a:r>
            <a:endParaRPr lang="el-GR" sz="1400" b="0" u="none" strike="noStrike">
              <a:solidFill>
                <a:srgbClr val="000000"/>
              </a:solidFill>
              <a:effectLst/>
              <a:uFillTx/>
              <a:latin typeface="Arial"/>
            </a:endParaRPr>
          </a:p>
          <a:p>
            <a:pPr algn="ctr" defTabSz="457200">
              <a:lnSpc>
                <a:spcPct val="100000"/>
              </a:lnSpc>
            </a:pPr>
            <a:endParaRPr lang="el-GR" sz="12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Precise financial calculations</a:t>
            </a:r>
            <a:br>
              <a:rPr sz="1200"/>
            </a:br>
            <a:r>
              <a:rPr lang="en-US" sz="1200" b="0" u="none" strike="noStrike">
                <a:solidFill>
                  <a:srgbClr val="1c2a3a"/>
                </a:solidFill>
                <a:effectLst/>
                <a:uFillTx/>
                <a:latin typeface="Calibri"/>
              </a:rPr>
              <a:t>- Industry-specific terminology</a:t>
            </a:r>
            <a:br>
              <a:rPr sz="1200"/>
            </a:br>
            <a:r>
              <a:rPr lang="en-US" sz="1200" b="0" u="none" strike="noStrike">
                <a:solidFill>
                  <a:srgbClr val="1c2a3a"/>
                </a:solidFill>
                <a:effectLst/>
                <a:uFillTx/>
                <a:latin typeface="Calibri"/>
              </a:rPr>
              <a:t>- Domain reasoning patterns</a:t>
            </a:r>
            <a:br>
              <a:rPr sz="1200"/>
            </a:br>
            <a:r>
              <a:rPr lang="en-US" sz="1200" b="0" u="none" strike="noStrike">
                <a:solidFill>
                  <a:srgbClr val="1c2a3a"/>
                </a:solidFill>
                <a:effectLst/>
                <a:uFillTx/>
                <a:latin typeface="Calibri"/>
              </a:rPr>
              <a:t>- Consistent output formats</a:t>
            </a:r>
            <a:br>
              <a:rPr sz="1200"/>
            </a:br>
            <a:r>
              <a:rPr lang="en-US" sz="1200" b="0" u="none" strike="noStrike">
                <a:solidFill>
                  <a:srgbClr val="1c2a3a"/>
                </a:solidFill>
                <a:effectLst/>
                <a:uFillTx/>
                <a:latin typeface="Calibri"/>
              </a:rPr>
              <a:t>- Regulatory/compliance accuracy</a:t>
            </a:r>
            <a:endParaRPr lang="el-GR" sz="1200" b="0" u="none" strike="noStrike">
              <a:solidFill>
                <a:srgbClr val="000000"/>
              </a:solidFill>
              <a:effectLst/>
              <a:uFillTx/>
              <a:latin typeface="Arial"/>
            </a:endParaRPr>
          </a:p>
        </p:txBody>
      </p:sp>
      <p:sp>
        <p:nvSpPr>
          <p:cNvPr id="87" name="Rectangle 3"/>
          <p:cNvSpPr/>
          <p:nvPr/>
        </p:nvSpPr>
        <p:spPr>
          <a:xfrm>
            <a:off x="6217920" y="1371600"/>
            <a:ext cx="5303160" cy="3200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What domain experts need:</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Accurate, verifiable answers</a:t>
            </a:r>
            <a:br>
              <a:rPr sz="1200"/>
            </a:br>
            <a:r>
              <a:rPr lang="en-US" sz="1200" b="0" u="none" strike="noStrike">
                <a:solidFill>
                  <a:srgbClr val="1c2a3a"/>
                </a:solidFill>
                <a:effectLst/>
                <a:uFillTx/>
                <a:latin typeface="Calibri"/>
              </a:rPr>
              <a:t>- Correct use of specialized vocabulary</a:t>
            </a:r>
            <a:br>
              <a:rPr sz="1200"/>
            </a:br>
            <a:r>
              <a:rPr lang="en-US" sz="1200" b="0" u="none" strike="noStrike">
                <a:solidFill>
                  <a:srgbClr val="1c2a3a"/>
                </a:solidFill>
                <a:effectLst/>
                <a:uFillTx/>
                <a:latin typeface="Calibri"/>
              </a:rPr>
              <a:t>- Step-by-step reasoning</a:t>
            </a:r>
            <a:br>
              <a:rPr sz="1200"/>
            </a:br>
            <a:r>
              <a:rPr lang="en-US" sz="1200" b="0" u="none" strike="noStrike">
                <a:solidFill>
                  <a:srgbClr val="1c2a3a"/>
                </a:solidFill>
                <a:effectLst/>
                <a:uFillTx/>
                <a:latin typeface="Calibri"/>
              </a:rPr>
              <a:t>- Consistent, auditable output</a:t>
            </a:r>
            <a:br>
              <a:rPr sz="1200"/>
            </a:br>
            <a:r>
              <a:rPr lang="en-US" sz="1200" b="0" u="none" strike="noStrike">
                <a:solidFill>
                  <a:srgbClr val="1c2a3a"/>
                </a:solidFill>
                <a:effectLst/>
                <a:uFillTx/>
                <a:latin typeface="Calibri"/>
              </a:rPr>
              <a:t>- Speed and reliability</a:t>
            </a:r>
            <a:endParaRPr lang="el-GR" sz="1200" b="0" u="none" strike="noStrike">
              <a:solidFill>
                <a:srgbClr val="000000"/>
              </a:solidFill>
              <a:effectLst/>
              <a:uFillTx/>
              <a:latin typeface="Arial"/>
            </a:endParaRPr>
          </a:p>
        </p:txBody>
      </p:sp>
      <p:sp>
        <p:nvSpPr>
          <p:cNvPr id="88" name="Rectangle 4"/>
          <p:cNvSpPr/>
          <p:nvPr/>
        </p:nvSpPr>
        <p:spPr>
          <a:xfrm>
            <a:off x="457200" y="5029200"/>
            <a:ext cx="11063880" cy="91404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Example: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Ask a generic LLM to calculate a bank's efficiency ratio from a financial table. It may know the definition but often gets the calculation wrong.</a:t>
            </a:r>
            <a:endParaRPr lang="el-GR" sz="1200" b="0" u="none" strike="noStrike">
              <a:solidFill>
                <a:srgbClr val="000000"/>
              </a:solidFill>
              <a:effectLst/>
              <a:uFillTx/>
              <a:latin typeface="Arial"/>
            </a:endParaRPr>
          </a:p>
        </p:txBody>
      </p:sp>
      <p:sp>
        <p:nvSpPr>
          <p:cNvPr id="89"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Three Approaches to Specialization</a:t>
            </a:r>
            <a:endParaRPr lang="el-GR" sz="3000" b="0" u="none" strike="noStrike">
              <a:solidFill>
                <a:srgbClr val="ffffff"/>
              </a:solidFill>
              <a:effectLst/>
              <a:uFillTx/>
              <a:latin typeface="Arial"/>
            </a:endParaRPr>
          </a:p>
        </p:txBody>
      </p:sp>
      <p:sp>
        <p:nvSpPr>
          <p:cNvPr id="91" name="Rectangle 2"/>
          <p:cNvSpPr/>
          <p:nvPr/>
        </p:nvSpPr>
        <p:spPr>
          <a:xfrm>
            <a:off x="457200" y="1371600"/>
            <a:ext cx="3474360" cy="411444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1. Prompt Engineering</a:t>
            </a:r>
            <a:br>
              <a:rPr sz="1400"/>
            </a:br>
            <a:r>
              <a:rPr lang="en-US" sz="1400" b="1" u="none" strike="noStrike">
                <a:solidFill>
                  <a:srgbClr val="1c2a3a"/>
                </a:solidFill>
                <a:effectLst/>
                <a:uFillTx/>
                <a:latin typeface="Calibri"/>
              </a:rPr>
              <a:t>Tell the model what to do</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Write better instructions</a:t>
            </a:r>
            <a:br>
              <a:rPr sz="1200"/>
            </a:br>
            <a:r>
              <a:rPr lang="en-US" sz="1200" b="0" u="none" strike="noStrike">
                <a:solidFill>
                  <a:srgbClr val="1c2a3a"/>
                </a:solidFill>
                <a:effectLst/>
                <a:uFillTx/>
                <a:latin typeface="Calibri"/>
              </a:rPr>
              <a:t>- Add examples (few-shot)</a:t>
            </a:r>
            <a:br>
              <a:rPr sz="1200"/>
            </a:br>
            <a:r>
              <a:rPr lang="en-US" sz="1200" b="0" u="none" strike="noStrike">
                <a:solidFill>
                  <a:srgbClr val="1c2a3a"/>
                </a:solidFill>
                <a:effectLst/>
                <a:uFillTx/>
                <a:latin typeface="Calibri"/>
              </a:rPr>
              <a:t>- System prompts</a:t>
            </a:r>
            <a:br>
              <a:rPr sz="1200"/>
            </a:br>
            <a:br>
              <a:rPr sz="1200"/>
            </a:br>
            <a:r>
              <a:rPr lang="en-US" sz="1200" b="0" u="none" strike="noStrike">
                <a:solidFill>
                  <a:srgbClr val="1c2a3a"/>
                </a:solidFill>
                <a:effectLst/>
                <a:uFillTx/>
                <a:latin typeface="Calibri"/>
              </a:rPr>
              <a:t>Effort: Low | Impact: Limited</a:t>
            </a:r>
            <a:endParaRPr lang="el-GR" sz="1200" b="0" u="none" strike="noStrike">
              <a:solidFill>
                <a:srgbClr val="000000"/>
              </a:solidFill>
              <a:effectLst/>
              <a:uFillTx/>
              <a:latin typeface="Arial"/>
            </a:endParaRPr>
          </a:p>
        </p:txBody>
      </p:sp>
      <p:sp>
        <p:nvSpPr>
          <p:cNvPr id="92" name="Rectangle 3"/>
          <p:cNvSpPr/>
          <p:nvPr/>
        </p:nvSpPr>
        <p:spPr>
          <a:xfrm>
            <a:off x="4297680" y="1371600"/>
            <a:ext cx="3474360" cy="41144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2. RAG</a:t>
            </a:r>
            <a:br>
              <a:rPr sz="1400"/>
            </a:br>
            <a:r>
              <a:rPr lang="en-US" sz="1400" b="1" u="none" strike="noStrike">
                <a:solidFill>
                  <a:srgbClr val="1c2a3a"/>
                </a:solidFill>
                <a:effectLst/>
                <a:uFillTx/>
                <a:latin typeface="Calibri"/>
              </a:rPr>
              <a:t>Give the model information</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Retrieve relevant documents</a:t>
            </a:r>
            <a:br>
              <a:rPr sz="1200"/>
            </a:br>
            <a:r>
              <a:rPr lang="en-US" sz="1200" b="0" u="none" strike="noStrike">
                <a:solidFill>
                  <a:srgbClr val="1c2a3a"/>
                </a:solidFill>
                <a:effectLst/>
                <a:uFillTx/>
                <a:latin typeface="Calibri"/>
              </a:rPr>
              <a:t>- Augment the prompt</a:t>
            </a:r>
            <a:br>
              <a:rPr sz="1200"/>
            </a:br>
            <a:r>
              <a:rPr lang="en-US" sz="1200" b="0" u="none" strike="noStrike">
                <a:solidFill>
                  <a:srgbClr val="1c2a3a"/>
                </a:solidFill>
                <a:effectLst/>
                <a:uFillTx/>
                <a:latin typeface="Calibri"/>
              </a:rPr>
              <a:t>- Generate with context</a:t>
            </a:r>
            <a:br>
              <a:rPr sz="1200"/>
            </a:br>
            <a:br>
              <a:rPr sz="1200"/>
            </a:br>
            <a:r>
              <a:rPr lang="en-US" sz="1200" b="0" u="none" strike="noStrike">
                <a:solidFill>
                  <a:srgbClr val="1c2a3a"/>
                </a:solidFill>
                <a:effectLst/>
                <a:uFillTx/>
                <a:latin typeface="Calibri"/>
              </a:rPr>
              <a:t>Effort: Medium | Impact: Medium</a:t>
            </a:r>
            <a:endParaRPr lang="el-GR" sz="1200" b="0" u="none" strike="noStrike">
              <a:solidFill>
                <a:srgbClr val="000000"/>
              </a:solidFill>
              <a:effectLst/>
              <a:uFillTx/>
              <a:latin typeface="Arial"/>
            </a:endParaRPr>
          </a:p>
        </p:txBody>
      </p:sp>
      <p:sp>
        <p:nvSpPr>
          <p:cNvPr id="93" name="Rectangle 4"/>
          <p:cNvSpPr/>
          <p:nvPr/>
        </p:nvSpPr>
        <p:spPr>
          <a:xfrm>
            <a:off x="8138160" y="1371600"/>
            <a:ext cx="3474360" cy="41144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3. Fine-Tuning</a:t>
            </a:r>
            <a:br>
              <a:rPr sz="1400"/>
            </a:br>
            <a:r>
              <a:rPr lang="en-US" sz="1400" b="1" u="none" strike="noStrike">
                <a:solidFill>
                  <a:srgbClr val="1c2a3a"/>
                </a:solidFill>
                <a:effectLst/>
                <a:uFillTx/>
                <a:latin typeface="Calibri"/>
              </a:rPr>
              <a:t>Teach the model new skills</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Train on domain data</a:t>
            </a:r>
            <a:br>
              <a:rPr sz="1200"/>
            </a:br>
            <a:r>
              <a:rPr lang="en-US" sz="1200" b="0" u="none" strike="noStrike">
                <a:solidFill>
                  <a:srgbClr val="1c2a3a"/>
                </a:solidFill>
                <a:effectLst/>
                <a:uFillTx/>
                <a:latin typeface="Calibri"/>
              </a:rPr>
              <a:t>- Model weights are updated</a:t>
            </a:r>
            <a:br>
              <a:rPr sz="1200"/>
            </a:br>
            <a:r>
              <a:rPr lang="en-US" sz="1200" b="0" u="none" strike="noStrike">
                <a:solidFill>
                  <a:srgbClr val="1c2a3a"/>
                </a:solidFill>
                <a:effectLst/>
                <a:uFillTx/>
                <a:latin typeface="Calibri"/>
              </a:rPr>
              <a:t>- Learns new capabilities</a:t>
            </a:r>
            <a:br>
              <a:rPr sz="1200"/>
            </a:br>
            <a:br>
              <a:rPr sz="1200"/>
            </a:br>
            <a:r>
              <a:rPr lang="en-US" sz="1200" b="0" u="none" strike="noStrike">
                <a:solidFill>
                  <a:srgbClr val="1c2a3a"/>
                </a:solidFill>
                <a:effectLst/>
                <a:uFillTx/>
                <a:latin typeface="Calibri"/>
              </a:rPr>
              <a:t>Effort: Higher | Impact: Highest</a:t>
            </a:r>
            <a:endParaRPr lang="el-GR" sz="1200" b="0" u="none" strike="noStrike">
              <a:solidFill>
                <a:srgbClr val="000000"/>
              </a:solidFill>
              <a:effectLst/>
              <a:uFillTx/>
              <a:latin typeface="Arial"/>
            </a:endParaRPr>
          </a:p>
        </p:txBody>
      </p:sp>
      <p:sp>
        <p:nvSpPr>
          <p:cNvPr id="94" name="TextBox 5"/>
          <p:cNvSpPr/>
          <p:nvPr/>
        </p:nvSpPr>
        <p:spPr>
          <a:xfrm>
            <a:off x="457200" y="5760720"/>
            <a:ext cx="1097244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400" b="1" u="none" strike="noStrike">
                <a:solidFill>
                  <a:srgbClr val="4a4e57"/>
                </a:solidFill>
                <a:effectLst/>
                <a:uFillTx/>
                <a:latin typeface="Calibri"/>
              </a:rPr>
              <a:t>Spectrum: Prompt Engineering &lt; RAG &lt; Fine-Tuning &lt; Training from Scratch</a:t>
            </a:r>
            <a:endParaRPr lang="el-GR" sz="1400" b="0" u="none" strike="noStrike">
              <a:solidFill>
                <a:srgbClr val="000000"/>
              </a:solidFill>
              <a:effectLst/>
              <a:uFillTx/>
              <a:latin typeface="Arial"/>
            </a:endParaRPr>
          </a:p>
        </p:txBody>
      </p:sp>
      <p:sp>
        <p:nvSpPr>
          <p:cNvPr id="95" name="TextBox 6"/>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RAG: Retrieval-Augmented Generation</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How RAG Works</a:t>
            </a:r>
            <a:endParaRPr lang="el-GR" sz="1600" b="0" u="none" strike="noStrike">
              <a:solidFill>
                <a:srgbClr val="ffffff"/>
              </a:solidFill>
              <a:effectLst/>
              <a:uFillTx/>
              <a:latin typeface="Arial"/>
            </a:endParaRPr>
          </a:p>
        </p:txBody>
      </p:sp>
      <p:pic>
        <p:nvPicPr>
          <p:cNvPr id="97" name="Picture 2" descr="rag_flow.png"/>
          <p:cNvPicPr/>
          <p:nvPr/>
        </p:nvPicPr>
        <p:blipFill>
          <a:blip r:embed="rId1"/>
          <a:stretch/>
        </p:blipFill>
        <p:spPr>
          <a:xfrm>
            <a:off x="1440000" y="1260000"/>
            <a:ext cx="2520000" cy="4860000"/>
          </a:xfrm>
          <a:prstGeom prst="rect">
            <a:avLst/>
          </a:prstGeom>
          <a:noFill/>
          <a:ln w="0">
            <a:noFill/>
          </a:ln>
        </p:spPr>
      </p:pic>
      <p:sp>
        <p:nvSpPr>
          <p:cNvPr id="98" name="Rectangle 3"/>
          <p:cNvSpPr/>
          <p:nvPr/>
        </p:nvSpPr>
        <p:spPr>
          <a:xfrm>
            <a:off x="6583680" y="1371600"/>
            <a:ext cx="5028840" cy="18284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Key Components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Embedding Model: Converts text to vectors</a:t>
            </a:r>
            <a:br>
              <a:rPr sz="1200"/>
            </a:br>
            <a:r>
              <a:rPr lang="en-US" sz="1200" b="0" u="none" strike="noStrike">
                <a:solidFill>
                  <a:srgbClr val="1c2a3a"/>
                </a:solidFill>
                <a:effectLst/>
                <a:uFillTx/>
                <a:latin typeface="Calibri"/>
              </a:rPr>
              <a:t>- Vector Database: Stores and searches embeddings</a:t>
            </a:r>
            <a:br>
              <a:rPr sz="1200"/>
            </a:br>
            <a:r>
              <a:rPr lang="en-US" sz="1200" b="0" u="none" strike="noStrike">
                <a:solidFill>
                  <a:srgbClr val="1c2a3a"/>
                </a:solidFill>
                <a:effectLst/>
                <a:uFillTx/>
                <a:latin typeface="Calibri"/>
              </a:rPr>
              <a:t>- LLM: Generates the final answer</a:t>
            </a:r>
            <a:endParaRPr lang="el-GR" sz="1200" b="0" u="none" strike="noStrike">
              <a:solidFill>
                <a:srgbClr val="000000"/>
              </a:solidFill>
              <a:effectLst/>
              <a:uFillTx/>
              <a:latin typeface="Arial"/>
            </a:endParaRPr>
          </a:p>
        </p:txBody>
      </p:sp>
      <p:sp>
        <p:nvSpPr>
          <p:cNvPr id="99" name="Rectangle 4"/>
          <p:cNvSpPr/>
          <p:nvPr/>
        </p:nvSpPr>
        <p:spPr>
          <a:xfrm>
            <a:off x="6583680" y="3474720"/>
            <a:ext cx="5028840" cy="1645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Key Idea</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Instead of training the model on your data, you show it relevant documents at inference time.</a:t>
            </a:r>
            <a:br>
              <a:rPr sz="1200"/>
            </a:br>
            <a:r>
              <a:rPr lang="en-US" sz="1200" b="0" u="none" strike="noStrike">
                <a:solidFill>
                  <a:srgbClr val="1c2a3a"/>
                </a:solidFill>
                <a:effectLst/>
                <a:uFillTx/>
                <a:latin typeface="Calibri"/>
              </a:rPr>
              <a:t>The model's weights are unchanged.</a:t>
            </a:r>
            <a:endParaRPr lang="el-GR" sz="1200" b="0" u="none" strike="noStrike">
              <a:solidFill>
                <a:srgbClr val="000000"/>
              </a:solidFill>
              <a:effectLst/>
              <a:uFillTx/>
              <a:latin typeface="Arial"/>
            </a:endParaRPr>
          </a:p>
        </p:txBody>
      </p:sp>
      <p:sp>
        <p:nvSpPr>
          <p:cNvPr id="100"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RAG: Benefits</a:t>
            </a:r>
            <a:endParaRPr lang="el-GR" sz="3000" b="0" u="none" strike="noStrike">
              <a:solidFill>
                <a:srgbClr val="ffffff"/>
              </a:solidFill>
              <a:effectLst/>
              <a:uFillTx/>
              <a:latin typeface="Arial"/>
            </a:endParaRPr>
          </a:p>
        </p:txBody>
      </p:sp>
      <p:sp>
        <p:nvSpPr>
          <p:cNvPr id="102" name="Rectangle 2"/>
          <p:cNvSpPr/>
          <p:nvPr/>
        </p:nvSpPr>
        <p:spPr>
          <a:xfrm>
            <a:off x="731520" y="1280160"/>
            <a:ext cx="10515240" cy="82260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1. No Training Required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Start immediately with any LLM. No GPU, no training data prep.</a:t>
            </a:r>
            <a:endParaRPr lang="el-GR" sz="1200" b="0" u="none" strike="noStrike">
              <a:solidFill>
                <a:srgbClr val="000000"/>
              </a:solidFill>
              <a:effectLst/>
              <a:uFillTx/>
              <a:latin typeface="Arial"/>
            </a:endParaRPr>
          </a:p>
        </p:txBody>
      </p:sp>
      <p:sp>
        <p:nvSpPr>
          <p:cNvPr id="103" name="Rectangle 3"/>
          <p:cNvSpPr/>
          <p:nvPr/>
        </p:nvSpPr>
        <p:spPr>
          <a:xfrm>
            <a:off x="731520" y="2286000"/>
            <a:ext cx="10515240" cy="82260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2. Dynamic Knowledge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Update knowledge base anytime. No retraining needed.</a:t>
            </a:r>
            <a:endParaRPr lang="el-GR" sz="1200" b="0" u="none" strike="noStrike">
              <a:solidFill>
                <a:srgbClr val="000000"/>
              </a:solidFill>
              <a:effectLst/>
              <a:uFillTx/>
              <a:latin typeface="Arial"/>
            </a:endParaRPr>
          </a:p>
        </p:txBody>
      </p:sp>
      <p:sp>
        <p:nvSpPr>
          <p:cNvPr id="104" name="Rectangle 4"/>
          <p:cNvSpPr/>
          <p:nvPr/>
        </p:nvSpPr>
        <p:spPr>
          <a:xfrm>
            <a:off x="731520" y="3291840"/>
            <a:ext cx="10515240" cy="82260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3. Source Citations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Every answer references exact documents. Critical for audit.</a:t>
            </a:r>
            <a:endParaRPr lang="el-GR" sz="1200" b="0" u="none" strike="noStrike">
              <a:solidFill>
                <a:srgbClr val="000000"/>
              </a:solidFill>
              <a:effectLst/>
              <a:uFillTx/>
              <a:latin typeface="Arial"/>
            </a:endParaRPr>
          </a:p>
        </p:txBody>
      </p:sp>
      <p:sp>
        <p:nvSpPr>
          <p:cNvPr id="105" name="Rectangle 5"/>
          <p:cNvSpPr/>
          <p:nvPr/>
        </p:nvSpPr>
        <p:spPr>
          <a:xfrm>
            <a:off x="731520" y="4297680"/>
            <a:ext cx="10515240" cy="82260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4. Cost Effective to Start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Lower upfront cost. Use existing LLM APIs + vector DB.</a:t>
            </a:r>
            <a:endParaRPr lang="el-GR" sz="1200" b="0" u="none" strike="noStrike">
              <a:solidFill>
                <a:srgbClr val="000000"/>
              </a:solidFill>
              <a:effectLst/>
              <a:uFillTx/>
              <a:latin typeface="Arial"/>
            </a:endParaRPr>
          </a:p>
        </p:txBody>
      </p:sp>
      <p:sp>
        <p:nvSpPr>
          <p:cNvPr id="106" name="Rectangle 6"/>
          <p:cNvSpPr/>
          <p:nvPr/>
        </p:nvSpPr>
        <p:spPr>
          <a:xfrm>
            <a:off x="731520" y="5303520"/>
            <a:ext cx="10515240" cy="82260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5. Explainable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Users see which documents were retrieved and why.</a:t>
            </a:r>
            <a:endParaRPr lang="el-GR" sz="1200" b="0" u="none" strike="noStrike">
              <a:solidFill>
                <a:srgbClr val="000000"/>
              </a:solidFill>
              <a:effectLst/>
              <a:uFillTx/>
              <a:latin typeface="Arial"/>
            </a:endParaRPr>
          </a:p>
        </p:txBody>
      </p:sp>
      <p:sp>
        <p:nvSpPr>
          <p:cNvPr id="107"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7/55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RAG: Limitations</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Why RAG may not fully address all use cases</a:t>
            </a:r>
            <a:endParaRPr lang="el-GR" sz="1600" b="0" u="none" strike="noStrike">
              <a:solidFill>
                <a:srgbClr val="ffffff"/>
              </a:solidFill>
              <a:effectLst/>
              <a:uFillTx/>
              <a:latin typeface="Arial"/>
            </a:endParaRPr>
          </a:p>
        </p:txBody>
      </p:sp>
      <p:sp>
        <p:nvSpPr>
          <p:cNvPr id="109" name="Rectangle 2"/>
          <p:cNvSpPr/>
          <p:nvPr/>
        </p:nvSpPr>
        <p:spPr>
          <a:xfrm>
            <a:off x="457200" y="1280160"/>
            <a:ext cx="5303160" cy="109692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1. Cannot Teach New Skills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RAG adds information but doesn't teach new reasoning patterns.</a:t>
            </a:r>
            <a:endParaRPr lang="el-GR" sz="1200" b="0" u="none" strike="noStrike">
              <a:solidFill>
                <a:srgbClr val="000000"/>
              </a:solidFill>
              <a:effectLst/>
              <a:uFillTx/>
              <a:latin typeface="Arial"/>
            </a:endParaRPr>
          </a:p>
        </p:txBody>
      </p:sp>
      <p:sp>
        <p:nvSpPr>
          <p:cNvPr id="110" name="Rectangle 3"/>
          <p:cNvSpPr/>
          <p:nvPr/>
        </p:nvSpPr>
        <p:spPr>
          <a:xfrm>
            <a:off x="457200" y="2560320"/>
            <a:ext cx="5303160" cy="109692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2. Struggles with Calculations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Retrieving a formula doesn't mean the model can apply it.</a:t>
            </a:r>
            <a:endParaRPr lang="el-GR" sz="1200" b="0" u="none" strike="noStrike">
              <a:solidFill>
                <a:srgbClr val="000000"/>
              </a:solidFill>
              <a:effectLst/>
              <a:uFillTx/>
              <a:latin typeface="Arial"/>
            </a:endParaRPr>
          </a:p>
        </p:txBody>
      </p:sp>
      <p:sp>
        <p:nvSpPr>
          <p:cNvPr id="111" name="Rectangle 4"/>
          <p:cNvSpPr/>
          <p:nvPr/>
        </p:nvSpPr>
        <p:spPr>
          <a:xfrm>
            <a:off x="457200" y="3840480"/>
            <a:ext cx="5303160" cy="109692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3. Inconsistent Output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Without trained behavior, output format varies.</a:t>
            </a:r>
            <a:endParaRPr lang="el-GR" sz="1200" b="0" u="none" strike="noStrike">
              <a:solidFill>
                <a:srgbClr val="000000"/>
              </a:solidFill>
              <a:effectLst/>
              <a:uFillTx/>
              <a:latin typeface="Arial"/>
            </a:endParaRPr>
          </a:p>
        </p:txBody>
      </p:sp>
      <p:sp>
        <p:nvSpPr>
          <p:cNvPr id="112" name="Rectangle 5"/>
          <p:cNvSpPr/>
          <p:nvPr/>
        </p:nvSpPr>
        <p:spPr>
          <a:xfrm>
            <a:off x="6217920" y="1280160"/>
            <a:ext cx="5303160" cy="109692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4. Retrieval Quality Bottleneck</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Answers only as good as retrieved documents.</a:t>
            </a:r>
            <a:endParaRPr lang="el-GR" sz="1200" b="0" u="none" strike="noStrike">
              <a:solidFill>
                <a:srgbClr val="000000"/>
              </a:solidFill>
              <a:effectLst/>
              <a:uFillTx/>
              <a:latin typeface="Arial"/>
            </a:endParaRPr>
          </a:p>
        </p:txBody>
      </p:sp>
      <p:sp>
        <p:nvSpPr>
          <p:cNvPr id="113" name="Rectangle 6"/>
          <p:cNvSpPr/>
          <p:nvPr/>
        </p:nvSpPr>
        <p:spPr>
          <a:xfrm>
            <a:off x="6217920" y="2560320"/>
            <a:ext cx="5303160" cy="109692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5. Higher Latency</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Embedding + retrieval + generation: 3-5x slower than fine-tuned.</a:t>
            </a:r>
            <a:endParaRPr lang="el-GR" sz="1200" b="0" u="none" strike="noStrike">
              <a:solidFill>
                <a:srgbClr val="000000"/>
              </a:solidFill>
              <a:effectLst/>
              <a:uFillTx/>
              <a:latin typeface="Arial"/>
            </a:endParaRPr>
          </a:p>
        </p:txBody>
      </p:sp>
      <p:sp>
        <p:nvSpPr>
          <p:cNvPr id="114" name="Rectangle 7"/>
          <p:cNvSpPr/>
          <p:nvPr/>
        </p:nvSpPr>
        <p:spPr>
          <a:xfrm>
            <a:off x="6217920" y="3840480"/>
            <a:ext cx="5303160" cy="109692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6. Context Window Limits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Retrieved docs compete for context space.</a:t>
            </a:r>
            <a:endParaRPr lang="el-GR" sz="1200" b="0" u="none" strike="noStrike">
              <a:solidFill>
                <a:srgbClr val="000000"/>
              </a:solidFill>
              <a:effectLst/>
              <a:uFillTx/>
              <a:latin typeface="Arial"/>
            </a:endParaRPr>
          </a:p>
        </p:txBody>
      </p:sp>
      <p:sp>
        <p:nvSpPr>
          <p:cNvPr id="115" name="Rectangle 8"/>
          <p:cNvSpPr/>
          <p:nvPr/>
        </p:nvSpPr>
        <p:spPr>
          <a:xfrm>
            <a:off x="457200" y="5303520"/>
            <a:ext cx="11063880" cy="73116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Bottom line: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RAG is great for knowledge lookup but insufficient for specialized reasoning, computation, or consistent behavior.</a:t>
            </a:r>
            <a:endParaRPr lang="el-GR" sz="1200" b="0" u="none" strike="noStrike">
              <a:solidFill>
                <a:srgbClr val="000000"/>
              </a:solidFill>
              <a:effectLst/>
              <a:uFillTx/>
              <a:latin typeface="Arial"/>
            </a:endParaRPr>
          </a:p>
        </p:txBody>
      </p:sp>
      <p:sp>
        <p:nvSpPr>
          <p:cNvPr id="116" name="TextBox 9"/>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8/55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Fine-Tuning: Teaching Models New Skills</a:t>
            </a:r>
            <a:endParaRPr lang="el-GR" sz="3000" b="0" u="none" strike="noStrike">
              <a:solidFill>
                <a:srgbClr val="ffffff"/>
              </a:solidFill>
              <a:effectLst/>
              <a:uFillTx/>
              <a:latin typeface="Arial"/>
            </a:endParaRPr>
          </a:p>
        </p:txBody>
      </p:sp>
      <p:pic>
        <p:nvPicPr>
          <p:cNvPr id="118" name="Picture 2" descr="finetuning_flow.png"/>
          <p:cNvPicPr/>
          <p:nvPr/>
        </p:nvPicPr>
        <p:blipFill>
          <a:blip r:embed="rId1"/>
          <a:stretch/>
        </p:blipFill>
        <p:spPr>
          <a:xfrm>
            <a:off x="4860000" y="1005480"/>
            <a:ext cx="2340000" cy="4153680"/>
          </a:xfrm>
          <a:prstGeom prst="rect">
            <a:avLst/>
          </a:prstGeom>
          <a:noFill/>
          <a:ln w="0">
            <a:noFill/>
          </a:ln>
        </p:spPr>
      </p:pic>
      <p:sp>
        <p:nvSpPr>
          <p:cNvPr id="119" name="Rectangle 3"/>
          <p:cNvSpPr/>
          <p:nvPr/>
        </p:nvSpPr>
        <p:spPr>
          <a:xfrm>
            <a:off x="731520" y="5023080"/>
            <a:ext cx="5028840" cy="10969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 Same model + external info at query time</a:t>
            </a:r>
            <a:endParaRPr lang="el-GR" sz="1400" b="0" u="none" strike="noStrike">
              <a:solidFill>
                <a:srgbClr val="000000"/>
              </a:solidFill>
              <a:effectLst/>
              <a:uFillTx/>
              <a:latin typeface="Arial"/>
            </a:endParaRPr>
          </a:p>
        </p:txBody>
      </p:sp>
      <p:sp>
        <p:nvSpPr>
          <p:cNvPr id="120" name="Rectangle 4"/>
          <p:cNvSpPr/>
          <p:nvPr/>
        </p:nvSpPr>
        <p:spPr>
          <a:xfrm>
            <a:off x="6217920" y="5040000"/>
            <a:ext cx="5303160" cy="10969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Fine-Tuning = Different model with learned expertise in weights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The model doesn't just look up answers - it has learned how to reason.</a:t>
            </a:r>
            <a:endParaRPr lang="el-GR" sz="1200" b="0" u="none" strike="noStrike">
              <a:solidFill>
                <a:srgbClr val="000000"/>
              </a:solidFill>
              <a:effectLst/>
              <a:uFillTx/>
              <a:latin typeface="Arial"/>
            </a:endParaRPr>
          </a:p>
        </p:txBody>
      </p:sp>
      <p:sp>
        <p:nvSpPr>
          <p:cNvPr id="121"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9/55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Fine-Tuning Methods</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Full vs LoRA vs QLoRA</a:t>
            </a:r>
            <a:endParaRPr lang="el-GR" sz="1600" b="0" u="none" strike="noStrike">
              <a:solidFill>
                <a:srgbClr val="ffffff"/>
              </a:solidFill>
              <a:effectLst/>
              <a:uFillTx/>
              <a:latin typeface="Arial"/>
            </a:endParaRPr>
          </a:p>
        </p:txBody>
      </p:sp>
      <p:sp>
        <p:nvSpPr>
          <p:cNvPr id="123" name="Rectangle 2"/>
          <p:cNvSpPr/>
          <p:nvPr/>
        </p:nvSpPr>
        <p:spPr>
          <a:xfrm>
            <a:off x="457200" y="1371600"/>
            <a:ext cx="3474360" cy="365724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Full Fine-Tuning</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Updates ALL parameters</a:t>
            </a:r>
            <a:br>
              <a:rPr sz="1200"/>
            </a:br>
            <a:r>
              <a:rPr lang="en-US" sz="1200" b="0" u="none" strike="noStrike">
                <a:solidFill>
                  <a:srgbClr val="1c2a3a"/>
                </a:solidFill>
                <a:effectLst/>
                <a:uFillTx/>
                <a:latin typeface="Calibri"/>
              </a:rPr>
              <a:t>Maximum learning capacity</a:t>
            </a:r>
            <a:br>
              <a:rPr sz="1200"/>
            </a:br>
            <a:r>
              <a:rPr lang="en-US" sz="1200" b="0" u="none" strike="noStrike">
                <a:solidFill>
                  <a:srgbClr val="1c2a3a"/>
                </a:solidFill>
                <a:effectLst/>
                <a:uFillTx/>
                <a:latin typeface="Calibri"/>
              </a:rPr>
              <a:t>Requires significant GPU memory</a:t>
            </a:r>
            <a:br>
              <a:rPr sz="1200"/>
            </a:br>
            <a:r>
              <a:rPr lang="en-US" sz="1200" b="0" u="none" strike="noStrike">
                <a:solidFill>
                  <a:srgbClr val="1c2a3a"/>
                </a:solidFill>
                <a:effectLst/>
                <a:uFillTx/>
                <a:latin typeface="Calibri"/>
              </a:rPr>
              <a:t>Best accuracy potential</a:t>
            </a:r>
            <a:br>
              <a:rPr sz="1200"/>
            </a:br>
            <a:br>
              <a:rPr sz="1200"/>
            </a:br>
            <a:r>
              <a:rPr lang="en-US" sz="1200" b="0" u="none" strike="noStrike">
                <a:solidFill>
                  <a:srgbClr val="1c2a3a"/>
                </a:solidFill>
                <a:effectLst/>
                <a:uFillTx/>
                <a:latin typeface="Calibri"/>
              </a:rPr>
              <a:t>Cost: $$$</a:t>
            </a:r>
            <a:endParaRPr lang="el-GR" sz="1200" b="0" u="none" strike="noStrike">
              <a:solidFill>
                <a:srgbClr val="000000"/>
              </a:solidFill>
              <a:effectLst/>
              <a:uFillTx/>
              <a:latin typeface="Arial"/>
            </a:endParaRPr>
          </a:p>
        </p:txBody>
      </p:sp>
      <p:sp>
        <p:nvSpPr>
          <p:cNvPr id="124" name="Rectangle 3"/>
          <p:cNvSpPr/>
          <p:nvPr/>
        </p:nvSpPr>
        <p:spPr>
          <a:xfrm>
            <a:off x="4297680" y="1371600"/>
            <a:ext cx="3474360" cy="36572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LoRA (Low-Rank Adaptation)</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Adds small adapter layers</a:t>
            </a:r>
            <a:br>
              <a:rPr sz="1200"/>
            </a:br>
            <a:r>
              <a:rPr lang="en-US" sz="1200" b="0" u="none" strike="noStrike">
                <a:solidFill>
                  <a:srgbClr val="1c2a3a"/>
                </a:solidFill>
                <a:effectLst/>
                <a:uFillTx/>
                <a:latin typeface="Calibri"/>
              </a:rPr>
              <a:t>Freezes original weights</a:t>
            </a:r>
            <a:br>
              <a:rPr sz="1200"/>
            </a:br>
            <a:r>
              <a:rPr lang="en-US" sz="1200" b="0" u="none" strike="noStrike">
                <a:solidFill>
                  <a:srgbClr val="1c2a3a"/>
                </a:solidFill>
                <a:effectLst/>
                <a:uFillTx/>
                <a:latin typeface="Calibri"/>
              </a:rPr>
              <a:t>10-100x less memory</a:t>
            </a:r>
            <a:br>
              <a:rPr sz="1200"/>
            </a:br>
            <a:r>
              <a:rPr lang="en-US" sz="1200" b="0" u="none" strike="noStrike">
                <a:solidFill>
                  <a:srgbClr val="1c2a3a"/>
                </a:solidFill>
                <a:effectLst/>
                <a:uFillTx/>
                <a:latin typeface="Calibri"/>
              </a:rPr>
              <a:t>Near full FT quality</a:t>
            </a:r>
            <a:br>
              <a:rPr sz="1200"/>
            </a:br>
            <a:br>
              <a:rPr sz="1200"/>
            </a:br>
            <a:r>
              <a:rPr lang="en-US" sz="1200" b="0" u="none" strike="noStrike">
                <a:solidFill>
                  <a:srgbClr val="1c2a3a"/>
                </a:solidFill>
                <a:effectLst/>
                <a:uFillTx/>
                <a:latin typeface="Calibri"/>
              </a:rPr>
              <a:t>Cost: $$</a:t>
            </a:r>
            <a:endParaRPr lang="el-GR" sz="1200" b="0" u="none" strike="noStrike">
              <a:solidFill>
                <a:srgbClr val="000000"/>
              </a:solidFill>
              <a:effectLst/>
              <a:uFillTx/>
              <a:latin typeface="Arial"/>
            </a:endParaRPr>
          </a:p>
        </p:txBody>
      </p:sp>
      <p:sp>
        <p:nvSpPr>
          <p:cNvPr id="125" name="Rectangle 4"/>
          <p:cNvSpPr/>
          <p:nvPr/>
        </p:nvSpPr>
        <p:spPr>
          <a:xfrm>
            <a:off x="8138160" y="1371600"/>
            <a:ext cx="3474360" cy="36572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QLoRA (Quantized LoRA)</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LoRA + 4-bit quantization</a:t>
            </a:r>
            <a:br>
              <a:rPr sz="1200"/>
            </a:br>
            <a:r>
              <a:rPr lang="en-US" sz="1200" b="0" u="none" strike="noStrike">
                <a:solidFill>
                  <a:srgbClr val="1c2a3a"/>
                </a:solidFill>
                <a:effectLst/>
                <a:uFillTx/>
                <a:latin typeface="Calibri"/>
              </a:rPr>
              <a:t>Runs on consumer GPUs</a:t>
            </a:r>
            <a:br>
              <a:rPr sz="1200"/>
            </a:br>
            <a:r>
              <a:rPr lang="en-US" sz="1200" b="0" u="none" strike="noStrike">
                <a:solidFill>
                  <a:srgbClr val="1c2a3a"/>
                </a:solidFill>
                <a:effectLst/>
                <a:uFillTx/>
                <a:latin typeface="Calibri"/>
              </a:rPr>
              <a:t>Minimal quality loss</a:t>
            </a:r>
            <a:br>
              <a:rPr sz="1200"/>
            </a:br>
            <a:r>
              <a:rPr lang="en-US" sz="1200" b="0" u="none" strike="noStrike">
                <a:solidFill>
                  <a:srgbClr val="1c2a3a"/>
                </a:solidFill>
                <a:effectLst/>
                <a:uFillTx/>
                <a:latin typeface="Calibri"/>
              </a:rPr>
              <a:t>Most accessible method</a:t>
            </a:r>
            <a:br>
              <a:rPr sz="1200"/>
            </a:br>
            <a:br>
              <a:rPr sz="1200"/>
            </a:br>
            <a:r>
              <a:rPr lang="en-US" sz="1200" b="0" u="none" strike="noStrike">
                <a:solidFill>
                  <a:srgbClr val="1c2a3a"/>
                </a:solidFill>
                <a:effectLst/>
                <a:uFillTx/>
                <a:latin typeface="Calibri"/>
              </a:rPr>
              <a:t>Cost: $</a:t>
            </a:r>
            <a:endParaRPr lang="el-GR" sz="1200" b="0" u="none" strike="noStrike">
              <a:solidFill>
                <a:srgbClr val="000000"/>
              </a:solidFill>
              <a:effectLst/>
              <a:uFillTx/>
              <a:latin typeface="Arial"/>
            </a:endParaRPr>
          </a:p>
        </p:txBody>
      </p:sp>
      <p:sp>
        <p:nvSpPr>
          <p:cNvPr id="126" name="Rectangle 5"/>
          <p:cNvSpPr/>
          <p:nvPr/>
        </p:nvSpPr>
        <p:spPr>
          <a:xfrm>
            <a:off x="457200" y="5303520"/>
            <a:ext cx="11063880" cy="73116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Practical tip:</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Start with QLoRA for rapid experimentation, then scale to LoRA or full fine-tuning when validated.</a:t>
            </a:r>
            <a:endParaRPr lang="el-GR" sz="1200" b="0" u="none" strike="noStrike">
              <a:solidFill>
                <a:srgbClr val="000000"/>
              </a:solidFill>
              <a:effectLst/>
              <a:uFillTx/>
              <a:latin typeface="Arial"/>
            </a:endParaRPr>
          </a:p>
        </p:txBody>
      </p:sp>
      <p:sp>
        <p:nvSpPr>
          <p:cNvPr id="127" name="TextBox 6"/>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10/55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Fine-Tuning: Key Benefits</a:t>
            </a:r>
            <a:endParaRPr lang="el-GR" sz="3000" b="0" u="none" strike="noStrike">
              <a:solidFill>
                <a:srgbClr val="ffffff"/>
              </a:solidFill>
              <a:effectLst/>
              <a:uFillTx/>
              <a:latin typeface="Arial"/>
            </a:endParaRPr>
          </a:p>
        </p:txBody>
      </p:sp>
      <p:sp>
        <p:nvSpPr>
          <p:cNvPr id="129" name="Rectangle 2"/>
          <p:cNvSpPr/>
          <p:nvPr/>
        </p:nvSpPr>
        <p:spPr>
          <a:xfrm>
            <a:off x="457200" y="1371600"/>
            <a:ext cx="5303160" cy="11883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Improved Accuracy</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61.2% on FinQA vs 15.3% for RAG</a:t>
            </a:r>
            <a:endParaRPr lang="el-GR" sz="1200" b="0" u="none" strike="noStrike">
              <a:solidFill>
                <a:srgbClr val="000000"/>
              </a:solidFill>
              <a:effectLst/>
              <a:uFillTx/>
              <a:latin typeface="Arial"/>
            </a:endParaRPr>
          </a:p>
        </p:txBody>
      </p:sp>
      <p:sp>
        <p:nvSpPr>
          <p:cNvPr id="130" name="Rectangle 3"/>
          <p:cNvSpPr/>
          <p:nvPr/>
        </p:nvSpPr>
        <p:spPr>
          <a:xfrm>
            <a:off x="6217920" y="1371600"/>
            <a:ext cx="5303160" cy="11883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Learned Computation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Multi-step calculations, not just formula retrieval</a:t>
            </a:r>
            <a:endParaRPr lang="el-GR" sz="1200" b="0" u="none" strike="noStrike">
              <a:solidFill>
                <a:srgbClr val="000000"/>
              </a:solidFill>
              <a:effectLst/>
              <a:uFillTx/>
              <a:latin typeface="Arial"/>
            </a:endParaRPr>
          </a:p>
        </p:txBody>
      </p:sp>
      <p:sp>
        <p:nvSpPr>
          <p:cNvPr id="131" name="Rectangle 4"/>
          <p:cNvSpPr/>
          <p:nvPr/>
        </p:nvSpPr>
        <p:spPr>
          <a:xfrm>
            <a:off x="457200" y="2834640"/>
            <a:ext cx="5303160" cy="11883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Consistent Output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98% consistency vs 65% for RAG</a:t>
            </a:r>
            <a:endParaRPr lang="el-GR" sz="1200" b="0" u="none" strike="noStrike">
              <a:solidFill>
                <a:srgbClr val="000000"/>
              </a:solidFill>
              <a:effectLst/>
              <a:uFillTx/>
              <a:latin typeface="Arial"/>
            </a:endParaRPr>
          </a:p>
        </p:txBody>
      </p:sp>
      <p:sp>
        <p:nvSpPr>
          <p:cNvPr id="132" name="Rectangle 5"/>
          <p:cNvSpPr/>
          <p:nvPr/>
        </p:nvSpPr>
        <p:spPr>
          <a:xfrm>
            <a:off x="6217920" y="2834640"/>
            <a:ext cx="5303160" cy="11883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Lower Latency</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~200ms vs ~800ms for RAG</a:t>
            </a:r>
            <a:endParaRPr lang="el-GR" sz="1200" b="0" u="none" strike="noStrike">
              <a:solidFill>
                <a:srgbClr val="000000"/>
              </a:solidFill>
              <a:effectLst/>
              <a:uFillTx/>
              <a:latin typeface="Arial"/>
            </a:endParaRPr>
          </a:p>
        </p:txBody>
      </p:sp>
      <p:sp>
        <p:nvSpPr>
          <p:cNvPr id="133" name="Rectangle 6"/>
          <p:cNvSpPr/>
          <p:nvPr/>
        </p:nvSpPr>
        <p:spPr>
          <a:xfrm>
            <a:off x="457200" y="4297680"/>
            <a:ext cx="5303160" cy="11883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Customizable Behavior</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Control tone, format, reasoning style</a:t>
            </a:r>
            <a:endParaRPr lang="el-GR" sz="1200" b="0" u="none" strike="noStrike">
              <a:solidFill>
                <a:srgbClr val="000000"/>
              </a:solidFill>
              <a:effectLst/>
              <a:uFillTx/>
              <a:latin typeface="Arial"/>
            </a:endParaRPr>
          </a:p>
        </p:txBody>
      </p:sp>
      <p:sp>
        <p:nvSpPr>
          <p:cNvPr id="134" name="Rectangle 7"/>
          <p:cNvSpPr/>
          <p:nvPr/>
        </p:nvSpPr>
        <p:spPr>
          <a:xfrm>
            <a:off x="6217920" y="4297680"/>
            <a:ext cx="5303160" cy="11883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Adapts to Unique Data</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Learns YOUR domain's patterns and edge cases</a:t>
            </a:r>
            <a:endParaRPr lang="el-GR" sz="1200" b="0" u="none" strike="noStrike">
              <a:solidFill>
                <a:srgbClr val="000000"/>
              </a:solidFill>
              <a:effectLst/>
              <a:uFillTx/>
              <a:latin typeface="Arial"/>
            </a:endParaRPr>
          </a:p>
        </p:txBody>
      </p:sp>
      <p:sp>
        <p:nvSpPr>
          <p:cNvPr id="135" name="TextBox 8"/>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11/55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Our Fine-Tuned Models: Under the Hood</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Real models, real training data, published research</a:t>
            </a:r>
            <a:endParaRPr lang="el-GR" sz="1600" b="0" u="none" strike="noStrike">
              <a:solidFill>
                <a:srgbClr val="ffffff"/>
              </a:solidFill>
              <a:effectLst/>
              <a:uFillTx/>
              <a:latin typeface="Arial"/>
            </a:endParaRPr>
          </a:p>
        </p:txBody>
      </p:sp>
      <p:sp>
        <p:nvSpPr>
          <p:cNvPr id="137" name="Rectangle 2"/>
          <p:cNvSpPr/>
          <p:nvPr/>
        </p:nvSpPr>
        <p:spPr>
          <a:xfrm>
            <a:off x="457200" y="1371600"/>
            <a:ext cx="5303160" cy="22856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FinBERT - Financial Sentiment</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Base: BERT-base-uncased (110M params)</a:t>
            </a:r>
            <a:br>
              <a:rPr sz="1200"/>
            </a:br>
            <a:r>
              <a:rPr lang="en-US" sz="1200" b="0" u="none" strike="noStrike">
                <a:solidFill>
                  <a:srgbClr val="1c2a3a"/>
                </a:solidFill>
                <a:effectLst/>
                <a:uFillTx/>
                <a:latin typeface="Calibri"/>
              </a:rPr>
              <a:t>By: Prosus AI (Araci, 2019)</a:t>
            </a:r>
            <a:br>
              <a:rPr sz="1200"/>
            </a:br>
            <a:r>
              <a:rPr lang="en-US" sz="1200" b="0" u="none" strike="noStrike">
                <a:solidFill>
                  <a:srgbClr val="1c2a3a"/>
                </a:solidFill>
                <a:effectLst/>
                <a:uFillTx/>
                <a:latin typeface="Calibri"/>
              </a:rPr>
              <a:t>HF: ProsusAI/finbert</a:t>
            </a:r>
            <a:br>
              <a:rPr sz="1200"/>
            </a:br>
            <a:r>
              <a:rPr lang="en-US" sz="1200" b="0" u="none" strike="noStrike">
                <a:solidFill>
                  <a:srgbClr val="1c2a3a"/>
                </a:solidFill>
                <a:effectLst/>
                <a:uFillTx/>
                <a:latin typeface="Calibri"/>
              </a:rPr>
              <a:t>Task: 3-class sentiment (pos/neg/neutral)</a:t>
            </a:r>
            <a:br>
              <a:rPr sz="1200"/>
            </a:br>
            <a:r>
              <a:rPr lang="en-US" sz="1200" b="0" u="none" strike="noStrike">
                <a:solidFill>
                  <a:srgbClr val="1c2a3a"/>
                </a:solidFill>
                <a:effectLst/>
                <a:uFillTx/>
                <a:latin typeface="Calibri"/>
              </a:rPr>
              <a:t>Training: Financial PhraseBank (4,840 sentences)</a:t>
            </a:r>
            <a:endParaRPr lang="el-GR" sz="1200" b="0" u="none" strike="noStrike">
              <a:solidFill>
                <a:srgbClr val="000000"/>
              </a:solidFill>
              <a:effectLst/>
              <a:uFillTx/>
              <a:latin typeface="Arial"/>
            </a:endParaRPr>
          </a:p>
        </p:txBody>
      </p:sp>
      <p:sp>
        <p:nvSpPr>
          <p:cNvPr id="138" name="Rectangle 3"/>
          <p:cNvSpPr/>
          <p:nvPr/>
        </p:nvSpPr>
        <p:spPr>
          <a:xfrm>
            <a:off x="6217920" y="1371600"/>
            <a:ext cx="5303160" cy="22856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FinQA-7B - Numerical Reasoning</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Base: Llama2-7B (Meta, 7B params)</a:t>
            </a:r>
            <a:br>
              <a:rPr sz="1200"/>
            </a:br>
            <a:r>
              <a:rPr lang="en-US" sz="1200" b="0" u="none" strike="noStrike">
                <a:solidFill>
                  <a:srgbClr val="1c2a3a"/>
                </a:solidFill>
                <a:effectLst/>
                <a:uFillTx/>
                <a:latin typeface="Calibri"/>
              </a:rPr>
              <a:t>By: truocpham (community)</a:t>
            </a:r>
            <a:br>
              <a:rPr sz="1200"/>
            </a:br>
            <a:r>
              <a:rPr lang="en-US" sz="1200" b="0" u="none" strike="noStrike">
                <a:solidFill>
                  <a:srgbClr val="1c2a3a"/>
                </a:solidFill>
                <a:effectLst/>
                <a:uFillTx/>
                <a:latin typeface="Calibri"/>
              </a:rPr>
              <a:t>HF: truocpham/FinQA-7B-Instruct-v0.1</a:t>
            </a:r>
            <a:br>
              <a:rPr sz="1200"/>
            </a:br>
            <a:r>
              <a:rPr lang="en-US" sz="1200" b="0" u="none" strike="noStrike">
                <a:solidFill>
                  <a:srgbClr val="1c2a3a"/>
                </a:solidFill>
                <a:effectLst/>
                <a:uFillTx/>
                <a:latin typeface="Calibri"/>
              </a:rPr>
              <a:t>Method: QLoRA on FinQA dataset</a:t>
            </a:r>
            <a:br>
              <a:rPr sz="1200"/>
            </a:br>
            <a:r>
              <a:rPr lang="en-US" sz="1200" b="0" u="none" strike="noStrike">
                <a:solidFill>
                  <a:srgbClr val="1c2a3a"/>
                </a:solidFill>
                <a:effectLst/>
                <a:uFillTx/>
                <a:latin typeface="Calibri"/>
              </a:rPr>
              <a:t>Training: 8,281 Q&amp;A pairs from SEC filings</a:t>
            </a:r>
            <a:endParaRPr lang="el-GR" sz="1200" b="0" u="none" strike="noStrike">
              <a:solidFill>
                <a:srgbClr val="000000"/>
              </a:solidFill>
              <a:effectLst/>
              <a:uFillTx/>
              <a:latin typeface="Arial"/>
            </a:endParaRPr>
          </a:p>
        </p:txBody>
      </p:sp>
      <p:sp>
        <p:nvSpPr>
          <p:cNvPr id="139" name="Rectangle 4"/>
          <p:cNvSpPr/>
          <p:nvPr/>
        </p:nvSpPr>
        <p:spPr>
          <a:xfrm>
            <a:off x="457200" y="3931920"/>
            <a:ext cx="5303160" cy="2011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FinBERT Training Data</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Pre-training: Reuters TRC2 (46,143 articles)</a:t>
            </a:r>
            <a:br>
              <a:rPr sz="1200"/>
            </a:br>
            <a:r>
              <a:rPr lang="en-US" sz="1200" b="0" u="none" strike="noStrike">
                <a:solidFill>
                  <a:srgbClr val="1c2a3a"/>
                </a:solidFill>
                <a:effectLst/>
                <a:uFillTx/>
                <a:latin typeface="Calibri"/>
              </a:rPr>
              <a:t>Fine-tuning: Financial PhraseBank</a:t>
            </a:r>
            <a:br>
              <a:rPr sz="1200"/>
            </a:br>
            <a:r>
              <a:rPr lang="en-US" sz="1200" b="0" u="none" strike="noStrike">
                <a:solidFill>
                  <a:srgbClr val="1c2a3a"/>
                </a:solidFill>
                <a:effectLst/>
                <a:uFillTx/>
                <a:latin typeface="Calibri"/>
              </a:rPr>
              <a:t>  - 4,840 sentences, 16 expert annotators</a:t>
            </a:r>
            <a:br>
              <a:rPr sz="1200"/>
            </a:br>
            <a:r>
              <a:rPr lang="en-US" sz="1200" b="0" u="none" strike="noStrike">
                <a:solidFill>
                  <a:srgbClr val="1c2a3a"/>
                </a:solidFill>
                <a:effectLst/>
                <a:uFillTx/>
                <a:latin typeface="Calibri"/>
              </a:rPr>
              <a:t>  - Source: Aalto University (Malo et al., 2014)</a:t>
            </a:r>
            <a:endParaRPr lang="el-GR" sz="1200" b="0" u="none" strike="noStrike">
              <a:solidFill>
                <a:srgbClr val="000000"/>
              </a:solidFill>
              <a:effectLst/>
              <a:uFillTx/>
              <a:latin typeface="Arial"/>
            </a:endParaRPr>
          </a:p>
        </p:txBody>
      </p:sp>
      <p:sp>
        <p:nvSpPr>
          <p:cNvPr id="140" name="Rectangle 5"/>
          <p:cNvSpPr/>
          <p:nvPr/>
        </p:nvSpPr>
        <p:spPr>
          <a:xfrm>
            <a:off x="6217920" y="3931920"/>
            <a:ext cx="5303160" cy="2011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FinQA Training Data</a:t>
            </a:r>
            <a:endParaRPr lang="el-GR" sz="1400" b="0" u="none" strike="noStrike">
              <a:solidFill>
                <a:srgbClr val="000000"/>
              </a:solidFill>
              <a:effectLst/>
              <a:uFillTx/>
              <a:latin typeface="Arial"/>
            </a:endParaRPr>
          </a:p>
          <a:p>
            <a:pPr algn="ctr" defTabSz="457200">
              <a:lnSpc>
                <a:spcPct val="100000"/>
              </a:lnSpc>
            </a:pP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Dataset: FinQA (IBM Research, EMNLP 2021)</a:t>
            </a:r>
            <a:br>
              <a:rPr sz="1200"/>
            </a:br>
            <a:r>
              <a:rPr lang="en-US" sz="1200" b="0" u="none" strike="noStrike">
                <a:solidFill>
                  <a:srgbClr val="1c2a3a"/>
                </a:solidFill>
                <a:effectLst/>
                <a:uFillTx/>
                <a:latin typeface="Calibri"/>
              </a:rPr>
              <a:t>  - 8,281 Q&amp;A pairs from S&amp;P 500 SEC filings</a:t>
            </a:r>
            <a:br>
              <a:rPr sz="1200"/>
            </a:br>
            <a:r>
              <a:rPr lang="en-US" sz="1200" b="0" u="none" strike="noStrike">
                <a:solidFill>
                  <a:srgbClr val="1c2a3a"/>
                </a:solidFill>
                <a:effectLst/>
                <a:uFillTx/>
                <a:latin typeface="Calibri"/>
              </a:rPr>
              <a:t>  - Each: financial table + context + question</a:t>
            </a:r>
            <a:br>
              <a:rPr sz="1200"/>
            </a:br>
            <a:r>
              <a:rPr lang="en-US" sz="1200" b="0" u="none" strike="noStrike">
                <a:solidFill>
                  <a:srgbClr val="1c2a3a"/>
                </a:solidFill>
                <a:effectLst/>
                <a:uFillTx/>
                <a:latin typeface="Calibri"/>
              </a:rPr>
              <a:t>  - Includes step-by-step reasoning programs</a:t>
            </a:r>
            <a:endParaRPr lang="el-GR" sz="1200" b="0" u="none" strike="noStrike">
              <a:solidFill>
                <a:srgbClr val="000000"/>
              </a:solidFill>
              <a:effectLst/>
              <a:uFillTx/>
              <a:latin typeface="Arial"/>
            </a:endParaRPr>
          </a:p>
        </p:txBody>
      </p:sp>
      <p:sp>
        <p:nvSpPr>
          <p:cNvPr id="141" name="TextBox 6"/>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12/55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Our Fine-Tuned Models: Spam Detection</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DistilBERT fine-tuned for phishing &amp; spam classification</a:t>
            </a:r>
            <a:endParaRPr lang="el-GR" sz="1600" b="0" u="none" strike="noStrike">
              <a:solidFill>
                <a:srgbClr val="ffffff"/>
              </a:solidFill>
              <a:effectLst/>
              <a:uFillTx/>
              <a:latin typeface="Arial"/>
            </a:endParaRPr>
          </a:p>
        </p:txBody>
      </p:sp>
      <p:sp>
        <p:nvSpPr>
          <p:cNvPr id="143" name="Rectangle 2"/>
          <p:cNvSpPr/>
          <p:nvPr/>
        </p:nvSpPr>
        <p:spPr>
          <a:xfrm>
            <a:off x="457200" y="1371600"/>
            <a:ext cx="5303160" cy="22856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DistilBERT Spam Detector</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Base: DistilBERT-base-uncased (66M params)</a:t>
            </a:r>
            <a:br>
              <a:rPr sz="1200"/>
            </a:br>
            <a:r>
              <a:rPr lang="en-US" sz="1200" b="0" u="none" strike="noStrike">
                <a:solidFill>
                  <a:srgbClr val="1c2a3a"/>
                </a:solidFill>
                <a:effectLst/>
                <a:uFillTx/>
                <a:latin typeface="Calibri"/>
              </a:rPr>
              <a:t>Task: Binary classification (spam vs ham)</a:t>
            </a:r>
            <a:br>
              <a:rPr sz="1200"/>
            </a:br>
            <a:r>
              <a:rPr lang="en-US" sz="1200" b="0" u="none" strike="noStrike">
                <a:solidFill>
                  <a:srgbClr val="1c2a3a"/>
                </a:solidFill>
                <a:effectLst/>
                <a:uFillTx/>
                <a:latin typeface="Calibri"/>
              </a:rPr>
              <a:t>40% smaller &amp; 60% faster than BERT-base</a:t>
            </a:r>
            <a:br>
              <a:rPr sz="1200"/>
            </a:br>
            <a:r>
              <a:rPr lang="en-US" sz="1200" b="0" u="none" strike="noStrike">
                <a:solidFill>
                  <a:srgbClr val="1c2a3a"/>
                </a:solidFill>
                <a:effectLst/>
                <a:uFillTx/>
                <a:latin typeface="Calibri"/>
              </a:rPr>
              <a:t>Retains 97% of BERT's language understanding</a:t>
            </a:r>
            <a:br>
              <a:rPr sz="1200"/>
            </a:br>
            <a:r>
              <a:rPr lang="en-US" sz="1200" b="0" u="none" strike="noStrike">
                <a:solidFill>
                  <a:srgbClr val="1c2a3a"/>
                </a:solidFill>
                <a:effectLst/>
                <a:uFillTx/>
                <a:latin typeface="Calibri"/>
              </a:rPr>
              <a:t>Learned: urgency cues, suspicious URLs, phishing patterns</a:t>
            </a:r>
            <a:endParaRPr lang="el-GR" sz="1200" b="0" u="none" strike="noStrike">
              <a:solidFill>
                <a:srgbClr val="000000"/>
              </a:solidFill>
              <a:effectLst/>
              <a:uFillTx/>
              <a:latin typeface="Arial"/>
            </a:endParaRPr>
          </a:p>
        </p:txBody>
      </p:sp>
      <p:sp>
        <p:nvSpPr>
          <p:cNvPr id="144" name="Rectangle 3"/>
          <p:cNvSpPr/>
          <p:nvPr/>
        </p:nvSpPr>
        <p:spPr>
          <a:xfrm>
            <a:off x="6217920" y="1371600"/>
            <a:ext cx="5303160" cy="22856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Spam Detection Training Data</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Curated phishing &amp; spam corpus:</a:t>
            </a:r>
            <a:br>
              <a:rPr sz="1200"/>
            </a:br>
            <a:r>
              <a:rPr lang="en-US" sz="1200" b="0" u="none" strike="noStrike">
                <a:solidFill>
                  <a:srgbClr val="1c2a3a"/>
                </a:solidFill>
                <a:effectLst/>
                <a:uFillTx/>
                <a:latin typeface="Calibri"/>
              </a:rPr>
              <a:t>  - Phishing emails (account compromise, verification)</a:t>
            </a:r>
            <a:br>
              <a:rPr sz="1200"/>
            </a:br>
            <a:r>
              <a:rPr lang="en-US" sz="1200" b="0" u="none" strike="noStrike">
                <a:solidFill>
                  <a:srgbClr val="1c2a3a"/>
                </a:solidFill>
                <a:effectLst/>
                <a:uFillTx/>
                <a:latin typeface="Calibri"/>
              </a:rPr>
              <a:t>  - Lottery / Nigerian prince scams</a:t>
            </a:r>
            <a:br>
              <a:rPr sz="1200"/>
            </a:br>
            <a:r>
              <a:rPr lang="en-US" sz="1200" b="0" u="none" strike="noStrike">
                <a:solidFill>
                  <a:srgbClr val="1c2a3a"/>
                </a:solidFill>
                <a:effectLst/>
                <a:uFillTx/>
                <a:latin typeface="Calibri"/>
              </a:rPr>
              <a:t>  - Get-rich-quick &amp; work-from-home spam</a:t>
            </a:r>
            <a:br>
              <a:rPr sz="1200"/>
            </a:br>
            <a:r>
              <a:rPr lang="en-US" sz="1200" b="0" u="none" strike="noStrike">
                <a:solidFill>
                  <a:srgbClr val="1c2a3a"/>
                </a:solidFill>
                <a:effectLst/>
                <a:uFillTx/>
                <a:latin typeface="Calibri"/>
              </a:rPr>
              <a:t>  - Legitimate business, notification, newsletter emails</a:t>
            </a:r>
            <a:endParaRPr lang="el-GR" sz="1200" b="0" u="none" strike="noStrike">
              <a:solidFill>
                <a:srgbClr val="000000"/>
              </a:solidFill>
              <a:effectLst/>
              <a:uFillTx/>
              <a:latin typeface="Arial"/>
            </a:endParaRPr>
          </a:p>
        </p:txBody>
      </p:sp>
      <p:sp>
        <p:nvSpPr>
          <p:cNvPr id="145" name="Rectangle 4"/>
          <p:cNvSpPr/>
          <p:nvPr/>
        </p:nvSpPr>
        <p:spPr>
          <a:xfrm>
            <a:off x="457200" y="3931920"/>
            <a:ext cx="11063880" cy="201132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Why DistilBERT for Spam?</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Ideal for high-throughput email filtering: small model (66M) runs fast on CPU.</a:t>
            </a:r>
            <a:br>
              <a:rPr sz="1200"/>
            </a:br>
            <a:r>
              <a:rPr lang="en-US" sz="1200" b="0" u="none" strike="noStrike">
                <a:solidFill>
                  <a:srgbClr val="1c2a3a"/>
                </a:solidFill>
                <a:effectLst/>
                <a:uFillTx/>
                <a:latin typeface="Calibri"/>
              </a:rPr>
              <a:t>Fine-tuning teaches the model that urgency + verification + deadline = phishing,</a:t>
            </a:r>
            <a:br>
              <a:rPr sz="1200"/>
            </a:br>
            <a:r>
              <a:rPr lang="en-US" sz="1200" b="0" u="none" strike="noStrike">
                <a:solidFill>
                  <a:srgbClr val="1c2a3a"/>
                </a:solidFill>
                <a:effectLst/>
                <a:uFillTx/>
                <a:latin typeface="Calibri"/>
              </a:rPr>
              <a:t>while RAG can only retrieve similar-looking emails and may confuse a pharmacy</a:t>
            </a:r>
            <a:br>
              <a:rPr sz="1200"/>
            </a:br>
            <a:r>
              <a:rPr lang="en-US" sz="1200" b="0" u="none" strike="noStrike">
                <a:solidFill>
                  <a:srgbClr val="1c2a3a"/>
                </a:solidFill>
                <a:effectLst/>
                <a:uFillTx/>
                <a:latin typeface="Calibri"/>
              </a:rPr>
              <a:t>notification with medication spam.</a:t>
            </a:r>
            <a:br>
              <a:rPr sz="1200"/>
            </a:br>
            <a:br>
              <a:rPr sz="1200"/>
            </a:br>
            <a:r>
              <a:rPr lang="en-US" sz="1200" b="0" u="none" strike="noStrike">
                <a:solidFill>
                  <a:srgbClr val="1c2a3a"/>
                </a:solidFill>
                <a:effectLst/>
                <a:uFillTx/>
                <a:latin typeface="Calibri"/>
              </a:rPr>
              <a:t>Result: 95% accuracy (fine-tuned) vs 90% (RAG) vs 85% (base)</a:t>
            </a:r>
            <a:endParaRPr lang="el-GR" sz="1200" b="0" u="none" strike="noStrike">
              <a:solidFill>
                <a:srgbClr val="000000"/>
              </a:solidFill>
              <a:effectLst/>
              <a:uFillTx/>
              <a:latin typeface="Arial"/>
            </a:endParaRPr>
          </a:p>
        </p:txBody>
      </p:sp>
      <p:sp>
        <p:nvSpPr>
          <p:cNvPr id="146"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13/55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What the Training Data Looks Like</a:t>
            </a:r>
            <a:endParaRPr lang="el-GR" sz="3000" b="0" u="none" strike="noStrike">
              <a:solidFill>
                <a:srgbClr val="ffffff"/>
              </a:solidFill>
              <a:effectLst/>
              <a:uFillTx/>
              <a:latin typeface="Arial"/>
            </a:endParaRPr>
          </a:p>
        </p:txBody>
      </p:sp>
      <p:sp>
        <p:nvSpPr>
          <p:cNvPr id="148" name="TextBox 2"/>
          <p:cNvSpPr/>
          <p:nvPr/>
        </p:nvSpPr>
        <p:spPr>
          <a:xfrm>
            <a:off x="457200" y="118872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c2a3a"/>
                </a:solidFill>
                <a:effectLst/>
                <a:uFillTx/>
                <a:latin typeface="Calibri"/>
              </a:rPr>
              <a:t>FinQA Training Example (Numerical Reasoning)</a:t>
            </a:r>
            <a:endParaRPr lang="el-GR" sz="1600" b="0" u="none" strike="noStrike">
              <a:solidFill>
                <a:srgbClr val="000000"/>
              </a:solidFill>
              <a:effectLst/>
              <a:uFillTx/>
              <a:latin typeface="Arial"/>
            </a:endParaRPr>
          </a:p>
        </p:txBody>
      </p:sp>
      <p:sp>
        <p:nvSpPr>
          <p:cNvPr id="149" name="Rectangle 3"/>
          <p:cNvSpPr/>
          <p:nvPr/>
        </p:nvSpPr>
        <p:spPr>
          <a:xfrm>
            <a:off x="457200" y="1645920"/>
            <a:ext cx="5028840" cy="228564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Input (table + question):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Table:</a:t>
            </a:r>
            <a:br>
              <a:rPr sz="1200"/>
            </a:br>
            <a:r>
              <a:rPr lang="en-US" sz="1200" b="0" u="none" strike="noStrike">
                <a:solidFill>
                  <a:srgbClr val="1c2a3a"/>
                </a:solidFill>
                <a:effectLst/>
                <a:uFillTx/>
                <a:latin typeface="Calibri"/>
              </a:rPr>
              <a:t>| Segment  | 2019   | 2018   |</a:t>
            </a:r>
            <a:br>
              <a:rPr sz="1200"/>
            </a:br>
            <a:r>
              <a:rPr lang="en-US" sz="1200" b="0" u="none" strike="noStrike">
                <a:solidFill>
                  <a:srgbClr val="1c2a3a"/>
                </a:solidFill>
                <a:effectLst/>
                <a:uFillTx/>
                <a:latin typeface="Calibri"/>
              </a:rPr>
              <a:t>| Products | $4,231 | $3,891 |</a:t>
            </a:r>
            <a:br>
              <a:rPr sz="1200"/>
            </a:br>
            <a:r>
              <a:rPr lang="en-US" sz="1200" b="0" u="none" strike="noStrike">
                <a:solidFill>
                  <a:srgbClr val="1c2a3a"/>
                </a:solidFill>
                <a:effectLst/>
                <a:uFillTx/>
                <a:latin typeface="Calibri"/>
              </a:rPr>
              <a:t>| Services | $2,107 | $1,988 |</a:t>
            </a:r>
            <a:br>
              <a:rPr sz="1200"/>
            </a:br>
            <a:br>
              <a:rPr sz="1200"/>
            </a:br>
            <a:r>
              <a:rPr lang="en-US" sz="1200" b="0" u="none" strike="noStrike">
                <a:solidFill>
                  <a:srgbClr val="1c2a3a"/>
                </a:solidFill>
                <a:effectLst/>
                <a:uFillTx/>
                <a:latin typeface="Calibri"/>
              </a:rPr>
              <a:t>Q: "What was the total revenue</a:t>
            </a:r>
            <a:br>
              <a:rPr sz="1200"/>
            </a:br>
            <a:r>
              <a:rPr lang="en-US" sz="1200" b="0" u="none" strike="noStrike">
                <a:solidFill>
                  <a:srgbClr val="1c2a3a"/>
                </a:solidFill>
                <a:effectLst/>
                <a:uFillTx/>
                <a:latin typeface="Calibri"/>
              </a:rPr>
              <a:t>    growth rate from 2018 to 2019?"</a:t>
            </a:r>
            <a:endParaRPr lang="el-GR" sz="1200" b="0" u="none" strike="noStrike">
              <a:solidFill>
                <a:srgbClr val="000000"/>
              </a:solidFill>
              <a:effectLst/>
              <a:uFillTx/>
              <a:latin typeface="Arial"/>
            </a:endParaRPr>
          </a:p>
        </p:txBody>
      </p:sp>
      <p:sp>
        <p:nvSpPr>
          <p:cNvPr id="150" name="Rectangle 4"/>
          <p:cNvSpPr/>
          <p:nvPr/>
        </p:nvSpPr>
        <p:spPr>
          <a:xfrm>
            <a:off x="5943600" y="1645920"/>
            <a:ext cx="5668920" cy="22856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Training label (reasoning + answer):</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add(3891, 1988) -&gt; 5879  [2018 total]</a:t>
            </a:r>
            <a:br>
              <a:rPr sz="1200"/>
            </a:br>
            <a:r>
              <a:rPr lang="en-US" sz="1200" b="0" u="none" strike="noStrike">
                <a:solidFill>
                  <a:srgbClr val="1c2a3a"/>
                </a:solidFill>
                <a:effectLst/>
                <a:uFillTx/>
                <a:latin typeface="Calibri"/>
              </a:rPr>
              <a:t>add(4231, 2107) -&gt; 6338  [2019 total]</a:t>
            </a:r>
            <a:br>
              <a:rPr sz="1200"/>
            </a:br>
            <a:r>
              <a:rPr lang="en-US" sz="1200" b="0" u="none" strike="noStrike">
                <a:solidFill>
                  <a:srgbClr val="1c2a3a"/>
                </a:solidFill>
                <a:effectLst/>
                <a:uFillTx/>
                <a:latin typeface="Calibri"/>
              </a:rPr>
              <a:t>subtract(6338, 5879) -&gt; 459</a:t>
            </a:r>
            <a:br>
              <a:rPr sz="1200"/>
            </a:br>
            <a:r>
              <a:rPr lang="en-US" sz="1200" b="0" u="none" strike="noStrike">
                <a:solidFill>
                  <a:srgbClr val="1c2a3a"/>
                </a:solidFill>
                <a:effectLst/>
                <a:uFillTx/>
                <a:latin typeface="Calibri"/>
              </a:rPr>
              <a:t>divide(459, 5879) -&gt; 0.0781</a:t>
            </a:r>
            <a:br>
              <a:rPr sz="1200"/>
            </a:br>
            <a:r>
              <a:rPr lang="en-US" sz="1200" b="0" u="none" strike="noStrike">
                <a:solidFill>
                  <a:srgbClr val="1c2a3a"/>
                </a:solidFill>
                <a:effectLst/>
                <a:uFillTx/>
                <a:latin typeface="Calibri"/>
              </a:rPr>
              <a:t>Answer: 7.81%</a:t>
            </a:r>
            <a:br>
              <a:rPr sz="1200"/>
            </a:br>
            <a:br>
              <a:rPr sz="1200"/>
            </a:br>
            <a:r>
              <a:rPr lang="en-US" sz="1200" b="0" u="none" strike="noStrike">
                <a:solidFill>
                  <a:srgbClr val="1c2a3a"/>
                </a:solidFill>
                <a:effectLst/>
                <a:uFillTx/>
                <a:latin typeface="Calibri"/>
              </a:rPr>
              <a:t>Model learns the STEPS, not just the number.</a:t>
            </a:r>
            <a:endParaRPr lang="el-GR" sz="1200" b="0" u="none" strike="noStrike">
              <a:solidFill>
                <a:srgbClr val="000000"/>
              </a:solidFill>
              <a:effectLst/>
              <a:uFillTx/>
              <a:latin typeface="Arial"/>
            </a:endParaRPr>
          </a:p>
        </p:txBody>
      </p:sp>
      <p:sp>
        <p:nvSpPr>
          <p:cNvPr id="151" name="TextBox 5"/>
          <p:cNvSpPr/>
          <p:nvPr/>
        </p:nvSpPr>
        <p:spPr>
          <a:xfrm>
            <a:off x="457200" y="411480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c2a3a"/>
                </a:solidFill>
                <a:effectLst/>
                <a:uFillTx/>
                <a:latin typeface="Calibri"/>
              </a:rPr>
              <a:t>Financial PhraseBank Examples (Sentiment)</a:t>
            </a:r>
            <a:endParaRPr lang="el-GR" sz="1600" b="0" u="none" strike="noStrike">
              <a:solidFill>
                <a:srgbClr val="000000"/>
              </a:solidFill>
              <a:effectLst/>
              <a:uFillTx/>
              <a:latin typeface="Arial"/>
            </a:endParaRPr>
          </a:p>
        </p:txBody>
      </p:sp>
      <p:graphicFrame>
        <p:nvGraphicFramePr>
          <p:cNvPr id="152" name="Table 6"/>
          <p:cNvGraphicFramePr/>
          <p:nvPr/>
        </p:nvGraphicFramePr>
        <p:xfrm>
          <a:off x="457200" y="4572000"/>
          <a:ext cx="11246760" cy="1645560"/>
        </p:xfrm>
        <a:graphic>
          <a:graphicData uri="http://schemas.openxmlformats.org/drawingml/2006/table">
            <a:tbl>
              <a:tblPr/>
              <a:tblGrid>
                <a:gridCol w="3749040"/>
                <a:gridCol w="3749040"/>
                <a:gridCol w="3749040"/>
              </a:tblGrid>
              <a:tr h="329040">
                <a:tc>
                  <a:txBody>
                    <a:bodyPr anchor="t">
                      <a:noAutofit/>
                    </a:bodyPr>
                    <a:p>
                      <a:pPr algn="ctr" defTabSz="457200">
                        <a:lnSpc>
                          <a:spcPct val="100000"/>
                        </a:lnSpc>
                      </a:pPr>
                      <a:r>
                        <a:rPr lang="en-US" sz="1200" b="1" u="none" strike="noStrike">
                          <a:solidFill>
                            <a:srgbClr val="ffffff"/>
                          </a:solidFill>
                          <a:effectLst/>
                          <a:uFillTx/>
                          <a:latin typeface="Calibri"/>
                        </a:rPr>
                        <a:t>Sentence</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Label</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What FinBERT Learned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29040">
                <a:tc>
                  <a:txBody>
                    <a:bodyPr anchor="t">
                      <a:noAutofit/>
                    </a:bodyPr>
                    <a:p>
                      <a:pPr defTabSz="457200">
                        <a:lnSpc>
                          <a:spcPct val="100000"/>
                        </a:lnSpc>
                      </a:pPr>
                      <a:r>
                        <a:rPr lang="en-US" sz="1100" b="0" u="none" strike="noStrike">
                          <a:solidFill>
                            <a:srgbClr val="1c2a3a"/>
                          </a:solidFill>
                          <a:effectLst/>
                          <a:uFillTx/>
                          <a:latin typeface="Calibri"/>
                        </a:rPr>
                        <a:t>Operating profit rose to EUR 13.1M from EUR 8.7M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'Rose' + growth numbers = positive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9040">
                <a:tc>
                  <a:txBody>
                    <a:bodyPr anchor="t">
                      <a:noAutofit/>
                    </a:bodyPr>
                    <a:p>
                      <a:pPr defTabSz="457200">
                        <a:lnSpc>
                          <a:spcPct val="100000"/>
                        </a:lnSpc>
                      </a:pPr>
                      <a:r>
                        <a:rPr lang="en-US" sz="1100" b="0" u="none" strike="noStrike">
                          <a:solidFill>
                            <a:srgbClr val="1c2a3a"/>
                          </a:solidFill>
                          <a:effectLst/>
                          <a:uFillTx/>
                          <a:latin typeface="Calibri"/>
                        </a:rPr>
                        <a:t>Management expects headwinds to persist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'Headwinds' + 'persist' = negative (jargon)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29040">
                <a:tc>
                  <a:txBody>
                    <a:bodyPr anchor="t">
                      <a:noAutofit/>
                    </a:bodyPr>
                    <a:p>
                      <a:pPr defTabSz="457200">
                        <a:lnSpc>
                          <a:spcPct val="100000"/>
                        </a:lnSpc>
                      </a:pPr>
                      <a:r>
                        <a:rPr lang="en-US" sz="1100" b="0" u="none" strike="noStrike">
                          <a:solidFill>
                            <a:srgbClr val="1c2a3a"/>
                          </a:solidFill>
                          <a:effectLst/>
                          <a:uFillTx/>
                          <a:latin typeface="Calibri"/>
                        </a:rPr>
                        <a:t>Maintained quarterly dividend at $0.50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NEUTRAL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'Maintained' = no change = neutral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9040">
                <a:tc>
                  <a:txBody>
                    <a:bodyPr anchor="t">
                      <a:noAutofit/>
                    </a:bodyPr>
                    <a:p>
                      <a:pPr defTabSz="457200">
                        <a:lnSpc>
                          <a:spcPct val="100000"/>
                        </a:lnSpc>
                      </a:pPr>
                      <a:r>
                        <a:rPr lang="en-US" sz="1100" b="0" u="none" strike="noStrike">
                          <a:solidFill>
                            <a:srgbClr val="1c2a3a"/>
                          </a:solidFill>
                          <a:effectLst/>
                          <a:uFillTx/>
                          <a:latin typeface="Calibri"/>
                        </a:rPr>
                        <a:t>Restructuring charges totaled $450M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'Restructuring charges' + 'write-downs' = 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153"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14/55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Head-to-Head: RAG vs Fine-Tuning vs Hybrid</a:t>
            </a:r>
            <a:endParaRPr lang="el-GR" sz="3000" b="0" u="none" strike="noStrike">
              <a:solidFill>
                <a:srgbClr val="ffffff"/>
              </a:solidFill>
              <a:effectLst/>
              <a:uFillTx/>
              <a:latin typeface="Arial"/>
            </a:endParaRPr>
          </a:p>
        </p:txBody>
      </p:sp>
      <p:graphicFrame>
        <p:nvGraphicFramePr>
          <p:cNvPr id="155" name="Table 2"/>
          <p:cNvGraphicFramePr/>
          <p:nvPr/>
        </p:nvGraphicFramePr>
        <p:xfrm>
          <a:off x="457200" y="1371600"/>
          <a:ext cx="11246760" cy="4114800"/>
        </p:xfrm>
        <a:graphic>
          <a:graphicData uri="http://schemas.openxmlformats.org/drawingml/2006/table">
            <a:tbl>
              <a:tblPr/>
              <a:tblGrid>
                <a:gridCol w="2811600"/>
                <a:gridCol w="2811600"/>
                <a:gridCol w="2811600"/>
                <a:gridCol w="2811600"/>
              </a:tblGrid>
              <a:tr h="457200">
                <a:tc>
                  <a:txBody>
                    <a:bodyPr anchor="t">
                      <a:noAutofit/>
                    </a:bodyPr>
                    <a:p>
                      <a:pPr algn="ctr" defTabSz="457200">
                        <a:lnSpc>
                          <a:spcPct val="100000"/>
                        </a:lnSpc>
                      </a:pPr>
                      <a:r>
                        <a:rPr lang="en-US" sz="1200" b="1" u="none" strike="noStrike">
                          <a:solidFill>
                            <a:srgbClr val="ffffff"/>
                          </a:solidFill>
                          <a:effectLst/>
                          <a:uFillTx/>
                          <a:latin typeface="Calibri"/>
                        </a:rPr>
                        <a:t>Dimension</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Fine-Tuning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Hybrid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Knowledge Type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External (retrieved)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Internal (learned)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Both</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Teaches New Skills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Yes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Yes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Setup Cost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Low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Higher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Highest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Inference Latency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Higher (~800ms)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Lower (~200ms)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Medium (~450ms)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Accuracy (Domain)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Lower (15-40%)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Higher (60-95%)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Highest (65%+)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Output Consistency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Variable (65%)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High (98%)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High (95%)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Source Citations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Yes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Yes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Handles Fresh Data</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Yes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No (static)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Yes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156" name="Rectangle 3"/>
          <p:cNvSpPr/>
          <p:nvPr/>
        </p:nvSpPr>
        <p:spPr>
          <a:xfrm>
            <a:off x="457200" y="5669280"/>
            <a:ext cx="11246760" cy="6397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Key insight: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RAG and Fine-Tuning are complementary, not competing. The best solution often combines both.</a:t>
            </a:r>
            <a:endParaRPr lang="el-GR" sz="1200" b="0" u="none" strike="noStrike">
              <a:solidFill>
                <a:srgbClr val="000000"/>
              </a:solidFill>
              <a:effectLst/>
              <a:uFillTx/>
              <a:latin typeface="Arial"/>
            </a:endParaRPr>
          </a:p>
        </p:txBody>
      </p:sp>
      <p:sp>
        <p:nvSpPr>
          <p:cNvPr id="157"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15/55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When RAG Falls Short: Real Examples</a:t>
            </a:r>
            <a:endParaRPr lang="el-GR" sz="3000" b="0" u="none" strike="noStrike">
              <a:solidFill>
                <a:srgbClr val="ffffff"/>
              </a:solidFill>
              <a:effectLst/>
              <a:uFillTx/>
              <a:latin typeface="Arial"/>
            </a:endParaRPr>
          </a:p>
        </p:txBody>
      </p:sp>
      <p:sp>
        <p:nvSpPr>
          <p:cNvPr id="159" name="TextBox 2"/>
          <p:cNvSpPr/>
          <p:nvPr/>
        </p:nvSpPr>
        <p:spPr>
          <a:xfrm>
            <a:off x="457200" y="1188720"/>
            <a:ext cx="109724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1c2a3a"/>
                </a:solidFill>
                <a:effectLst/>
                <a:uFillTx/>
                <a:latin typeface="Calibri"/>
              </a:rPr>
              <a:t>Example 1: Financial Calculation</a:t>
            </a:r>
            <a:endParaRPr lang="el-GR" sz="1800" b="0" u="none" strike="noStrike">
              <a:solidFill>
                <a:srgbClr val="000000"/>
              </a:solidFill>
              <a:effectLst/>
              <a:uFillTx/>
              <a:latin typeface="Arial"/>
            </a:endParaRPr>
          </a:p>
        </p:txBody>
      </p:sp>
      <p:sp>
        <p:nvSpPr>
          <p:cNvPr id="160" name="Rectangle 3"/>
          <p:cNvSpPr/>
          <p:nvPr/>
        </p:nvSpPr>
        <p:spPr>
          <a:xfrm>
            <a:off x="457200" y="1645920"/>
            <a:ext cx="5303160" cy="182844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Response: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"Retrieved: Revenue growth formula = (Current - Prior) / Prior..."</a:t>
            </a:r>
            <a:br>
              <a:rPr sz="1200"/>
            </a:br>
            <a:r>
              <a:rPr lang="en-US" sz="1200" b="0" u="none" strike="noStrike">
                <a:solidFill>
                  <a:srgbClr val="1c2a3a"/>
                </a:solidFill>
                <a:effectLst/>
                <a:uFillTx/>
                <a:latin typeface="Calibri"/>
              </a:rPr>
              <a:t>"The revenue appears to have grown."</a:t>
            </a:r>
            <a:br>
              <a:rPr sz="1200"/>
            </a:br>
            <a:br>
              <a:rPr sz="1200"/>
            </a:br>
            <a:r>
              <a:rPr lang="en-US" sz="1200" b="0" u="none" strike="noStrike">
                <a:solidFill>
                  <a:srgbClr val="1c2a3a"/>
                </a:solidFill>
                <a:effectLst/>
                <a:uFillTx/>
                <a:latin typeface="Calibri"/>
              </a:rPr>
              <a:t>Result: Vague, no actual calculation</a:t>
            </a:r>
            <a:endParaRPr lang="el-GR" sz="1200" b="0" u="none" strike="noStrike">
              <a:solidFill>
                <a:srgbClr val="000000"/>
              </a:solidFill>
              <a:effectLst/>
              <a:uFillTx/>
              <a:latin typeface="Arial"/>
            </a:endParaRPr>
          </a:p>
        </p:txBody>
      </p:sp>
      <p:sp>
        <p:nvSpPr>
          <p:cNvPr id="161" name="Rectangle 4"/>
          <p:cNvSpPr/>
          <p:nvPr/>
        </p:nvSpPr>
        <p:spPr>
          <a:xfrm>
            <a:off x="6217920" y="1645920"/>
            <a:ext cx="5303160" cy="18284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Fine-Tuned Response: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Step 1: 2022 total = $25,330M</a:t>
            </a:r>
            <a:br>
              <a:rPr sz="1200"/>
            </a:br>
            <a:r>
              <a:rPr lang="en-US" sz="1200" b="0" u="none" strike="noStrike">
                <a:solidFill>
                  <a:srgbClr val="1c2a3a"/>
                </a:solidFill>
                <a:effectLst/>
                <a:uFillTx/>
                <a:latin typeface="Calibri"/>
              </a:rPr>
              <a:t>Step 2: 2023 total = $25,950M</a:t>
            </a:r>
            <a:br>
              <a:rPr sz="1200"/>
            </a:br>
            <a:r>
              <a:rPr lang="en-US" sz="1200" b="0" u="none" strike="noStrike">
                <a:solidFill>
                  <a:srgbClr val="1c2a3a"/>
                </a:solidFill>
                <a:effectLst/>
                <a:uFillTx/>
                <a:latin typeface="Calibri"/>
              </a:rPr>
              <a:t>Step 3: Growth = (25,950-25,330)/25,330 = 2.45%</a:t>
            </a:r>
            <a:br>
              <a:rPr sz="1200"/>
            </a:br>
            <a:br>
              <a:rPr sz="1200"/>
            </a:br>
            <a:r>
              <a:rPr lang="en-US" sz="1200" b="0" u="none" strike="noStrike">
                <a:solidFill>
                  <a:srgbClr val="1c2a3a"/>
                </a:solidFill>
                <a:effectLst/>
                <a:uFillTx/>
                <a:latin typeface="Calibri"/>
              </a:rPr>
              <a:t>Result: Precise answer with reasoning</a:t>
            </a:r>
            <a:endParaRPr lang="el-GR" sz="1200" b="0" u="none" strike="noStrike">
              <a:solidFill>
                <a:srgbClr val="000000"/>
              </a:solidFill>
              <a:effectLst/>
              <a:uFillTx/>
              <a:latin typeface="Arial"/>
            </a:endParaRPr>
          </a:p>
        </p:txBody>
      </p:sp>
      <p:sp>
        <p:nvSpPr>
          <p:cNvPr id="162" name="TextBox 5"/>
          <p:cNvSpPr/>
          <p:nvPr/>
        </p:nvSpPr>
        <p:spPr>
          <a:xfrm>
            <a:off x="457200" y="3840480"/>
            <a:ext cx="109724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1c2a3a"/>
                </a:solidFill>
                <a:effectLst/>
                <a:uFillTx/>
                <a:latin typeface="Calibri"/>
              </a:rPr>
              <a:t>Example 2: Sentiment Analysis</a:t>
            </a:r>
            <a:endParaRPr lang="el-GR" sz="1800" b="0" u="none" strike="noStrike">
              <a:solidFill>
                <a:srgbClr val="000000"/>
              </a:solidFill>
              <a:effectLst/>
              <a:uFillTx/>
              <a:latin typeface="Arial"/>
            </a:endParaRPr>
          </a:p>
        </p:txBody>
      </p:sp>
      <p:sp>
        <p:nvSpPr>
          <p:cNvPr id="163" name="Rectangle 6"/>
          <p:cNvSpPr/>
          <p:nvPr/>
        </p:nvSpPr>
        <p:spPr>
          <a:xfrm>
            <a:off x="457200" y="4297680"/>
            <a:ext cx="5303160" cy="137124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"Management expects headwinds to persist"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"Based on retrieved definitions... unclear/neutral"</a:t>
            </a:r>
            <a:br>
              <a:rPr sz="1200"/>
            </a:br>
            <a:r>
              <a:rPr lang="en-US" sz="1200" b="0" u="none" strike="noStrike">
                <a:solidFill>
                  <a:srgbClr val="1c2a3a"/>
                </a:solidFill>
                <a:effectLst/>
                <a:uFillTx/>
                <a:latin typeface="Calibri"/>
              </a:rPr>
              <a:t>Missed the nuance of 'headwinds'</a:t>
            </a:r>
            <a:endParaRPr lang="el-GR" sz="1200" b="0" u="none" strike="noStrike">
              <a:solidFill>
                <a:srgbClr val="000000"/>
              </a:solidFill>
              <a:effectLst/>
              <a:uFillTx/>
              <a:latin typeface="Arial"/>
            </a:endParaRPr>
          </a:p>
        </p:txBody>
      </p:sp>
      <p:sp>
        <p:nvSpPr>
          <p:cNvPr id="164" name="Rectangle 7"/>
          <p:cNvSpPr/>
          <p:nvPr/>
        </p:nvSpPr>
        <p:spPr>
          <a:xfrm>
            <a:off x="6217920" y="4297680"/>
            <a:ext cx="5303160" cy="13712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FinBERT: "Management expects headwinds to persist"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NEGATIVE (confidence: 91%)</a:t>
            </a:r>
            <a:br>
              <a:rPr sz="1200"/>
            </a:br>
            <a:r>
              <a:rPr lang="en-US" sz="1200" b="0" u="none" strike="noStrike">
                <a:solidFill>
                  <a:srgbClr val="1c2a3a"/>
                </a:solidFill>
                <a:effectLst/>
                <a:uFillTx/>
                <a:latin typeface="Calibri"/>
              </a:rPr>
              <a:t>Correctly identifies domain-specific vocabulary</a:t>
            </a:r>
            <a:endParaRPr lang="el-GR" sz="1200" b="0" u="none" strike="noStrike">
              <a:solidFill>
                <a:srgbClr val="000000"/>
              </a:solidFill>
              <a:effectLst/>
              <a:uFillTx/>
              <a:latin typeface="Arial"/>
            </a:endParaRPr>
          </a:p>
        </p:txBody>
      </p:sp>
      <p:sp>
        <p:nvSpPr>
          <p:cNvPr id="165" name="TextBox 8"/>
          <p:cNvSpPr/>
          <p:nvPr/>
        </p:nvSpPr>
        <p:spPr>
          <a:xfrm>
            <a:off x="457200" y="5943600"/>
            <a:ext cx="109724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1c2a3a"/>
                </a:solidFill>
                <a:effectLst/>
                <a:uFillTx/>
                <a:latin typeface="Calibri"/>
              </a:rPr>
              <a:t>Example 3: Spam Detection</a:t>
            </a:r>
            <a:endParaRPr lang="el-GR" sz="1800" b="0" u="none" strike="noStrike">
              <a:solidFill>
                <a:srgbClr val="000000"/>
              </a:solidFill>
              <a:effectLst/>
              <a:uFillTx/>
              <a:latin typeface="Arial"/>
            </a:endParaRPr>
          </a:p>
        </p:txBody>
      </p:sp>
      <p:sp>
        <p:nvSpPr>
          <p:cNvPr id="166" name="Rectangle 9"/>
          <p:cNvSpPr/>
          <p:nvPr/>
        </p:nvSpPr>
        <p:spPr>
          <a:xfrm>
            <a:off x="457200" y="6309360"/>
            <a:ext cx="5303160" cy="118836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"Your prescription is ready for pickup at Walgreens"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Retrieved medication-spam examples with similar vocabulary.</a:t>
            </a:r>
            <a:br>
              <a:rPr sz="1200"/>
            </a:br>
            <a:r>
              <a:rPr lang="en-US" sz="1200" b="0" u="none" strike="noStrike">
                <a:solidFill>
                  <a:srgbClr val="1c2a3a"/>
                </a:solidFill>
                <a:effectLst/>
                <a:uFillTx/>
                <a:latin typeface="Calibri"/>
              </a:rPr>
              <a:t>Voted SPAM -- misclassified a legitimate notification.</a:t>
            </a:r>
            <a:endParaRPr lang="el-GR" sz="1200" b="0" u="none" strike="noStrike">
              <a:solidFill>
                <a:srgbClr val="000000"/>
              </a:solidFill>
              <a:effectLst/>
              <a:uFillTx/>
              <a:latin typeface="Arial"/>
            </a:endParaRPr>
          </a:p>
        </p:txBody>
      </p:sp>
      <p:sp>
        <p:nvSpPr>
          <p:cNvPr id="167" name="Rectangle 10"/>
          <p:cNvSpPr/>
          <p:nvPr/>
        </p:nvSpPr>
        <p:spPr>
          <a:xfrm>
            <a:off x="6217920" y="6309360"/>
            <a:ext cx="5303160" cy="11883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Fine-Tuned DistilBERT: same email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HAM (confidence: 99%)</a:t>
            </a:r>
            <a:br>
              <a:rPr sz="1200"/>
            </a:br>
            <a:r>
              <a:rPr lang="en-US" sz="1200" b="0" u="none" strike="noStrike">
                <a:solidFill>
                  <a:srgbClr val="1c2a3a"/>
                </a:solidFill>
                <a:effectLst/>
                <a:uFillTx/>
                <a:latin typeface="Calibri"/>
              </a:rPr>
              <a:t>Learned that pharmacy pickups lack phishing cues.</a:t>
            </a:r>
            <a:endParaRPr lang="el-GR" sz="1200" b="0" u="none" strike="noStrike">
              <a:solidFill>
                <a:srgbClr val="000000"/>
              </a:solidFill>
              <a:effectLst/>
              <a:uFillTx/>
              <a:latin typeface="Arial"/>
            </a:endParaRPr>
          </a:p>
        </p:txBody>
      </p:sp>
      <p:sp>
        <p:nvSpPr>
          <p:cNvPr id="168" name="TextBox 11"/>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16/55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Decision Framework: When to Use What</a:t>
            </a:r>
            <a:endParaRPr lang="el-GR" sz="3000" b="0" u="none" strike="noStrike">
              <a:solidFill>
                <a:srgbClr val="ffffff"/>
              </a:solidFill>
              <a:effectLst/>
              <a:uFillTx/>
              <a:latin typeface="Arial"/>
            </a:endParaRPr>
          </a:p>
        </p:txBody>
      </p:sp>
      <p:pic>
        <p:nvPicPr>
          <p:cNvPr id="170" name="Picture 2" descr="decision_framework.png"/>
          <p:cNvPicPr/>
          <p:nvPr/>
        </p:nvPicPr>
        <p:blipFill>
          <a:blip r:embed="rId1"/>
          <a:stretch/>
        </p:blipFill>
        <p:spPr>
          <a:xfrm>
            <a:off x="1371600" y="1097280"/>
            <a:ext cx="9143640" cy="3200040"/>
          </a:xfrm>
          <a:prstGeom prst="rect">
            <a:avLst/>
          </a:prstGeom>
          <a:noFill/>
          <a:ln w="0">
            <a:noFill/>
          </a:ln>
        </p:spPr>
      </p:pic>
      <p:sp>
        <p:nvSpPr>
          <p:cNvPr id="171" name="Rectangle 3"/>
          <p:cNvSpPr/>
          <p:nvPr/>
        </p:nvSpPr>
        <p:spPr>
          <a:xfrm>
            <a:off x="457200" y="4389120"/>
            <a:ext cx="3474360" cy="2011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Choose RAG when: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Data changes frequently</a:t>
            </a:r>
            <a:br>
              <a:rPr sz="1200"/>
            </a:br>
            <a:r>
              <a:rPr lang="en-US" sz="1200" b="0" u="none" strike="noStrike">
                <a:solidFill>
                  <a:srgbClr val="1c2a3a"/>
                </a:solidFill>
                <a:effectLst/>
                <a:uFillTx/>
                <a:latin typeface="Calibri"/>
              </a:rPr>
              <a:t>- Need source citations</a:t>
            </a:r>
            <a:br>
              <a:rPr sz="1200"/>
            </a:br>
            <a:r>
              <a:rPr lang="en-US" sz="1200" b="0" u="none" strike="noStrike">
                <a:solidFill>
                  <a:srgbClr val="1c2a3a"/>
                </a:solidFill>
                <a:effectLst/>
                <a:uFillTx/>
                <a:latin typeface="Calibri"/>
              </a:rPr>
              <a:t>- No training data</a:t>
            </a:r>
            <a:br>
              <a:rPr sz="1200"/>
            </a:br>
            <a:r>
              <a:rPr lang="en-US" sz="1200" b="0" u="none" strike="noStrike">
                <a:solidFill>
                  <a:srgbClr val="1c2a3a"/>
                </a:solidFill>
                <a:effectLst/>
                <a:uFillTx/>
                <a:latin typeface="Calibri"/>
              </a:rPr>
              <a:t>- Quick deployment</a:t>
            </a:r>
            <a:endParaRPr lang="el-GR" sz="1200" b="0" u="none" strike="noStrike">
              <a:solidFill>
                <a:srgbClr val="000000"/>
              </a:solidFill>
              <a:effectLst/>
              <a:uFillTx/>
              <a:latin typeface="Arial"/>
            </a:endParaRPr>
          </a:p>
        </p:txBody>
      </p:sp>
      <p:sp>
        <p:nvSpPr>
          <p:cNvPr id="172" name="Rectangle 4"/>
          <p:cNvSpPr/>
          <p:nvPr/>
        </p:nvSpPr>
        <p:spPr>
          <a:xfrm>
            <a:off x="4297680" y="4389120"/>
            <a:ext cx="3474360" cy="2011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Choose Fine-Tuning when: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Specialized skills needed</a:t>
            </a:r>
            <a:br>
              <a:rPr sz="1200"/>
            </a:br>
            <a:r>
              <a:rPr lang="en-US" sz="1200" b="0" u="none" strike="noStrike">
                <a:solidFill>
                  <a:srgbClr val="1c2a3a"/>
                </a:solidFill>
                <a:effectLst/>
                <a:uFillTx/>
                <a:latin typeface="Calibri"/>
              </a:rPr>
              <a:t>- High accuracy critical</a:t>
            </a:r>
            <a:br>
              <a:rPr sz="1200"/>
            </a:br>
            <a:r>
              <a:rPr lang="en-US" sz="1200" b="0" u="none" strike="noStrike">
                <a:solidFill>
                  <a:srgbClr val="1c2a3a"/>
                </a:solidFill>
                <a:effectLst/>
                <a:uFillTx/>
                <a:latin typeface="Calibri"/>
              </a:rPr>
              <a:t>- Consistent output required</a:t>
            </a:r>
            <a:br>
              <a:rPr sz="1200"/>
            </a:br>
            <a:r>
              <a:rPr lang="en-US" sz="1200" b="0" u="none" strike="noStrike">
                <a:solidFill>
                  <a:srgbClr val="1c2a3a"/>
                </a:solidFill>
                <a:effectLst/>
                <a:uFillTx/>
                <a:latin typeface="Calibri"/>
              </a:rPr>
              <a:t>- Low latency matters</a:t>
            </a:r>
            <a:endParaRPr lang="el-GR" sz="1200" b="0" u="none" strike="noStrike">
              <a:solidFill>
                <a:srgbClr val="000000"/>
              </a:solidFill>
              <a:effectLst/>
              <a:uFillTx/>
              <a:latin typeface="Arial"/>
            </a:endParaRPr>
          </a:p>
        </p:txBody>
      </p:sp>
      <p:sp>
        <p:nvSpPr>
          <p:cNvPr id="173" name="Rectangle 5"/>
          <p:cNvSpPr/>
          <p:nvPr/>
        </p:nvSpPr>
        <p:spPr>
          <a:xfrm>
            <a:off x="8138160" y="4389120"/>
            <a:ext cx="3474360" cy="2011320"/>
          </a:xfrm>
          <a:prstGeom prst="rect">
            <a:avLst/>
          </a:prstGeom>
          <a:solidFill>
            <a:srgbClr val="d7c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Choose Hybrid when: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Maximum accuracy needed</a:t>
            </a:r>
            <a:br>
              <a:rPr sz="1200"/>
            </a:br>
            <a:r>
              <a:rPr lang="en-US" sz="1200" b="0" u="none" strike="noStrike">
                <a:solidFill>
                  <a:srgbClr val="1c2a3a"/>
                </a:solidFill>
                <a:effectLst/>
                <a:uFillTx/>
                <a:latin typeface="Calibri"/>
              </a:rPr>
              <a:t>- Complex domain analysis</a:t>
            </a:r>
            <a:br>
              <a:rPr sz="1200"/>
            </a:br>
            <a:r>
              <a:rPr lang="en-US" sz="1200" b="0" u="none" strike="noStrike">
                <a:solidFill>
                  <a:srgbClr val="1c2a3a"/>
                </a:solidFill>
                <a:effectLst/>
                <a:uFillTx/>
                <a:latin typeface="Calibri"/>
              </a:rPr>
              <a:t>- Both skills AND fresh data</a:t>
            </a:r>
            <a:br>
              <a:rPr sz="1200"/>
            </a:br>
            <a:r>
              <a:rPr lang="en-US" sz="1200" b="0" u="none" strike="noStrike">
                <a:solidFill>
                  <a:srgbClr val="1c2a3a"/>
                </a:solidFill>
                <a:effectLst/>
                <a:uFillTx/>
                <a:latin typeface="Calibri"/>
              </a:rPr>
              <a:t>- Production systems</a:t>
            </a:r>
            <a:endParaRPr lang="el-GR" sz="1200" b="0" u="none" strike="noStrike">
              <a:solidFill>
                <a:srgbClr val="000000"/>
              </a:solidFill>
              <a:effectLst/>
              <a:uFillTx/>
              <a:latin typeface="Arial"/>
            </a:endParaRPr>
          </a:p>
        </p:txBody>
      </p:sp>
      <p:sp>
        <p:nvSpPr>
          <p:cNvPr id="174" name="TextBox 6"/>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17/55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Fine-Tuning: The Essential Toolkit</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Everything you need from data prep to production deployment</a:t>
            </a:r>
            <a:endParaRPr lang="el-GR" sz="1600" b="0" u="none" strike="noStrike">
              <a:solidFill>
                <a:srgbClr val="ffffff"/>
              </a:solidFill>
              <a:effectLst/>
              <a:uFillTx/>
              <a:latin typeface="Arial"/>
            </a:endParaRPr>
          </a:p>
        </p:txBody>
      </p:sp>
      <p:sp>
        <p:nvSpPr>
          <p:cNvPr id="176" name="TextBox 2"/>
          <p:cNvSpPr/>
          <p:nvPr/>
        </p:nvSpPr>
        <p:spPr>
          <a:xfrm>
            <a:off x="274320" y="1188720"/>
            <a:ext cx="37486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500" b="1" u="none" strike="noStrike">
                <a:solidFill>
                  <a:srgbClr val="1c2a3a"/>
                </a:solidFill>
                <a:effectLst/>
                <a:uFillTx/>
                <a:latin typeface="Calibri"/>
              </a:rPr>
              <a:t>Training Frameworks</a:t>
            </a:r>
            <a:endParaRPr lang="el-GR" sz="1500" b="0" u="none" strike="noStrike">
              <a:solidFill>
                <a:srgbClr val="000000"/>
              </a:solidFill>
              <a:effectLst/>
              <a:uFillTx/>
              <a:latin typeface="Arial"/>
            </a:endParaRPr>
          </a:p>
        </p:txBody>
      </p:sp>
      <p:sp>
        <p:nvSpPr>
          <p:cNvPr id="177" name="Rectangle 3"/>
          <p:cNvSpPr/>
          <p:nvPr/>
        </p:nvSpPr>
        <p:spPr>
          <a:xfrm>
            <a:off x="274320" y="164592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HuggingFace Transformers + PEFT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Industry standard. Full/LoRA/QLoRA. Custom training loops.</a:t>
            </a:r>
            <a:br>
              <a:rPr sz="1200"/>
            </a:br>
            <a:r>
              <a:rPr lang="en-US" sz="1200" b="0" u="none" strike="noStrike">
                <a:solidFill>
                  <a:srgbClr val="1c2a3a"/>
                </a:solidFill>
                <a:effectLst/>
                <a:uFillTx/>
                <a:latin typeface="Calibri"/>
              </a:rPr>
              <a:t>Use when: You want maximum flexibility and control.</a:t>
            </a:r>
            <a:endParaRPr lang="el-GR" sz="1200" b="0" u="none" strike="noStrike">
              <a:solidFill>
                <a:srgbClr val="000000"/>
              </a:solidFill>
              <a:effectLst/>
              <a:uFillTx/>
              <a:latin typeface="Arial"/>
            </a:endParaRPr>
          </a:p>
        </p:txBody>
      </p:sp>
      <p:sp>
        <p:nvSpPr>
          <p:cNvPr id="178" name="Rectangle 4"/>
          <p:cNvSpPr/>
          <p:nvPr/>
        </p:nvSpPr>
        <p:spPr>
          <a:xfrm>
            <a:off x="274320" y="260604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Unsloth</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2-5x faster training, 70% less VRAM. Optimized CUDA kernels.</a:t>
            </a:r>
            <a:br>
              <a:rPr sz="1200"/>
            </a:br>
            <a:r>
              <a:rPr lang="en-US" sz="1200" b="0" u="none" strike="noStrike">
                <a:solidFill>
                  <a:srgbClr val="1c2a3a"/>
                </a:solidFill>
                <a:effectLst/>
                <a:uFillTx/>
                <a:latin typeface="Calibri"/>
              </a:rPr>
              <a:t>Use when: Consumer GPU (RTX 3060+), fast iteration.</a:t>
            </a:r>
            <a:endParaRPr lang="el-GR" sz="1200" b="0" u="none" strike="noStrike">
              <a:solidFill>
                <a:srgbClr val="000000"/>
              </a:solidFill>
              <a:effectLst/>
              <a:uFillTx/>
              <a:latin typeface="Arial"/>
            </a:endParaRPr>
          </a:p>
        </p:txBody>
      </p:sp>
      <p:sp>
        <p:nvSpPr>
          <p:cNvPr id="179" name="Rectangle 5"/>
          <p:cNvSpPr/>
          <p:nvPr/>
        </p:nvSpPr>
        <p:spPr>
          <a:xfrm>
            <a:off x="274320" y="356616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Axolotl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YAML config-driven. Reproducible runs. Multi-model support.</a:t>
            </a:r>
            <a:br>
              <a:rPr sz="1200"/>
            </a:br>
            <a:r>
              <a:rPr lang="en-US" sz="1200" b="0" u="none" strike="noStrike">
                <a:solidFill>
                  <a:srgbClr val="1c2a3a"/>
                </a:solidFill>
                <a:effectLst/>
                <a:uFillTx/>
                <a:latin typeface="Calibri"/>
              </a:rPr>
              <a:t>Use when: Team workflows, experiment reproducibility.</a:t>
            </a:r>
            <a:endParaRPr lang="el-GR" sz="1200" b="0" u="none" strike="noStrike">
              <a:solidFill>
                <a:srgbClr val="000000"/>
              </a:solidFill>
              <a:effectLst/>
              <a:uFillTx/>
              <a:latin typeface="Arial"/>
            </a:endParaRPr>
          </a:p>
        </p:txBody>
      </p:sp>
      <p:sp>
        <p:nvSpPr>
          <p:cNvPr id="180" name="Rectangle 6"/>
          <p:cNvSpPr/>
          <p:nvPr/>
        </p:nvSpPr>
        <p:spPr>
          <a:xfrm>
            <a:off x="274320" y="452628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LLaMA-Factory</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Web UI dashboard. 100+ LLMs. No-code fine-tuning.</a:t>
            </a:r>
            <a:br>
              <a:rPr sz="1200"/>
            </a:br>
            <a:r>
              <a:rPr lang="en-US" sz="1200" b="0" u="none" strike="noStrike">
                <a:solidFill>
                  <a:srgbClr val="1c2a3a"/>
                </a:solidFill>
                <a:effectLst/>
                <a:uFillTx/>
                <a:latin typeface="Calibri"/>
              </a:rPr>
              <a:t>Use when: Non-ML engineers, rapid prototyping.</a:t>
            </a:r>
            <a:endParaRPr lang="el-GR" sz="1200" b="0" u="none" strike="noStrike">
              <a:solidFill>
                <a:srgbClr val="000000"/>
              </a:solidFill>
              <a:effectLst/>
              <a:uFillTx/>
              <a:latin typeface="Arial"/>
            </a:endParaRPr>
          </a:p>
        </p:txBody>
      </p:sp>
      <p:sp>
        <p:nvSpPr>
          <p:cNvPr id="181" name="Rectangle 7"/>
          <p:cNvSpPr/>
          <p:nvPr/>
        </p:nvSpPr>
        <p:spPr>
          <a:xfrm>
            <a:off x="274320" y="548640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TRL (Transformer RL)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SFT, DPO, RLHF trainers. Integrates with PEFT.</a:t>
            </a:r>
            <a:br>
              <a:rPr sz="1200"/>
            </a:br>
            <a:r>
              <a:rPr lang="en-US" sz="1200" b="0" u="none" strike="noStrike">
                <a:solidFill>
                  <a:srgbClr val="1c2a3a"/>
                </a:solidFill>
                <a:effectLst/>
                <a:uFillTx/>
                <a:latin typeface="Calibri"/>
              </a:rPr>
              <a:t>Use when: Alignment tuning, RLHF, preference learning.</a:t>
            </a:r>
            <a:endParaRPr lang="el-GR" sz="1200" b="0" u="none" strike="noStrike">
              <a:solidFill>
                <a:srgbClr val="000000"/>
              </a:solidFill>
              <a:effectLst/>
              <a:uFillTx/>
              <a:latin typeface="Arial"/>
            </a:endParaRPr>
          </a:p>
        </p:txBody>
      </p:sp>
      <p:sp>
        <p:nvSpPr>
          <p:cNvPr id="182" name="TextBox 8"/>
          <p:cNvSpPr/>
          <p:nvPr/>
        </p:nvSpPr>
        <p:spPr>
          <a:xfrm>
            <a:off x="4206240" y="1188720"/>
            <a:ext cx="37486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500" b="1" u="none" strike="noStrike">
                <a:solidFill>
                  <a:srgbClr val="1c2a3a"/>
                </a:solidFill>
                <a:effectLst/>
                <a:uFillTx/>
                <a:latin typeface="Calibri"/>
              </a:rPr>
              <a:t>Cloud Platforms</a:t>
            </a:r>
            <a:endParaRPr lang="el-GR" sz="1500" b="0" u="none" strike="noStrike">
              <a:solidFill>
                <a:srgbClr val="000000"/>
              </a:solidFill>
              <a:effectLst/>
              <a:uFillTx/>
              <a:latin typeface="Arial"/>
            </a:endParaRPr>
          </a:p>
        </p:txBody>
      </p:sp>
      <p:sp>
        <p:nvSpPr>
          <p:cNvPr id="183" name="Rectangle 9"/>
          <p:cNvSpPr/>
          <p:nvPr/>
        </p:nvSpPr>
        <p:spPr>
          <a:xfrm>
            <a:off x="4206240" y="164592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AWS SageMaker JumpStart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One-click fine-tune 400+ models. Managed infra, S3 data.</a:t>
            </a:r>
            <a:br>
              <a:rPr sz="1200"/>
            </a:br>
            <a:r>
              <a:rPr lang="en-US" sz="1200" b="0" u="none" strike="noStrike">
                <a:solidFill>
                  <a:srgbClr val="1c2a3a"/>
                </a:solidFill>
                <a:effectLst/>
                <a:uFillTx/>
                <a:latin typeface="Calibri"/>
              </a:rPr>
              <a:t>Use when: AWS shop, enterprise, need managed GPUs.</a:t>
            </a:r>
            <a:endParaRPr lang="el-GR" sz="1200" b="0" u="none" strike="noStrike">
              <a:solidFill>
                <a:srgbClr val="000000"/>
              </a:solidFill>
              <a:effectLst/>
              <a:uFillTx/>
              <a:latin typeface="Arial"/>
            </a:endParaRPr>
          </a:p>
        </p:txBody>
      </p:sp>
      <p:sp>
        <p:nvSpPr>
          <p:cNvPr id="184" name="Rectangle 10"/>
          <p:cNvSpPr/>
          <p:nvPr/>
        </p:nvSpPr>
        <p:spPr>
          <a:xfrm>
            <a:off x="4206240" y="260604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Amazon Bedrock Custom Models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Fully managed, no-code. Llama/Titan/Cohere fine-tuning.</a:t>
            </a:r>
            <a:br>
              <a:rPr sz="1200"/>
            </a:br>
            <a:r>
              <a:rPr lang="en-US" sz="1200" b="0" u="none" strike="noStrike">
                <a:solidFill>
                  <a:srgbClr val="1c2a3a"/>
                </a:solidFill>
                <a:effectLst/>
                <a:uFillTx/>
                <a:latin typeface="Calibri"/>
              </a:rPr>
              <a:t>Use when: Simplest path, no ML ops team.</a:t>
            </a:r>
            <a:endParaRPr lang="el-GR" sz="1200" b="0" u="none" strike="noStrike">
              <a:solidFill>
                <a:srgbClr val="000000"/>
              </a:solidFill>
              <a:effectLst/>
              <a:uFillTx/>
              <a:latin typeface="Arial"/>
            </a:endParaRPr>
          </a:p>
        </p:txBody>
      </p:sp>
      <p:sp>
        <p:nvSpPr>
          <p:cNvPr id="185" name="Rectangle 11"/>
          <p:cNvSpPr/>
          <p:nvPr/>
        </p:nvSpPr>
        <p:spPr>
          <a:xfrm>
            <a:off x="4206240" y="356616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OpenAI Fine-Tuning API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Upload JSONL, fine-tune GPT-4o/4o-mini. Hosted inference.</a:t>
            </a:r>
            <a:br>
              <a:rPr sz="1200"/>
            </a:br>
            <a:r>
              <a:rPr lang="en-US" sz="1200" b="0" u="none" strike="noStrike">
                <a:solidFill>
                  <a:srgbClr val="1c2a3a"/>
                </a:solidFill>
                <a:effectLst/>
                <a:uFillTx/>
                <a:latin typeface="Calibri"/>
              </a:rPr>
              <a:t>Use when: Already on OpenAI, closed-source is acceptable.</a:t>
            </a:r>
            <a:endParaRPr lang="el-GR" sz="1200" b="0" u="none" strike="noStrike">
              <a:solidFill>
                <a:srgbClr val="000000"/>
              </a:solidFill>
              <a:effectLst/>
              <a:uFillTx/>
              <a:latin typeface="Arial"/>
            </a:endParaRPr>
          </a:p>
        </p:txBody>
      </p:sp>
      <p:sp>
        <p:nvSpPr>
          <p:cNvPr id="186" name="Rectangle 12"/>
          <p:cNvSpPr/>
          <p:nvPr/>
        </p:nvSpPr>
        <p:spPr>
          <a:xfrm>
            <a:off x="4206240" y="452628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Google Vertex AI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Fine-tune Gemini or open-source. TPU/GPU options.</a:t>
            </a:r>
            <a:br>
              <a:rPr sz="1200"/>
            </a:br>
            <a:r>
              <a:rPr lang="en-US" sz="1200" b="0" u="none" strike="noStrike">
                <a:solidFill>
                  <a:srgbClr val="1c2a3a"/>
                </a:solidFill>
                <a:effectLst/>
                <a:uFillTx/>
                <a:latin typeface="Calibri"/>
              </a:rPr>
              <a:t>Use when: GCP ecosystem, Gemini models.</a:t>
            </a:r>
            <a:endParaRPr lang="el-GR" sz="1200" b="0" u="none" strike="noStrike">
              <a:solidFill>
                <a:srgbClr val="000000"/>
              </a:solidFill>
              <a:effectLst/>
              <a:uFillTx/>
              <a:latin typeface="Arial"/>
            </a:endParaRPr>
          </a:p>
        </p:txBody>
      </p:sp>
      <p:sp>
        <p:nvSpPr>
          <p:cNvPr id="187" name="Rectangle 13"/>
          <p:cNvSpPr/>
          <p:nvPr/>
        </p:nvSpPr>
        <p:spPr>
          <a:xfrm>
            <a:off x="4206240" y="548640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Together AI / Fireworks / Anyscale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Serverless fine-tuning. Pay per GPU-hour. API inference.</a:t>
            </a:r>
            <a:br>
              <a:rPr sz="1200"/>
            </a:br>
            <a:r>
              <a:rPr lang="en-US" sz="1200" b="0" u="none" strike="noStrike">
                <a:solidFill>
                  <a:srgbClr val="1c2a3a"/>
                </a:solidFill>
                <a:effectLst/>
                <a:uFillTx/>
                <a:latin typeface="Calibri"/>
              </a:rPr>
              <a:t>Use when: No infra team, cost-sensitive, quick start.</a:t>
            </a:r>
            <a:endParaRPr lang="el-GR" sz="1200" b="0" u="none" strike="noStrike">
              <a:solidFill>
                <a:srgbClr val="000000"/>
              </a:solidFill>
              <a:effectLst/>
              <a:uFillTx/>
              <a:latin typeface="Arial"/>
            </a:endParaRPr>
          </a:p>
        </p:txBody>
      </p:sp>
      <p:sp>
        <p:nvSpPr>
          <p:cNvPr id="188" name="TextBox 14"/>
          <p:cNvSpPr/>
          <p:nvPr/>
        </p:nvSpPr>
        <p:spPr>
          <a:xfrm>
            <a:off x="8138160" y="1188720"/>
            <a:ext cx="37486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500" b="1" u="none" strike="noStrike">
                <a:solidFill>
                  <a:srgbClr val="1c2a3a"/>
                </a:solidFill>
                <a:effectLst/>
                <a:uFillTx/>
                <a:latin typeface="Calibri"/>
              </a:rPr>
              <a:t>Data, Eval &amp; Monitoring</a:t>
            </a:r>
            <a:endParaRPr lang="el-GR" sz="1500" b="0" u="none" strike="noStrike">
              <a:solidFill>
                <a:srgbClr val="000000"/>
              </a:solidFill>
              <a:effectLst/>
              <a:uFillTx/>
              <a:latin typeface="Arial"/>
            </a:endParaRPr>
          </a:p>
        </p:txBody>
      </p:sp>
      <p:sp>
        <p:nvSpPr>
          <p:cNvPr id="189" name="Rectangle 15"/>
          <p:cNvSpPr/>
          <p:nvPr/>
        </p:nvSpPr>
        <p:spPr>
          <a:xfrm>
            <a:off x="8138160" y="164592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Weights &amp; Biases (W&amp;B)</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Experiment tracking, run comparison, model registry.</a:t>
            </a:r>
            <a:br>
              <a:rPr sz="1200"/>
            </a:br>
            <a:r>
              <a:rPr lang="en-US" sz="1200" b="0" u="none" strike="noStrike">
                <a:solidFill>
                  <a:srgbClr val="1c2a3a"/>
                </a:solidFill>
                <a:effectLst/>
                <a:uFillTx/>
                <a:latin typeface="Calibri"/>
              </a:rPr>
              <a:t>Use when: Tracking multiple training runs.</a:t>
            </a:r>
            <a:endParaRPr lang="el-GR" sz="1200" b="0" u="none" strike="noStrike">
              <a:solidFill>
                <a:srgbClr val="000000"/>
              </a:solidFill>
              <a:effectLst/>
              <a:uFillTx/>
              <a:latin typeface="Arial"/>
            </a:endParaRPr>
          </a:p>
        </p:txBody>
      </p:sp>
      <p:sp>
        <p:nvSpPr>
          <p:cNvPr id="190" name="Rectangle 16"/>
          <p:cNvSpPr/>
          <p:nvPr/>
        </p:nvSpPr>
        <p:spPr>
          <a:xfrm>
            <a:off x="8138160" y="260604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MLflow</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Open-source ML lifecycle. Model versioning, deployment.</a:t>
            </a:r>
            <a:br>
              <a:rPr sz="1200"/>
            </a:br>
            <a:r>
              <a:rPr lang="en-US" sz="1200" b="0" u="none" strike="noStrike">
                <a:solidFill>
                  <a:srgbClr val="1c2a3a"/>
                </a:solidFill>
                <a:effectLst/>
                <a:uFillTx/>
                <a:latin typeface="Calibri"/>
              </a:rPr>
              <a:t>Use when: Self-hosted, open-source preference.</a:t>
            </a:r>
            <a:endParaRPr lang="el-GR" sz="1200" b="0" u="none" strike="noStrike">
              <a:solidFill>
                <a:srgbClr val="000000"/>
              </a:solidFill>
              <a:effectLst/>
              <a:uFillTx/>
              <a:latin typeface="Arial"/>
            </a:endParaRPr>
          </a:p>
        </p:txBody>
      </p:sp>
      <p:sp>
        <p:nvSpPr>
          <p:cNvPr id="191" name="Rectangle 17"/>
          <p:cNvSpPr/>
          <p:nvPr/>
        </p:nvSpPr>
        <p:spPr>
          <a:xfrm>
            <a:off x="8138160" y="356616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Argilla / Label Studio</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Data labeling and annotation. Human-in-the-loop.</a:t>
            </a:r>
            <a:br>
              <a:rPr sz="1200"/>
            </a:br>
            <a:r>
              <a:rPr lang="en-US" sz="1200" b="0" u="none" strike="noStrike">
                <a:solidFill>
                  <a:srgbClr val="1c2a3a"/>
                </a:solidFill>
                <a:effectLst/>
                <a:uFillTx/>
                <a:latin typeface="Calibri"/>
              </a:rPr>
              <a:t>Use when: Building custom training datasets.</a:t>
            </a:r>
            <a:endParaRPr lang="el-GR" sz="1200" b="0" u="none" strike="noStrike">
              <a:solidFill>
                <a:srgbClr val="000000"/>
              </a:solidFill>
              <a:effectLst/>
              <a:uFillTx/>
              <a:latin typeface="Arial"/>
            </a:endParaRPr>
          </a:p>
        </p:txBody>
      </p:sp>
      <p:sp>
        <p:nvSpPr>
          <p:cNvPr id="192" name="Rectangle 18"/>
          <p:cNvSpPr/>
          <p:nvPr/>
        </p:nvSpPr>
        <p:spPr>
          <a:xfrm>
            <a:off x="8138160" y="452628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LM Eval Harness (EleutherAI)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Standard benchmark suite for LLMs. Pre/post comparison.</a:t>
            </a:r>
            <a:br>
              <a:rPr sz="1200"/>
            </a:br>
            <a:r>
              <a:rPr lang="en-US" sz="1200" b="0" u="none" strike="noStrike">
                <a:solidFill>
                  <a:srgbClr val="1c2a3a"/>
                </a:solidFill>
                <a:effectLst/>
                <a:uFillTx/>
                <a:latin typeface="Calibri"/>
              </a:rPr>
              <a:t>Use when: Measuring fine-tuning impact rigorously.</a:t>
            </a:r>
            <a:endParaRPr lang="el-GR" sz="1200" b="0" u="none" strike="noStrike">
              <a:solidFill>
                <a:srgbClr val="000000"/>
              </a:solidFill>
              <a:effectLst/>
              <a:uFillTx/>
              <a:latin typeface="Arial"/>
            </a:endParaRPr>
          </a:p>
        </p:txBody>
      </p:sp>
      <p:sp>
        <p:nvSpPr>
          <p:cNvPr id="193" name="Rectangle 19"/>
          <p:cNvSpPr/>
          <p:nvPr/>
        </p:nvSpPr>
        <p:spPr>
          <a:xfrm>
            <a:off x="8138160" y="548640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Ollama / vLLM / TGI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Local inference servers. GGUF, AWQ, GPTQ quantization.</a:t>
            </a:r>
            <a:br>
              <a:rPr sz="1200"/>
            </a:br>
            <a:r>
              <a:rPr lang="en-US" sz="1200" b="0" u="none" strike="noStrike">
                <a:solidFill>
                  <a:srgbClr val="1c2a3a"/>
                </a:solidFill>
                <a:effectLst/>
                <a:uFillTx/>
                <a:latin typeface="Calibri"/>
              </a:rPr>
              <a:t>Use when: Deploying fine-tuned model for serving.</a:t>
            </a:r>
            <a:endParaRPr lang="el-GR" sz="1200" b="0" u="none" strike="noStrike">
              <a:solidFill>
                <a:srgbClr val="000000"/>
              </a:solidFill>
              <a:effectLst/>
              <a:uFillTx/>
              <a:latin typeface="Arial"/>
            </a:endParaRPr>
          </a:p>
        </p:txBody>
      </p:sp>
      <p:sp>
        <p:nvSpPr>
          <p:cNvPr id="194" name="TextBox 20"/>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18/55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How to Fine-Tune: Local Setup</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Step-by-step with Unsloth + QLoRA on a single GPU</a:t>
            </a:r>
            <a:endParaRPr lang="el-GR" sz="1600" b="0" u="none" strike="noStrike">
              <a:solidFill>
                <a:srgbClr val="ffffff"/>
              </a:solidFill>
              <a:effectLst/>
              <a:uFillTx/>
              <a:latin typeface="Arial"/>
            </a:endParaRPr>
          </a:p>
        </p:txBody>
      </p:sp>
      <p:sp>
        <p:nvSpPr>
          <p:cNvPr id="196" name="Rectangle 2"/>
          <p:cNvSpPr/>
          <p:nvPr/>
        </p:nvSpPr>
        <p:spPr>
          <a:xfrm>
            <a:off x="457200" y="1280160"/>
            <a:ext cx="5303160" cy="127980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Prerequisites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NVIDIA GPU with 8+ GB VRAM (RTX 3060/4060 or better)</a:t>
            </a:r>
            <a:br>
              <a:rPr sz="1200"/>
            </a:br>
            <a:r>
              <a:rPr lang="en-US" sz="1200" b="0" u="none" strike="noStrike">
                <a:solidFill>
                  <a:srgbClr val="1c2a3a"/>
                </a:solidFill>
                <a:effectLst/>
                <a:uFillTx/>
                <a:latin typeface="Calibri"/>
              </a:rPr>
              <a:t>- CUDA 11.8+ and Python 3.10+</a:t>
            </a:r>
            <a:br>
              <a:rPr sz="1200"/>
            </a:br>
            <a:r>
              <a:rPr lang="en-US" sz="1200" b="0" u="none" strike="noStrike">
                <a:solidFill>
                  <a:srgbClr val="1c2a3a"/>
                </a:solidFill>
                <a:effectLst/>
                <a:uFillTx/>
                <a:latin typeface="Calibri"/>
              </a:rPr>
              <a:t>- 20-50 GB free disk space for model weights</a:t>
            </a:r>
            <a:br>
              <a:rPr sz="1200"/>
            </a:br>
            <a:r>
              <a:rPr lang="en-US" sz="1200" b="0" u="none" strike="noStrike">
                <a:solidFill>
                  <a:srgbClr val="1c2a3a"/>
                </a:solidFill>
                <a:effectLst/>
                <a:uFillTx/>
                <a:latin typeface="Calibri"/>
              </a:rPr>
              <a:t>- pip install unsloth transformers peft trl datasets</a:t>
            </a:r>
            <a:endParaRPr lang="el-GR" sz="1200" b="0" u="none" strike="noStrike">
              <a:solidFill>
                <a:srgbClr val="000000"/>
              </a:solidFill>
              <a:effectLst/>
              <a:uFillTx/>
              <a:latin typeface="Arial"/>
            </a:endParaRPr>
          </a:p>
        </p:txBody>
      </p:sp>
      <p:sp>
        <p:nvSpPr>
          <p:cNvPr id="197" name="TextBox 3"/>
          <p:cNvSpPr/>
          <p:nvPr/>
        </p:nvSpPr>
        <p:spPr>
          <a:xfrm>
            <a:off x="457200" y="2743200"/>
            <a:ext cx="5943240" cy="3840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000" b="0" u="none" strike="noStrike">
                <a:solidFill>
                  <a:srgbClr val="1c2a3a"/>
                </a:solidFill>
                <a:effectLst/>
                <a:uFillTx/>
                <a:latin typeface="Consolas"/>
              </a:rPr>
              <a:t># 1. Load base model in 4-bit (QLoRA)</a:t>
            </a:r>
            <a:br>
              <a:rPr sz="1000"/>
            </a:br>
            <a:r>
              <a:rPr lang="en-US" sz="1000" b="0" u="none" strike="noStrike">
                <a:solidFill>
                  <a:srgbClr val="1c2a3a"/>
                </a:solidFill>
                <a:effectLst/>
                <a:uFillTx/>
                <a:latin typeface="Consolas"/>
              </a:rPr>
              <a:t>from unsloth import FastLanguageModel</a:t>
            </a:r>
            <a:br>
              <a:rPr sz="1000"/>
            </a:br>
            <a:r>
              <a:rPr lang="en-US" sz="1000" b="0" u="none" strike="noStrike">
                <a:solidFill>
                  <a:srgbClr val="1c2a3a"/>
                </a:solidFill>
                <a:effectLst/>
                <a:uFillTx/>
                <a:latin typeface="Consolas"/>
              </a:rPr>
              <a:t>model, tokenizer = FastLanguageModel.from_pretrained(</a:t>
            </a:r>
            <a:br>
              <a:rPr sz="1000"/>
            </a:br>
            <a:r>
              <a:rPr lang="en-US" sz="1000" b="0" u="none" strike="noStrike">
                <a:solidFill>
                  <a:srgbClr val="1c2a3a"/>
                </a:solidFill>
                <a:effectLst/>
                <a:uFillTx/>
                <a:latin typeface="Consolas"/>
              </a:rPr>
              <a:t>    "meta-llama/Llama-2-7b-hf",</a:t>
            </a:r>
            <a:br>
              <a:rPr sz="1000"/>
            </a:br>
            <a:r>
              <a:rPr lang="en-US" sz="1000" b="0" u="none" strike="noStrike">
                <a:solidFill>
                  <a:srgbClr val="1c2a3a"/>
                </a:solidFill>
                <a:effectLst/>
                <a:uFillTx/>
                <a:latin typeface="Consolas"/>
              </a:rPr>
              <a:t>    load_in_4bit=True,</a:t>
            </a:r>
            <a:br>
              <a:rPr sz="1000"/>
            </a:br>
            <a:r>
              <a:rPr lang="en-US" sz="1000" b="0" u="none" strike="noStrike">
                <a:solidFill>
                  <a:srgbClr val="1c2a3a"/>
                </a:solidFill>
                <a:effectLst/>
                <a:uFillTx/>
                <a:latin typeface="Consolas"/>
              </a:rPr>
              <a:t>    max_seq_length=2048,</a:t>
            </a:r>
            <a:br>
              <a:rPr sz="1000"/>
            </a:br>
            <a:r>
              <a:rPr lang="en-US" sz="1000" b="0" u="none" strike="noStrike">
                <a:solidFill>
                  <a:srgbClr val="1c2a3a"/>
                </a:solidFill>
                <a:effectLst/>
                <a:uFillTx/>
                <a:latin typeface="Consolas"/>
              </a:rPr>
              <a:t>)</a:t>
            </a:r>
            <a:br>
              <a:rPr sz="1000"/>
            </a:br>
            <a:br>
              <a:rPr sz="1000"/>
            </a:br>
            <a:r>
              <a:rPr lang="en-US" sz="1000" b="0" u="none" strike="noStrike">
                <a:solidFill>
                  <a:srgbClr val="1c2a3a"/>
                </a:solidFill>
                <a:effectLst/>
                <a:uFillTx/>
                <a:latin typeface="Consolas"/>
              </a:rPr>
              <a:t># 2. Add LoRA adapters (only ~1-5% of params trained)</a:t>
            </a:r>
            <a:br>
              <a:rPr sz="1000"/>
            </a:br>
            <a:r>
              <a:rPr lang="en-US" sz="1000" b="0" u="none" strike="noStrike">
                <a:solidFill>
                  <a:srgbClr val="1c2a3a"/>
                </a:solidFill>
                <a:effectLst/>
                <a:uFillTx/>
                <a:latin typeface="Consolas"/>
              </a:rPr>
              <a:t>model = FastLanguageModel.get_peft_model(</a:t>
            </a:r>
            <a:br>
              <a:rPr sz="1000"/>
            </a:br>
            <a:r>
              <a:rPr lang="en-US" sz="1000" b="0" u="none" strike="noStrike">
                <a:solidFill>
                  <a:srgbClr val="1c2a3a"/>
                </a:solidFill>
                <a:effectLst/>
                <a:uFillTx/>
                <a:latin typeface="Consolas"/>
              </a:rPr>
              <a:t>    model, r=16, lora_alpha=16,</a:t>
            </a:r>
            <a:br>
              <a:rPr sz="1000"/>
            </a:br>
            <a:r>
              <a:rPr lang="en-US" sz="1000" b="0" u="none" strike="noStrike">
                <a:solidFill>
                  <a:srgbClr val="1c2a3a"/>
                </a:solidFill>
                <a:effectLst/>
                <a:uFillTx/>
                <a:latin typeface="Consolas"/>
              </a:rPr>
              <a:t>    target_modules=["q_proj","k_proj","v_proj","o_proj"],</a:t>
            </a:r>
            <a:br>
              <a:rPr sz="1000"/>
            </a:br>
            <a:r>
              <a:rPr lang="en-US" sz="1000" b="0" u="none" strike="noStrike">
                <a:solidFill>
                  <a:srgbClr val="1c2a3a"/>
                </a:solidFill>
                <a:effectLst/>
                <a:uFillTx/>
                <a:latin typeface="Consolas"/>
              </a:rPr>
              <a:t>)</a:t>
            </a:r>
            <a:br>
              <a:rPr sz="1000"/>
            </a:br>
            <a:br>
              <a:rPr sz="1000"/>
            </a:br>
            <a:r>
              <a:rPr lang="en-US" sz="1000" b="0" u="none" strike="noStrike">
                <a:solidFill>
                  <a:srgbClr val="1c2a3a"/>
                </a:solidFill>
                <a:effectLst/>
                <a:uFillTx/>
                <a:latin typeface="Consolas"/>
              </a:rPr>
              <a:t># 3. Train with SFTTrainer</a:t>
            </a:r>
            <a:br>
              <a:rPr sz="1000"/>
            </a:br>
            <a:r>
              <a:rPr lang="en-US" sz="1000" b="0" u="none" strike="noStrike">
                <a:solidFill>
                  <a:srgbClr val="1c2a3a"/>
                </a:solidFill>
                <a:effectLst/>
                <a:uFillTx/>
                <a:latin typeface="Consolas"/>
              </a:rPr>
              <a:t>from trl import SFTTrainer</a:t>
            </a:r>
            <a:br>
              <a:rPr sz="1000"/>
            </a:br>
            <a:r>
              <a:rPr lang="en-US" sz="1000" b="0" u="none" strike="noStrike">
                <a:solidFill>
                  <a:srgbClr val="1c2a3a"/>
                </a:solidFill>
                <a:effectLst/>
                <a:uFillTx/>
                <a:latin typeface="Consolas"/>
              </a:rPr>
              <a:t>trainer = SFTTrainer(</a:t>
            </a:r>
            <a:br>
              <a:rPr sz="1000"/>
            </a:br>
            <a:r>
              <a:rPr lang="en-US" sz="1000" b="0" u="none" strike="noStrike">
                <a:solidFill>
                  <a:srgbClr val="1c2a3a"/>
                </a:solidFill>
                <a:effectLst/>
                <a:uFillTx/>
                <a:latin typeface="Consolas"/>
              </a:rPr>
              <a:t>    model=model, train_dataset=dataset,</a:t>
            </a:r>
            <a:br>
              <a:rPr sz="1000"/>
            </a:br>
            <a:r>
              <a:rPr lang="en-US" sz="1000" b="0" u="none" strike="noStrike">
                <a:solidFill>
                  <a:srgbClr val="1c2a3a"/>
                </a:solidFill>
                <a:effectLst/>
                <a:uFillTx/>
                <a:latin typeface="Consolas"/>
              </a:rPr>
              <a:t>    args=TrainingArguments(</a:t>
            </a:r>
            <a:br>
              <a:rPr sz="1000"/>
            </a:br>
            <a:r>
              <a:rPr lang="en-US" sz="1000" b="0" u="none" strike="noStrike">
                <a:solidFill>
                  <a:srgbClr val="1c2a3a"/>
                </a:solidFill>
                <a:effectLst/>
                <a:uFillTx/>
                <a:latin typeface="Consolas"/>
              </a:rPr>
              <a:t>        num_train_epochs=3, per_device_train_batch_size=4,</a:t>
            </a:r>
            <a:br>
              <a:rPr sz="1000"/>
            </a:br>
            <a:r>
              <a:rPr lang="en-US" sz="1000" b="0" u="none" strike="noStrike">
                <a:solidFill>
                  <a:srgbClr val="1c2a3a"/>
                </a:solidFill>
                <a:effectLst/>
                <a:uFillTx/>
                <a:latin typeface="Consolas"/>
              </a:rPr>
              <a:t>        output_dir="./output", learning_rate=2e-4,</a:t>
            </a:r>
            <a:br>
              <a:rPr sz="1000"/>
            </a:br>
            <a:r>
              <a:rPr lang="en-US" sz="1000" b="0" u="none" strike="noStrike">
                <a:solidFill>
                  <a:srgbClr val="1c2a3a"/>
                </a:solidFill>
                <a:effectLst/>
                <a:uFillTx/>
                <a:latin typeface="Consolas"/>
              </a:rPr>
              <a:t>    ),</a:t>
            </a:r>
            <a:br>
              <a:rPr sz="1000"/>
            </a:br>
            <a:r>
              <a:rPr lang="en-US" sz="1000" b="0" u="none" strike="noStrike">
                <a:solidFill>
                  <a:srgbClr val="1c2a3a"/>
                </a:solidFill>
                <a:effectLst/>
                <a:uFillTx/>
                <a:latin typeface="Consolas"/>
              </a:rPr>
              <a:t>)</a:t>
            </a:r>
            <a:br>
              <a:rPr sz="1000"/>
            </a:br>
            <a:r>
              <a:rPr lang="en-US" sz="1000" b="0" u="none" strike="noStrike">
                <a:solidFill>
                  <a:srgbClr val="1c2a3a"/>
                </a:solidFill>
                <a:effectLst/>
                <a:uFillTx/>
                <a:latin typeface="Consolas"/>
              </a:rPr>
              <a:t>trainer.train()</a:t>
            </a:r>
            <a:br>
              <a:rPr sz="1000"/>
            </a:br>
            <a:br>
              <a:rPr sz="1000"/>
            </a:br>
            <a:r>
              <a:rPr lang="en-US" sz="1000" b="0" u="none" strike="noStrike">
                <a:solidFill>
                  <a:srgbClr val="1c2a3a"/>
                </a:solidFill>
                <a:effectLst/>
                <a:uFillTx/>
                <a:latin typeface="Consolas"/>
              </a:rPr>
              <a:t># 4. Save &amp; merge adapter into base model</a:t>
            </a:r>
            <a:br>
              <a:rPr sz="1000"/>
            </a:br>
            <a:r>
              <a:rPr lang="en-US" sz="1000" b="0" u="none" strike="noStrike">
                <a:solidFill>
                  <a:srgbClr val="1c2a3a"/>
                </a:solidFill>
                <a:effectLst/>
                <a:uFillTx/>
                <a:latin typeface="Consolas"/>
              </a:rPr>
              <a:t>model.save_pretrained_merged("./my-finetuned-model")</a:t>
            </a:r>
            <a:endParaRPr lang="el-GR" sz="1000" b="0" u="none" strike="noStrike">
              <a:solidFill>
                <a:srgbClr val="000000"/>
              </a:solidFill>
              <a:effectLst/>
              <a:uFillTx/>
              <a:latin typeface="Arial"/>
            </a:endParaRPr>
          </a:p>
        </p:txBody>
      </p:sp>
      <p:sp>
        <p:nvSpPr>
          <p:cNvPr id="198" name="Rectangle 4"/>
          <p:cNvSpPr/>
          <p:nvPr/>
        </p:nvSpPr>
        <p:spPr>
          <a:xfrm>
            <a:off x="6583680" y="1280160"/>
            <a:ext cx="5028840" cy="1645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What Happens During Training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Base model weights are FROZEN (unchanged)</a:t>
            </a:r>
            <a:br>
              <a:rPr sz="1200"/>
            </a:br>
            <a:r>
              <a:rPr lang="en-US" sz="1200" b="0" u="none" strike="noStrike">
                <a:solidFill>
                  <a:srgbClr val="1c2a3a"/>
                </a:solidFill>
                <a:effectLst/>
                <a:uFillTx/>
                <a:latin typeface="Calibri"/>
              </a:rPr>
              <a:t>- Small adapter matrices (~50-200 MB) are trained</a:t>
            </a:r>
            <a:br>
              <a:rPr sz="1200"/>
            </a:br>
            <a:r>
              <a:rPr lang="en-US" sz="1200" b="0" u="none" strike="noStrike">
                <a:solidFill>
                  <a:srgbClr val="1c2a3a"/>
                </a:solidFill>
                <a:effectLst/>
                <a:uFillTx/>
                <a:latin typeface="Calibri"/>
              </a:rPr>
              <a:t>- Training takes 30 min - 4 hours for 7B model</a:t>
            </a:r>
            <a:br>
              <a:rPr sz="1200"/>
            </a:br>
            <a:r>
              <a:rPr lang="en-US" sz="1200" b="0" u="none" strike="noStrike">
                <a:solidFill>
                  <a:srgbClr val="1c2a3a"/>
                </a:solidFill>
                <a:effectLst/>
                <a:uFillTx/>
                <a:latin typeface="Calibri"/>
              </a:rPr>
              <a:t>- GPU memory: ~6 GB (QLoRA) vs ~28 GB (full FT)</a:t>
            </a:r>
            <a:br>
              <a:rPr sz="1200"/>
            </a:br>
            <a:r>
              <a:rPr lang="en-US" sz="1200" b="0" u="none" strike="noStrike">
                <a:solidFill>
                  <a:srgbClr val="1c2a3a"/>
                </a:solidFill>
                <a:effectLst/>
                <a:uFillTx/>
                <a:latin typeface="Calibri"/>
              </a:rPr>
              <a:t>- Result: base model + adapter = specialized model</a:t>
            </a:r>
            <a:endParaRPr lang="el-GR" sz="1200" b="0" u="none" strike="noStrike">
              <a:solidFill>
                <a:srgbClr val="000000"/>
              </a:solidFill>
              <a:effectLst/>
              <a:uFillTx/>
              <a:latin typeface="Arial"/>
            </a:endParaRPr>
          </a:p>
        </p:txBody>
      </p:sp>
      <p:sp>
        <p:nvSpPr>
          <p:cNvPr id="199" name="Rectangle 5"/>
          <p:cNvSpPr/>
          <p:nvPr/>
        </p:nvSpPr>
        <p:spPr>
          <a:xfrm>
            <a:off x="6583680" y="3200400"/>
            <a:ext cx="5028840" cy="14626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Training Data Format (JSONL)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{"instruction": "Calculate revenue growth",</a:t>
            </a:r>
            <a:br>
              <a:rPr sz="1200"/>
            </a:br>
            <a:r>
              <a:rPr lang="en-US" sz="1200" b="0" u="none" strike="noStrike">
                <a:solidFill>
                  <a:srgbClr val="1c2a3a"/>
                </a:solidFill>
                <a:effectLst/>
                <a:uFillTx/>
                <a:latin typeface="Calibri"/>
              </a:rPr>
              <a:t> "input": "2022: $500M, 2023: $580M",</a:t>
            </a:r>
            <a:br>
              <a:rPr sz="1200"/>
            </a:br>
            <a:r>
              <a:rPr lang="en-US" sz="1200" b="0" u="none" strike="noStrike">
                <a:solidFill>
                  <a:srgbClr val="1c2a3a"/>
                </a:solidFill>
                <a:effectLst/>
                <a:uFillTx/>
                <a:latin typeface="Calibri"/>
              </a:rPr>
              <a:t> "output": "Growth = (580-500)/500 = 16%"}</a:t>
            </a:r>
            <a:br>
              <a:rPr sz="1200"/>
            </a:br>
            <a:br>
              <a:rPr sz="1200"/>
            </a:br>
            <a:r>
              <a:rPr lang="en-US" sz="1200" b="0" u="none" strike="noStrike">
                <a:solidFill>
                  <a:srgbClr val="1c2a3a"/>
                </a:solidFill>
                <a:effectLst/>
                <a:uFillTx/>
                <a:latin typeface="Calibri"/>
              </a:rPr>
              <a:t>Typically 1,000 - 10,000 examples needed.</a:t>
            </a:r>
            <a:endParaRPr lang="el-GR" sz="1200" b="0" u="none" strike="noStrike">
              <a:solidFill>
                <a:srgbClr val="000000"/>
              </a:solidFill>
              <a:effectLst/>
              <a:uFillTx/>
              <a:latin typeface="Arial"/>
            </a:endParaRPr>
          </a:p>
        </p:txBody>
      </p:sp>
      <p:sp>
        <p:nvSpPr>
          <p:cNvPr id="200" name="Rectangle 6"/>
          <p:cNvSpPr/>
          <p:nvPr/>
        </p:nvSpPr>
        <p:spPr>
          <a:xfrm>
            <a:off x="6583680" y="4846320"/>
            <a:ext cx="5028840" cy="127980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Tips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Start with QLoRA + Unsloth for fastest iteration</a:t>
            </a:r>
            <a:br>
              <a:rPr sz="1200"/>
            </a:br>
            <a:r>
              <a:rPr lang="en-US" sz="1200" b="0" u="none" strike="noStrike">
                <a:solidFill>
                  <a:srgbClr val="1c2a3a"/>
                </a:solidFill>
                <a:effectLst/>
                <a:uFillTx/>
                <a:latin typeface="Calibri"/>
              </a:rPr>
              <a:t>- Use Llama-2/3 7B or Mistral 7B as base model</a:t>
            </a:r>
            <a:br>
              <a:rPr sz="1200"/>
            </a:br>
            <a:r>
              <a:rPr lang="en-US" sz="1200" b="0" u="none" strike="noStrike">
                <a:solidFill>
                  <a:srgbClr val="1c2a3a"/>
                </a:solidFill>
                <a:effectLst/>
                <a:uFillTx/>
                <a:latin typeface="Calibri"/>
              </a:rPr>
              <a:t>- Evaluate on held-out test set after each epoch</a:t>
            </a:r>
            <a:br>
              <a:rPr sz="1200"/>
            </a:br>
            <a:r>
              <a:rPr lang="en-US" sz="1200" b="0" u="none" strike="noStrike">
                <a:solidFill>
                  <a:srgbClr val="1c2a3a"/>
                </a:solidFill>
                <a:effectLst/>
                <a:uFillTx/>
                <a:latin typeface="Calibri"/>
              </a:rPr>
              <a:t>- Export to GGUF for Ollama / llama.cpp deployment</a:t>
            </a:r>
            <a:endParaRPr lang="el-GR" sz="1200" b="0" u="none" strike="noStrike">
              <a:solidFill>
                <a:srgbClr val="000000"/>
              </a:solidFill>
              <a:effectLst/>
              <a:uFillTx/>
              <a:latin typeface="Arial"/>
            </a:endParaRPr>
          </a:p>
        </p:txBody>
      </p:sp>
      <p:sp>
        <p:nvSpPr>
          <p:cNvPr id="201"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19/55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How to Fine-Tune: AWS</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SageMaker JumpStart + Bedrock Custom Models</a:t>
            </a:r>
            <a:endParaRPr lang="el-GR" sz="1600" b="0" u="none" strike="noStrike">
              <a:solidFill>
                <a:srgbClr val="ffffff"/>
              </a:solidFill>
              <a:effectLst/>
              <a:uFillTx/>
              <a:latin typeface="Arial"/>
            </a:endParaRPr>
          </a:p>
        </p:txBody>
      </p:sp>
      <p:sp>
        <p:nvSpPr>
          <p:cNvPr id="203" name="TextBox 2"/>
          <p:cNvSpPr/>
          <p:nvPr/>
        </p:nvSpPr>
        <p:spPr>
          <a:xfrm>
            <a:off x="457200" y="118872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c2a3a"/>
                </a:solidFill>
                <a:effectLst/>
                <a:uFillTx/>
                <a:latin typeface="Calibri"/>
              </a:rPr>
              <a:t>Option A: Amazon SageMaker JumpStart</a:t>
            </a:r>
            <a:endParaRPr lang="el-GR" sz="1600" b="0" u="none" strike="noStrike">
              <a:solidFill>
                <a:srgbClr val="000000"/>
              </a:solidFill>
              <a:effectLst/>
              <a:uFillTx/>
              <a:latin typeface="Arial"/>
            </a:endParaRPr>
          </a:p>
        </p:txBody>
      </p:sp>
      <p:sp>
        <p:nvSpPr>
          <p:cNvPr id="204" name="TextBox 3"/>
          <p:cNvSpPr/>
          <p:nvPr/>
        </p:nvSpPr>
        <p:spPr>
          <a:xfrm>
            <a:off x="457200" y="1645920"/>
            <a:ext cx="5760360" cy="3657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000" b="0" u="none" strike="noStrike">
                <a:solidFill>
                  <a:srgbClr val="1c2a3a"/>
                </a:solidFill>
                <a:effectLst/>
                <a:uFillTx/>
                <a:latin typeface="Consolas"/>
              </a:rPr>
              <a:t># 1. Select foundation model from JumpStart hub</a:t>
            </a:r>
            <a:br>
              <a:rPr sz="1000"/>
            </a:br>
            <a:r>
              <a:rPr lang="en-US" sz="1000" b="0" u="none" strike="noStrike">
                <a:solidFill>
                  <a:srgbClr val="1c2a3a"/>
                </a:solidFill>
                <a:effectLst/>
                <a:uFillTx/>
                <a:latin typeface="Consolas"/>
              </a:rPr>
              <a:t>#    (Llama 2/3, Mistral, Falcon, etc.)</a:t>
            </a:r>
            <a:br>
              <a:rPr sz="1000"/>
            </a:br>
            <a:br>
              <a:rPr sz="1000"/>
            </a:br>
            <a:r>
              <a:rPr lang="en-US" sz="1000" b="0" u="none" strike="noStrike">
                <a:solidFill>
                  <a:srgbClr val="1c2a3a"/>
                </a:solidFill>
                <a:effectLst/>
                <a:uFillTx/>
                <a:latin typeface="Consolas"/>
              </a:rPr>
              <a:t>import sagemaker</a:t>
            </a:r>
            <a:br>
              <a:rPr sz="1000"/>
            </a:br>
            <a:r>
              <a:rPr lang="en-US" sz="1000" b="0" u="none" strike="noStrike">
                <a:solidFill>
                  <a:srgbClr val="1c2a3a"/>
                </a:solidFill>
                <a:effectLst/>
                <a:uFillTx/>
                <a:latin typeface="Consolas"/>
              </a:rPr>
              <a:t>from sagemaker.jumpstart.estimator import JumpStartEstimator</a:t>
            </a:r>
            <a:br>
              <a:rPr sz="1000"/>
            </a:br>
            <a:br>
              <a:rPr sz="1000"/>
            </a:br>
            <a:r>
              <a:rPr lang="en-US" sz="1000" b="0" u="none" strike="noStrike">
                <a:solidFill>
                  <a:srgbClr val="1c2a3a"/>
                </a:solidFill>
                <a:effectLst/>
                <a:uFillTx/>
                <a:latin typeface="Consolas"/>
              </a:rPr>
              <a:t>estimator = JumpStartEstimator(</a:t>
            </a:r>
            <a:br>
              <a:rPr sz="1000"/>
            </a:br>
            <a:r>
              <a:rPr lang="en-US" sz="1000" b="0" u="none" strike="noStrike">
                <a:solidFill>
                  <a:srgbClr val="1c2a3a"/>
                </a:solidFill>
                <a:effectLst/>
                <a:uFillTx/>
                <a:latin typeface="Consolas"/>
              </a:rPr>
              <a:t>    model_id="meta-textgeneration-llama-2-7b",</a:t>
            </a:r>
            <a:br>
              <a:rPr sz="1000"/>
            </a:br>
            <a:r>
              <a:rPr lang="en-US" sz="1000" b="0" u="none" strike="noStrike">
                <a:solidFill>
                  <a:srgbClr val="1c2a3a"/>
                </a:solidFill>
                <a:effectLst/>
                <a:uFillTx/>
                <a:latin typeface="Consolas"/>
              </a:rPr>
              <a:t>    instance_type="ml.g5.2xlarge",  # 1x A10G 24GB</a:t>
            </a:r>
            <a:br>
              <a:rPr sz="1000"/>
            </a:br>
            <a:r>
              <a:rPr lang="en-US" sz="1000" b="0" u="none" strike="noStrike">
                <a:solidFill>
                  <a:srgbClr val="1c2a3a"/>
                </a:solidFill>
                <a:effectLst/>
                <a:uFillTx/>
                <a:latin typeface="Consolas"/>
              </a:rPr>
              <a:t>    environment={</a:t>
            </a:r>
            <a:br>
              <a:rPr sz="1000"/>
            </a:br>
            <a:r>
              <a:rPr lang="en-US" sz="1000" b="0" u="none" strike="noStrike">
                <a:solidFill>
                  <a:srgbClr val="1c2a3a"/>
                </a:solidFill>
                <a:effectLst/>
                <a:uFillTx/>
                <a:latin typeface="Consolas"/>
              </a:rPr>
              <a:t>        "instruction_tuned": "True",</a:t>
            </a:r>
            <a:br>
              <a:rPr sz="1000"/>
            </a:br>
            <a:r>
              <a:rPr lang="en-US" sz="1000" b="0" u="none" strike="noStrike">
                <a:solidFill>
                  <a:srgbClr val="1c2a3a"/>
                </a:solidFill>
                <a:effectLst/>
                <a:uFillTx/>
                <a:latin typeface="Consolas"/>
              </a:rPr>
              <a:t>        "epoch": "3",</a:t>
            </a:r>
            <a:br>
              <a:rPr sz="1000"/>
            </a:br>
            <a:r>
              <a:rPr lang="en-US" sz="1000" b="0" u="none" strike="noStrike">
                <a:solidFill>
                  <a:srgbClr val="1c2a3a"/>
                </a:solidFill>
                <a:effectLst/>
                <a:uFillTx/>
                <a:latin typeface="Consolas"/>
              </a:rPr>
              <a:t>        "per_device_train_batch_size": "4",</a:t>
            </a:r>
            <a:br>
              <a:rPr sz="1000"/>
            </a:br>
            <a:r>
              <a:rPr lang="en-US" sz="1000" b="0" u="none" strike="noStrike">
                <a:solidFill>
                  <a:srgbClr val="1c2a3a"/>
                </a:solidFill>
                <a:effectLst/>
                <a:uFillTx/>
                <a:latin typeface="Consolas"/>
              </a:rPr>
              <a:t>        "lora_r": "16",</a:t>
            </a:r>
            <a:br>
              <a:rPr sz="1000"/>
            </a:br>
            <a:r>
              <a:rPr lang="en-US" sz="1000" b="0" u="none" strike="noStrike">
                <a:solidFill>
                  <a:srgbClr val="1c2a3a"/>
                </a:solidFill>
                <a:effectLst/>
                <a:uFillTx/>
                <a:latin typeface="Consolas"/>
              </a:rPr>
              <a:t>    },</a:t>
            </a:r>
            <a:br>
              <a:rPr sz="1000"/>
            </a:br>
            <a:r>
              <a:rPr lang="en-US" sz="1000" b="0" u="none" strike="noStrike">
                <a:solidFill>
                  <a:srgbClr val="1c2a3a"/>
                </a:solidFill>
                <a:effectLst/>
                <a:uFillTx/>
                <a:latin typeface="Consolas"/>
              </a:rPr>
              <a:t>)</a:t>
            </a:r>
            <a:br>
              <a:rPr sz="1000"/>
            </a:br>
            <a:br>
              <a:rPr sz="1000"/>
            </a:br>
            <a:r>
              <a:rPr lang="en-US" sz="1000" b="0" u="none" strike="noStrike">
                <a:solidFill>
                  <a:srgbClr val="1c2a3a"/>
                </a:solidFill>
                <a:effectLst/>
                <a:uFillTx/>
                <a:latin typeface="Consolas"/>
              </a:rPr>
              <a:t># 2. Point to training data in S3</a:t>
            </a:r>
            <a:br>
              <a:rPr sz="1000"/>
            </a:br>
            <a:r>
              <a:rPr lang="en-US" sz="1000" b="0" u="none" strike="noStrike">
                <a:solidFill>
                  <a:srgbClr val="1c2a3a"/>
                </a:solidFill>
                <a:effectLst/>
                <a:uFillTx/>
                <a:latin typeface="Consolas"/>
              </a:rPr>
              <a:t>estimator.fit({</a:t>
            </a:r>
            <a:br>
              <a:rPr sz="1000"/>
            </a:br>
            <a:r>
              <a:rPr lang="en-US" sz="1000" b="0" u="none" strike="noStrike">
                <a:solidFill>
                  <a:srgbClr val="1c2a3a"/>
                </a:solidFill>
                <a:effectLst/>
                <a:uFillTx/>
                <a:latin typeface="Consolas"/>
              </a:rPr>
              <a:t>    "training": "s3://my-bucket/training-data/"</a:t>
            </a:r>
            <a:br>
              <a:rPr sz="1000"/>
            </a:br>
            <a:r>
              <a:rPr lang="en-US" sz="1000" b="0" u="none" strike="noStrike">
                <a:solidFill>
                  <a:srgbClr val="1c2a3a"/>
                </a:solidFill>
                <a:effectLst/>
                <a:uFillTx/>
                <a:latin typeface="Consolas"/>
              </a:rPr>
              <a:t>})</a:t>
            </a:r>
            <a:br>
              <a:rPr sz="1000"/>
            </a:br>
            <a:br>
              <a:rPr sz="1000"/>
            </a:br>
            <a:r>
              <a:rPr lang="en-US" sz="1000" b="0" u="none" strike="noStrike">
                <a:solidFill>
                  <a:srgbClr val="1c2a3a"/>
                </a:solidFill>
                <a:effectLst/>
                <a:uFillTx/>
                <a:latin typeface="Consolas"/>
              </a:rPr>
              <a:t># 3. Deploy endpoint</a:t>
            </a:r>
            <a:br>
              <a:rPr sz="1000"/>
            </a:br>
            <a:r>
              <a:rPr lang="en-US" sz="1000" b="0" u="none" strike="noStrike">
                <a:solidFill>
                  <a:srgbClr val="1c2a3a"/>
                </a:solidFill>
                <a:effectLst/>
                <a:uFillTx/>
                <a:latin typeface="Consolas"/>
              </a:rPr>
              <a:t>predictor = estimator.deploy(</a:t>
            </a:r>
            <a:br>
              <a:rPr sz="1000"/>
            </a:br>
            <a:r>
              <a:rPr lang="en-US" sz="1000" b="0" u="none" strike="noStrike">
                <a:solidFill>
                  <a:srgbClr val="1c2a3a"/>
                </a:solidFill>
                <a:effectLst/>
                <a:uFillTx/>
                <a:latin typeface="Consolas"/>
              </a:rPr>
              <a:t>    instance_type="ml.g5.xlarge"</a:t>
            </a:r>
            <a:br>
              <a:rPr sz="1000"/>
            </a:br>
            <a:r>
              <a:rPr lang="en-US" sz="1000" b="0" u="none" strike="noStrike">
                <a:solidFill>
                  <a:srgbClr val="1c2a3a"/>
                </a:solidFill>
                <a:effectLst/>
                <a:uFillTx/>
                <a:latin typeface="Consolas"/>
              </a:rPr>
              <a:t>)</a:t>
            </a:r>
            <a:endParaRPr lang="el-GR" sz="1000" b="0" u="none" strike="noStrike">
              <a:solidFill>
                <a:srgbClr val="000000"/>
              </a:solidFill>
              <a:effectLst/>
              <a:uFillTx/>
              <a:latin typeface="Arial"/>
            </a:endParaRPr>
          </a:p>
        </p:txBody>
      </p:sp>
      <p:sp>
        <p:nvSpPr>
          <p:cNvPr id="205" name="TextBox 4"/>
          <p:cNvSpPr/>
          <p:nvPr/>
        </p:nvSpPr>
        <p:spPr>
          <a:xfrm>
            <a:off x="6400800" y="1188720"/>
            <a:ext cx="53031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c2a3a"/>
                </a:solidFill>
                <a:effectLst/>
                <a:uFillTx/>
                <a:latin typeface="Calibri"/>
              </a:rPr>
              <a:t>Option B: Amazon Bedrock Custom Models</a:t>
            </a:r>
            <a:endParaRPr lang="el-GR" sz="1600" b="0" u="none" strike="noStrike">
              <a:solidFill>
                <a:srgbClr val="000000"/>
              </a:solidFill>
              <a:effectLst/>
              <a:uFillTx/>
              <a:latin typeface="Arial"/>
            </a:endParaRPr>
          </a:p>
        </p:txBody>
      </p:sp>
      <p:sp>
        <p:nvSpPr>
          <p:cNvPr id="206" name="Rectangle 5"/>
          <p:cNvSpPr/>
          <p:nvPr/>
        </p:nvSpPr>
        <p:spPr>
          <a:xfrm>
            <a:off x="6400800" y="1645920"/>
            <a:ext cx="5303160" cy="2011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Fully Managed (No-Code / Low-Code)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1. Upload training data (JSONL) to S3</a:t>
            </a:r>
            <a:br>
              <a:rPr sz="1200"/>
            </a:br>
            <a:r>
              <a:rPr lang="en-US" sz="1200" b="0" u="none" strike="noStrike">
                <a:solidFill>
                  <a:srgbClr val="1c2a3a"/>
                </a:solidFill>
                <a:effectLst/>
                <a:uFillTx/>
                <a:latin typeface="Calibri"/>
              </a:rPr>
              <a:t>2. Console: Bedrock &gt; Custom models &gt; Create</a:t>
            </a:r>
            <a:br>
              <a:rPr sz="1200"/>
            </a:br>
            <a:r>
              <a:rPr lang="en-US" sz="1200" b="0" u="none" strike="noStrike">
                <a:solidFill>
                  <a:srgbClr val="1c2a3a"/>
                </a:solidFill>
                <a:effectLst/>
                <a:uFillTx/>
                <a:latin typeface="Calibri"/>
              </a:rPr>
              <a:t>3. Select base model (Llama, Titan, Cohere, etc.)</a:t>
            </a:r>
            <a:br>
              <a:rPr sz="1200"/>
            </a:br>
            <a:r>
              <a:rPr lang="en-US" sz="1200" b="0" u="none" strike="noStrike">
                <a:solidFill>
                  <a:srgbClr val="1c2a3a"/>
                </a:solidFill>
                <a:effectLst/>
                <a:uFillTx/>
                <a:latin typeface="Calibri"/>
              </a:rPr>
              <a:t>4. Configure hyperparameters (epochs, lr, batch)</a:t>
            </a:r>
            <a:br>
              <a:rPr sz="1200"/>
            </a:br>
            <a:r>
              <a:rPr lang="en-US" sz="1200" b="0" u="none" strike="noStrike">
                <a:solidFill>
                  <a:srgbClr val="1c2a3a"/>
                </a:solidFill>
                <a:effectLst/>
                <a:uFillTx/>
                <a:latin typeface="Calibri"/>
              </a:rPr>
              <a:t>5. Submit job - AWS handles GPU provisioning</a:t>
            </a:r>
            <a:br>
              <a:rPr sz="1200"/>
            </a:br>
            <a:r>
              <a:rPr lang="en-US" sz="1200" b="0" u="none" strike="noStrike">
                <a:solidFill>
                  <a:srgbClr val="1c2a3a"/>
                </a:solidFill>
                <a:effectLst/>
                <a:uFillTx/>
                <a:latin typeface="Calibri"/>
              </a:rPr>
              <a:t>6. Deploy as Provisioned Throughput endpoint</a:t>
            </a:r>
            <a:br>
              <a:rPr sz="1200"/>
            </a:br>
            <a:br>
              <a:rPr sz="1200"/>
            </a:br>
            <a:r>
              <a:rPr lang="en-US" sz="1200" b="0" u="none" strike="noStrike">
                <a:solidFill>
                  <a:srgbClr val="1c2a3a"/>
                </a:solidFill>
                <a:effectLst/>
                <a:uFillTx/>
                <a:latin typeface="Calibri"/>
              </a:rPr>
              <a:t>No ML infrastructure to manage.</a:t>
            </a:r>
            <a:endParaRPr lang="el-GR" sz="1200" b="0" u="none" strike="noStrike">
              <a:solidFill>
                <a:srgbClr val="000000"/>
              </a:solidFill>
              <a:effectLst/>
              <a:uFillTx/>
              <a:latin typeface="Arial"/>
            </a:endParaRPr>
          </a:p>
        </p:txBody>
      </p:sp>
      <p:sp>
        <p:nvSpPr>
          <p:cNvPr id="207" name="Rectangle 6"/>
          <p:cNvSpPr/>
          <p:nvPr/>
        </p:nvSpPr>
        <p:spPr>
          <a:xfrm>
            <a:off x="6400800" y="3840480"/>
            <a:ext cx="5303160" cy="10969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SageMaker vs Bedrock</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SageMaker: Full control, custom code, any model, BYO container</a:t>
            </a:r>
            <a:br>
              <a:rPr sz="1200"/>
            </a:br>
            <a:r>
              <a:rPr lang="en-US" sz="1200" b="0" u="none" strike="noStrike">
                <a:solidFill>
                  <a:srgbClr val="1c2a3a"/>
                </a:solidFill>
                <a:effectLst/>
                <a:uFillTx/>
                <a:latin typeface="Calibri"/>
              </a:rPr>
              <a:t>Bedrock: Managed, simpler, limited to supported models</a:t>
            </a:r>
            <a:br>
              <a:rPr sz="1200"/>
            </a:br>
            <a:r>
              <a:rPr lang="en-US" sz="1200" b="0" u="none" strike="noStrike">
                <a:solidFill>
                  <a:srgbClr val="1c2a3a"/>
                </a:solidFill>
                <a:effectLst/>
                <a:uFillTx/>
                <a:latin typeface="Calibri"/>
              </a:rPr>
              <a:t>Both: LoRA/QLoRA, S3 data, IAM security, VPC isolation</a:t>
            </a:r>
            <a:endParaRPr lang="el-GR" sz="1200" b="0" u="none" strike="noStrike">
              <a:solidFill>
                <a:srgbClr val="000000"/>
              </a:solidFill>
              <a:effectLst/>
              <a:uFillTx/>
              <a:latin typeface="Arial"/>
            </a:endParaRPr>
          </a:p>
        </p:txBody>
      </p:sp>
      <p:sp>
        <p:nvSpPr>
          <p:cNvPr id="208" name="Rectangle 7"/>
          <p:cNvSpPr/>
          <p:nvPr/>
        </p:nvSpPr>
        <p:spPr>
          <a:xfrm>
            <a:off x="457200" y="5486400"/>
            <a:ext cx="11063880" cy="73116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Typical AWS Costs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Training: $2-50/hr (ml.g5.2xlarge ~$5/hr). A 7B QLoRA job: ~$5-25 total.  Inference: ml.g5.xlarge ~$1.50/hr, or Bedrock per-token pricing.</a:t>
            </a:r>
            <a:endParaRPr lang="el-GR" sz="1200" b="0" u="none" strike="noStrike">
              <a:solidFill>
                <a:srgbClr val="000000"/>
              </a:solidFill>
              <a:effectLst/>
              <a:uFillTx/>
              <a:latin typeface="Arial"/>
            </a:endParaRPr>
          </a:p>
        </p:txBody>
      </p:sp>
      <p:sp>
        <p:nvSpPr>
          <p:cNvPr id="209" name="TextBox 8"/>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20/55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RAG: The Essential Toolkit</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Everything you need from document ingestion to production serving</a:t>
            </a:r>
            <a:endParaRPr lang="el-GR" sz="1600" b="0" u="none" strike="noStrike">
              <a:solidFill>
                <a:srgbClr val="ffffff"/>
              </a:solidFill>
              <a:effectLst/>
              <a:uFillTx/>
              <a:latin typeface="Arial"/>
            </a:endParaRPr>
          </a:p>
        </p:txBody>
      </p:sp>
      <p:sp>
        <p:nvSpPr>
          <p:cNvPr id="211" name="TextBox 2"/>
          <p:cNvSpPr/>
          <p:nvPr/>
        </p:nvSpPr>
        <p:spPr>
          <a:xfrm>
            <a:off x="274320" y="1188720"/>
            <a:ext cx="37486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500" b="1" u="none" strike="noStrike">
                <a:solidFill>
                  <a:srgbClr val="1c2a3a"/>
                </a:solidFill>
                <a:effectLst/>
                <a:uFillTx/>
                <a:latin typeface="Calibri"/>
              </a:rPr>
              <a:t>Vector Databases</a:t>
            </a:r>
            <a:endParaRPr lang="el-GR" sz="1500" b="0" u="none" strike="noStrike">
              <a:solidFill>
                <a:srgbClr val="000000"/>
              </a:solidFill>
              <a:effectLst/>
              <a:uFillTx/>
              <a:latin typeface="Arial"/>
            </a:endParaRPr>
          </a:p>
        </p:txBody>
      </p:sp>
      <p:sp>
        <p:nvSpPr>
          <p:cNvPr id="212" name="Rectangle 3"/>
          <p:cNvSpPr/>
          <p:nvPr/>
        </p:nvSpPr>
        <p:spPr>
          <a:xfrm>
            <a:off x="274320" y="164592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ChromaDB</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Open-source, embedded, in-process. Zero config.</a:t>
            </a:r>
            <a:br>
              <a:rPr sz="1200"/>
            </a:br>
            <a:r>
              <a:rPr lang="en-US" sz="1200" b="0" u="none" strike="noStrike">
                <a:solidFill>
                  <a:srgbClr val="1c2a3a"/>
                </a:solidFill>
                <a:effectLst/>
                <a:uFillTx/>
                <a:latin typeface="Calibri"/>
              </a:rPr>
              <a:t>Use when: Prototyping, local dev, small datasets (&lt;1M docs).</a:t>
            </a:r>
            <a:endParaRPr lang="el-GR" sz="1200" b="0" u="none" strike="noStrike">
              <a:solidFill>
                <a:srgbClr val="000000"/>
              </a:solidFill>
              <a:effectLst/>
              <a:uFillTx/>
              <a:latin typeface="Arial"/>
            </a:endParaRPr>
          </a:p>
        </p:txBody>
      </p:sp>
      <p:sp>
        <p:nvSpPr>
          <p:cNvPr id="213" name="Rectangle 4"/>
          <p:cNvSpPr/>
          <p:nvPr/>
        </p:nvSpPr>
        <p:spPr>
          <a:xfrm>
            <a:off x="274320" y="260604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Pinecone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Fully managed serverless. Auto-scaling, zero-ops.</a:t>
            </a:r>
            <a:br>
              <a:rPr sz="1200"/>
            </a:br>
            <a:r>
              <a:rPr lang="en-US" sz="1200" b="0" u="none" strike="noStrike">
                <a:solidFill>
                  <a:srgbClr val="1c2a3a"/>
                </a:solidFill>
                <a:effectLst/>
                <a:uFillTx/>
                <a:latin typeface="Calibri"/>
              </a:rPr>
              <a:t>Use when: Production SaaS, no DB ops team, fast start.</a:t>
            </a:r>
            <a:endParaRPr lang="el-GR" sz="1200" b="0" u="none" strike="noStrike">
              <a:solidFill>
                <a:srgbClr val="000000"/>
              </a:solidFill>
              <a:effectLst/>
              <a:uFillTx/>
              <a:latin typeface="Arial"/>
            </a:endParaRPr>
          </a:p>
        </p:txBody>
      </p:sp>
      <p:sp>
        <p:nvSpPr>
          <p:cNvPr id="214" name="Rectangle 5"/>
          <p:cNvSpPr/>
          <p:nvPr/>
        </p:nvSpPr>
        <p:spPr>
          <a:xfrm>
            <a:off x="274320" y="356616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Weaviate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Open-source. Hybrid search (vector + BM25 keyword).</a:t>
            </a:r>
            <a:br>
              <a:rPr sz="1200"/>
            </a:br>
            <a:r>
              <a:rPr lang="en-US" sz="1200" b="0" u="none" strike="noStrike">
                <a:solidFill>
                  <a:srgbClr val="1c2a3a"/>
                </a:solidFill>
                <a:effectLst/>
                <a:uFillTx/>
                <a:latin typeface="Calibri"/>
              </a:rPr>
              <a:t>Use when: Need keyword+semantic combined, self-hosted.</a:t>
            </a:r>
            <a:endParaRPr lang="el-GR" sz="1200" b="0" u="none" strike="noStrike">
              <a:solidFill>
                <a:srgbClr val="000000"/>
              </a:solidFill>
              <a:effectLst/>
              <a:uFillTx/>
              <a:latin typeface="Arial"/>
            </a:endParaRPr>
          </a:p>
        </p:txBody>
      </p:sp>
      <p:sp>
        <p:nvSpPr>
          <p:cNvPr id="215" name="Rectangle 6"/>
          <p:cNvSpPr/>
          <p:nvPr/>
        </p:nvSpPr>
        <p:spPr>
          <a:xfrm>
            <a:off x="274320" y="452628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Qdrant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Rust-based, fast. Rich filtering, payload storage.</a:t>
            </a:r>
            <a:br>
              <a:rPr sz="1200"/>
            </a:br>
            <a:r>
              <a:rPr lang="en-US" sz="1200" b="0" u="none" strike="noStrike">
                <a:solidFill>
                  <a:srgbClr val="1c2a3a"/>
                </a:solidFill>
                <a:effectLst/>
                <a:uFillTx/>
                <a:latin typeface="Calibri"/>
              </a:rPr>
              <a:t>Use when: High-performance, complex metadata filters.</a:t>
            </a:r>
            <a:endParaRPr lang="el-GR" sz="1200" b="0" u="none" strike="noStrike">
              <a:solidFill>
                <a:srgbClr val="000000"/>
              </a:solidFill>
              <a:effectLst/>
              <a:uFillTx/>
              <a:latin typeface="Arial"/>
            </a:endParaRPr>
          </a:p>
        </p:txBody>
      </p:sp>
      <p:sp>
        <p:nvSpPr>
          <p:cNvPr id="216" name="Rectangle 7"/>
          <p:cNvSpPr/>
          <p:nvPr/>
        </p:nvSpPr>
        <p:spPr>
          <a:xfrm>
            <a:off x="274320" y="5486400"/>
            <a:ext cx="374868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pgvector (PostgreSQL)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Vector extension for Postgres. SQL + vector in one DB.</a:t>
            </a:r>
            <a:br>
              <a:rPr sz="1200"/>
            </a:br>
            <a:r>
              <a:rPr lang="en-US" sz="1200" b="0" u="none" strike="noStrike">
                <a:solidFill>
                  <a:srgbClr val="1c2a3a"/>
                </a:solidFill>
                <a:effectLst/>
                <a:uFillTx/>
                <a:latin typeface="Calibri"/>
              </a:rPr>
              <a:t>Use when: Already on Postgres, want single database.</a:t>
            </a:r>
            <a:endParaRPr lang="el-GR" sz="1200" b="0" u="none" strike="noStrike">
              <a:solidFill>
                <a:srgbClr val="000000"/>
              </a:solidFill>
              <a:effectLst/>
              <a:uFillTx/>
              <a:latin typeface="Arial"/>
            </a:endParaRPr>
          </a:p>
        </p:txBody>
      </p:sp>
      <p:sp>
        <p:nvSpPr>
          <p:cNvPr id="217" name="TextBox 8"/>
          <p:cNvSpPr/>
          <p:nvPr/>
        </p:nvSpPr>
        <p:spPr>
          <a:xfrm>
            <a:off x="4206240" y="1188720"/>
            <a:ext cx="37486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500" b="1" u="none" strike="noStrike">
                <a:solidFill>
                  <a:srgbClr val="1c2a3a"/>
                </a:solidFill>
                <a:effectLst/>
                <a:uFillTx/>
                <a:latin typeface="Calibri"/>
              </a:rPr>
              <a:t>Orchestration Frameworks</a:t>
            </a:r>
            <a:endParaRPr lang="el-GR" sz="1500" b="0" u="none" strike="noStrike">
              <a:solidFill>
                <a:srgbClr val="000000"/>
              </a:solidFill>
              <a:effectLst/>
              <a:uFillTx/>
              <a:latin typeface="Arial"/>
            </a:endParaRPr>
          </a:p>
        </p:txBody>
      </p:sp>
      <p:sp>
        <p:nvSpPr>
          <p:cNvPr id="218" name="Rectangle 9"/>
          <p:cNvSpPr/>
          <p:nvPr/>
        </p:nvSpPr>
        <p:spPr>
          <a:xfrm>
            <a:off x="4206240" y="164592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LangChain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Most popular. Chains, agents, 700+ integrations.</a:t>
            </a:r>
            <a:br>
              <a:rPr sz="1200"/>
            </a:br>
            <a:r>
              <a:rPr lang="en-US" sz="1200" b="0" u="none" strike="noStrike">
                <a:solidFill>
                  <a:srgbClr val="1c2a3a"/>
                </a:solidFill>
                <a:effectLst/>
                <a:uFillTx/>
                <a:latin typeface="Calibri"/>
              </a:rPr>
              <a:t>Use when: Rapid prototyping, broad ecosystem needs.</a:t>
            </a:r>
            <a:endParaRPr lang="el-GR" sz="1200" b="0" u="none" strike="noStrike">
              <a:solidFill>
                <a:srgbClr val="000000"/>
              </a:solidFill>
              <a:effectLst/>
              <a:uFillTx/>
              <a:latin typeface="Arial"/>
            </a:endParaRPr>
          </a:p>
        </p:txBody>
      </p:sp>
      <p:sp>
        <p:nvSpPr>
          <p:cNvPr id="219" name="Rectangle 10"/>
          <p:cNvSpPr/>
          <p:nvPr/>
        </p:nvSpPr>
        <p:spPr>
          <a:xfrm>
            <a:off x="4206240" y="260604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LlamaIndex</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Specialized for data ingestion &amp; indexing. Advanced RAG.</a:t>
            </a:r>
            <a:br>
              <a:rPr sz="1200"/>
            </a:br>
            <a:r>
              <a:rPr lang="en-US" sz="1200" b="0" u="none" strike="noStrike">
                <a:solidFill>
                  <a:srgbClr val="1c2a3a"/>
                </a:solidFill>
                <a:effectLst/>
                <a:uFillTx/>
                <a:latin typeface="Calibri"/>
              </a:rPr>
              <a:t>Use when: Complex documents, multi-step retrieval.</a:t>
            </a:r>
            <a:endParaRPr lang="el-GR" sz="1200" b="0" u="none" strike="noStrike">
              <a:solidFill>
                <a:srgbClr val="000000"/>
              </a:solidFill>
              <a:effectLst/>
              <a:uFillTx/>
              <a:latin typeface="Arial"/>
            </a:endParaRPr>
          </a:p>
        </p:txBody>
      </p:sp>
      <p:sp>
        <p:nvSpPr>
          <p:cNvPr id="220" name="Rectangle 11"/>
          <p:cNvSpPr/>
          <p:nvPr/>
        </p:nvSpPr>
        <p:spPr>
          <a:xfrm>
            <a:off x="4206240" y="356616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Haystack (deepset)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Production NLP pipelines. Modular, type-safe.</a:t>
            </a:r>
            <a:br>
              <a:rPr sz="1200"/>
            </a:br>
            <a:r>
              <a:rPr lang="en-US" sz="1200" b="0" u="none" strike="noStrike">
                <a:solidFill>
                  <a:srgbClr val="1c2a3a"/>
                </a:solidFill>
                <a:effectLst/>
                <a:uFillTx/>
                <a:latin typeface="Calibri"/>
              </a:rPr>
              <a:t>Use when: Enterprise, need robust pipeline abstraction.</a:t>
            </a:r>
            <a:endParaRPr lang="el-GR" sz="1200" b="0" u="none" strike="noStrike">
              <a:solidFill>
                <a:srgbClr val="000000"/>
              </a:solidFill>
              <a:effectLst/>
              <a:uFillTx/>
              <a:latin typeface="Arial"/>
            </a:endParaRPr>
          </a:p>
        </p:txBody>
      </p:sp>
      <p:sp>
        <p:nvSpPr>
          <p:cNvPr id="221" name="Rectangle 12"/>
          <p:cNvSpPr/>
          <p:nvPr/>
        </p:nvSpPr>
        <p:spPr>
          <a:xfrm>
            <a:off x="4206240" y="452628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Semantic Kernel (Microsoft)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LLM orchestration for .NET / Python. Plugin-based.</a:t>
            </a:r>
            <a:br>
              <a:rPr sz="1200"/>
            </a:br>
            <a:r>
              <a:rPr lang="en-US" sz="1200" b="0" u="none" strike="noStrike">
                <a:solidFill>
                  <a:srgbClr val="1c2a3a"/>
                </a:solidFill>
                <a:effectLst/>
                <a:uFillTx/>
                <a:latin typeface="Calibri"/>
              </a:rPr>
              <a:t>Use when: Microsoft / Azure ecosystem, C# teams.</a:t>
            </a:r>
            <a:endParaRPr lang="el-GR" sz="1200" b="0" u="none" strike="noStrike">
              <a:solidFill>
                <a:srgbClr val="000000"/>
              </a:solidFill>
              <a:effectLst/>
              <a:uFillTx/>
              <a:latin typeface="Arial"/>
            </a:endParaRPr>
          </a:p>
        </p:txBody>
      </p:sp>
      <p:sp>
        <p:nvSpPr>
          <p:cNvPr id="222" name="Rectangle 13"/>
          <p:cNvSpPr/>
          <p:nvPr/>
        </p:nvSpPr>
        <p:spPr>
          <a:xfrm>
            <a:off x="4206240" y="5486400"/>
            <a:ext cx="3748680" cy="868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CrewAI / AutoGen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Multi-agent frameworks with built-in RAG support.</a:t>
            </a:r>
            <a:br>
              <a:rPr sz="1200"/>
            </a:br>
            <a:r>
              <a:rPr lang="en-US" sz="1200" b="0" u="none" strike="noStrike">
                <a:solidFill>
                  <a:srgbClr val="1c2a3a"/>
                </a:solidFill>
                <a:effectLst/>
                <a:uFillTx/>
                <a:latin typeface="Calibri"/>
              </a:rPr>
              <a:t>Use when: Agentic RAG, multi-step reasoning tasks.</a:t>
            </a:r>
            <a:endParaRPr lang="el-GR" sz="1200" b="0" u="none" strike="noStrike">
              <a:solidFill>
                <a:srgbClr val="000000"/>
              </a:solidFill>
              <a:effectLst/>
              <a:uFillTx/>
              <a:latin typeface="Arial"/>
            </a:endParaRPr>
          </a:p>
        </p:txBody>
      </p:sp>
      <p:sp>
        <p:nvSpPr>
          <p:cNvPr id="223" name="TextBox 14"/>
          <p:cNvSpPr/>
          <p:nvPr/>
        </p:nvSpPr>
        <p:spPr>
          <a:xfrm>
            <a:off x="8138160" y="1188720"/>
            <a:ext cx="37486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500" b="1" u="none" strike="noStrike">
                <a:solidFill>
                  <a:srgbClr val="1c2a3a"/>
                </a:solidFill>
                <a:effectLst/>
                <a:uFillTx/>
                <a:latin typeface="Calibri"/>
              </a:rPr>
              <a:t>Embeddings, Eval &amp; Cloud RAG</a:t>
            </a:r>
            <a:endParaRPr lang="el-GR" sz="1500" b="0" u="none" strike="noStrike">
              <a:solidFill>
                <a:srgbClr val="000000"/>
              </a:solidFill>
              <a:effectLst/>
              <a:uFillTx/>
              <a:latin typeface="Arial"/>
            </a:endParaRPr>
          </a:p>
        </p:txBody>
      </p:sp>
      <p:sp>
        <p:nvSpPr>
          <p:cNvPr id="224" name="Rectangle 15"/>
          <p:cNvSpPr/>
          <p:nvPr/>
        </p:nvSpPr>
        <p:spPr>
          <a:xfrm>
            <a:off x="8138160" y="164592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sentence-transformers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Open-source embeddings (MiniLM, E5, BGE). Free, local.</a:t>
            </a:r>
            <a:br>
              <a:rPr sz="1200"/>
            </a:br>
            <a:r>
              <a:rPr lang="en-US" sz="1200" b="0" u="none" strike="noStrike">
                <a:solidFill>
                  <a:srgbClr val="1c2a3a"/>
                </a:solidFill>
                <a:effectLst/>
                <a:uFillTx/>
                <a:latin typeface="Calibri"/>
              </a:rPr>
              <a:t>Use when: Self-hosted, cost-sensitive, privacy.</a:t>
            </a:r>
            <a:endParaRPr lang="el-GR" sz="1200" b="0" u="none" strike="noStrike">
              <a:solidFill>
                <a:srgbClr val="000000"/>
              </a:solidFill>
              <a:effectLst/>
              <a:uFillTx/>
              <a:latin typeface="Arial"/>
            </a:endParaRPr>
          </a:p>
        </p:txBody>
      </p:sp>
      <p:sp>
        <p:nvSpPr>
          <p:cNvPr id="225" name="Rectangle 16"/>
          <p:cNvSpPr/>
          <p:nvPr/>
        </p:nvSpPr>
        <p:spPr>
          <a:xfrm>
            <a:off x="8138160" y="260604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OpenAI / Cohere / Voyage Embeddings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API-based. High quality. text-embedding-3-large etc.</a:t>
            </a:r>
            <a:br>
              <a:rPr sz="1200"/>
            </a:br>
            <a:r>
              <a:rPr lang="en-US" sz="1200" b="0" u="none" strike="noStrike">
                <a:solidFill>
                  <a:srgbClr val="1c2a3a"/>
                </a:solidFill>
                <a:effectLst/>
                <a:uFillTx/>
                <a:latin typeface="Calibri"/>
              </a:rPr>
              <a:t>Use when: Best quality, API cost is acceptable.</a:t>
            </a:r>
            <a:endParaRPr lang="el-GR" sz="1200" b="0" u="none" strike="noStrike">
              <a:solidFill>
                <a:srgbClr val="000000"/>
              </a:solidFill>
              <a:effectLst/>
              <a:uFillTx/>
              <a:latin typeface="Arial"/>
            </a:endParaRPr>
          </a:p>
        </p:txBody>
      </p:sp>
      <p:sp>
        <p:nvSpPr>
          <p:cNvPr id="226" name="Rectangle 17"/>
          <p:cNvSpPr/>
          <p:nvPr/>
        </p:nvSpPr>
        <p:spPr>
          <a:xfrm>
            <a:off x="8138160" y="356616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RAGAS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Evaluate RAG: faithfulness, relevancy, context recall.</a:t>
            </a:r>
            <a:br>
              <a:rPr sz="1200"/>
            </a:br>
            <a:r>
              <a:rPr lang="en-US" sz="1200" b="0" u="none" strike="noStrike">
                <a:solidFill>
                  <a:srgbClr val="1c2a3a"/>
                </a:solidFill>
                <a:effectLst/>
                <a:uFillTx/>
                <a:latin typeface="Calibri"/>
              </a:rPr>
              <a:t>Use when: Measuring and improving RAG quality.</a:t>
            </a:r>
            <a:endParaRPr lang="el-GR" sz="1200" b="0" u="none" strike="noStrike">
              <a:solidFill>
                <a:srgbClr val="000000"/>
              </a:solidFill>
              <a:effectLst/>
              <a:uFillTx/>
              <a:latin typeface="Arial"/>
            </a:endParaRPr>
          </a:p>
        </p:txBody>
      </p:sp>
      <p:sp>
        <p:nvSpPr>
          <p:cNvPr id="227" name="Rectangle 18"/>
          <p:cNvSpPr/>
          <p:nvPr/>
        </p:nvSpPr>
        <p:spPr>
          <a:xfrm>
            <a:off x="8138160" y="452628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AWS Bedrock Knowledge Bases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Managed RAG. Auto-chunking, OpenSearch, Bedrock LLMs.</a:t>
            </a:r>
            <a:br>
              <a:rPr sz="1200"/>
            </a:br>
            <a:r>
              <a:rPr lang="en-US" sz="1200" b="0" u="none" strike="noStrike">
                <a:solidFill>
                  <a:srgbClr val="1c2a3a"/>
                </a:solidFill>
                <a:effectLst/>
                <a:uFillTx/>
                <a:latin typeface="Calibri"/>
              </a:rPr>
              <a:t>Use when: AWS shop, zero-infra RAG.</a:t>
            </a:r>
            <a:endParaRPr lang="el-GR" sz="1200" b="0" u="none" strike="noStrike">
              <a:solidFill>
                <a:srgbClr val="000000"/>
              </a:solidFill>
              <a:effectLst/>
              <a:uFillTx/>
              <a:latin typeface="Arial"/>
            </a:endParaRPr>
          </a:p>
        </p:txBody>
      </p:sp>
      <p:sp>
        <p:nvSpPr>
          <p:cNvPr id="228" name="Rectangle 19"/>
          <p:cNvSpPr/>
          <p:nvPr/>
        </p:nvSpPr>
        <p:spPr>
          <a:xfrm>
            <a:off x="8138160" y="5486400"/>
            <a:ext cx="374868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Azure AI Search + OpenAI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Enterprise search + GPT. Hybrid retrieval, RBAC.</a:t>
            </a:r>
            <a:br>
              <a:rPr sz="1200"/>
            </a:br>
            <a:r>
              <a:rPr lang="en-US" sz="1200" b="0" u="none" strike="noStrike">
                <a:solidFill>
                  <a:srgbClr val="1c2a3a"/>
                </a:solidFill>
                <a:effectLst/>
                <a:uFillTx/>
                <a:latin typeface="Calibri"/>
              </a:rPr>
              <a:t>Use when: Azure/Microsoft ecosystem.</a:t>
            </a:r>
            <a:endParaRPr lang="el-GR" sz="1200" b="0" u="none" strike="noStrike">
              <a:solidFill>
                <a:srgbClr val="000000"/>
              </a:solidFill>
              <a:effectLst/>
              <a:uFillTx/>
              <a:latin typeface="Arial"/>
            </a:endParaRPr>
          </a:p>
        </p:txBody>
      </p:sp>
      <p:sp>
        <p:nvSpPr>
          <p:cNvPr id="229" name="TextBox 20"/>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21/55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How to Build RAG: Local Setup</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Python + ChromaDB + sentence-transformers + any LLM</a:t>
            </a:r>
            <a:endParaRPr lang="el-GR" sz="1600" b="0" u="none" strike="noStrike">
              <a:solidFill>
                <a:srgbClr val="ffffff"/>
              </a:solidFill>
              <a:effectLst/>
              <a:uFillTx/>
              <a:latin typeface="Arial"/>
            </a:endParaRPr>
          </a:p>
        </p:txBody>
      </p:sp>
      <p:sp>
        <p:nvSpPr>
          <p:cNvPr id="231" name="TextBox 2"/>
          <p:cNvSpPr/>
          <p:nvPr/>
        </p:nvSpPr>
        <p:spPr>
          <a:xfrm>
            <a:off x="457200" y="1371600"/>
            <a:ext cx="5943240" cy="4754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000" b="0" u="none" strike="noStrike">
                <a:solidFill>
                  <a:srgbClr val="1c2a3a"/>
                </a:solidFill>
                <a:effectLst/>
                <a:uFillTx/>
                <a:latin typeface="Consolas"/>
              </a:rPr>
              <a:t># 1. Install dependencies</a:t>
            </a:r>
            <a:br>
              <a:rPr sz="1000"/>
            </a:br>
            <a:r>
              <a:rPr lang="en-US" sz="1000" b="0" u="none" strike="noStrike">
                <a:solidFill>
                  <a:srgbClr val="1c2a3a"/>
                </a:solidFill>
                <a:effectLst/>
                <a:uFillTx/>
                <a:latin typeface="Consolas"/>
              </a:rPr>
              <a:t># pip install chromadb sentence-transformers langchain</a:t>
            </a:r>
            <a:br>
              <a:rPr sz="1000"/>
            </a:br>
            <a:br>
              <a:rPr sz="1000"/>
            </a:br>
            <a:r>
              <a:rPr lang="en-US" sz="1000" b="0" u="none" strike="noStrike">
                <a:solidFill>
                  <a:srgbClr val="1c2a3a"/>
                </a:solidFill>
                <a:effectLst/>
                <a:uFillTx/>
                <a:latin typeface="Consolas"/>
              </a:rPr>
              <a:t># 2. Load &amp; chunk your documents</a:t>
            </a:r>
            <a:br>
              <a:rPr sz="1000"/>
            </a:br>
            <a:r>
              <a:rPr lang="en-US" sz="1000" b="0" u="none" strike="noStrike">
                <a:solidFill>
                  <a:srgbClr val="1c2a3a"/>
                </a:solidFill>
                <a:effectLst/>
                <a:uFillTx/>
                <a:latin typeface="Consolas"/>
              </a:rPr>
              <a:t>from langchain.text_splitter import (</a:t>
            </a:r>
            <a:br>
              <a:rPr sz="1000"/>
            </a:br>
            <a:r>
              <a:rPr lang="en-US" sz="1000" b="0" u="none" strike="noStrike">
                <a:solidFill>
                  <a:srgbClr val="1c2a3a"/>
                </a:solidFill>
                <a:effectLst/>
                <a:uFillTx/>
                <a:latin typeface="Consolas"/>
              </a:rPr>
              <a:t>    RecursiveCharacterTextSplitter</a:t>
            </a:r>
            <a:br>
              <a:rPr sz="1000"/>
            </a:br>
            <a:r>
              <a:rPr lang="en-US" sz="1000" b="0" u="none" strike="noStrike">
                <a:solidFill>
                  <a:srgbClr val="1c2a3a"/>
                </a:solidFill>
                <a:effectLst/>
                <a:uFillTx/>
                <a:latin typeface="Consolas"/>
              </a:rPr>
              <a:t>)</a:t>
            </a:r>
            <a:br>
              <a:rPr sz="1000"/>
            </a:br>
            <a:r>
              <a:rPr lang="en-US" sz="1000" b="0" u="none" strike="noStrike">
                <a:solidFill>
                  <a:srgbClr val="1c2a3a"/>
                </a:solidFill>
                <a:effectLst/>
                <a:uFillTx/>
                <a:latin typeface="Consolas"/>
              </a:rPr>
              <a:t>splitter = RecursiveCharacterTextSplitter(</a:t>
            </a:r>
            <a:br>
              <a:rPr sz="1000"/>
            </a:br>
            <a:r>
              <a:rPr lang="en-US" sz="1000" b="0" u="none" strike="noStrike">
                <a:solidFill>
                  <a:srgbClr val="1c2a3a"/>
                </a:solidFill>
                <a:effectLst/>
                <a:uFillTx/>
                <a:latin typeface="Consolas"/>
              </a:rPr>
              <a:t>    chunk_size=500, chunk_overlap=50</a:t>
            </a:r>
            <a:br>
              <a:rPr sz="1000"/>
            </a:br>
            <a:r>
              <a:rPr lang="en-US" sz="1000" b="0" u="none" strike="noStrike">
                <a:solidFill>
                  <a:srgbClr val="1c2a3a"/>
                </a:solidFill>
                <a:effectLst/>
                <a:uFillTx/>
                <a:latin typeface="Consolas"/>
              </a:rPr>
              <a:t>)</a:t>
            </a:r>
            <a:br>
              <a:rPr sz="1000"/>
            </a:br>
            <a:r>
              <a:rPr lang="en-US" sz="1000" b="0" u="none" strike="noStrike">
                <a:solidFill>
                  <a:srgbClr val="1c2a3a"/>
                </a:solidFill>
                <a:effectLst/>
                <a:uFillTx/>
                <a:latin typeface="Consolas"/>
              </a:rPr>
              <a:t>chunks = splitter.split_documents(docs)</a:t>
            </a:r>
            <a:br>
              <a:rPr sz="1000"/>
            </a:br>
            <a:br>
              <a:rPr sz="1000"/>
            </a:br>
            <a:r>
              <a:rPr lang="en-US" sz="1000" b="0" u="none" strike="noStrike">
                <a:solidFill>
                  <a:srgbClr val="1c2a3a"/>
                </a:solidFill>
                <a:effectLst/>
                <a:uFillTx/>
                <a:latin typeface="Consolas"/>
              </a:rPr>
              <a:t># 3. Create embeddings &amp; vector store</a:t>
            </a:r>
            <a:br>
              <a:rPr sz="1000"/>
            </a:br>
            <a:r>
              <a:rPr lang="en-US" sz="1000" b="0" u="none" strike="noStrike">
                <a:solidFill>
                  <a:srgbClr val="1c2a3a"/>
                </a:solidFill>
                <a:effectLst/>
                <a:uFillTx/>
                <a:latin typeface="Consolas"/>
              </a:rPr>
              <a:t>from langchain.embeddings import (</a:t>
            </a:r>
            <a:br>
              <a:rPr sz="1000"/>
            </a:br>
            <a:r>
              <a:rPr lang="en-US" sz="1000" b="0" u="none" strike="noStrike">
                <a:solidFill>
                  <a:srgbClr val="1c2a3a"/>
                </a:solidFill>
                <a:effectLst/>
                <a:uFillTx/>
                <a:latin typeface="Consolas"/>
              </a:rPr>
              <a:t>    HuggingFaceEmbeddings</a:t>
            </a:r>
            <a:br>
              <a:rPr sz="1000"/>
            </a:br>
            <a:r>
              <a:rPr lang="en-US" sz="1000" b="0" u="none" strike="noStrike">
                <a:solidFill>
                  <a:srgbClr val="1c2a3a"/>
                </a:solidFill>
                <a:effectLst/>
                <a:uFillTx/>
                <a:latin typeface="Consolas"/>
              </a:rPr>
              <a:t>)</a:t>
            </a:r>
            <a:br>
              <a:rPr sz="1000"/>
            </a:br>
            <a:r>
              <a:rPr lang="en-US" sz="1000" b="0" u="none" strike="noStrike">
                <a:solidFill>
                  <a:srgbClr val="1c2a3a"/>
                </a:solidFill>
                <a:effectLst/>
                <a:uFillTx/>
                <a:latin typeface="Consolas"/>
              </a:rPr>
              <a:t>from langchain.vectorstores import Chroma</a:t>
            </a:r>
            <a:br>
              <a:rPr sz="1000"/>
            </a:br>
            <a:br>
              <a:rPr sz="1000"/>
            </a:br>
            <a:r>
              <a:rPr lang="en-US" sz="1000" b="0" u="none" strike="noStrike">
                <a:solidFill>
                  <a:srgbClr val="1c2a3a"/>
                </a:solidFill>
                <a:effectLst/>
                <a:uFillTx/>
                <a:latin typeface="Consolas"/>
              </a:rPr>
              <a:t>embeddings = HuggingFaceEmbeddings(</a:t>
            </a:r>
            <a:br>
              <a:rPr sz="1000"/>
            </a:br>
            <a:r>
              <a:rPr lang="en-US" sz="1000" b="0" u="none" strike="noStrike">
                <a:solidFill>
                  <a:srgbClr val="1c2a3a"/>
                </a:solidFill>
                <a:effectLst/>
                <a:uFillTx/>
                <a:latin typeface="Consolas"/>
              </a:rPr>
              <a:t>    model_name="all-MiniLM-L6-v2"  # 384-dim</a:t>
            </a:r>
            <a:br>
              <a:rPr sz="1000"/>
            </a:br>
            <a:r>
              <a:rPr lang="en-US" sz="1000" b="0" u="none" strike="noStrike">
                <a:solidFill>
                  <a:srgbClr val="1c2a3a"/>
                </a:solidFill>
                <a:effectLst/>
                <a:uFillTx/>
                <a:latin typeface="Consolas"/>
              </a:rPr>
              <a:t>)</a:t>
            </a:r>
            <a:br>
              <a:rPr sz="1000"/>
            </a:br>
            <a:r>
              <a:rPr lang="en-US" sz="1000" b="0" u="none" strike="noStrike">
                <a:solidFill>
                  <a:srgbClr val="1c2a3a"/>
                </a:solidFill>
                <a:effectLst/>
                <a:uFillTx/>
                <a:latin typeface="Consolas"/>
              </a:rPr>
              <a:t>vectorstore = Chroma.from_documents(</a:t>
            </a:r>
            <a:br>
              <a:rPr sz="1000"/>
            </a:br>
            <a:r>
              <a:rPr lang="en-US" sz="1000" b="0" u="none" strike="noStrike">
                <a:solidFill>
                  <a:srgbClr val="1c2a3a"/>
                </a:solidFill>
                <a:effectLst/>
                <a:uFillTx/>
                <a:latin typeface="Consolas"/>
              </a:rPr>
              <a:t>    chunks, embeddings, persist_directory="./db"</a:t>
            </a:r>
            <a:br>
              <a:rPr sz="1000"/>
            </a:br>
            <a:r>
              <a:rPr lang="en-US" sz="1000" b="0" u="none" strike="noStrike">
                <a:solidFill>
                  <a:srgbClr val="1c2a3a"/>
                </a:solidFill>
                <a:effectLst/>
                <a:uFillTx/>
                <a:latin typeface="Consolas"/>
              </a:rPr>
              <a:t>)</a:t>
            </a:r>
            <a:br>
              <a:rPr sz="1000"/>
            </a:br>
            <a:br>
              <a:rPr sz="1000"/>
            </a:br>
            <a:r>
              <a:rPr lang="en-US" sz="1000" b="0" u="none" strike="noStrike">
                <a:solidFill>
                  <a:srgbClr val="1c2a3a"/>
                </a:solidFill>
                <a:effectLst/>
                <a:uFillTx/>
                <a:latin typeface="Consolas"/>
              </a:rPr>
              <a:t># 4. Query: embed question -&gt; retrieve -&gt; generate</a:t>
            </a:r>
            <a:br>
              <a:rPr sz="1000"/>
            </a:br>
            <a:r>
              <a:rPr lang="en-US" sz="1000" b="0" u="none" strike="noStrike">
                <a:solidFill>
                  <a:srgbClr val="1c2a3a"/>
                </a:solidFill>
                <a:effectLst/>
                <a:uFillTx/>
                <a:latin typeface="Consolas"/>
              </a:rPr>
              <a:t>results = vectorstore.similarity_search(</a:t>
            </a:r>
            <a:br>
              <a:rPr sz="1000"/>
            </a:br>
            <a:r>
              <a:rPr lang="en-US" sz="1000" b="0" u="none" strike="noStrike">
                <a:solidFill>
                  <a:srgbClr val="1c2a3a"/>
                </a:solidFill>
                <a:effectLst/>
                <a:uFillTx/>
                <a:latin typeface="Consolas"/>
              </a:rPr>
              <a:t>    "What was revenue growth?", k=5</a:t>
            </a:r>
            <a:br>
              <a:rPr sz="1000"/>
            </a:br>
            <a:r>
              <a:rPr lang="en-US" sz="1000" b="0" u="none" strike="noStrike">
                <a:solidFill>
                  <a:srgbClr val="1c2a3a"/>
                </a:solidFill>
                <a:effectLst/>
                <a:uFillTx/>
                <a:latin typeface="Consolas"/>
              </a:rPr>
              <a:t>)</a:t>
            </a:r>
            <a:br>
              <a:rPr sz="1000"/>
            </a:br>
            <a:r>
              <a:rPr lang="en-US" sz="1000" b="0" u="none" strike="noStrike">
                <a:solidFill>
                  <a:srgbClr val="1c2a3a"/>
                </a:solidFill>
                <a:effectLst/>
                <a:uFillTx/>
                <a:latin typeface="Consolas"/>
              </a:rPr>
              <a:t>context = "\n".join(r.page_content for r in results)</a:t>
            </a:r>
            <a:br>
              <a:rPr sz="1000"/>
            </a:br>
            <a:r>
              <a:rPr lang="en-US" sz="1000" b="0" u="none" strike="noStrike">
                <a:solidFill>
                  <a:srgbClr val="1c2a3a"/>
                </a:solidFill>
                <a:effectLst/>
                <a:uFillTx/>
                <a:latin typeface="Consolas"/>
              </a:rPr>
              <a:t>answer = llm(f"{context}\n\nQ: {question}")</a:t>
            </a:r>
            <a:endParaRPr lang="el-GR" sz="1000" b="0" u="none" strike="noStrike">
              <a:solidFill>
                <a:srgbClr val="000000"/>
              </a:solidFill>
              <a:effectLst/>
              <a:uFillTx/>
              <a:latin typeface="Arial"/>
            </a:endParaRPr>
          </a:p>
        </p:txBody>
      </p:sp>
      <p:sp>
        <p:nvSpPr>
          <p:cNvPr id="232" name="Rectangle 3"/>
          <p:cNvSpPr/>
          <p:nvPr/>
        </p:nvSpPr>
        <p:spPr>
          <a:xfrm>
            <a:off x="6583680" y="1280160"/>
            <a:ext cx="5028840" cy="14626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Architecture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Documents -&gt; Chunking (500 chars) -&gt; Embedding</a:t>
            </a:r>
            <a:br>
              <a:rPr sz="1200"/>
            </a:br>
            <a:r>
              <a:rPr lang="en-US" sz="1200" b="0" u="none" strike="noStrike">
                <a:solidFill>
                  <a:srgbClr val="1c2a3a"/>
                </a:solidFill>
                <a:effectLst/>
                <a:uFillTx/>
                <a:latin typeface="Calibri"/>
              </a:rPr>
              <a:t>  -&gt; ChromaDB (cosine similarity) -&gt; Top-K retrieval</a:t>
            </a:r>
            <a:br>
              <a:rPr sz="1200"/>
            </a:br>
            <a:r>
              <a:rPr lang="en-US" sz="1200" b="0" u="none" strike="noStrike">
                <a:solidFill>
                  <a:srgbClr val="1c2a3a"/>
                </a:solidFill>
                <a:effectLst/>
                <a:uFillTx/>
                <a:latin typeface="Calibri"/>
              </a:rPr>
              <a:t>  -&gt; LLM prompt = question + retrieved chunks</a:t>
            </a:r>
            <a:br>
              <a:rPr sz="1200"/>
            </a:br>
            <a:r>
              <a:rPr lang="en-US" sz="1200" b="0" u="none" strike="noStrike">
                <a:solidFill>
                  <a:srgbClr val="1c2a3a"/>
                </a:solidFill>
                <a:effectLst/>
                <a:uFillTx/>
                <a:latin typeface="Calibri"/>
              </a:rPr>
              <a:t>  -&gt; Answer with source references</a:t>
            </a:r>
            <a:endParaRPr lang="el-GR" sz="1200" b="0" u="none" strike="noStrike">
              <a:solidFill>
                <a:srgbClr val="000000"/>
              </a:solidFill>
              <a:effectLst/>
              <a:uFillTx/>
              <a:latin typeface="Arial"/>
            </a:endParaRPr>
          </a:p>
        </p:txBody>
      </p:sp>
      <p:sp>
        <p:nvSpPr>
          <p:cNvPr id="233" name="Rectangle 4"/>
          <p:cNvSpPr/>
          <p:nvPr/>
        </p:nvSpPr>
        <p:spPr>
          <a:xfrm>
            <a:off x="6583680" y="2926080"/>
            <a:ext cx="5028840" cy="137124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Prerequisites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Python 3.10+, no GPU required for retrieval</a:t>
            </a:r>
            <a:br>
              <a:rPr sz="1200"/>
            </a:br>
            <a:r>
              <a:rPr lang="en-US" sz="1200" b="0" u="none" strike="noStrike">
                <a:solidFill>
                  <a:srgbClr val="1c2a3a"/>
                </a:solidFill>
                <a:effectLst/>
                <a:uFillTx/>
                <a:latin typeface="Calibri"/>
              </a:rPr>
              <a:t>- GPU optional (for local LLM via Ollama/vLLM)</a:t>
            </a:r>
            <a:br>
              <a:rPr sz="1200"/>
            </a:br>
            <a:r>
              <a:rPr lang="en-US" sz="1200" b="0" u="none" strike="noStrike">
                <a:solidFill>
                  <a:srgbClr val="1c2a3a"/>
                </a:solidFill>
                <a:effectLst/>
                <a:uFillTx/>
                <a:latin typeface="Calibri"/>
              </a:rPr>
              <a:t>- Or use API: OpenAI / Anthropic / Groq for generation</a:t>
            </a:r>
            <a:br>
              <a:rPr sz="1200"/>
            </a:br>
            <a:r>
              <a:rPr lang="en-US" sz="1200" b="0" u="none" strike="noStrike">
                <a:solidFill>
                  <a:srgbClr val="1c2a3a"/>
                </a:solidFill>
                <a:effectLst/>
                <a:uFillTx/>
                <a:latin typeface="Calibri"/>
              </a:rPr>
              <a:t>- Storage: ~1 GB per 100K document chunks</a:t>
            </a:r>
            <a:endParaRPr lang="el-GR" sz="1200" b="0" u="none" strike="noStrike">
              <a:solidFill>
                <a:srgbClr val="000000"/>
              </a:solidFill>
              <a:effectLst/>
              <a:uFillTx/>
              <a:latin typeface="Arial"/>
            </a:endParaRPr>
          </a:p>
        </p:txBody>
      </p:sp>
      <p:sp>
        <p:nvSpPr>
          <p:cNvPr id="234" name="Rectangle 5"/>
          <p:cNvSpPr/>
          <p:nvPr/>
        </p:nvSpPr>
        <p:spPr>
          <a:xfrm>
            <a:off x="6583680" y="4480560"/>
            <a:ext cx="5028840" cy="1645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Tuning Tips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Chunk size: 300-1000 chars (test what works best)</a:t>
            </a:r>
            <a:br>
              <a:rPr sz="1200"/>
            </a:br>
            <a:r>
              <a:rPr lang="en-US" sz="1200" b="0" u="none" strike="noStrike">
                <a:solidFill>
                  <a:srgbClr val="1c2a3a"/>
                </a:solidFill>
                <a:effectLst/>
                <a:uFillTx/>
                <a:latin typeface="Calibri"/>
              </a:rPr>
              <a:t>- Overlap: 10-20% of chunk size avoids split entities</a:t>
            </a:r>
            <a:br>
              <a:rPr sz="1200"/>
            </a:br>
            <a:r>
              <a:rPr lang="en-US" sz="1200" b="0" u="none" strike="noStrike">
                <a:solidFill>
                  <a:srgbClr val="1c2a3a"/>
                </a:solidFill>
                <a:effectLst/>
                <a:uFillTx/>
                <a:latin typeface="Calibri"/>
              </a:rPr>
              <a:t>- Top-K: 3-5 docs balances context vs noise</a:t>
            </a:r>
            <a:br>
              <a:rPr sz="1200"/>
            </a:br>
            <a:r>
              <a:rPr lang="en-US" sz="1200" b="0" u="none" strike="noStrike">
                <a:solidFill>
                  <a:srgbClr val="1c2a3a"/>
                </a:solidFill>
                <a:effectLst/>
                <a:uFillTx/>
                <a:latin typeface="Calibri"/>
              </a:rPr>
              <a:t>- Embedding model matters: try domain-specific ones</a:t>
            </a:r>
            <a:br>
              <a:rPr sz="1200"/>
            </a:br>
            <a:r>
              <a:rPr lang="en-US" sz="1200" b="0" u="none" strike="noStrike">
                <a:solidFill>
                  <a:srgbClr val="1c2a3a"/>
                </a:solidFill>
                <a:effectLst/>
                <a:uFillTx/>
                <a:latin typeface="Calibri"/>
              </a:rPr>
              <a:t>- Re-ranking (cross-encoder) boosts precision</a:t>
            </a:r>
            <a:endParaRPr lang="el-GR" sz="1200" b="0" u="none" strike="noStrike">
              <a:solidFill>
                <a:srgbClr val="000000"/>
              </a:solidFill>
              <a:effectLst/>
              <a:uFillTx/>
              <a:latin typeface="Arial"/>
            </a:endParaRPr>
          </a:p>
        </p:txBody>
      </p:sp>
      <p:sp>
        <p:nvSpPr>
          <p:cNvPr id="235" name="TextBox 6"/>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22/55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How to Build RAG: AWS</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Bedrock Knowledge Bases + OpenSearch Serverless</a:t>
            </a:r>
            <a:endParaRPr lang="el-GR" sz="1600" b="0" u="none" strike="noStrike">
              <a:solidFill>
                <a:srgbClr val="ffffff"/>
              </a:solidFill>
              <a:effectLst/>
              <a:uFillTx/>
              <a:latin typeface="Arial"/>
            </a:endParaRPr>
          </a:p>
        </p:txBody>
      </p:sp>
      <p:sp>
        <p:nvSpPr>
          <p:cNvPr id="237" name="TextBox 2"/>
          <p:cNvSpPr/>
          <p:nvPr/>
        </p:nvSpPr>
        <p:spPr>
          <a:xfrm>
            <a:off x="457200" y="118872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c2a3a"/>
                </a:solidFill>
                <a:effectLst/>
                <a:uFillTx/>
                <a:latin typeface="Calibri"/>
              </a:rPr>
              <a:t>Option A: Amazon Bedrock Knowledge Bases (Managed)</a:t>
            </a:r>
            <a:endParaRPr lang="el-GR" sz="1600" b="0" u="none" strike="noStrike">
              <a:solidFill>
                <a:srgbClr val="000000"/>
              </a:solidFill>
              <a:effectLst/>
              <a:uFillTx/>
              <a:latin typeface="Arial"/>
            </a:endParaRPr>
          </a:p>
        </p:txBody>
      </p:sp>
      <p:sp>
        <p:nvSpPr>
          <p:cNvPr id="238" name="Rectangle 3"/>
          <p:cNvSpPr/>
          <p:nvPr/>
        </p:nvSpPr>
        <p:spPr>
          <a:xfrm>
            <a:off x="457200" y="1645920"/>
            <a:ext cx="5486040" cy="32000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Fully Managed RAG in 5 Steps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1. Create S3 bucket with your documents</a:t>
            </a:r>
            <a:br>
              <a:rPr sz="1200"/>
            </a:br>
            <a:r>
              <a:rPr lang="en-US" sz="1200" b="0" u="none" strike="noStrike">
                <a:solidFill>
                  <a:srgbClr val="1c2a3a"/>
                </a:solidFill>
                <a:effectLst/>
                <a:uFillTx/>
                <a:latin typeface="Calibri"/>
              </a:rPr>
              <a:t>   (PDF, TXT, CSV, HTML, DOCX supported)</a:t>
            </a:r>
            <a:br>
              <a:rPr sz="1200"/>
            </a:br>
            <a:br>
              <a:rPr sz="1200"/>
            </a:br>
            <a:r>
              <a:rPr lang="en-US" sz="1200" b="0" u="none" strike="noStrike">
                <a:solidFill>
                  <a:srgbClr val="1c2a3a"/>
                </a:solidFill>
                <a:effectLst/>
                <a:uFillTx/>
                <a:latin typeface="Calibri"/>
              </a:rPr>
              <a:t>2. Console: Bedrock &gt; Knowledge bases &gt; Create</a:t>
            </a:r>
            <a:br>
              <a:rPr sz="1200"/>
            </a:br>
            <a:r>
              <a:rPr lang="en-US" sz="1200" b="0" u="none" strike="noStrike">
                <a:solidFill>
                  <a:srgbClr val="1c2a3a"/>
                </a:solidFill>
                <a:effectLst/>
                <a:uFillTx/>
                <a:latin typeface="Calibri"/>
              </a:rPr>
              <a:t>   - Select embedding model (Titan, Cohere)</a:t>
            </a:r>
            <a:br>
              <a:rPr sz="1200"/>
            </a:br>
            <a:r>
              <a:rPr lang="en-US" sz="1200" b="0" u="none" strike="noStrike">
                <a:solidFill>
                  <a:srgbClr val="1c2a3a"/>
                </a:solidFill>
                <a:effectLst/>
                <a:uFillTx/>
                <a:latin typeface="Calibri"/>
              </a:rPr>
              <a:t>   - Select vector store (auto-creates OpenSearch)</a:t>
            </a:r>
            <a:br>
              <a:rPr sz="1200"/>
            </a:br>
            <a:br>
              <a:rPr sz="1200"/>
            </a:br>
            <a:r>
              <a:rPr lang="en-US" sz="1200" b="0" u="none" strike="noStrike">
                <a:solidFill>
                  <a:srgbClr val="1c2a3a"/>
                </a:solidFill>
                <a:effectLst/>
                <a:uFillTx/>
                <a:latin typeface="Calibri"/>
              </a:rPr>
              <a:t>3. Sync data source (automatic chunking &amp; embedding)</a:t>
            </a:r>
            <a:br>
              <a:rPr sz="1200"/>
            </a:br>
            <a:br>
              <a:rPr sz="1200"/>
            </a:br>
            <a:r>
              <a:rPr lang="en-US" sz="1200" b="0" u="none" strike="noStrike">
                <a:solidFill>
                  <a:srgbClr val="1c2a3a"/>
                </a:solidFill>
                <a:effectLst/>
                <a:uFillTx/>
                <a:latin typeface="Calibri"/>
              </a:rPr>
              <a:t>4. Query via RetrieveAndGenerate API:</a:t>
            </a:r>
            <a:br>
              <a:rPr sz="1200"/>
            </a:br>
            <a:r>
              <a:rPr lang="en-US" sz="1200" b="0" u="none" strike="noStrike">
                <a:solidFill>
                  <a:srgbClr val="1c2a3a"/>
                </a:solidFill>
                <a:effectLst/>
                <a:uFillTx/>
                <a:latin typeface="Calibri"/>
              </a:rPr>
              <a:t>   response = bedrock.retrieve_and_generate(</a:t>
            </a:r>
            <a:br>
              <a:rPr sz="1200"/>
            </a:br>
            <a:r>
              <a:rPr lang="en-US" sz="1200" b="0" u="none" strike="noStrike">
                <a:solidFill>
                  <a:srgbClr val="1c2a3a"/>
                </a:solidFill>
                <a:effectLst/>
                <a:uFillTx/>
                <a:latin typeface="Calibri"/>
              </a:rPr>
              <a:t>       input={'text': 'What was revenue growth?'},</a:t>
            </a:r>
            <a:br>
              <a:rPr sz="1200"/>
            </a:br>
            <a:r>
              <a:rPr lang="en-US" sz="1200" b="0" u="none" strike="noStrike">
                <a:solidFill>
                  <a:srgbClr val="1c2a3a"/>
                </a:solidFill>
                <a:effectLst/>
                <a:uFillTx/>
                <a:latin typeface="Calibri"/>
              </a:rPr>
              <a:t>       knowledgeBaseId='KB_ID',</a:t>
            </a:r>
            <a:br>
              <a:rPr sz="1200"/>
            </a:br>
            <a:r>
              <a:rPr lang="en-US" sz="1200" b="0" u="none" strike="noStrike">
                <a:solidFill>
                  <a:srgbClr val="1c2a3a"/>
                </a:solidFill>
                <a:effectLst/>
                <a:uFillTx/>
                <a:latin typeface="Calibri"/>
              </a:rPr>
              <a:t>       modelArn='anthropic.claude-3-sonnet'</a:t>
            </a:r>
            <a:br>
              <a:rPr sz="1200"/>
            </a:br>
            <a:r>
              <a:rPr lang="en-US" sz="1200" b="0" u="none" strike="noStrike">
                <a:solidFill>
                  <a:srgbClr val="1c2a3a"/>
                </a:solidFill>
                <a:effectLst/>
                <a:uFillTx/>
                <a:latin typeface="Calibri"/>
              </a:rPr>
              <a:t>   )</a:t>
            </a:r>
            <a:br>
              <a:rPr sz="1200"/>
            </a:br>
            <a:br>
              <a:rPr sz="1200"/>
            </a:br>
            <a:r>
              <a:rPr lang="en-US" sz="1200" b="0" u="none" strike="noStrike">
                <a:solidFill>
                  <a:srgbClr val="1c2a3a"/>
                </a:solidFill>
                <a:effectLst/>
                <a:uFillTx/>
                <a:latin typeface="Calibri"/>
              </a:rPr>
              <a:t>5. Response includes answer + source citations</a:t>
            </a:r>
            <a:endParaRPr lang="el-GR" sz="1200" b="0" u="none" strike="noStrike">
              <a:solidFill>
                <a:srgbClr val="000000"/>
              </a:solidFill>
              <a:effectLst/>
              <a:uFillTx/>
              <a:latin typeface="Arial"/>
            </a:endParaRPr>
          </a:p>
        </p:txBody>
      </p:sp>
      <p:sp>
        <p:nvSpPr>
          <p:cNvPr id="239" name="TextBox 4"/>
          <p:cNvSpPr/>
          <p:nvPr/>
        </p:nvSpPr>
        <p:spPr>
          <a:xfrm>
            <a:off x="6217920" y="1188720"/>
            <a:ext cx="53031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c2a3a"/>
                </a:solidFill>
                <a:effectLst/>
                <a:uFillTx/>
                <a:latin typeface="Calibri"/>
              </a:rPr>
              <a:t>Option B: Custom RAG on AWS</a:t>
            </a:r>
            <a:endParaRPr lang="el-GR" sz="1600" b="0" u="none" strike="noStrike">
              <a:solidFill>
                <a:srgbClr val="000000"/>
              </a:solidFill>
              <a:effectLst/>
              <a:uFillTx/>
              <a:latin typeface="Arial"/>
            </a:endParaRPr>
          </a:p>
        </p:txBody>
      </p:sp>
      <p:sp>
        <p:nvSpPr>
          <p:cNvPr id="240" name="Rectangle 5"/>
          <p:cNvSpPr/>
          <p:nvPr/>
        </p:nvSpPr>
        <p:spPr>
          <a:xfrm>
            <a:off x="6217920" y="1645920"/>
            <a:ext cx="5303160" cy="18284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Build Your Own with AWS Services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Embedding:   Bedrock Embeddings API or SageMaker</a:t>
            </a:r>
            <a:br>
              <a:rPr sz="1200"/>
            </a:br>
            <a:r>
              <a:rPr lang="en-US" sz="1200" b="0" u="none" strike="noStrike">
                <a:solidFill>
                  <a:srgbClr val="1c2a3a"/>
                </a:solidFill>
                <a:effectLst/>
                <a:uFillTx/>
                <a:latin typeface="Calibri"/>
              </a:rPr>
              <a:t>Vector DB:   OpenSearch Serverless (vector engine)</a:t>
            </a:r>
            <a:br>
              <a:rPr sz="1200"/>
            </a:br>
            <a:r>
              <a:rPr lang="en-US" sz="1200" b="0" u="none" strike="noStrike">
                <a:solidFill>
                  <a:srgbClr val="1c2a3a"/>
                </a:solidFill>
                <a:effectLst/>
                <a:uFillTx/>
                <a:latin typeface="Calibri"/>
              </a:rPr>
              <a:t>             or Amazon Aurora pgvector</a:t>
            </a:r>
            <a:br>
              <a:rPr sz="1200"/>
            </a:br>
            <a:r>
              <a:rPr lang="en-US" sz="1200" b="0" u="none" strike="noStrike">
                <a:solidFill>
                  <a:srgbClr val="1c2a3a"/>
                </a:solidFill>
                <a:effectLst/>
                <a:uFillTx/>
                <a:latin typeface="Calibri"/>
              </a:rPr>
              <a:t>             or self-hosted Qdrant on ECS/EKS</a:t>
            </a:r>
            <a:br>
              <a:rPr sz="1200"/>
            </a:br>
            <a:r>
              <a:rPr lang="en-US" sz="1200" b="0" u="none" strike="noStrike">
                <a:solidFill>
                  <a:srgbClr val="1c2a3a"/>
                </a:solidFill>
                <a:effectLst/>
                <a:uFillTx/>
                <a:latin typeface="Calibri"/>
              </a:rPr>
              <a:t>Orchestration: Lambda + Step Functions</a:t>
            </a:r>
            <a:br>
              <a:rPr sz="1200"/>
            </a:br>
            <a:r>
              <a:rPr lang="en-US" sz="1200" b="0" u="none" strike="noStrike">
                <a:solidFill>
                  <a:srgbClr val="1c2a3a"/>
                </a:solidFill>
                <a:effectLst/>
                <a:uFillTx/>
                <a:latin typeface="Calibri"/>
              </a:rPr>
              <a:t>             or LangChain on ECS/Fargate</a:t>
            </a:r>
            <a:br>
              <a:rPr sz="1200"/>
            </a:br>
            <a:r>
              <a:rPr lang="en-US" sz="1200" b="0" u="none" strike="noStrike">
                <a:solidFill>
                  <a:srgbClr val="1c2a3a"/>
                </a:solidFill>
                <a:effectLst/>
                <a:uFillTx/>
                <a:latin typeface="Calibri"/>
              </a:rPr>
              <a:t>Generation:  Bedrock (Claude, Llama, Titan)</a:t>
            </a:r>
            <a:br>
              <a:rPr sz="1200"/>
            </a:br>
            <a:r>
              <a:rPr lang="en-US" sz="1200" b="0" u="none" strike="noStrike">
                <a:solidFill>
                  <a:srgbClr val="1c2a3a"/>
                </a:solidFill>
                <a:effectLst/>
                <a:uFillTx/>
                <a:latin typeface="Calibri"/>
              </a:rPr>
              <a:t>             or SageMaker endpoint</a:t>
            </a:r>
            <a:endParaRPr lang="el-GR" sz="1200" b="0" u="none" strike="noStrike">
              <a:solidFill>
                <a:srgbClr val="000000"/>
              </a:solidFill>
              <a:effectLst/>
              <a:uFillTx/>
              <a:latin typeface="Arial"/>
            </a:endParaRPr>
          </a:p>
        </p:txBody>
      </p:sp>
      <p:sp>
        <p:nvSpPr>
          <p:cNvPr id="241" name="Rectangle 6"/>
          <p:cNvSpPr/>
          <p:nvPr/>
        </p:nvSpPr>
        <p:spPr>
          <a:xfrm>
            <a:off x="6217920" y="3657600"/>
            <a:ext cx="5303160" cy="118836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Managed vs Custom</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Bedrock KB: Zero infra, auto-sync, simple API, fast start</a:t>
            </a:r>
            <a:br>
              <a:rPr sz="1200"/>
            </a:br>
            <a:r>
              <a:rPr lang="en-US" sz="1200" b="0" u="none" strike="noStrike">
                <a:solidFill>
                  <a:srgbClr val="1c2a3a"/>
                </a:solidFill>
                <a:effectLst/>
                <a:uFillTx/>
                <a:latin typeface="Calibri"/>
              </a:rPr>
              <a:t>Custom: Full control, any vector DB, custom chunking,</a:t>
            </a:r>
            <a:br>
              <a:rPr sz="1200"/>
            </a:br>
            <a:r>
              <a:rPr lang="en-US" sz="1200" b="0" u="none" strike="noStrike">
                <a:solidFill>
                  <a:srgbClr val="1c2a3a"/>
                </a:solidFill>
                <a:effectLst/>
                <a:uFillTx/>
                <a:latin typeface="Calibri"/>
              </a:rPr>
              <a:t>  advanced retrieval (hybrid search, re-ranking, filters)</a:t>
            </a:r>
            <a:endParaRPr lang="el-GR" sz="1200" b="0" u="none" strike="noStrike">
              <a:solidFill>
                <a:srgbClr val="000000"/>
              </a:solidFill>
              <a:effectLst/>
              <a:uFillTx/>
              <a:latin typeface="Arial"/>
            </a:endParaRPr>
          </a:p>
        </p:txBody>
      </p:sp>
      <p:sp>
        <p:nvSpPr>
          <p:cNvPr id="242" name="Rectangle 7"/>
          <p:cNvSpPr/>
          <p:nvPr/>
        </p:nvSpPr>
        <p:spPr>
          <a:xfrm>
            <a:off x="457200" y="5120640"/>
            <a:ext cx="11063880" cy="100548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Typical AWS Costs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Bedrock KB: Embedding ~$0.10/1M tokens, generation per-token, OpenSearch from $0.24/hr (serverless OCU)</a:t>
            </a:r>
            <a:br>
              <a:rPr sz="1200"/>
            </a:br>
            <a:r>
              <a:rPr lang="en-US" sz="1200" b="0" u="none" strike="noStrike">
                <a:solidFill>
                  <a:srgbClr val="1c2a3a"/>
                </a:solidFill>
                <a:effectLst/>
                <a:uFillTx/>
                <a:latin typeface="Calibri"/>
              </a:rPr>
              <a:t>Custom: OpenSearch serverless from $0.24/hr per OCU. Aurora pgvector from ~$0.10/hr (db.t4g.medium)</a:t>
            </a:r>
            <a:br>
              <a:rPr sz="1200"/>
            </a:br>
            <a:r>
              <a:rPr lang="en-US" sz="1200" b="0" u="none" strike="noStrike">
                <a:solidFill>
                  <a:srgbClr val="1c2a3a"/>
                </a:solidFill>
                <a:effectLst/>
                <a:uFillTx/>
                <a:latin typeface="Calibri"/>
              </a:rPr>
              <a:t>Storage: S3 ~$0.023/GB/month. Estimated total for small RAG system: $50-200/month</a:t>
            </a:r>
            <a:endParaRPr lang="el-GR" sz="1200" b="0" u="none" strike="noStrike">
              <a:solidFill>
                <a:srgbClr val="000000"/>
              </a:solidFill>
              <a:effectLst/>
              <a:uFillTx/>
              <a:latin typeface="Arial"/>
            </a:endParaRPr>
          </a:p>
        </p:txBody>
      </p:sp>
      <p:sp>
        <p:nvSpPr>
          <p:cNvPr id="243" name="TextBox 8"/>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23/55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Data Preparation &amp; Evaluation Tools</a:t>
            </a:r>
            <a:endParaRPr lang="el-GR" sz="3000" b="0" u="none" strike="noStrike">
              <a:solidFill>
                <a:srgbClr val="ffffff"/>
              </a:solidFill>
              <a:effectLst/>
              <a:uFillTx/>
              <a:latin typeface="Arial"/>
            </a:endParaRPr>
          </a:p>
        </p:txBody>
      </p:sp>
      <p:sp>
        <p:nvSpPr>
          <p:cNvPr id="245" name="TextBox 2"/>
          <p:cNvSpPr/>
          <p:nvPr/>
        </p:nvSpPr>
        <p:spPr>
          <a:xfrm>
            <a:off x="457200" y="1188720"/>
            <a:ext cx="50288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c2a3a"/>
                </a:solidFill>
                <a:effectLst/>
                <a:uFillTx/>
                <a:latin typeface="Calibri"/>
              </a:rPr>
              <a:t>Data Preparation</a:t>
            </a:r>
            <a:endParaRPr lang="el-GR" sz="1600" b="0" u="none" strike="noStrike">
              <a:solidFill>
                <a:srgbClr val="000000"/>
              </a:solidFill>
              <a:effectLst/>
              <a:uFillTx/>
              <a:latin typeface="Arial"/>
            </a:endParaRPr>
          </a:p>
        </p:txBody>
      </p:sp>
      <p:sp>
        <p:nvSpPr>
          <p:cNvPr id="246" name="Rectangle 3"/>
          <p:cNvSpPr/>
          <p:nvPr/>
        </p:nvSpPr>
        <p:spPr>
          <a:xfrm>
            <a:off x="457200" y="1645920"/>
            <a:ext cx="530316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Argilla</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Open-source data labeling for LLMs.</a:t>
            </a:r>
            <a:endParaRPr lang="el-GR" sz="1200" b="0" u="none" strike="noStrike">
              <a:solidFill>
                <a:srgbClr val="000000"/>
              </a:solidFill>
              <a:effectLst/>
              <a:uFillTx/>
              <a:latin typeface="Arial"/>
            </a:endParaRPr>
          </a:p>
        </p:txBody>
      </p:sp>
      <p:sp>
        <p:nvSpPr>
          <p:cNvPr id="247" name="Rectangle 4"/>
          <p:cNvSpPr/>
          <p:nvPr/>
        </p:nvSpPr>
        <p:spPr>
          <a:xfrm>
            <a:off x="457200" y="2697480"/>
            <a:ext cx="530316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Label Studio</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Multi-purpose labeling tool.</a:t>
            </a:r>
            <a:endParaRPr lang="el-GR" sz="1200" b="0" u="none" strike="noStrike">
              <a:solidFill>
                <a:srgbClr val="000000"/>
              </a:solidFill>
              <a:effectLst/>
              <a:uFillTx/>
              <a:latin typeface="Arial"/>
            </a:endParaRPr>
          </a:p>
        </p:txBody>
      </p:sp>
      <p:sp>
        <p:nvSpPr>
          <p:cNvPr id="248" name="Rectangle 5"/>
          <p:cNvSpPr/>
          <p:nvPr/>
        </p:nvSpPr>
        <p:spPr>
          <a:xfrm>
            <a:off x="457200" y="3749040"/>
            <a:ext cx="530316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HuggingFace Datasets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Library + hub. 100K+ public datasets.</a:t>
            </a:r>
            <a:endParaRPr lang="el-GR" sz="1200" b="0" u="none" strike="noStrike">
              <a:solidFill>
                <a:srgbClr val="000000"/>
              </a:solidFill>
              <a:effectLst/>
              <a:uFillTx/>
              <a:latin typeface="Arial"/>
            </a:endParaRPr>
          </a:p>
        </p:txBody>
      </p:sp>
      <p:sp>
        <p:nvSpPr>
          <p:cNvPr id="249" name="Rectangle 6"/>
          <p:cNvSpPr/>
          <p:nvPr/>
        </p:nvSpPr>
        <p:spPr>
          <a:xfrm>
            <a:off x="457200" y="4800600"/>
            <a:ext cx="5303160" cy="8683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Synthetic Data Generation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Use GPT-4/Claude to bootstrap training data.</a:t>
            </a:r>
            <a:endParaRPr lang="el-GR" sz="1200" b="0" u="none" strike="noStrike">
              <a:solidFill>
                <a:srgbClr val="000000"/>
              </a:solidFill>
              <a:effectLst/>
              <a:uFillTx/>
              <a:latin typeface="Arial"/>
            </a:endParaRPr>
          </a:p>
        </p:txBody>
      </p:sp>
      <p:sp>
        <p:nvSpPr>
          <p:cNvPr id="250" name="TextBox 7"/>
          <p:cNvSpPr/>
          <p:nvPr/>
        </p:nvSpPr>
        <p:spPr>
          <a:xfrm>
            <a:off x="6217920" y="1188720"/>
            <a:ext cx="50288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c2a3a"/>
                </a:solidFill>
                <a:effectLst/>
                <a:uFillTx/>
                <a:latin typeface="Calibri"/>
              </a:rPr>
              <a:t>Evaluation &amp; Benchmarking</a:t>
            </a:r>
            <a:endParaRPr lang="el-GR" sz="1600" b="0" u="none" strike="noStrike">
              <a:solidFill>
                <a:srgbClr val="000000"/>
              </a:solidFill>
              <a:effectLst/>
              <a:uFillTx/>
              <a:latin typeface="Arial"/>
            </a:endParaRPr>
          </a:p>
        </p:txBody>
      </p:sp>
      <p:sp>
        <p:nvSpPr>
          <p:cNvPr id="251" name="Rectangle 8"/>
          <p:cNvSpPr/>
          <p:nvPr/>
        </p:nvSpPr>
        <p:spPr>
          <a:xfrm>
            <a:off x="6217920" y="1645920"/>
            <a:ext cx="530316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LM Evaluation Harness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Standard LLM benchmark framework.</a:t>
            </a:r>
            <a:endParaRPr lang="el-GR" sz="1200" b="0" u="none" strike="noStrike">
              <a:solidFill>
                <a:srgbClr val="000000"/>
              </a:solidFill>
              <a:effectLst/>
              <a:uFillTx/>
              <a:latin typeface="Arial"/>
            </a:endParaRPr>
          </a:p>
        </p:txBody>
      </p:sp>
      <p:sp>
        <p:nvSpPr>
          <p:cNvPr id="252" name="Rectangle 9"/>
          <p:cNvSpPr/>
          <p:nvPr/>
        </p:nvSpPr>
        <p:spPr>
          <a:xfrm>
            <a:off x="6217920" y="2697480"/>
            <a:ext cx="530316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RAGAS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Evaluate RAG: faithfulness, relevancy.</a:t>
            </a:r>
            <a:endParaRPr lang="el-GR" sz="1200" b="0" u="none" strike="noStrike">
              <a:solidFill>
                <a:srgbClr val="000000"/>
              </a:solidFill>
              <a:effectLst/>
              <a:uFillTx/>
              <a:latin typeface="Arial"/>
            </a:endParaRPr>
          </a:p>
        </p:txBody>
      </p:sp>
      <p:sp>
        <p:nvSpPr>
          <p:cNvPr id="253" name="Rectangle 10"/>
          <p:cNvSpPr/>
          <p:nvPr/>
        </p:nvSpPr>
        <p:spPr>
          <a:xfrm>
            <a:off x="6217920" y="3749040"/>
            <a:ext cx="530316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DeepEval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Unit testing for LLMs. CI/CD integration.</a:t>
            </a:r>
            <a:endParaRPr lang="el-GR" sz="1200" b="0" u="none" strike="noStrike">
              <a:solidFill>
                <a:srgbClr val="000000"/>
              </a:solidFill>
              <a:effectLst/>
              <a:uFillTx/>
              <a:latin typeface="Arial"/>
            </a:endParaRPr>
          </a:p>
        </p:txBody>
      </p:sp>
      <p:sp>
        <p:nvSpPr>
          <p:cNvPr id="254" name="Rectangle 11"/>
          <p:cNvSpPr/>
          <p:nvPr/>
        </p:nvSpPr>
        <p:spPr>
          <a:xfrm>
            <a:off x="6217920" y="4800600"/>
            <a:ext cx="5303160" cy="868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Phoenix (Arize AI)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LLM observability. Trace &amp; debug in prod.</a:t>
            </a:r>
            <a:endParaRPr lang="el-GR" sz="1200" b="0" u="none" strike="noStrike">
              <a:solidFill>
                <a:srgbClr val="000000"/>
              </a:solidFill>
              <a:effectLst/>
              <a:uFillTx/>
              <a:latin typeface="Arial"/>
            </a:endParaRPr>
          </a:p>
        </p:txBody>
      </p:sp>
      <p:sp>
        <p:nvSpPr>
          <p:cNvPr id="255" name="TextBox 12"/>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24/55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Real-World Use Cases</a:t>
            </a:r>
            <a:endParaRPr lang="el-GR" sz="3000" b="0" u="none" strike="noStrike">
              <a:solidFill>
                <a:srgbClr val="ffffff"/>
              </a:solidFill>
              <a:effectLst/>
              <a:uFillTx/>
              <a:latin typeface="Arial"/>
            </a:endParaRPr>
          </a:p>
        </p:txBody>
      </p:sp>
      <p:sp>
        <p:nvSpPr>
          <p:cNvPr id="257" name="Rectangle 2"/>
          <p:cNvSpPr/>
          <p:nvPr/>
        </p:nvSpPr>
        <p:spPr>
          <a:xfrm>
            <a:off x="457200" y="1371600"/>
            <a:ext cx="5303160" cy="20113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Financial Services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Risk assessment with domain accuracy</a:t>
            </a:r>
            <a:br>
              <a:rPr sz="1200"/>
            </a:br>
            <a:r>
              <a:rPr lang="en-US" sz="1200" b="0" u="none" strike="noStrike">
                <a:solidFill>
                  <a:srgbClr val="1c2a3a"/>
                </a:solidFill>
                <a:effectLst/>
                <a:uFillTx/>
                <a:latin typeface="Calibri"/>
              </a:rPr>
              <a:t>- Compliance checking for regulations</a:t>
            </a:r>
            <a:br>
              <a:rPr sz="1200"/>
            </a:br>
            <a:r>
              <a:rPr lang="en-US" sz="1200" b="0" u="none" strike="noStrike">
                <a:solidFill>
                  <a:srgbClr val="1c2a3a"/>
                </a:solidFill>
                <a:effectLst/>
                <a:uFillTx/>
                <a:latin typeface="Calibri"/>
              </a:rPr>
              <a:t>- Financial analysis: ratios, tables, metrics</a:t>
            </a:r>
            <a:br>
              <a:rPr sz="1200"/>
            </a:br>
            <a:r>
              <a:rPr lang="en-US" sz="1200" b="0" u="none" strike="noStrike">
                <a:solidFill>
                  <a:srgbClr val="1c2a3a"/>
                </a:solidFill>
                <a:effectLst/>
                <a:uFillTx/>
                <a:latin typeface="Calibri"/>
              </a:rPr>
              <a:t>- Sentiment: FinBERT knows 'headwinds' = negative</a:t>
            </a:r>
            <a:endParaRPr lang="el-GR" sz="1200" b="0" u="none" strike="noStrike">
              <a:solidFill>
                <a:srgbClr val="000000"/>
              </a:solidFill>
              <a:effectLst/>
              <a:uFillTx/>
              <a:latin typeface="Arial"/>
            </a:endParaRPr>
          </a:p>
        </p:txBody>
      </p:sp>
      <p:sp>
        <p:nvSpPr>
          <p:cNvPr id="258" name="Rectangle 3"/>
          <p:cNvSpPr/>
          <p:nvPr/>
        </p:nvSpPr>
        <p:spPr>
          <a:xfrm>
            <a:off x="6217920" y="1371600"/>
            <a:ext cx="5303160" cy="20113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Healthcare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Clinical notes: extract diagnoses, meds</a:t>
            </a:r>
            <a:br>
              <a:rPr sz="1200"/>
            </a:br>
            <a:r>
              <a:rPr lang="en-US" sz="1200" b="0" u="none" strike="noStrike">
                <a:solidFill>
                  <a:srgbClr val="1c2a3a"/>
                </a:solidFill>
                <a:effectLst/>
                <a:uFillTx/>
                <a:latin typeface="Calibri"/>
              </a:rPr>
              <a:t>- Medical coding: ICD-10 from clinical text</a:t>
            </a:r>
            <a:br>
              <a:rPr sz="1200"/>
            </a:br>
            <a:r>
              <a:rPr lang="en-US" sz="1200" b="0" u="none" strike="noStrike">
                <a:solidFill>
                  <a:srgbClr val="1c2a3a"/>
                </a:solidFill>
                <a:effectLst/>
                <a:uFillTx/>
                <a:latin typeface="Calibri"/>
              </a:rPr>
              <a:t>- Drug interactions from pharma databases</a:t>
            </a:r>
            <a:endParaRPr lang="el-GR" sz="1200" b="0" u="none" strike="noStrike">
              <a:solidFill>
                <a:srgbClr val="000000"/>
              </a:solidFill>
              <a:effectLst/>
              <a:uFillTx/>
              <a:latin typeface="Arial"/>
            </a:endParaRPr>
          </a:p>
        </p:txBody>
      </p:sp>
      <p:sp>
        <p:nvSpPr>
          <p:cNvPr id="259" name="Rectangle 4"/>
          <p:cNvSpPr/>
          <p:nvPr/>
        </p:nvSpPr>
        <p:spPr>
          <a:xfrm>
            <a:off x="457200" y="3657600"/>
            <a:ext cx="5303160" cy="2011320"/>
          </a:xfrm>
          <a:prstGeom prst="rect">
            <a:avLst/>
          </a:prstGeom>
          <a:solidFill>
            <a:srgbClr val="d7c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Legal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Contract review: clauses, obligations, risks</a:t>
            </a:r>
            <a:br>
              <a:rPr sz="1200"/>
            </a:br>
            <a:r>
              <a:rPr lang="en-US" sz="1200" b="0" u="none" strike="noStrike">
                <a:solidFill>
                  <a:srgbClr val="1c2a3a"/>
                </a:solidFill>
                <a:effectLst/>
                <a:uFillTx/>
                <a:latin typeface="Calibri"/>
              </a:rPr>
              <a:t>- Case law research: precedent &amp; citations</a:t>
            </a:r>
            <a:br>
              <a:rPr sz="1200"/>
            </a:br>
            <a:r>
              <a:rPr lang="en-US" sz="1200" b="0" u="none" strike="noStrike">
                <a:solidFill>
                  <a:srgbClr val="1c2a3a"/>
                </a:solidFill>
                <a:effectLst/>
                <a:uFillTx/>
                <a:latin typeface="Calibri"/>
              </a:rPr>
              <a:t>- Due diligence: extract terms from 1000s of docs</a:t>
            </a:r>
            <a:endParaRPr lang="el-GR" sz="1200" b="0" u="none" strike="noStrike">
              <a:solidFill>
                <a:srgbClr val="000000"/>
              </a:solidFill>
              <a:effectLst/>
              <a:uFillTx/>
              <a:latin typeface="Arial"/>
            </a:endParaRPr>
          </a:p>
        </p:txBody>
      </p:sp>
      <p:sp>
        <p:nvSpPr>
          <p:cNvPr id="260" name="Rectangle 5"/>
          <p:cNvSpPr/>
          <p:nvPr/>
        </p:nvSpPr>
        <p:spPr>
          <a:xfrm>
            <a:off x="6217920" y="3657600"/>
            <a:ext cx="5303160" cy="201132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Cybersecurity &amp; Email Filtering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Spam/phishing detection (95% with fine-tuned DistilBERT)</a:t>
            </a:r>
            <a:br>
              <a:rPr sz="1200"/>
            </a:br>
            <a:r>
              <a:rPr lang="en-US" sz="1200" b="0" u="none" strike="noStrike">
                <a:solidFill>
                  <a:srgbClr val="1c2a3a"/>
                </a:solidFill>
                <a:effectLst/>
                <a:uFillTx/>
                <a:latin typeface="Calibri"/>
              </a:rPr>
              <a:t>- Threat classification: phishing vs scam vs legitimate</a:t>
            </a:r>
            <a:br>
              <a:rPr sz="1200"/>
            </a:br>
            <a:r>
              <a:rPr lang="en-US" sz="1200" b="0" u="none" strike="noStrike">
                <a:solidFill>
                  <a:srgbClr val="1c2a3a"/>
                </a:solidFill>
                <a:effectLst/>
                <a:uFillTx/>
                <a:latin typeface="Calibri"/>
              </a:rPr>
              <a:t>- High-throughput email triage with calibrated confidence</a:t>
            </a:r>
            <a:endParaRPr lang="el-GR" sz="1200" b="0" u="none" strike="noStrike">
              <a:solidFill>
                <a:srgbClr val="000000"/>
              </a:solidFill>
              <a:effectLst/>
              <a:uFillTx/>
              <a:latin typeface="Arial"/>
            </a:endParaRPr>
          </a:p>
        </p:txBody>
      </p:sp>
      <p:sp>
        <p:nvSpPr>
          <p:cNvPr id="261" name="Rectangle 6"/>
          <p:cNvSpPr/>
          <p:nvPr/>
        </p:nvSpPr>
        <p:spPr>
          <a:xfrm>
            <a:off x="457200" y="5943600"/>
            <a:ext cx="11063880" cy="5482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Common pattern: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Start with RAG for quick wins, then add fine-tuning where accuracy gaps appear.</a:t>
            </a:r>
            <a:endParaRPr lang="el-GR" sz="1200" b="0" u="none" strike="noStrike">
              <a:solidFill>
                <a:srgbClr val="000000"/>
              </a:solidFill>
              <a:effectLst/>
              <a:uFillTx/>
              <a:latin typeface="Arial"/>
            </a:endParaRPr>
          </a:p>
        </p:txBody>
      </p:sp>
      <p:sp>
        <p:nvSpPr>
          <p:cNvPr id="262"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25/55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The Hybrid Approach: Best of Both Worlds</a:t>
            </a:r>
            <a:endParaRPr lang="el-GR" sz="3000" b="0" u="none" strike="noStrike">
              <a:solidFill>
                <a:srgbClr val="ffffff"/>
              </a:solidFill>
              <a:effectLst/>
              <a:uFillTx/>
              <a:latin typeface="Arial"/>
            </a:endParaRPr>
          </a:p>
        </p:txBody>
      </p:sp>
      <p:pic>
        <p:nvPicPr>
          <p:cNvPr id="264" name="Picture 2" descr="hybrid_architecture.png"/>
          <p:cNvPicPr/>
          <p:nvPr/>
        </p:nvPicPr>
        <p:blipFill>
          <a:blip r:embed="rId1"/>
          <a:stretch/>
        </p:blipFill>
        <p:spPr>
          <a:xfrm>
            <a:off x="457200" y="1188720"/>
            <a:ext cx="5943240" cy="4114440"/>
          </a:xfrm>
          <a:prstGeom prst="rect">
            <a:avLst/>
          </a:prstGeom>
          <a:noFill/>
          <a:ln w="0">
            <a:noFill/>
          </a:ln>
        </p:spPr>
      </p:pic>
      <p:sp>
        <p:nvSpPr>
          <p:cNvPr id="265" name="Rectangle 3"/>
          <p:cNvSpPr/>
          <p:nvPr/>
        </p:nvSpPr>
        <p:spPr>
          <a:xfrm>
            <a:off x="6858000" y="1371600"/>
            <a:ext cx="4845960" cy="1645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What Fine-Tuning Contributes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Numerical reasoning ability</a:t>
            </a:r>
            <a:br>
              <a:rPr sz="1200"/>
            </a:br>
            <a:r>
              <a:rPr lang="en-US" sz="1200" b="0" u="none" strike="noStrike">
                <a:solidFill>
                  <a:srgbClr val="1c2a3a"/>
                </a:solidFill>
                <a:effectLst/>
                <a:uFillTx/>
                <a:latin typeface="Calibri"/>
              </a:rPr>
              <a:t>- Domain-specific patterns</a:t>
            </a:r>
            <a:br>
              <a:rPr sz="1200"/>
            </a:br>
            <a:r>
              <a:rPr lang="en-US" sz="1200" b="0" u="none" strike="noStrike">
                <a:solidFill>
                  <a:srgbClr val="1c2a3a"/>
                </a:solidFill>
                <a:effectLst/>
                <a:uFillTx/>
                <a:latin typeface="Calibri"/>
              </a:rPr>
              <a:t>- Consistent output format</a:t>
            </a:r>
            <a:br>
              <a:rPr sz="1200"/>
            </a:br>
            <a:r>
              <a:rPr lang="en-US" sz="1200" b="0" u="none" strike="noStrike">
                <a:solidFill>
                  <a:srgbClr val="1c2a3a"/>
                </a:solidFill>
                <a:effectLst/>
                <a:uFillTx/>
                <a:latin typeface="Calibri"/>
              </a:rPr>
              <a:t>- Lower error rate</a:t>
            </a:r>
            <a:endParaRPr lang="el-GR" sz="1200" b="0" u="none" strike="noStrike">
              <a:solidFill>
                <a:srgbClr val="000000"/>
              </a:solidFill>
              <a:effectLst/>
              <a:uFillTx/>
              <a:latin typeface="Arial"/>
            </a:endParaRPr>
          </a:p>
        </p:txBody>
      </p:sp>
      <p:sp>
        <p:nvSpPr>
          <p:cNvPr id="266" name="Rectangle 4"/>
          <p:cNvSpPr/>
          <p:nvPr/>
        </p:nvSpPr>
        <p:spPr>
          <a:xfrm>
            <a:off x="6858000" y="3291840"/>
            <a:ext cx="4845960" cy="164556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What RAG Contributes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Fresh, updatable knowledge</a:t>
            </a:r>
            <a:br>
              <a:rPr sz="1200"/>
            </a:br>
            <a:r>
              <a:rPr lang="en-US" sz="1200" b="0" u="none" strike="noStrike">
                <a:solidFill>
                  <a:srgbClr val="1c2a3a"/>
                </a:solidFill>
                <a:effectLst/>
                <a:uFillTx/>
                <a:latin typeface="Calibri"/>
              </a:rPr>
              <a:t>- Source citations for audit</a:t>
            </a:r>
            <a:br>
              <a:rPr sz="1200"/>
            </a:br>
            <a:r>
              <a:rPr lang="en-US" sz="1200" b="0" u="none" strike="noStrike">
                <a:solidFill>
                  <a:srgbClr val="1c2a3a"/>
                </a:solidFill>
                <a:effectLst/>
                <a:uFillTx/>
                <a:latin typeface="Calibri"/>
              </a:rPr>
              <a:t>- Broader context coverage</a:t>
            </a:r>
            <a:br>
              <a:rPr sz="1200"/>
            </a:br>
            <a:r>
              <a:rPr lang="en-US" sz="1200" b="0" u="none" strike="noStrike">
                <a:solidFill>
                  <a:srgbClr val="1c2a3a"/>
                </a:solidFill>
                <a:effectLst/>
                <a:uFillTx/>
                <a:latin typeface="Calibri"/>
              </a:rPr>
              <a:t>- Reduced hallucination</a:t>
            </a:r>
            <a:endParaRPr lang="el-GR" sz="1200" b="0" u="none" strike="noStrike">
              <a:solidFill>
                <a:srgbClr val="000000"/>
              </a:solidFill>
              <a:effectLst/>
              <a:uFillTx/>
              <a:latin typeface="Arial"/>
            </a:endParaRPr>
          </a:p>
        </p:txBody>
      </p:sp>
      <p:sp>
        <p:nvSpPr>
          <p:cNvPr id="267" name="Rectangle 5"/>
          <p:cNvSpPr/>
          <p:nvPr/>
        </p:nvSpPr>
        <p:spPr>
          <a:xfrm>
            <a:off x="457200" y="5303520"/>
            <a:ext cx="11063880" cy="7311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Result: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Hybrid achieves 65.8% on FinQA vs 61.2% FT-only vs 15.3% RAG-only. 75% on sentiment vs 70% FT-only vs 65% RAG-only.</a:t>
            </a:r>
            <a:endParaRPr lang="el-GR" sz="1200" b="0" u="none" strike="noStrike">
              <a:solidFill>
                <a:srgbClr val="000000"/>
              </a:solidFill>
              <a:effectLst/>
              <a:uFillTx/>
              <a:latin typeface="Arial"/>
            </a:endParaRPr>
          </a:p>
        </p:txBody>
      </p:sp>
      <p:sp>
        <p:nvSpPr>
          <p:cNvPr id="268" name="TextBox 6"/>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26/55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Cost &amp; ROI Considerations</a:t>
            </a:r>
            <a:endParaRPr lang="el-GR" sz="3000" b="0" u="none" strike="noStrike">
              <a:solidFill>
                <a:srgbClr val="ffffff"/>
              </a:solidFill>
              <a:effectLst/>
              <a:uFillTx/>
              <a:latin typeface="Arial"/>
            </a:endParaRPr>
          </a:p>
        </p:txBody>
      </p:sp>
      <p:graphicFrame>
        <p:nvGraphicFramePr>
          <p:cNvPr id="270" name="Table 2"/>
          <p:cNvGraphicFramePr/>
          <p:nvPr/>
        </p:nvGraphicFramePr>
        <p:xfrm>
          <a:off x="457200" y="1371600"/>
          <a:ext cx="11246760" cy="2743200"/>
        </p:xfrm>
        <a:graphic>
          <a:graphicData uri="http://schemas.openxmlformats.org/drawingml/2006/table">
            <a:tbl>
              <a:tblPr/>
              <a:tblGrid>
                <a:gridCol w="2249280"/>
                <a:gridCol w="2249280"/>
                <a:gridCol w="2249280"/>
                <a:gridCol w="2249280"/>
                <a:gridCol w="2249280"/>
              </a:tblGrid>
              <a:tr h="457200">
                <a:tc>
                  <a:txBody>
                    <a:bodyPr anchor="t">
                      <a:noAutofit/>
                    </a:bodyPr>
                    <a:p>
                      <a:pPr algn="ctr" defTabSz="457200">
                        <a:lnSpc>
                          <a:spcPct val="100000"/>
                        </a:lnSpc>
                      </a:pPr>
                      <a:endParaRPr lang="en-US" sz="1200" b="1" u="none" strike="noStrike">
                        <a:solidFill>
                          <a:srgbClr val="ffffff"/>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Prompt Eng.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Fine-Tuning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Hybrid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Setup Cost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Free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$100-$1K</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$500-$50K+</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$1K-$100K+</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Per-Query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API only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API + retrieval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Lower inference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Medium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Maintenance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Manual prompts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Doc updates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Periodic retrain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Both</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Time to Deploy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Hours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Days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Days-Weeks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Weeks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Accuracy ROI</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Low</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Medium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High</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Highest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sp>
        <p:nvSpPr>
          <p:cNvPr id="271" name="Rectangle 3"/>
          <p:cNvSpPr/>
          <p:nvPr/>
        </p:nvSpPr>
        <p:spPr>
          <a:xfrm>
            <a:off x="457200" y="4389120"/>
            <a:ext cx="5303160" cy="18284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ROI Argument for Fine-Tuning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One-time training investment</a:t>
            </a:r>
            <a:br>
              <a:rPr sz="1200"/>
            </a:br>
            <a:r>
              <a:rPr lang="en-US" sz="1200" b="0" u="none" strike="noStrike">
                <a:solidFill>
                  <a:srgbClr val="1c2a3a"/>
                </a:solidFill>
                <a:effectLst/>
                <a:uFillTx/>
                <a:latin typeface="Calibri"/>
              </a:rPr>
              <a:t>- Lower per-query cost (no retrieval)</a:t>
            </a:r>
            <a:br>
              <a:rPr sz="1200"/>
            </a:br>
            <a:r>
              <a:rPr lang="en-US" sz="1200" b="0" u="none" strike="noStrike">
                <a:solidFill>
                  <a:srgbClr val="1c2a3a"/>
                </a:solidFill>
                <a:effectLst/>
                <a:uFillTx/>
                <a:latin typeface="Calibri"/>
              </a:rPr>
              <a:t>- Higher accuracy = fewer errors = less human review</a:t>
            </a:r>
            <a:br>
              <a:rPr sz="1200"/>
            </a:br>
            <a:r>
              <a:rPr lang="en-US" sz="1200" b="0" u="none" strike="noStrike">
                <a:solidFill>
                  <a:srgbClr val="1c2a3a"/>
                </a:solidFill>
                <a:effectLst/>
                <a:uFillTx/>
                <a:latin typeface="Calibri"/>
              </a:rPr>
              <a:t>- Break-even: often within weeks for high-volume</a:t>
            </a:r>
            <a:endParaRPr lang="el-GR" sz="1200" b="0" u="none" strike="noStrike">
              <a:solidFill>
                <a:srgbClr val="000000"/>
              </a:solidFill>
              <a:effectLst/>
              <a:uFillTx/>
              <a:latin typeface="Arial"/>
            </a:endParaRPr>
          </a:p>
        </p:txBody>
      </p:sp>
      <p:sp>
        <p:nvSpPr>
          <p:cNvPr id="272" name="Rectangle 4"/>
          <p:cNvSpPr/>
          <p:nvPr/>
        </p:nvSpPr>
        <p:spPr>
          <a:xfrm>
            <a:off x="6217920" y="4389120"/>
            <a:ext cx="5303160" cy="18284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When RAG Has Better ROI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 Low query volume (&lt; 1K/day)</a:t>
            </a:r>
            <a:br>
              <a:rPr sz="1200"/>
            </a:br>
            <a:r>
              <a:rPr lang="en-US" sz="1200" b="0" u="none" strike="noStrike">
                <a:solidFill>
                  <a:srgbClr val="1c2a3a"/>
                </a:solidFill>
                <a:effectLst/>
                <a:uFillTx/>
                <a:latin typeface="Calibri"/>
              </a:rPr>
              <a:t>- Rapidly changing knowledge base</a:t>
            </a:r>
            <a:br>
              <a:rPr sz="1200"/>
            </a:br>
            <a:r>
              <a:rPr lang="en-US" sz="1200" b="0" u="none" strike="noStrike">
                <a:solidFill>
                  <a:srgbClr val="1c2a3a"/>
                </a:solidFill>
                <a:effectLst/>
                <a:uFillTx/>
                <a:latin typeface="Calibri"/>
              </a:rPr>
              <a:t>- No training data available</a:t>
            </a:r>
            <a:br>
              <a:rPr sz="1200"/>
            </a:br>
            <a:r>
              <a:rPr lang="en-US" sz="1200" b="0" u="none" strike="noStrike">
                <a:solidFill>
                  <a:srgbClr val="1c2a3a"/>
                </a:solidFill>
                <a:effectLst/>
                <a:uFillTx/>
                <a:latin typeface="Calibri"/>
              </a:rPr>
              <a:t>- Need to launch in &lt; 1 week</a:t>
            </a:r>
            <a:endParaRPr lang="el-GR" sz="1200" b="0" u="none" strike="noStrike">
              <a:solidFill>
                <a:srgbClr val="000000"/>
              </a:solidFill>
              <a:effectLst/>
              <a:uFillTx/>
              <a:latin typeface="Arial"/>
            </a:endParaRPr>
          </a:p>
        </p:txBody>
      </p:sp>
      <p:sp>
        <p:nvSpPr>
          <p:cNvPr id="273"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27/55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Key Takeaways</a:t>
            </a:r>
            <a:endParaRPr lang="el-GR" sz="3000" b="0" u="none" strike="noStrike">
              <a:solidFill>
                <a:srgbClr val="ffffff"/>
              </a:solidFill>
              <a:effectLst/>
              <a:uFillTx/>
              <a:latin typeface="Arial"/>
            </a:endParaRPr>
          </a:p>
        </p:txBody>
      </p:sp>
      <p:sp>
        <p:nvSpPr>
          <p:cNvPr id="275" name="Rectangle 2"/>
          <p:cNvSpPr/>
          <p:nvPr/>
        </p:nvSpPr>
        <p:spPr>
          <a:xfrm>
            <a:off x="914400" y="1371600"/>
            <a:ext cx="10332360" cy="1371240"/>
          </a:xfrm>
          <a:prstGeom prst="rect">
            <a:avLst/>
          </a:prstGeom>
          <a:solidFill>
            <a:srgbClr val="1c2a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54160" rIns="90000" tIns="45000" bIns="45000" anchor="ctr">
            <a:noAutofit/>
          </a:bodyPr>
          <a:p>
            <a:pPr algn="ctr" defTabSz="457200">
              <a:lnSpc>
                <a:spcPct val="100000"/>
              </a:lnSpc>
            </a:pPr>
            <a:r>
              <a:rPr lang="en-US" sz="2200" b="1" u="none" strike="noStrike">
                <a:solidFill>
                  <a:srgbClr val="ffffff"/>
                </a:solidFill>
                <a:effectLst/>
                <a:uFillTx/>
                <a:latin typeface="Calibri"/>
              </a:rPr>
              <a:t>Fine-tuning teaches a model new SKILLS.  RAG gives a model new INFORMATION.  The hybrid approach provides BOTH.</a:t>
            </a:r>
            <a:endParaRPr lang="el-GR" sz="2200" b="0" u="none" strike="noStrike">
              <a:solidFill>
                <a:srgbClr val="ffffff"/>
              </a:solidFill>
              <a:effectLst/>
              <a:uFillTx/>
              <a:latin typeface="Arial"/>
            </a:endParaRPr>
          </a:p>
        </p:txBody>
      </p:sp>
      <p:sp>
        <p:nvSpPr>
          <p:cNvPr id="276" name="Rectangle 3"/>
          <p:cNvSpPr/>
          <p:nvPr/>
        </p:nvSpPr>
        <p:spPr>
          <a:xfrm>
            <a:off x="731520" y="3017520"/>
            <a:ext cx="1051524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1. Fine-tuning is essential for specialized reasoning, calculations, and consistent behavior</a:t>
            </a:r>
            <a:endParaRPr lang="el-GR" sz="1400" b="0" u="none" strike="noStrike">
              <a:solidFill>
                <a:srgbClr val="000000"/>
              </a:solidFill>
              <a:effectLst/>
              <a:uFillTx/>
              <a:latin typeface="Arial"/>
            </a:endParaRPr>
          </a:p>
        </p:txBody>
      </p:sp>
      <p:sp>
        <p:nvSpPr>
          <p:cNvPr id="277" name="Rectangle 4"/>
          <p:cNvSpPr/>
          <p:nvPr/>
        </p:nvSpPr>
        <p:spPr>
          <a:xfrm>
            <a:off x="731520" y="3611880"/>
            <a:ext cx="1051524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2. RAG is valuable for dynamic knowledge, source citations, and quick deployment</a:t>
            </a:r>
            <a:endParaRPr lang="el-GR" sz="1400" b="0" u="none" strike="noStrike">
              <a:solidFill>
                <a:srgbClr val="000000"/>
              </a:solidFill>
              <a:effectLst/>
              <a:uFillTx/>
              <a:latin typeface="Arial"/>
            </a:endParaRPr>
          </a:p>
        </p:txBody>
      </p:sp>
      <p:sp>
        <p:nvSpPr>
          <p:cNvPr id="278" name="Rectangle 5"/>
          <p:cNvSpPr/>
          <p:nvPr/>
        </p:nvSpPr>
        <p:spPr>
          <a:xfrm>
            <a:off x="731520" y="4206240"/>
            <a:ext cx="1051524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3. The best production systems often combine both approaches (hybrid)</a:t>
            </a:r>
            <a:endParaRPr lang="el-GR" sz="1400" b="0" u="none" strike="noStrike">
              <a:solidFill>
                <a:srgbClr val="000000"/>
              </a:solidFill>
              <a:effectLst/>
              <a:uFillTx/>
              <a:latin typeface="Arial"/>
            </a:endParaRPr>
          </a:p>
        </p:txBody>
      </p:sp>
      <p:sp>
        <p:nvSpPr>
          <p:cNvPr id="279" name="Rectangle 6"/>
          <p:cNvSpPr/>
          <p:nvPr/>
        </p:nvSpPr>
        <p:spPr>
          <a:xfrm>
            <a:off x="731520" y="4800600"/>
            <a:ext cx="1051524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4. Modern tools (Unsloth, LoRA, QLoRA) make fine-tuning accessible</a:t>
            </a:r>
            <a:endParaRPr lang="el-GR" sz="1400" b="0" u="none" strike="noStrike">
              <a:solidFill>
                <a:srgbClr val="000000"/>
              </a:solidFill>
              <a:effectLst/>
              <a:uFillTx/>
              <a:latin typeface="Arial"/>
            </a:endParaRPr>
          </a:p>
        </p:txBody>
      </p:sp>
      <p:sp>
        <p:nvSpPr>
          <p:cNvPr id="280" name="Rectangle 7"/>
          <p:cNvSpPr/>
          <p:nvPr/>
        </p:nvSpPr>
        <p:spPr>
          <a:xfrm>
            <a:off x="731520" y="5394960"/>
            <a:ext cx="1051524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5. Start with RAG for quick wins, add fine-tuning where accuracy gaps appear</a:t>
            </a:r>
            <a:endParaRPr lang="el-GR" sz="1400" b="0" u="none" strike="noStrike">
              <a:solidFill>
                <a:srgbClr val="000000"/>
              </a:solidFill>
              <a:effectLst/>
              <a:uFillTx/>
              <a:latin typeface="Arial"/>
            </a:endParaRPr>
          </a:p>
        </p:txBody>
      </p:sp>
      <p:sp>
        <p:nvSpPr>
          <p:cNvPr id="281" name="Rectangle 8"/>
          <p:cNvSpPr/>
          <p:nvPr/>
        </p:nvSpPr>
        <p:spPr>
          <a:xfrm>
            <a:off x="731520" y="5989320"/>
            <a:ext cx="1051524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6. The cost of fine-tuning is an investment - higher accuracy means fewer costly errors</a:t>
            </a:r>
            <a:endParaRPr lang="el-GR" sz="1400" b="0" u="none" strike="noStrike">
              <a:solidFill>
                <a:srgbClr val="000000"/>
              </a:solidFill>
              <a:effectLst/>
              <a:uFillTx/>
              <a:latin typeface="Arial"/>
            </a:endParaRPr>
          </a:p>
        </p:txBody>
      </p:sp>
      <p:sp>
        <p:nvSpPr>
          <p:cNvPr id="282" name="TextBox 9"/>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28/55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2a3a"/>
        </a:solidFill>
      </p:bgPr>
    </p:bg>
    <p:spTree>
      <p:nvGrpSpPr>
        <p:cNvPr id="1" name=""/>
        <p:cNvGrpSpPr/>
        <p:nvPr/>
      </p:nvGrpSpPr>
      <p:grpSpPr>
        <a:xfrm>
          <a:off x="0" y="0"/>
          <a:ext cx="0" cy="0"/>
          <a:chOff x="0" y="0"/>
          <a:chExt cx="0" cy="0"/>
        </a:xfrm>
      </p:grpSpPr>
      <p:sp>
        <p:nvSpPr>
          <p:cNvPr id="283" name="TextBox 1"/>
          <p:cNvSpPr/>
          <p:nvPr/>
        </p:nvSpPr>
        <p:spPr>
          <a:xfrm>
            <a:off x="914400" y="1828800"/>
            <a:ext cx="10058040" cy="13712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4800" b="1" u="none" strike="noStrike">
                <a:solidFill>
                  <a:srgbClr val="5daef2"/>
                </a:solidFill>
                <a:effectLst/>
                <a:uFillTx/>
                <a:latin typeface="Calibri"/>
              </a:rPr>
              <a:t>Benchmark Results</a:t>
            </a:r>
            <a:endParaRPr lang="el-GR" sz="4800" b="0" u="none" strike="noStrike">
              <a:solidFill>
                <a:srgbClr val="ffffff"/>
              </a:solidFill>
              <a:effectLst/>
              <a:uFillTx/>
              <a:latin typeface="Arial"/>
            </a:endParaRPr>
          </a:p>
        </p:txBody>
      </p:sp>
      <p:sp>
        <p:nvSpPr>
          <p:cNvPr id="284" name="TextBox 2"/>
          <p:cNvSpPr/>
          <p:nvPr/>
        </p:nvSpPr>
        <p:spPr>
          <a:xfrm>
            <a:off x="914400" y="3200400"/>
            <a:ext cx="10058040" cy="914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2800" b="0" u="none" strike="noStrike">
                <a:solidFill>
                  <a:srgbClr val="eceff1"/>
                </a:solidFill>
                <a:effectLst/>
                <a:uFillTx/>
                <a:latin typeface="Calibri"/>
              </a:rPr>
              <a:t>Insights from Our Experiments</a:t>
            </a:r>
            <a:endParaRPr lang="el-GR" sz="2800" b="0" u="none" strike="noStrike">
              <a:solidFill>
                <a:srgbClr val="ffffff"/>
              </a:solidFill>
              <a:effectLst/>
              <a:uFillTx/>
              <a:latin typeface="Arial"/>
            </a:endParaRPr>
          </a:p>
        </p:txBody>
      </p:sp>
      <p:sp>
        <p:nvSpPr>
          <p:cNvPr id="285" name="TextBox 3"/>
          <p:cNvSpPr/>
          <p:nvPr/>
        </p:nvSpPr>
        <p:spPr>
          <a:xfrm>
            <a:off x="914400" y="4572000"/>
            <a:ext cx="10058040" cy="914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600" b="0" u="none" strike="noStrike">
                <a:solidFill>
                  <a:srgbClr val="a8c7e8"/>
                </a:solidFill>
                <a:effectLst/>
                <a:uFillTx/>
                <a:latin typeface="Calibri"/>
              </a:rPr>
              <a:t>Four controlled experiments comparing Base vs Fine-Tuned vs RAG vs Hybrid</a:t>
            </a:r>
            <a:br>
              <a:rPr sz="1600"/>
            </a:br>
            <a:r>
              <a:rPr lang="en-US" sz="1600" b="0" u="none" strike="noStrike">
                <a:solidFill>
                  <a:srgbClr val="a8c7e8"/>
                </a:solidFill>
                <a:effectLst/>
                <a:uFillTx/>
                <a:latin typeface="Calibri"/>
              </a:rPr>
              <a:t>Same architecture and parameter count -- the only variable is the approach</a:t>
            </a:r>
            <a:endParaRPr lang="el-GR"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Benchmark Experiments Overview</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Every number measured by running our actual models</a:t>
            </a:r>
            <a:endParaRPr lang="el-GR" sz="1600" b="0" u="none" strike="noStrike">
              <a:solidFill>
                <a:srgbClr val="ffffff"/>
              </a:solidFill>
              <a:effectLst/>
              <a:uFillTx/>
              <a:latin typeface="Arial"/>
            </a:endParaRPr>
          </a:p>
        </p:txBody>
      </p:sp>
      <p:graphicFrame>
        <p:nvGraphicFramePr>
          <p:cNvPr id="287" name="Table 2"/>
          <p:cNvGraphicFramePr/>
          <p:nvPr/>
        </p:nvGraphicFramePr>
        <p:xfrm>
          <a:off x="457200" y="1371600"/>
          <a:ext cx="11246760" cy="2286000"/>
        </p:xfrm>
        <a:graphic>
          <a:graphicData uri="http://schemas.openxmlformats.org/drawingml/2006/table">
            <a:tbl>
              <a:tblPr/>
              <a:tblGrid>
                <a:gridCol w="2811600"/>
                <a:gridCol w="2811600"/>
                <a:gridCol w="2811600"/>
                <a:gridCol w="2811600"/>
              </a:tblGrid>
              <a:tr h="457200">
                <a:tc>
                  <a:txBody>
                    <a:bodyPr anchor="t">
                      <a:noAutofit/>
                    </a:bodyPr>
                    <a:p>
                      <a:pPr algn="ctr" defTabSz="457200">
                        <a:lnSpc>
                          <a:spcPct val="100000"/>
                        </a:lnSpc>
                      </a:pPr>
                      <a:r>
                        <a:rPr lang="en-US" sz="1200" b="1" u="none" strike="noStrike">
                          <a:solidFill>
                            <a:srgbClr val="ffffff"/>
                          </a:solidFill>
                          <a:effectLst/>
                          <a:uFillTx/>
                          <a:latin typeface="Calibri"/>
                        </a:rPr>
                        <a:t>Experiment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Architecture</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Approaches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Task</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Section 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BERT-base (110M)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Base, FinBERT, RAG, Hybrid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Sentiment classification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Section 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Llama2-7B (7B)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Base, FinQA-7B, RAG, Hybrid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Numerical reasoning</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Section 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Llama2-7B (7B)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Base, FinQA-7B, RAG, Hybrid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Financial ratio calculation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Section 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DistilBERT (66M)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Base, Fine-tuned, RAG, Hybrid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Spam / phishing detection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288" name="Rectangle 3"/>
          <p:cNvSpPr/>
          <p:nvPr/>
        </p:nvSpPr>
        <p:spPr>
          <a:xfrm>
            <a:off x="457200" y="4114800"/>
            <a:ext cx="11246760" cy="9140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Methodology:</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Each experiment uses the SAME architecture and parameter count. The only variable is the approach (base, fine-tuned, RAG, or hybrid). All results measured in our environment with our models.</a:t>
            </a:r>
            <a:endParaRPr lang="el-GR" sz="1200" b="0" u="none" strike="noStrike">
              <a:solidFill>
                <a:srgbClr val="000000"/>
              </a:solidFill>
              <a:effectLst/>
              <a:uFillTx/>
              <a:latin typeface="Arial"/>
            </a:endParaRPr>
          </a:p>
        </p:txBody>
      </p:sp>
      <p:sp>
        <p:nvSpPr>
          <p:cNvPr id="289"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30/55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1: BERT 110M - Sentiment Classification</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Architecture: BERT-base-uncased (110M parameters)</a:t>
            </a:r>
            <a:endParaRPr lang="el-GR" sz="1600" b="0" u="none" strike="noStrike">
              <a:solidFill>
                <a:srgbClr val="ffffff"/>
              </a:solidFill>
              <a:effectLst/>
              <a:uFillTx/>
              <a:latin typeface="Arial"/>
            </a:endParaRPr>
          </a:p>
        </p:txBody>
      </p:sp>
      <p:sp>
        <p:nvSpPr>
          <p:cNvPr id="291" name="Rectangle 2"/>
          <p:cNvSpPr/>
          <p:nvPr/>
        </p:nvSpPr>
        <p:spPr>
          <a:xfrm>
            <a:off x="457200" y="1280160"/>
            <a:ext cx="2651400" cy="10969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Base BERT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45.0%  (9/20)</a:t>
            </a:r>
            <a:endParaRPr lang="el-GR" sz="1200" b="0" u="none" strike="noStrike">
              <a:solidFill>
                <a:srgbClr val="000000"/>
              </a:solidFill>
              <a:effectLst/>
              <a:uFillTx/>
              <a:latin typeface="Arial"/>
            </a:endParaRPr>
          </a:p>
        </p:txBody>
      </p:sp>
      <p:sp>
        <p:nvSpPr>
          <p:cNvPr id="292" name="Rectangle 3"/>
          <p:cNvSpPr/>
          <p:nvPr/>
        </p:nvSpPr>
        <p:spPr>
          <a:xfrm>
            <a:off x="3291840" y="1280160"/>
            <a:ext cx="2651400" cy="10969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FinBERT (fine-tuned)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70.0%  (14/20)</a:t>
            </a:r>
            <a:endParaRPr lang="el-GR" sz="1200" b="0" u="none" strike="noStrike">
              <a:solidFill>
                <a:srgbClr val="000000"/>
              </a:solidFill>
              <a:effectLst/>
              <a:uFillTx/>
              <a:latin typeface="Arial"/>
            </a:endParaRPr>
          </a:p>
        </p:txBody>
      </p:sp>
      <p:sp>
        <p:nvSpPr>
          <p:cNvPr id="293" name="Rectangle 4"/>
          <p:cNvSpPr/>
          <p:nvPr/>
        </p:nvSpPr>
        <p:spPr>
          <a:xfrm>
            <a:off x="6126480" y="1280160"/>
            <a:ext cx="2651400" cy="10969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BERT + RAG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65.0%  (13/20)</a:t>
            </a:r>
            <a:endParaRPr lang="el-GR" sz="1200" b="0" u="none" strike="noStrike">
              <a:solidFill>
                <a:srgbClr val="000000"/>
              </a:solidFill>
              <a:effectLst/>
              <a:uFillTx/>
              <a:latin typeface="Arial"/>
            </a:endParaRPr>
          </a:p>
        </p:txBody>
      </p:sp>
      <p:sp>
        <p:nvSpPr>
          <p:cNvPr id="294" name="Rectangle 5"/>
          <p:cNvSpPr/>
          <p:nvPr/>
        </p:nvSpPr>
        <p:spPr>
          <a:xfrm>
            <a:off x="8961120" y="1280160"/>
            <a:ext cx="2651400" cy="109692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FinBERT + RAG (hybrid)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70.0%  (14/20)</a:t>
            </a:r>
            <a:endParaRPr lang="el-GR" sz="1200" b="0" u="none" strike="noStrike">
              <a:solidFill>
                <a:srgbClr val="000000"/>
              </a:solidFill>
              <a:effectLst/>
              <a:uFillTx/>
              <a:latin typeface="Arial"/>
            </a:endParaRPr>
          </a:p>
        </p:txBody>
      </p:sp>
      <p:graphicFrame>
        <p:nvGraphicFramePr>
          <p:cNvPr id="295" name="Chart 6"/>
          <p:cNvGraphicFramePr/>
          <p:nvPr/>
        </p:nvGraphicFramePr>
        <p:xfrm>
          <a:off x="457200" y="2560320"/>
          <a:ext cx="5303160" cy="32000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96" name="Chart 7"/>
          <p:cNvGraphicFramePr/>
          <p:nvPr/>
        </p:nvGraphicFramePr>
        <p:xfrm>
          <a:off x="6217920" y="2560320"/>
          <a:ext cx="5303160" cy="3200040"/>
        </p:xfrm>
        <a:graphic>
          <a:graphicData uri="http://schemas.openxmlformats.org/drawingml/2006/chart">
            <c:chart xmlns:c="http://schemas.openxmlformats.org/drawingml/2006/chart" xmlns:r="http://schemas.openxmlformats.org/officeDocument/2006/relationships" r:id="rId2"/>
          </a:graphicData>
        </a:graphic>
      </p:graphicFrame>
      <p:sp>
        <p:nvSpPr>
          <p:cNvPr id="297" name="TextBox 8"/>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31/55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1: BERT 110M - Sentiment Classification - Token Usage &amp; Cost</a:t>
            </a:r>
            <a:endParaRPr lang="el-GR" sz="3000" b="0" u="none" strike="noStrike">
              <a:solidFill>
                <a:srgbClr val="ffffff"/>
              </a:solidFill>
              <a:effectLst/>
              <a:uFillTx/>
              <a:latin typeface="Arial"/>
            </a:endParaRPr>
          </a:p>
        </p:txBody>
      </p:sp>
      <p:graphicFrame>
        <p:nvGraphicFramePr>
          <p:cNvPr id="299" name="Table 2"/>
          <p:cNvGraphicFramePr/>
          <p:nvPr/>
        </p:nvGraphicFramePr>
        <p:xfrm>
          <a:off x="457200" y="1371600"/>
          <a:ext cx="11246760" cy="3200040"/>
        </p:xfrm>
        <a:graphic>
          <a:graphicData uri="http://schemas.openxmlformats.org/drawingml/2006/table">
            <a:tbl>
              <a:tblPr/>
              <a:tblGrid>
                <a:gridCol w="2249280"/>
                <a:gridCol w="2249280"/>
                <a:gridCol w="2249280"/>
                <a:gridCol w="2249280"/>
                <a:gridCol w="2249280"/>
              </a:tblGrid>
              <a:tr h="39996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Avg Tokens / 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92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Total Tokens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327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327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1,516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1,843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Prompt Tokens (total)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327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327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1,516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1,843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Completion Tokens (total)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Throughput (tokens/sec)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249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239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1,183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730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Cost / 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$0.000800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$0.000900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Total Benchmark Cost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$0.000003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$0.000003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$0.000015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$0.000018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graphicFrame>
        <p:nvGraphicFramePr>
          <p:cNvPr id="300" name="Chart 3"/>
          <p:cNvGraphicFramePr/>
          <p:nvPr/>
        </p:nvGraphicFramePr>
        <p:xfrm>
          <a:off x="457200" y="4754880"/>
          <a:ext cx="5303160" cy="18284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01" name="Chart 4"/>
          <p:cNvGraphicFramePr/>
          <p:nvPr/>
        </p:nvGraphicFramePr>
        <p:xfrm>
          <a:off x="6217920" y="4754880"/>
          <a:ext cx="5303160" cy="1828440"/>
        </p:xfrm>
        <a:graphic>
          <a:graphicData uri="http://schemas.openxmlformats.org/drawingml/2006/chart">
            <c:chart xmlns:c="http://schemas.openxmlformats.org/drawingml/2006/chart" xmlns:r="http://schemas.openxmlformats.org/officeDocument/2006/relationships" r:id="rId2"/>
          </a:graphicData>
        </a:graphic>
      </p:graphicFrame>
      <p:sp>
        <p:nvSpPr>
          <p:cNvPr id="302"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32/55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1: BERT 110M - Sentiment Classification - Quality Metrics</a:t>
            </a:r>
            <a:endParaRPr lang="el-GR" sz="3000" b="0" u="none" strike="noStrike">
              <a:solidFill>
                <a:srgbClr val="ffffff"/>
              </a:solidFill>
              <a:effectLst/>
              <a:uFillTx/>
              <a:latin typeface="Arial"/>
            </a:endParaRPr>
          </a:p>
        </p:txBody>
      </p:sp>
      <p:graphicFrame>
        <p:nvGraphicFramePr>
          <p:cNvPr id="304" name="Table 2"/>
          <p:cNvGraphicFramePr/>
          <p:nvPr/>
        </p:nvGraphicFramePr>
        <p:xfrm>
          <a:off x="457200" y="1371600"/>
          <a:ext cx="11246760" cy="3200400"/>
        </p:xfrm>
        <a:graphic>
          <a:graphicData uri="http://schemas.openxmlformats.org/drawingml/2006/table">
            <a:tbl>
              <a:tblPr/>
              <a:tblGrid>
                <a:gridCol w="2249280"/>
                <a:gridCol w="2249280"/>
                <a:gridCol w="2249280"/>
                <a:gridCol w="2249280"/>
                <a:gridCol w="2249280"/>
              </a:tblGrid>
              <a:tr h="45720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F1 Score (macro)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0.347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0.669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0.604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0.669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Precision (macro)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0.292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0.801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0.786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0.801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Recall (macro)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0.458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0.694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0.708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0.694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F1 (negative)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0.375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0.800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0.222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0.800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F1 (neutral)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0.923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F1 (positive)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0.667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0.706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0.667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0.706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305" name="Chart 3"/>
          <p:cNvGraphicFramePr/>
          <p:nvPr/>
        </p:nvGraphicFramePr>
        <p:xfrm>
          <a:off x="457200" y="4754880"/>
          <a:ext cx="5303160" cy="1828440"/>
        </p:xfrm>
        <a:graphic>
          <a:graphicData uri="http://schemas.openxmlformats.org/drawingml/2006/chart">
            <c:chart xmlns:c="http://schemas.openxmlformats.org/drawingml/2006/chart" xmlns:r="http://schemas.openxmlformats.org/officeDocument/2006/relationships" r:id="rId1"/>
          </a:graphicData>
        </a:graphic>
      </p:graphicFrame>
      <p:sp>
        <p:nvSpPr>
          <p:cNvPr id="306" name="Rectangle 4"/>
          <p:cNvSpPr/>
          <p:nvPr/>
        </p:nvSpPr>
        <p:spPr>
          <a:xfrm>
            <a:off x="6217920" y="4754880"/>
            <a:ext cx="5303160" cy="18284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Insight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FinBERT (fine-tuned) achieves F1=0.669, showing balanced performance across all sentiment classes.</a:t>
            </a:r>
            <a:endParaRPr lang="el-GR" sz="1200" b="0" u="none" strike="noStrike">
              <a:solidFill>
                <a:srgbClr val="000000"/>
              </a:solidFill>
              <a:effectLst/>
              <a:uFillTx/>
              <a:latin typeface="Arial"/>
            </a:endParaRPr>
          </a:p>
        </p:txBody>
      </p:sp>
      <p:sp>
        <p:nvSpPr>
          <p:cNvPr id="307"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33/55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1: BERT 110M - Sentiment Classification - Confidence Scores</a:t>
            </a:r>
            <a:endParaRPr lang="el-GR" sz="3000" b="0" u="none" strike="noStrike">
              <a:solidFill>
                <a:srgbClr val="ffffff"/>
              </a:solidFill>
              <a:effectLst/>
              <a:uFillTx/>
              <a:latin typeface="Arial"/>
            </a:endParaRPr>
          </a:p>
        </p:txBody>
      </p:sp>
      <p:graphicFrame>
        <p:nvGraphicFramePr>
          <p:cNvPr id="309" name="Chart 2"/>
          <p:cNvGraphicFramePr/>
          <p:nvPr/>
        </p:nvGraphicFramePr>
        <p:xfrm>
          <a:off x="1828800" y="1371600"/>
          <a:ext cx="8229240" cy="3657240"/>
        </p:xfrm>
        <a:graphic>
          <a:graphicData uri="http://schemas.openxmlformats.org/drawingml/2006/chart">
            <c:chart xmlns:c="http://schemas.openxmlformats.org/drawingml/2006/chart" xmlns:r="http://schemas.openxmlformats.org/officeDocument/2006/relationships" r:id="rId1"/>
          </a:graphicData>
        </a:graphic>
      </p:graphicFrame>
      <p:sp>
        <p:nvSpPr>
          <p:cNvPr id="310" name="Rectangle 3"/>
          <p:cNvSpPr/>
          <p:nvPr/>
        </p:nvSpPr>
        <p:spPr>
          <a:xfrm>
            <a:off x="457200" y="5303520"/>
            <a:ext cx="11063880" cy="7311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Insight: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FinBERT (fine-tuned): 0.845 confidence vs Base: 0.375. Fine-tuning produces more decisive, confident predictions.</a:t>
            </a:r>
            <a:endParaRPr lang="el-GR" sz="1200" b="0" u="none" strike="noStrike">
              <a:solidFill>
                <a:srgbClr val="000000"/>
              </a:solidFill>
              <a:effectLst/>
              <a:uFillTx/>
              <a:latin typeface="Arial"/>
            </a:endParaRPr>
          </a:p>
        </p:txBody>
      </p:sp>
      <p:sp>
        <p:nvSpPr>
          <p:cNvPr id="311"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34/55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1: BERT 110M - Sentiment Classification - Category Breakdown</a:t>
            </a:r>
            <a:endParaRPr lang="el-GR" sz="3000" b="0" u="none" strike="noStrike">
              <a:solidFill>
                <a:srgbClr val="ffffff"/>
              </a:solidFill>
              <a:effectLst/>
              <a:uFillTx/>
              <a:latin typeface="Arial"/>
            </a:endParaRPr>
          </a:p>
        </p:txBody>
      </p:sp>
      <p:graphicFrame>
        <p:nvGraphicFramePr>
          <p:cNvPr id="313" name="Table 2"/>
          <p:cNvGraphicFramePr/>
          <p:nvPr/>
        </p:nvGraphicFramePr>
        <p:xfrm>
          <a:off x="457200" y="1371600"/>
          <a:ext cx="11246760" cy="2285640"/>
        </p:xfrm>
        <a:graphic>
          <a:graphicData uri="http://schemas.openxmlformats.org/drawingml/2006/table">
            <a:tbl>
              <a:tblPr/>
              <a:tblGrid>
                <a:gridCol w="1874520"/>
                <a:gridCol w="1874520"/>
                <a:gridCol w="1874520"/>
                <a:gridCol w="1874520"/>
                <a:gridCol w="1874520"/>
                <a:gridCol w="1874520"/>
              </a:tblGrid>
              <a:tr h="326520">
                <a:tc>
                  <a:txBody>
                    <a:bodyPr anchor="t">
                      <a:noAutofit/>
                    </a:bodyPr>
                    <a:p>
                      <a:pPr algn="ctr" defTabSz="457200">
                        <a:lnSpc>
                          <a:spcPct val="100000"/>
                        </a:lnSpc>
                      </a:pPr>
                      <a:r>
                        <a:rPr lang="en-US" sz="1200" b="1" u="none" strike="noStrike">
                          <a:solidFill>
                            <a:srgbClr val="ffffff"/>
                          </a:solidFill>
                          <a:effectLst/>
                          <a:uFillTx/>
                          <a:latin typeface="Calibri"/>
                        </a:rPr>
                        <a:t>Category</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Cases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Domain Jargon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Domain Specific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40.0%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Straightforward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Subtle Neutral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40.0%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40.0%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Tricky Mixed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Tricky Positive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314" name="Chart 3"/>
          <p:cNvGraphicFramePr/>
          <p:nvPr/>
        </p:nvGraphicFramePr>
        <p:xfrm>
          <a:off x="457200" y="3840480"/>
          <a:ext cx="11246760" cy="2559960"/>
        </p:xfrm>
        <a:graphic>
          <a:graphicData uri="http://schemas.openxmlformats.org/drawingml/2006/chart">
            <c:chart xmlns:c="http://schemas.openxmlformats.org/drawingml/2006/chart" xmlns:r="http://schemas.openxmlformats.org/officeDocument/2006/relationships" r:id="rId1"/>
          </a:graphicData>
        </a:graphic>
      </p:graphicFrame>
      <p:sp>
        <p:nvSpPr>
          <p:cNvPr id="315"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35/55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1: BERT 110M - Sentiment Classification - Per-Example Results</a:t>
            </a:r>
            <a:endParaRPr lang="el-GR" sz="3000" b="0" u="none" strike="noStrike">
              <a:solidFill>
                <a:srgbClr val="ffffff"/>
              </a:solidFill>
              <a:effectLst/>
              <a:uFillTx/>
              <a:latin typeface="Arial"/>
            </a:endParaRPr>
          </a:p>
        </p:txBody>
      </p:sp>
      <p:graphicFrame>
        <p:nvGraphicFramePr>
          <p:cNvPr id="317" name="Table 2"/>
          <p:cNvGraphicFramePr/>
          <p:nvPr/>
        </p:nvGraphicFramePr>
        <p:xfrm>
          <a:off x="274320" y="1280160"/>
          <a:ext cx="11612520" cy="6332400"/>
        </p:xfrm>
        <a:graphic>
          <a:graphicData uri="http://schemas.openxmlformats.org/drawingml/2006/table">
            <a:tbl>
              <a:tblPr/>
              <a:tblGrid>
                <a:gridCol w="1658880"/>
                <a:gridCol w="1658880"/>
                <a:gridCol w="1658880"/>
                <a:gridCol w="1658880"/>
                <a:gridCol w="1658880"/>
                <a:gridCol w="1658880"/>
                <a:gridCol w="1658880"/>
              </a:tblGrid>
              <a:tr h="365760">
                <a:tc>
                  <a:txBody>
                    <a:bodyPr anchor="t">
                      <a:noAutofit/>
                    </a:bodyPr>
                    <a:p>
                      <a:pPr algn="ctr" defTabSz="457200">
                        <a:lnSpc>
                          <a:spcPct val="100000"/>
                        </a:lnSpc>
                      </a:pPr>
                      <a:r>
                        <a:rPr lang="en-US" sz="1200" b="1" u="none" strike="noStrike">
                          <a:solidFill>
                            <a:srgbClr val="ffffff"/>
                          </a:solidFill>
                          <a:effectLst/>
                          <a:uFillTx/>
                          <a:latin typeface="Calibri"/>
                        </a:rPr>
                        <a: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Text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Expected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Net interest income grew 12% driven by higher...</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Management expects headwinds from deposit com...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The company maintained its quarterly dividend...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NEUTRAL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negative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neutral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neutral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neutral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Credit costs increased significantly due to 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Strong demand in core markets contributed to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Total assets remained relatively unchanged fr...</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NEUTRAL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neutral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The restructuring program resulted in $450M 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negative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negative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neutral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negative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Operating efficiency improved with the cost-t...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Provisions for loan losses rose sharply amid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negative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negative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10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The board approved a routine extension of the...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NEUTRAL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neutral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11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Revenue exceeded analyst consensus estimates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positive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12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Non-performing loans increased to 1.2% of tot...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NEGATIVE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positive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318" name="TextBox 3"/>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36/55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2: Llama2 7B - Numerical Reasoning</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Architecture: Llama2-7B (7B parameters)</a:t>
            </a:r>
            <a:endParaRPr lang="el-GR" sz="1600" b="0" u="none" strike="noStrike">
              <a:solidFill>
                <a:srgbClr val="ffffff"/>
              </a:solidFill>
              <a:effectLst/>
              <a:uFillTx/>
              <a:latin typeface="Arial"/>
            </a:endParaRPr>
          </a:p>
        </p:txBody>
      </p:sp>
      <p:sp>
        <p:nvSpPr>
          <p:cNvPr id="320" name="Rectangle 2"/>
          <p:cNvSpPr/>
          <p:nvPr/>
        </p:nvSpPr>
        <p:spPr>
          <a:xfrm>
            <a:off x="457200" y="1280160"/>
            <a:ext cx="2651400" cy="10969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Base Llama2-7B</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20.0%  (1/5)</a:t>
            </a:r>
            <a:endParaRPr lang="el-GR" sz="1200" b="0" u="none" strike="noStrike">
              <a:solidFill>
                <a:srgbClr val="000000"/>
              </a:solidFill>
              <a:effectLst/>
              <a:uFillTx/>
              <a:latin typeface="Arial"/>
            </a:endParaRPr>
          </a:p>
        </p:txBody>
      </p:sp>
      <p:sp>
        <p:nvSpPr>
          <p:cNvPr id="321" name="Rectangle 3"/>
          <p:cNvSpPr/>
          <p:nvPr/>
        </p:nvSpPr>
        <p:spPr>
          <a:xfrm>
            <a:off x="3291840" y="1280160"/>
            <a:ext cx="2651400" cy="10969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FinQA-7B (fine-tuned)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20.0%  (1/5)</a:t>
            </a:r>
            <a:endParaRPr lang="el-GR" sz="1200" b="0" u="none" strike="noStrike">
              <a:solidFill>
                <a:srgbClr val="000000"/>
              </a:solidFill>
              <a:effectLst/>
              <a:uFillTx/>
              <a:latin typeface="Arial"/>
            </a:endParaRPr>
          </a:p>
        </p:txBody>
      </p:sp>
      <p:sp>
        <p:nvSpPr>
          <p:cNvPr id="322" name="Rectangle 4"/>
          <p:cNvSpPr/>
          <p:nvPr/>
        </p:nvSpPr>
        <p:spPr>
          <a:xfrm>
            <a:off x="6126480" y="1280160"/>
            <a:ext cx="2651400" cy="10969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Llama2-7B + RAG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20.0%  (1/5)</a:t>
            </a:r>
            <a:endParaRPr lang="el-GR" sz="1200" b="0" u="none" strike="noStrike">
              <a:solidFill>
                <a:srgbClr val="000000"/>
              </a:solidFill>
              <a:effectLst/>
              <a:uFillTx/>
              <a:latin typeface="Arial"/>
            </a:endParaRPr>
          </a:p>
        </p:txBody>
      </p:sp>
      <p:sp>
        <p:nvSpPr>
          <p:cNvPr id="323" name="Rectangle 5"/>
          <p:cNvSpPr/>
          <p:nvPr/>
        </p:nvSpPr>
        <p:spPr>
          <a:xfrm>
            <a:off x="8961120" y="1280160"/>
            <a:ext cx="2651400" cy="109692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FinQA-7B + RAG (hybrid)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20.0%  (1/5)</a:t>
            </a:r>
            <a:endParaRPr lang="el-GR" sz="1200" b="0" u="none" strike="noStrike">
              <a:solidFill>
                <a:srgbClr val="000000"/>
              </a:solidFill>
              <a:effectLst/>
              <a:uFillTx/>
              <a:latin typeface="Arial"/>
            </a:endParaRPr>
          </a:p>
        </p:txBody>
      </p:sp>
      <p:graphicFrame>
        <p:nvGraphicFramePr>
          <p:cNvPr id="324" name="Chart 6"/>
          <p:cNvGraphicFramePr/>
          <p:nvPr/>
        </p:nvGraphicFramePr>
        <p:xfrm>
          <a:off x="457200" y="2560320"/>
          <a:ext cx="5303160" cy="32000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25" name="Chart 7"/>
          <p:cNvGraphicFramePr/>
          <p:nvPr/>
        </p:nvGraphicFramePr>
        <p:xfrm>
          <a:off x="6217920" y="2560320"/>
          <a:ext cx="5303160" cy="3200040"/>
        </p:xfrm>
        <a:graphic>
          <a:graphicData uri="http://schemas.openxmlformats.org/drawingml/2006/chart">
            <c:chart xmlns:c="http://schemas.openxmlformats.org/drawingml/2006/chart" xmlns:r="http://schemas.openxmlformats.org/officeDocument/2006/relationships" r:id="rId2"/>
          </a:graphicData>
        </a:graphic>
      </p:graphicFrame>
      <p:sp>
        <p:nvSpPr>
          <p:cNvPr id="326" name="TextBox 8"/>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37/55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2: Llama2 7B - Numerical Reasoning - Token Usage &amp; Cost</a:t>
            </a:r>
            <a:endParaRPr lang="el-GR" sz="3000" b="0" u="none" strike="noStrike">
              <a:solidFill>
                <a:srgbClr val="ffffff"/>
              </a:solidFill>
              <a:effectLst/>
              <a:uFillTx/>
              <a:latin typeface="Arial"/>
            </a:endParaRPr>
          </a:p>
        </p:txBody>
      </p:sp>
      <p:graphicFrame>
        <p:nvGraphicFramePr>
          <p:cNvPr id="328" name="Table 2"/>
          <p:cNvGraphicFramePr/>
          <p:nvPr/>
        </p:nvGraphicFramePr>
        <p:xfrm>
          <a:off x="457200" y="1371600"/>
          <a:ext cx="11246760" cy="3200040"/>
        </p:xfrm>
        <a:graphic>
          <a:graphicData uri="http://schemas.openxmlformats.org/drawingml/2006/table">
            <a:tbl>
              <a:tblPr/>
              <a:tblGrid>
                <a:gridCol w="2249280"/>
                <a:gridCol w="2249280"/>
                <a:gridCol w="2249280"/>
                <a:gridCol w="2249280"/>
                <a:gridCol w="2249280"/>
              </a:tblGrid>
              <a:tr h="39996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Llama2-7B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Llama2-7B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Avg Tokens / 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314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285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1,638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1,661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Total Tokens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1,571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1,423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8,192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8,307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Prompt Tokens (total)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713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688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6,827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6,837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Completion Tokens (total)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858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735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1,365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1,470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Throughput (tokens/sec)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Cost / 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$0.0628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$0.0569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$0.3277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$0.3323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Total Benchmark Cost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$0.000314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$0.000285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$0.0016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$0.0017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graphicFrame>
        <p:nvGraphicFramePr>
          <p:cNvPr id="329" name="Chart 3"/>
          <p:cNvGraphicFramePr/>
          <p:nvPr/>
        </p:nvGraphicFramePr>
        <p:xfrm>
          <a:off x="457200" y="4754880"/>
          <a:ext cx="5303160" cy="18284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30" name="Chart 4"/>
          <p:cNvGraphicFramePr/>
          <p:nvPr/>
        </p:nvGraphicFramePr>
        <p:xfrm>
          <a:off x="6217920" y="4754880"/>
          <a:ext cx="5303160" cy="1828440"/>
        </p:xfrm>
        <a:graphic>
          <a:graphicData uri="http://schemas.openxmlformats.org/drawingml/2006/chart">
            <c:chart xmlns:c="http://schemas.openxmlformats.org/drawingml/2006/chart" xmlns:r="http://schemas.openxmlformats.org/officeDocument/2006/relationships" r:id="rId2"/>
          </a:graphicData>
        </a:graphic>
      </p:graphicFrame>
      <p:sp>
        <p:nvSpPr>
          <p:cNvPr id="331"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38/55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2: Llama2 7B - Numerical Reasoning - Quality Metrics</a:t>
            </a:r>
            <a:endParaRPr lang="el-GR" sz="3000" b="0" u="none" strike="noStrike">
              <a:solidFill>
                <a:srgbClr val="ffffff"/>
              </a:solidFill>
              <a:effectLst/>
              <a:uFillTx/>
              <a:latin typeface="Arial"/>
            </a:endParaRPr>
          </a:p>
        </p:txBody>
      </p:sp>
      <p:graphicFrame>
        <p:nvGraphicFramePr>
          <p:cNvPr id="333" name="Table 2"/>
          <p:cNvGraphicFramePr/>
          <p:nvPr/>
        </p:nvGraphicFramePr>
        <p:xfrm>
          <a:off x="457200" y="1371600"/>
          <a:ext cx="11246760" cy="1371600"/>
        </p:xfrm>
        <a:graphic>
          <a:graphicData uri="http://schemas.openxmlformats.org/drawingml/2006/table">
            <a:tbl>
              <a:tblPr/>
              <a:tblGrid>
                <a:gridCol w="2249280"/>
                <a:gridCol w="2249280"/>
                <a:gridCol w="2249280"/>
                <a:gridCol w="2249280"/>
                <a:gridCol w="2249280"/>
              </a:tblGrid>
              <a:tr h="45720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Llama2-7B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Llama2-7B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MAPE (Mean Abs % Error)</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838.5%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109.7%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190.6%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232.4%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Accuracy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334" name="Chart 3"/>
          <p:cNvGraphicFramePr/>
          <p:nvPr/>
        </p:nvGraphicFramePr>
        <p:xfrm>
          <a:off x="457200" y="2926080"/>
          <a:ext cx="5303160" cy="3200040"/>
        </p:xfrm>
        <a:graphic>
          <a:graphicData uri="http://schemas.openxmlformats.org/drawingml/2006/chart">
            <c:chart xmlns:c="http://schemas.openxmlformats.org/drawingml/2006/chart" xmlns:r="http://schemas.openxmlformats.org/officeDocument/2006/relationships" r:id="rId1"/>
          </a:graphicData>
        </a:graphic>
      </p:graphicFrame>
      <p:sp>
        <p:nvSpPr>
          <p:cNvPr id="335" name="Rectangle 4"/>
          <p:cNvSpPr/>
          <p:nvPr/>
        </p:nvSpPr>
        <p:spPr>
          <a:xfrm>
            <a:off x="6217920" y="2926080"/>
            <a:ext cx="5303160" cy="3200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Insight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FinQA-7B (fine-tuned) has lowest MAPE (109.7%), meaning its numerical answers are closest to expected values.</a:t>
            </a:r>
            <a:br>
              <a:rPr sz="1200"/>
            </a:br>
            <a:br>
              <a:rPr sz="1200"/>
            </a:br>
            <a:r>
              <a:rPr lang="en-US" sz="1200" b="0" u="none" strike="noStrike">
                <a:solidFill>
                  <a:srgbClr val="1c2a3a"/>
                </a:solidFill>
                <a:effectLst/>
                <a:uFillTx/>
                <a:latin typeface="Calibri"/>
              </a:rPr>
              <a:t>Lower MAPE = more precise calculations.</a:t>
            </a:r>
            <a:endParaRPr lang="el-GR" sz="1200" b="0" u="none" strike="noStrike">
              <a:solidFill>
                <a:srgbClr val="000000"/>
              </a:solidFill>
              <a:effectLst/>
              <a:uFillTx/>
              <a:latin typeface="Arial"/>
            </a:endParaRPr>
          </a:p>
        </p:txBody>
      </p:sp>
      <p:sp>
        <p:nvSpPr>
          <p:cNvPr id="336"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39/55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2: Llama2 7B - Numerical Reasoning - Category Breakdown</a:t>
            </a:r>
            <a:endParaRPr lang="el-GR" sz="3000" b="0" u="none" strike="noStrike">
              <a:solidFill>
                <a:srgbClr val="ffffff"/>
              </a:solidFill>
              <a:effectLst/>
              <a:uFillTx/>
              <a:latin typeface="Arial"/>
            </a:endParaRPr>
          </a:p>
        </p:txBody>
      </p:sp>
      <p:graphicFrame>
        <p:nvGraphicFramePr>
          <p:cNvPr id="338" name="Table 2"/>
          <p:cNvGraphicFramePr/>
          <p:nvPr/>
        </p:nvGraphicFramePr>
        <p:xfrm>
          <a:off x="457200" y="1371600"/>
          <a:ext cx="11246760" cy="2285640"/>
        </p:xfrm>
        <a:graphic>
          <a:graphicData uri="http://schemas.openxmlformats.org/drawingml/2006/table">
            <a:tbl>
              <a:tblPr/>
              <a:tblGrid>
                <a:gridCol w="1874520"/>
                <a:gridCol w="1874520"/>
                <a:gridCol w="1874520"/>
                <a:gridCol w="1874520"/>
                <a:gridCol w="1874520"/>
                <a:gridCol w="1874520"/>
              </a:tblGrid>
              <a:tr h="761760">
                <a:tc>
                  <a:txBody>
                    <a:bodyPr anchor="t">
                      <a:noAutofit/>
                    </a:bodyPr>
                    <a:p>
                      <a:pPr algn="ctr" defTabSz="457200">
                        <a:lnSpc>
                          <a:spcPct val="100000"/>
                        </a:lnSpc>
                      </a:pPr>
                      <a:r>
                        <a:rPr lang="en-US" sz="1200" b="1" u="none" strike="noStrike">
                          <a:solidFill>
                            <a:srgbClr val="ffffff"/>
                          </a:solidFill>
                          <a:effectLst/>
                          <a:uFillTx/>
                          <a:latin typeface="Calibri"/>
                        </a:rPr>
                        <a:t>Category</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Cases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Llama2-7B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Llama2-7B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761760">
                <a:tc>
                  <a:txBody>
                    <a:bodyPr anchor="t">
                      <a:noAutofit/>
                    </a:bodyPr>
                    <a:p>
                      <a:pPr defTabSz="457200">
                        <a:lnSpc>
                          <a:spcPct val="100000"/>
                        </a:lnSpc>
                      </a:pPr>
                      <a:r>
                        <a:rPr lang="en-US" sz="1100" b="0" u="none" strike="noStrike">
                          <a:solidFill>
                            <a:srgbClr val="1c2a3a"/>
                          </a:solidFill>
                          <a:effectLst/>
                          <a:uFillTx/>
                          <a:latin typeface="Calibri"/>
                        </a:rPr>
                        <a:t>Multi Step</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761760">
                <a:tc>
                  <a:txBody>
                    <a:bodyPr anchor="t">
                      <a:noAutofit/>
                    </a:bodyPr>
                    <a:p>
                      <a:pPr defTabSz="457200">
                        <a:lnSpc>
                          <a:spcPct val="100000"/>
                        </a:lnSpc>
                      </a:pPr>
                      <a:r>
                        <a:rPr lang="en-US" sz="1100" b="0" u="none" strike="noStrike">
                          <a:solidFill>
                            <a:srgbClr val="1c2a3a"/>
                          </a:solidFill>
                          <a:effectLst/>
                          <a:uFillTx/>
                          <a:latin typeface="Calibri"/>
                        </a:rPr>
                        <a:t>Single Step</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339" name="Chart 3"/>
          <p:cNvGraphicFramePr/>
          <p:nvPr/>
        </p:nvGraphicFramePr>
        <p:xfrm>
          <a:off x="457200" y="3840480"/>
          <a:ext cx="11246760" cy="2559960"/>
        </p:xfrm>
        <a:graphic>
          <a:graphicData uri="http://schemas.openxmlformats.org/drawingml/2006/chart">
            <c:chart xmlns:c="http://schemas.openxmlformats.org/drawingml/2006/chart" xmlns:r="http://schemas.openxmlformats.org/officeDocument/2006/relationships" r:id="rId1"/>
          </a:graphicData>
        </a:graphic>
      </p:graphicFrame>
      <p:sp>
        <p:nvSpPr>
          <p:cNvPr id="340"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40/55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2: Llama2 7B - Numerical Reasoning - Per-Example Results</a:t>
            </a:r>
            <a:endParaRPr lang="el-GR" sz="3000" b="0" u="none" strike="noStrike">
              <a:solidFill>
                <a:srgbClr val="ffffff"/>
              </a:solidFill>
              <a:effectLst/>
              <a:uFillTx/>
              <a:latin typeface="Arial"/>
            </a:endParaRPr>
          </a:p>
        </p:txBody>
      </p:sp>
      <p:graphicFrame>
        <p:nvGraphicFramePr>
          <p:cNvPr id="342" name="Table 2"/>
          <p:cNvGraphicFramePr/>
          <p:nvPr/>
        </p:nvGraphicFramePr>
        <p:xfrm>
          <a:off x="274320" y="1280160"/>
          <a:ext cx="11612520" cy="4754520"/>
        </p:xfrm>
        <a:graphic>
          <a:graphicData uri="http://schemas.openxmlformats.org/drawingml/2006/table">
            <a:tbl>
              <a:tblPr/>
              <a:tblGrid>
                <a:gridCol w="1658880"/>
                <a:gridCol w="1658880"/>
                <a:gridCol w="1658880"/>
                <a:gridCol w="1658880"/>
                <a:gridCol w="1658880"/>
                <a:gridCol w="1658880"/>
                <a:gridCol w="1658880"/>
              </a:tblGrid>
              <a:tr h="792360">
                <a:tc>
                  <a:txBody>
                    <a:bodyPr anchor="t">
                      <a:noAutofit/>
                    </a:bodyPr>
                    <a:p>
                      <a:pPr algn="ctr" defTabSz="457200">
                        <a:lnSpc>
                          <a:spcPct val="100000"/>
                        </a:lnSpc>
                      </a:pPr>
                      <a:r>
                        <a:rPr lang="en-US" sz="1200" b="1" u="none" strike="noStrike">
                          <a:solidFill>
                            <a:srgbClr val="ffffff"/>
                          </a:solidFill>
                          <a:effectLst/>
                          <a:uFillTx/>
                          <a:latin typeface="Calibri"/>
                        </a:rPr>
                        <a: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Question</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Expected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Llama2-7B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Llama2-7B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792360">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What was the percentage change in total reven...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2.45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10.4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3.0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792360">
                <a:tc>
                  <a:txBody>
                    <a:bodyPr anchor="t">
                      <a:noAutofit/>
                    </a:bodyPr>
                    <a:p>
                      <a:pPr defTabSz="457200">
                        <a:lnSpc>
                          <a:spcPct val="100000"/>
                        </a:lnSpc>
                      </a:pPr>
                      <a:r>
                        <a:rPr lang="en-US" sz="1100" b="0" u="none" strike="noStrike">
                          <a:solidFill>
                            <a:srgbClr val="1c2a3a"/>
                          </a:solidFill>
                          <a:effectLst/>
                          <a:uFillTx/>
                          <a:latin typeface="Calibri"/>
                        </a:rPr>
                        <a:t>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debt-to-equity ratio for 2023....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1.10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1.11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1.11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792360">
                <a:tc>
                  <a:txBody>
                    <a:bodyPr anchor="t">
                      <a:noAutofit/>
                    </a:bodyPr>
                    <a:p>
                      <a:pPr defTabSz="457200">
                        <a:lnSpc>
                          <a:spcPct val="100000"/>
                        </a:lnSpc>
                      </a:pPr>
                      <a:r>
                        <a:rPr lang="en-US" sz="1100" b="0" u="none" strike="noStrike">
                          <a:solidFill>
                            <a:srgbClr val="1c2a3a"/>
                          </a:solidFill>
                          <a:effectLst/>
                          <a:uFillTx/>
                          <a:latin typeface="Calibri"/>
                        </a:rPr>
                        <a:t>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What is the efficiency ratio (OpEx/Revenue) f...</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56.57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0.57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0.57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2.8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57.3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792360">
                <a:tc>
                  <a:txBody>
                    <a:bodyPr anchor="t">
                      <a:noAutofit/>
                    </a:bodyPr>
                    <a:p>
                      <a:pPr defTabSz="457200">
                        <a:lnSpc>
                          <a:spcPct val="100000"/>
                        </a:lnSpc>
                      </a:pPr>
                      <a:r>
                        <a:rPr lang="en-US" sz="1100" b="0" u="none" strike="noStrike">
                          <a:solidFill>
                            <a:srgbClr val="1c2a3a"/>
                          </a:solidFill>
                          <a:effectLst/>
                          <a:uFillTx/>
                          <a:latin typeface="Calibri"/>
                        </a:rPr>
                        <a:t>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Return on Equity (ROE = Net Inc...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17.98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0.18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0.18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18.1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3.6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792360">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What was the year-over-year growth rate for A...</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15.19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11.4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11.3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sp>
        <p:nvSpPr>
          <p:cNvPr id="343" name="TextBox 3"/>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41/55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3: Llama2 7B - Financial Ratios</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Architecture: Llama2-7B (7B parameters)</a:t>
            </a:r>
            <a:endParaRPr lang="el-GR" sz="1600" b="0" u="none" strike="noStrike">
              <a:solidFill>
                <a:srgbClr val="ffffff"/>
              </a:solidFill>
              <a:effectLst/>
              <a:uFillTx/>
              <a:latin typeface="Arial"/>
            </a:endParaRPr>
          </a:p>
        </p:txBody>
      </p:sp>
      <p:sp>
        <p:nvSpPr>
          <p:cNvPr id="345" name="Rectangle 2"/>
          <p:cNvSpPr/>
          <p:nvPr/>
        </p:nvSpPr>
        <p:spPr>
          <a:xfrm>
            <a:off x="457200" y="1280160"/>
            <a:ext cx="2651400" cy="10969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Base Llama2-7B</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25.0%  (2/8)</a:t>
            </a:r>
            <a:endParaRPr lang="el-GR" sz="1200" b="0" u="none" strike="noStrike">
              <a:solidFill>
                <a:srgbClr val="000000"/>
              </a:solidFill>
              <a:effectLst/>
              <a:uFillTx/>
              <a:latin typeface="Arial"/>
            </a:endParaRPr>
          </a:p>
        </p:txBody>
      </p:sp>
      <p:sp>
        <p:nvSpPr>
          <p:cNvPr id="346" name="Rectangle 3"/>
          <p:cNvSpPr/>
          <p:nvPr/>
        </p:nvSpPr>
        <p:spPr>
          <a:xfrm>
            <a:off x="3291840" y="1280160"/>
            <a:ext cx="2651400" cy="10969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FinQA-7B (fine-tuned)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37.5%  (3/8)</a:t>
            </a:r>
            <a:endParaRPr lang="el-GR" sz="1200" b="0" u="none" strike="noStrike">
              <a:solidFill>
                <a:srgbClr val="000000"/>
              </a:solidFill>
              <a:effectLst/>
              <a:uFillTx/>
              <a:latin typeface="Arial"/>
            </a:endParaRPr>
          </a:p>
        </p:txBody>
      </p:sp>
      <p:sp>
        <p:nvSpPr>
          <p:cNvPr id="347" name="Rectangle 4"/>
          <p:cNvSpPr/>
          <p:nvPr/>
        </p:nvSpPr>
        <p:spPr>
          <a:xfrm>
            <a:off x="6126480" y="1280160"/>
            <a:ext cx="2651400" cy="10969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Llama2-7B + RAG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12.5%  (1/8)</a:t>
            </a:r>
            <a:endParaRPr lang="el-GR" sz="1200" b="0" u="none" strike="noStrike">
              <a:solidFill>
                <a:srgbClr val="000000"/>
              </a:solidFill>
              <a:effectLst/>
              <a:uFillTx/>
              <a:latin typeface="Arial"/>
            </a:endParaRPr>
          </a:p>
        </p:txBody>
      </p:sp>
      <p:sp>
        <p:nvSpPr>
          <p:cNvPr id="348" name="Rectangle 5"/>
          <p:cNvSpPr/>
          <p:nvPr/>
        </p:nvSpPr>
        <p:spPr>
          <a:xfrm>
            <a:off x="8961120" y="1280160"/>
            <a:ext cx="2651400" cy="109692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FinQA-7B + RAG (hybrid)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25.0%  (2/8)</a:t>
            </a:r>
            <a:endParaRPr lang="el-GR" sz="1200" b="0" u="none" strike="noStrike">
              <a:solidFill>
                <a:srgbClr val="000000"/>
              </a:solidFill>
              <a:effectLst/>
              <a:uFillTx/>
              <a:latin typeface="Arial"/>
            </a:endParaRPr>
          </a:p>
        </p:txBody>
      </p:sp>
      <p:graphicFrame>
        <p:nvGraphicFramePr>
          <p:cNvPr id="349" name="Chart 6"/>
          <p:cNvGraphicFramePr/>
          <p:nvPr/>
        </p:nvGraphicFramePr>
        <p:xfrm>
          <a:off x="457200" y="2560320"/>
          <a:ext cx="5303160" cy="32000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50" name="Chart 7"/>
          <p:cNvGraphicFramePr/>
          <p:nvPr/>
        </p:nvGraphicFramePr>
        <p:xfrm>
          <a:off x="6217920" y="2560320"/>
          <a:ext cx="5303160" cy="3200040"/>
        </p:xfrm>
        <a:graphic>
          <a:graphicData uri="http://schemas.openxmlformats.org/drawingml/2006/chart">
            <c:chart xmlns:c="http://schemas.openxmlformats.org/drawingml/2006/chart" xmlns:r="http://schemas.openxmlformats.org/officeDocument/2006/relationships" r:id="rId2"/>
          </a:graphicData>
        </a:graphic>
      </p:graphicFrame>
      <p:sp>
        <p:nvSpPr>
          <p:cNvPr id="351" name="TextBox 8"/>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42/55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3: Llama2 7B - Financial Ratios - Token Usage &amp; Cost</a:t>
            </a:r>
            <a:endParaRPr lang="el-GR" sz="3000" b="0" u="none" strike="noStrike">
              <a:solidFill>
                <a:srgbClr val="ffffff"/>
              </a:solidFill>
              <a:effectLst/>
              <a:uFillTx/>
              <a:latin typeface="Arial"/>
            </a:endParaRPr>
          </a:p>
        </p:txBody>
      </p:sp>
      <p:graphicFrame>
        <p:nvGraphicFramePr>
          <p:cNvPr id="353" name="Table 2"/>
          <p:cNvGraphicFramePr/>
          <p:nvPr/>
        </p:nvGraphicFramePr>
        <p:xfrm>
          <a:off x="457200" y="1371600"/>
          <a:ext cx="11246760" cy="3200040"/>
        </p:xfrm>
        <a:graphic>
          <a:graphicData uri="http://schemas.openxmlformats.org/drawingml/2006/table">
            <a:tbl>
              <a:tblPr/>
              <a:tblGrid>
                <a:gridCol w="2249280"/>
                <a:gridCol w="2249280"/>
                <a:gridCol w="2249280"/>
                <a:gridCol w="2249280"/>
                <a:gridCol w="2249280"/>
              </a:tblGrid>
              <a:tr h="39996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Llama2-7B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Llama2-7B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Avg Tokens / 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477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503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1,731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1,801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Total Tokens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3,815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4,022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13,847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14,406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Prompt Tokens (total)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1,520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1,480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10,702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10,718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Completion Tokens (total)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2,295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2,542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3,145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3,688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Throughput (tokens/sec)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Cost / 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$0.0954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$0.1005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$0.3462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$0.3602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Total Benchmark Cost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$0.000763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$0.000804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$0.0028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$0.0029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graphicFrame>
        <p:nvGraphicFramePr>
          <p:cNvPr id="354" name="Chart 3"/>
          <p:cNvGraphicFramePr/>
          <p:nvPr/>
        </p:nvGraphicFramePr>
        <p:xfrm>
          <a:off x="457200" y="4754880"/>
          <a:ext cx="5303160" cy="18284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55" name="Chart 4"/>
          <p:cNvGraphicFramePr/>
          <p:nvPr/>
        </p:nvGraphicFramePr>
        <p:xfrm>
          <a:off x="6217920" y="4754880"/>
          <a:ext cx="5303160" cy="1828440"/>
        </p:xfrm>
        <a:graphic>
          <a:graphicData uri="http://schemas.openxmlformats.org/drawingml/2006/chart">
            <c:chart xmlns:c="http://schemas.openxmlformats.org/drawingml/2006/chart" xmlns:r="http://schemas.openxmlformats.org/officeDocument/2006/relationships" r:id="rId2"/>
          </a:graphicData>
        </a:graphic>
      </p:graphicFrame>
      <p:sp>
        <p:nvSpPr>
          <p:cNvPr id="356"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43/55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3: Llama2 7B - Financial Ratios - Quality Metrics</a:t>
            </a:r>
            <a:endParaRPr lang="el-GR" sz="3000" b="0" u="none" strike="noStrike">
              <a:solidFill>
                <a:srgbClr val="ffffff"/>
              </a:solidFill>
              <a:effectLst/>
              <a:uFillTx/>
              <a:latin typeface="Arial"/>
            </a:endParaRPr>
          </a:p>
        </p:txBody>
      </p:sp>
      <p:graphicFrame>
        <p:nvGraphicFramePr>
          <p:cNvPr id="358" name="Table 2"/>
          <p:cNvGraphicFramePr/>
          <p:nvPr/>
        </p:nvGraphicFramePr>
        <p:xfrm>
          <a:off x="457200" y="1371600"/>
          <a:ext cx="11246760" cy="1371600"/>
        </p:xfrm>
        <a:graphic>
          <a:graphicData uri="http://schemas.openxmlformats.org/drawingml/2006/table">
            <a:tbl>
              <a:tblPr/>
              <a:tblGrid>
                <a:gridCol w="2249280"/>
                <a:gridCol w="2249280"/>
                <a:gridCol w="2249280"/>
                <a:gridCol w="2249280"/>
                <a:gridCol w="2249280"/>
              </a:tblGrid>
              <a:tr h="45720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Llama2-7B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Llama2-7B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MAPE (Mean Abs % Error)</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21.4%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103.4%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34.4%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45.9%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Accuracy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37.5%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12.5%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359" name="Chart 3"/>
          <p:cNvGraphicFramePr/>
          <p:nvPr/>
        </p:nvGraphicFramePr>
        <p:xfrm>
          <a:off x="457200" y="2926080"/>
          <a:ext cx="5303160" cy="3200040"/>
        </p:xfrm>
        <a:graphic>
          <a:graphicData uri="http://schemas.openxmlformats.org/drawingml/2006/chart">
            <c:chart xmlns:c="http://schemas.openxmlformats.org/drawingml/2006/chart" xmlns:r="http://schemas.openxmlformats.org/officeDocument/2006/relationships" r:id="rId1"/>
          </a:graphicData>
        </a:graphic>
      </p:graphicFrame>
      <p:sp>
        <p:nvSpPr>
          <p:cNvPr id="360" name="Rectangle 4"/>
          <p:cNvSpPr/>
          <p:nvPr/>
        </p:nvSpPr>
        <p:spPr>
          <a:xfrm>
            <a:off x="6217920" y="2926080"/>
            <a:ext cx="5303160" cy="3200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Insight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Base Llama2-7B has lowest MAPE (21.4%), meaning its numerical answers are closest to expected values.</a:t>
            </a:r>
            <a:br>
              <a:rPr sz="1200"/>
            </a:br>
            <a:br>
              <a:rPr sz="1200"/>
            </a:br>
            <a:r>
              <a:rPr lang="en-US" sz="1200" b="0" u="none" strike="noStrike">
                <a:solidFill>
                  <a:srgbClr val="1c2a3a"/>
                </a:solidFill>
                <a:effectLst/>
                <a:uFillTx/>
                <a:latin typeface="Calibri"/>
              </a:rPr>
              <a:t>Lower MAPE = more precise calculations.</a:t>
            </a:r>
            <a:endParaRPr lang="el-GR" sz="1200" b="0" u="none" strike="noStrike">
              <a:solidFill>
                <a:srgbClr val="000000"/>
              </a:solidFill>
              <a:effectLst/>
              <a:uFillTx/>
              <a:latin typeface="Arial"/>
            </a:endParaRPr>
          </a:p>
        </p:txBody>
      </p:sp>
      <p:sp>
        <p:nvSpPr>
          <p:cNvPr id="361"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44/55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3: Llama2 7B - Financial Ratios - Category Breakdown</a:t>
            </a:r>
            <a:endParaRPr lang="el-GR" sz="3000" b="0" u="none" strike="noStrike">
              <a:solidFill>
                <a:srgbClr val="ffffff"/>
              </a:solidFill>
              <a:effectLst/>
              <a:uFillTx/>
              <a:latin typeface="Arial"/>
            </a:endParaRPr>
          </a:p>
        </p:txBody>
      </p:sp>
      <p:graphicFrame>
        <p:nvGraphicFramePr>
          <p:cNvPr id="363" name="Table 2"/>
          <p:cNvGraphicFramePr/>
          <p:nvPr/>
        </p:nvGraphicFramePr>
        <p:xfrm>
          <a:off x="457200" y="1371600"/>
          <a:ext cx="11246760" cy="2285640"/>
        </p:xfrm>
        <a:graphic>
          <a:graphicData uri="http://schemas.openxmlformats.org/drawingml/2006/table">
            <a:tbl>
              <a:tblPr/>
              <a:tblGrid>
                <a:gridCol w="1874520"/>
                <a:gridCol w="1874520"/>
                <a:gridCol w="1874520"/>
                <a:gridCol w="1874520"/>
                <a:gridCol w="1874520"/>
                <a:gridCol w="1874520"/>
              </a:tblGrid>
              <a:tr h="380880">
                <a:tc>
                  <a:txBody>
                    <a:bodyPr anchor="t">
                      <a:noAutofit/>
                    </a:bodyPr>
                    <a:p>
                      <a:pPr algn="ctr" defTabSz="457200">
                        <a:lnSpc>
                          <a:spcPct val="100000"/>
                        </a:lnSpc>
                      </a:pPr>
                      <a:r>
                        <a:rPr lang="en-US" sz="1200" b="1" u="none" strike="noStrike">
                          <a:solidFill>
                            <a:srgbClr val="ffffff"/>
                          </a:solidFill>
                          <a:effectLst/>
                          <a:uFillTx/>
                          <a:latin typeface="Calibri"/>
                        </a:rPr>
                        <a:t>Category</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Cases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Llama2-7B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Llama2-7B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Efficiency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Leverage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Liquidity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Profitability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80880">
                <a:tc>
                  <a:txBody>
                    <a:bodyPr anchor="t">
                      <a:noAutofit/>
                    </a:bodyPr>
                    <a:p>
                      <a:pPr defTabSz="457200">
                        <a:lnSpc>
                          <a:spcPct val="100000"/>
                        </a:lnSpc>
                      </a:pPr>
                      <a:r>
                        <a:rPr lang="en-US" sz="1100" b="0" u="none" strike="noStrike">
                          <a:solidFill>
                            <a:srgbClr val="1c2a3a"/>
                          </a:solidFill>
                          <a:effectLst/>
                          <a:uFillTx/>
                          <a:latin typeface="Calibri"/>
                        </a:rPr>
                        <a:t>Shareholder</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graphicFrame>
        <p:nvGraphicFramePr>
          <p:cNvPr id="364" name="Chart 3"/>
          <p:cNvGraphicFramePr/>
          <p:nvPr/>
        </p:nvGraphicFramePr>
        <p:xfrm>
          <a:off x="457200" y="3840480"/>
          <a:ext cx="11246760" cy="2559960"/>
        </p:xfrm>
        <a:graphic>
          <a:graphicData uri="http://schemas.openxmlformats.org/drawingml/2006/chart">
            <c:chart xmlns:c="http://schemas.openxmlformats.org/drawingml/2006/chart" xmlns:r="http://schemas.openxmlformats.org/officeDocument/2006/relationships" r:id="rId1"/>
          </a:graphicData>
        </a:graphic>
      </p:graphicFrame>
      <p:sp>
        <p:nvSpPr>
          <p:cNvPr id="365"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45/55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3: Llama2 7B - Financial Ratios - Per-Example Results</a:t>
            </a:r>
            <a:endParaRPr lang="el-GR" sz="3000" b="0" u="none" strike="noStrike">
              <a:solidFill>
                <a:srgbClr val="ffffff"/>
              </a:solidFill>
              <a:effectLst/>
              <a:uFillTx/>
              <a:latin typeface="Arial"/>
            </a:endParaRPr>
          </a:p>
        </p:txBody>
      </p:sp>
      <p:graphicFrame>
        <p:nvGraphicFramePr>
          <p:cNvPr id="367" name="Table 2"/>
          <p:cNvGraphicFramePr/>
          <p:nvPr/>
        </p:nvGraphicFramePr>
        <p:xfrm>
          <a:off x="274320" y="1280160"/>
          <a:ext cx="11612520" cy="4887000"/>
        </p:xfrm>
        <a:graphic>
          <a:graphicData uri="http://schemas.openxmlformats.org/drawingml/2006/table">
            <a:tbl>
              <a:tblPr/>
              <a:tblGrid>
                <a:gridCol w="1658880"/>
                <a:gridCol w="1658880"/>
                <a:gridCol w="1658880"/>
                <a:gridCol w="1658880"/>
                <a:gridCol w="1658880"/>
                <a:gridCol w="1658880"/>
                <a:gridCol w="1658880"/>
              </a:tblGrid>
              <a:tr h="528120">
                <a:tc>
                  <a:txBody>
                    <a:bodyPr anchor="t">
                      <a:noAutofit/>
                    </a:bodyPr>
                    <a:p>
                      <a:pPr algn="ctr" defTabSz="457200">
                        <a:lnSpc>
                          <a:spcPct val="100000"/>
                        </a:lnSpc>
                      </a:pPr>
                      <a:r>
                        <a:rPr lang="en-US" sz="1200" b="1" u="none" strike="noStrike">
                          <a:solidFill>
                            <a:srgbClr val="ffffff"/>
                          </a:solidFill>
                          <a:effectLst/>
                          <a:uFillTx/>
                          <a:latin typeface="Calibri"/>
                        </a:rPr>
                        <a: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Question</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Expected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Llama2-7B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Llama2-7B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FinQA-7B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528120">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Decompose the Return on Equity using the 3-co...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17.98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14.7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14.7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14.7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528120">
                <a:tc>
                  <a:txBody>
                    <a:bodyPr anchor="t">
                      <a:noAutofit/>
                    </a:bodyPr>
                    <a:p>
                      <a:pPr defTabSz="457200">
                        <a:lnSpc>
                          <a:spcPct val="100000"/>
                        </a:lnSpc>
                      </a:pPr>
                      <a:r>
                        <a:rPr lang="en-US" sz="1100" b="0" u="none" strike="noStrike">
                          <a:solidFill>
                            <a:srgbClr val="1c2a3a"/>
                          </a:solidFill>
                          <a:effectLst/>
                          <a:uFillTx/>
                          <a:latin typeface="Calibri"/>
                        </a:rPr>
                        <a:t>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3-year Compound Annual Growth R...</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10.17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12.7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37.85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4.3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33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28120">
                <a:tc>
                  <a:txBody>
                    <a:bodyPr anchor="t">
                      <a:noAutofit/>
                    </a:bodyPr>
                    <a:p>
                      <a:pPr defTabSz="457200">
                        <a:lnSpc>
                          <a:spcPct val="100000"/>
                        </a:lnSpc>
                      </a:pPr>
                      <a:r>
                        <a:rPr lang="en-US" sz="1100" b="0" u="none" strike="noStrike">
                          <a:solidFill>
                            <a:srgbClr val="1c2a3a"/>
                          </a:solidFill>
                          <a:effectLst/>
                          <a:uFillTx/>
                          <a:latin typeface="Calibri"/>
                        </a:rPr>
                        <a:t>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working capital for both quarte...</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37.55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37.8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37.8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41.7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37.5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528120">
                <a:tc>
                  <a:txBody>
                    <a:bodyPr anchor="t">
                      <a:noAutofit/>
                    </a:bodyPr>
                    <a:p>
                      <a:pPr defTabSz="457200">
                        <a:lnSpc>
                          <a:spcPct val="100000"/>
                        </a:lnSpc>
                      </a:pPr>
                      <a:r>
                        <a:rPr lang="en-US" sz="1100" b="0" u="none" strike="noStrike">
                          <a:solidFill>
                            <a:srgbClr val="1c2a3a"/>
                          </a:solidFill>
                          <a:effectLst/>
                          <a:uFillTx/>
                          <a:latin typeface="Calibri"/>
                        </a:rPr>
                        <a:t>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debt-to-equity ratio by first 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1.43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1.20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1.45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1.43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1.43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28120">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operating cash flow ratio. Firs...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12.51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0.73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528120">
                <a:tc>
                  <a:txBody>
                    <a:bodyPr anchor="t">
                      <a:noAutofit/>
                    </a:bodyPr>
                    <a:p>
                      <a:pPr defTabSz="457200">
                        <a:lnSpc>
                          <a:spcPct val="100000"/>
                        </a:lnSpc>
                      </a:pPr>
                      <a:r>
                        <a:rPr lang="en-US" sz="1100" b="0" u="none" strike="noStrike">
                          <a:solidFill>
                            <a:srgbClr val="1c2a3a"/>
                          </a:solidFill>
                          <a:effectLst/>
                          <a:uFillTx/>
                          <a:latin typeface="Calibri"/>
                        </a:rPr>
                        <a:t>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gross margin, operating margin,...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26.32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42.9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42.9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24.9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15.0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28120">
                <a:tc>
                  <a:txBody>
                    <a:bodyPr anchor="t">
                      <a:noAutofit/>
                    </a:bodyPr>
                    <a:p>
                      <a:pPr defTabSz="457200">
                        <a:lnSpc>
                          <a:spcPct val="100000"/>
                        </a:lnSpc>
                      </a:pPr>
                      <a:r>
                        <a:rPr lang="en-US" sz="1100" b="0" u="none" strike="noStrike">
                          <a:solidFill>
                            <a:srgbClr val="1c2a3a"/>
                          </a:solidFill>
                          <a:effectLst/>
                          <a:uFillTx/>
                          <a:latin typeface="Calibri"/>
                        </a:rPr>
                        <a:t>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sustainable growth rate: SGR =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12.59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18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18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528120">
                <a:tc>
                  <a:txBody>
                    <a:bodyPr anchor="t">
                      <a:noAutofit/>
                    </a:bodyPr>
                    <a:p>
                      <a:pPr defTabSz="457200">
                        <a:lnSpc>
                          <a:spcPct val="100000"/>
                        </a:lnSpc>
                      </a:pPr>
                      <a:r>
                        <a:rPr lang="en-US" sz="1100" b="0" u="none" strike="noStrike">
                          <a:solidFill>
                            <a:srgbClr val="1c2a3a"/>
                          </a:solidFill>
                          <a:effectLst/>
                          <a:uFillTx/>
                          <a:latin typeface="Calibri"/>
                        </a:rPr>
                        <a:t>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Calculate the interest coverage ratio (EBIT/I...</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21.74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28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25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31.7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27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368" name="TextBox 3"/>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46/55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4: DistilBERT 66M - Spam Detection</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Architecture: DistilBERT-base-uncased (66M parameters)</a:t>
            </a:r>
            <a:endParaRPr lang="el-GR" sz="1600" b="0" u="none" strike="noStrike">
              <a:solidFill>
                <a:srgbClr val="ffffff"/>
              </a:solidFill>
              <a:effectLst/>
              <a:uFillTx/>
              <a:latin typeface="Arial"/>
            </a:endParaRPr>
          </a:p>
        </p:txBody>
      </p:sp>
      <p:sp>
        <p:nvSpPr>
          <p:cNvPr id="370" name="Rectangle 2"/>
          <p:cNvSpPr/>
          <p:nvPr/>
        </p:nvSpPr>
        <p:spPr>
          <a:xfrm>
            <a:off x="457200" y="1280160"/>
            <a:ext cx="2651400" cy="1096920"/>
          </a:xfrm>
          <a:prstGeom prst="rect">
            <a:avLst/>
          </a:prstGeom>
          <a:solidFill>
            <a:srgbClr val="e0e3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Base DistilBERT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85.0%  (17/20)</a:t>
            </a:r>
            <a:endParaRPr lang="el-GR" sz="1200" b="0" u="none" strike="noStrike">
              <a:solidFill>
                <a:srgbClr val="000000"/>
              </a:solidFill>
              <a:effectLst/>
              <a:uFillTx/>
              <a:latin typeface="Arial"/>
            </a:endParaRPr>
          </a:p>
        </p:txBody>
      </p:sp>
      <p:sp>
        <p:nvSpPr>
          <p:cNvPr id="371" name="Rectangle 3"/>
          <p:cNvSpPr/>
          <p:nvPr/>
        </p:nvSpPr>
        <p:spPr>
          <a:xfrm>
            <a:off x="3291840" y="1280160"/>
            <a:ext cx="2651400" cy="109692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Fine-tuned (spam-trained)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95.0%  (19/20)</a:t>
            </a:r>
            <a:endParaRPr lang="el-GR" sz="1200" b="0" u="none" strike="noStrike">
              <a:solidFill>
                <a:srgbClr val="000000"/>
              </a:solidFill>
              <a:effectLst/>
              <a:uFillTx/>
              <a:latin typeface="Arial"/>
            </a:endParaRPr>
          </a:p>
        </p:txBody>
      </p:sp>
      <p:sp>
        <p:nvSpPr>
          <p:cNvPr id="372" name="Rectangle 4"/>
          <p:cNvSpPr/>
          <p:nvPr/>
        </p:nvSpPr>
        <p:spPr>
          <a:xfrm>
            <a:off x="6126480" y="1280160"/>
            <a:ext cx="2651400" cy="109692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DistilBERT + RAG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90.0%  (18/20)</a:t>
            </a:r>
            <a:endParaRPr lang="el-GR" sz="1200" b="0" u="none" strike="noStrike">
              <a:solidFill>
                <a:srgbClr val="000000"/>
              </a:solidFill>
              <a:effectLst/>
              <a:uFillTx/>
              <a:latin typeface="Arial"/>
            </a:endParaRPr>
          </a:p>
        </p:txBody>
      </p:sp>
      <p:sp>
        <p:nvSpPr>
          <p:cNvPr id="373" name="Rectangle 5"/>
          <p:cNvSpPr/>
          <p:nvPr/>
        </p:nvSpPr>
        <p:spPr>
          <a:xfrm>
            <a:off x="8961120" y="1280160"/>
            <a:ext cx="2651400" cy="109692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Fine-tuned + RAG (hybrid)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Accuracy: 95.0%  (19/20)</a:t>
            </a:r>
            <a:endParaRPr lang="el-GR" sz="1200" b="0" u="none" strike="noStrike">
              <a:solidFill>
                <a:srgbClr val="000000"/>
              </a:solidFill>
              <a:effectLst/>
              <a:uFillTx/>
              <a:latin typeface="Arial"/>
            </a:endParaRPr>
          </a:p>
        </p:txBody>
      </p:sp>
      <p:graphicFrame>
        <p:nvGraphicFramePr>
          <p:cNvPr id="374" name="Chart 6"/>
          <p:cNvGraphicFramePr/>
          <p:nvPr/>
        </p:nvGraphicFramePr>
        <p:xfrm>
          <a:off x="457200" y="2560320"/>
          <a:ext cx="5303160" cy="32000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75" name="Chart 7"/>
          <p:cNvGraphicFramePr/>
          <p:nvPr/>
        </p:nvGraphicFramePr>
        <p:xfrm>
          <a:off x="6217920" y="2560320"/>
          <a:ext cx="5303160" cy="3200040"/>
        </p:xfrm>
        <a:graphic>
          <a:graphicData uri="http://schemas.openxmlformats.org/drawingml/2006/chart">
            <c:chart xmlns:c="http://schemas.openxmlformats.org/drawingml/2006/chart" xmlns:r="http://schemas.openxmlformats.org/officeDocument/2006/relationships" r:id="rId2"/>
          </a:graphicData>
        </a:graphic>
      </p:graphicFrame>
      <p:sp>
        <p:nvSpPr>
          <p:cNvPr id="376" name="TextBox 8"/>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47/55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4: DistilBERT 66M - Spam Detection - Token Usage &amp; Cost</a:t>
            </a:r>
            <a:endParaRPr lang="el-GR" sz="3000" b="0" u="none" strike="noStrike">
              <a:solidFill>
                <a:srgbClr val="ffffff"/>
              </a:solidFill>
              <a:effectLst/>
              <a:uFillTx/>
              <a:latin typeface="Arial"/>
            </a:endParaRPr>
          </a:p>
        </p:txBody>
      </p:sp>
      <p:graphicFrame>
        <p:nvGraphicFramePr>
          <p:cNvPr id="378" name="Table 2"/>
          <p:cNvGraphicFramePr/>
          <p:nvPr/>
        </p:nvGraphicFramePr>
        <p:xfrm>
          <a:off x="457200" y="1371600"/>
          <a:ext cx="11246760" cy="3200040"/>
        </p:xfrm>
        <a:graphic>
          <a:graphicData uri="http://schemas.openxmlformats.org/drawingml/2006/table">
            <a:tbl>
              <a:tblPr/>
              <a:tblGrid>
                <a:gridCol w="2249280"/>
                <a:gridCol w="2249280"/>
                <a:gridCol w="2249280"/>
                <a:gridCol w="2249280"/>
                <a:gridCol w="2249280"/>
              </a:tblGrid>
              <a:tr h="39996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DistilBERT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DistilBERT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Avg Tokens / 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512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114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626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Total Tokens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778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10,240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2,282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12,522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Prompt Tokens (total)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778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10,240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2,282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12,522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Completion Tokens (total)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Throughput (tokens/sec)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1,232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2,718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3,537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2,819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Cost / 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$0.000400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$0.0051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$0.0011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$0.0063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99960">
                <a:tc>
                  <a:txBody>
                    <a:bodyPr anchor="t">
                      <a:noAutofit/>
                    </a:bodyPr>
                    <a:p>
                      <a:pPr defTabSz="457200">
                        <a:lnSpc>
                          <a:spcPct val="100000"/>
                        </a:lnSpc>
                      </a:pPr>
                      <a:r>
                        <a:rPr lang="en-US" sz="1100" b="0" u="none" strike="noStrike">
                          <a:solidFill>
                            <a:srgbClr val="1c2a3a"/>
                          </a:solidFill>
                          <a:effectLst/>
                          <a:uFillTx/>
                          <a:latin typeface="Calibri"/>
                        </a:rPr>
                        <a:t>Total Benchmark Cost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$0.000008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$0.000102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$0.000023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$0.000125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graphicFrame>
        <p:nvGraphicFramePr>
          <p:cNvPr id="379" name="Chart 3"/>
          <p:cNvGraphicFramePr/>
          <p:nvPr/>
        </p:nvGraphicFramePr>
        <p:xfrm>
          <a:off x="457200" y="4754880"/>
          <a:ext cx="5303160" cy="18284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80" name="Chart 4"/>
          <p:cNvGraphicFramePr/>
          <p:nvPr/>
        </p:nvGraphicFramePr>
        <p:xfrm>
          <a:off x="6217920" y="4754880"/>
          <a:ext cx="5303160" cy="1828440"/>
        </p:xfrm>
        <a:graphic>
          <a:graphicData uri="http://schemas.openxmlformats.org/drawingml/2006/chart">
            <c:chart xmlns:c="http://schemas.openxmlformats.org/drawingml/2006/chart" xmlns:r="http://schemas.openxmlformats.org/officeDocument/2006/relationships" r:id="rId2"/>
          </a:graphicData>
        </a:graphic>
      </p:graphicFrame>
      <p:sp>
        <p:nvSpPr>
          <p:cNvPr id="381"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48/55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4: DistilBERT 66M - Spam Detection - Quality Metrics</a:t>
            </a:r>
            <a:endParaRPr lang="el-GR" sz="3000" b="0" u="none" strike="noStrike">
              <a:solidFill>
                <a:srgbClr val="ffffff"/>
              </a:solidFill>
              <a:effectLst/>
              <a:uFillTx/>
              <a:latin typeface="Arial"/>
            </a:endParaRPr>
          </a:p>
        </p:txBody>
      </p:sp>
      <p:graphicFrame>
        <p:nvGraphicFramePr>
          <p:cNvPr id="383" name="Table 2"/>
          <p:cNvGraphicFramePr/>
          <p:nvPr/>
        </p:nvGraphicFramePr>
        <p:xfrm>
          <a:off x="457200" y="1371600"/>
          <a:ext cx="11246760" cy="3200040"/>
        </p:xfrm>
        <a:graphic>
          <a:graphicData uri="http://schemas.openxmlformats.org/drawingml/2006/table">
            <a:tbl>
              <a:tblPr/>
              <a:tblGrid>
                <a:gridCol w="2249280"/>
                <a:gridCol w="2249280"/>
                <a:gridCol w="2249280"/>
                <a:gridCol w="2249280"/>
                <a:gridCol w="2249280"/>
              </a:tblGrid>
              <a:tr h="53316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DistilBERT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DistilBERT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F1 Score (macro)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0.849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0.899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Precision (macro)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0.853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0.955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0.916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0.955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Recall (macro)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0.850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F1 (ham)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0.842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0.947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0.889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0.947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F1 (spam)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0.857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0.952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0.909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0.952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graphicFrame>
        <p:nvGraphicFramePr>
          <p:cNvPr id="384" name="Chart 3"/>
          <p:cNvGraphicFramePr/>
          <p:nvPr/>
        </p:nvGraphicFramePr>
        <p:xfrm>
          <a:off x="457200" y="4754880"/>
          <a:ext cx="5303160" cy="1828440"/>
        </p:xfrm>
        <a:graphic>
          <a:graphicData uri="http://schemas.openxmlformats.org/drawingml/2006/chart">
            <c:chart xmlns:c="http://schemas.openxmlformats.org/drawingml/2006/chart" xmlns:r="http://schemas.openxmlformats.org/officeDocument/2006/relationships" r:id="rId1"/>
          </a:graphicData>
        </a:graphic>
      </p:graphicFrame>
      <p:sp>
        <p:nvSpPr>
          <p:cNvPr id="385" name="Rectangle 4"/>
          <p:cNvSpPr/>
          <p:nvPr/>
        </p:nvSpPr>
        <p:spPr>
          <a:xfrm>
            <a:off x="6217920" y="4754880"/>
            <a:ext cx="5303160" cy="18284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Insight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Fine-tuned (spam-trained) achieves F1=0.950, showing balanced performance across all sentiment classes.</a:t>
            </a:r>
            <a:endParaRPr lang="el-GR" sz="1200" b="0" u="none" strike="noStrike">
              <a:solidFill>
                <a:srgbClr val="000000"/>
              </a:solidFill>
              <a:effectLst/>
              <a:uFillTx/>
              <a:latin typeface="Arial"/>
            </a:endParaRPr>
          </a:p>
        </p:txBody>
      </p:sp>
      <p:sp>
        <p:nvSpPr>
          <p:cNvPr id="386"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49/55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4: DistilBERT 66M - Spam Detection - Confidence Scores</a:t>
            </a:r>
            <a:endParaRPr lang="el-GR" sz="3000" b="0" u="none" strike="noStrike">
              <a:solidFill>
                <a:srgbClr val="ffffff"/>
              </a:solidFill>
              <a:effectLst/>
              <a:uFillTx/>
              <a:latin typeface="Arial"/>
            </a:endParaRPr>
          </a:p>
        </p:txBody>
      </p:sp>
      <p:graphicFrame>
        <p:nvGraphicFramePr>
          <p:cNvPr id="388" name="Chart 2"/>
          <p:cNvGraphicFramePr/>
          <p:nvPr/>
        </p:nvGraphicFramePr>
        <p:xfrm>
          <a:off x="1828800" y="1371600"/>
          <a:ext cx="8229240" cy="3657240"/>
        </p:xfrm>
        <a:graphic>
          <a:graphicData uri="http://schemas.openxmlformats.org/drawingml/2006/chart">
            <c:chart xmlns:c="http://schemas.openxmlformats.org/drawingml/2006/chart" xmlns:r="http://schemas.openxmlformats.org/officeDocument/2006/relationships" r:id="rId1"/>
          </a:graphicData>
        </a:graphic>
      </p:graphicFrame>
      <p:sp>
        <p:nvSpPr>
          <p:cNvPr id="389" name="Rectangle 3"/>
          <p:cNvSpPr/>
          <p:nvPr/>
        </p:nvSpPr>
        <p:spPr>
          <a:xfrm>
            <a:off x="457200" y="5303520"/>
            <a:ext cx="11063880" cy="7311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Insight: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Fine-tuned (spam-trained): 0.963 confidence vs Base: 0.539. Fine-tuning produces more decisive, confident predictions.</a:t>
            </a:r>
            <a:endParaRPr lang="el-GR" sz="1200" b="0" u="none" strike="noStrike">
              <a:solidFill>
                <a:srgbClr val="000000"/>
              </a:solidFill>
              <a:effectLst/>
              <a:uFillTx/>
              <a:latin typeface="Arial"/>
            </a:endParaRPr>
          </a:p>
        </p:txBody>
      </p:sp>
      <p:sp>
        <p:nvSpPr>
          <p:cNvPr id="390"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50/55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4: DistilBERT 66M - Spam Detection - Category Breakdown</a:t>
            </a:r>
            <a:endParaRPr lang="el-GR" sz="3000" b="0" u="none" strike="noStrike">
              <a:solidFill>
                <a:srgbClr val="ffffff"/>
              </a:solidFill>
              <a:effectLst/>
              <a:uFillTx/>
              <a:latin typeface="Arial"/>
            </a:endParaRPr>
          </a:p>
        </p:txBody>
      </p:sp>
      <p:graphicFrame>
        <p:nvGraphicFramePr>
          <p:cNvPr id="392" name="Table 2"/>
          <p:cNvGraphicFramePr/>
          <p:nvPr/>
        </p:nvGraphicFramePr>
        <p:xfrm>
          <a:off x="457200" y="1371600"/>
          <a:ext cx="11246760" cy="2285640"/>
        </p:xfrm>
        <a:graphic>
          <a:graphicData uri="http://schemas.openxmlformats.org/drawingml/2006/table">
            <a:tbl>
              <a:tblPr/>
              <a:tblGrid>
                <a:gridCol w="1874520"/>
                <a:gridCol w="1874520"/>
                <a:gridCol w="1874520"/>
                <a:gridCol w="1874520"/>
                <a:gridCol w="1874520"/>
                <a:gridCol w="1874520"/>
              </a:tblGrid>
              <a:tr h="326520">
                <a:tc>
                  <a:txBody>
                    <a:bodyPr anchor="t">
                      <a:noAutofit/>
                    </a:bodyPr>
                    <a:p>
                      <a:pPr algn="ctr" defTabSz="457200">
                        <a:lnSpc>
                          <a:spcPct val="100000"/>
                        </a:lnSpc>
                      </a:pPr>
                      <a:r>
                        <a:rPr lang="en-US" sz="1200" b="1" u="none" strike="noStrike">
                          <a:solidFill>
                            <a:srgbClr val="ffffff"/>
                          </a:solidFill>
                          <a:effectLst/>
                          <a:uFillTx/>
                          <a:latin typeface="Calibri"/>
                        </a:rPr>
                        <a:t>Category</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Cases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DistilBERT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DistilBERT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Business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Newsletter</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Notification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66.7%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66.7%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66.7%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Obvious Spam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Phishing</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Scam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393" name="Chart 3"/>
          <p:cNvGraphicFramePr/>
          <p:nvPr/>
        </p:nvGraphicFramePr>
        <p:xfrm>
          <a:off x="457200" y="3840480"/>
          <a:ext cx="11246760" cy="2559960"/>
        </p:xfrm>
        <a:graphic>
          <a:graphicData uri="http://schemas.openxmlformats.org/drawingml/2006/chart">
            <c:chart xmlns:c="http://schemas.openxmlformats.org/drawingml/2006/chart" xmlns:r="http://schemas.openxmlformats.org/officeDocument/2006/relationships" r:id="rId1"/>
          </a:graphicData>
        </a:graphic>
      </p:graphicFrame>
      <p:sp>
        <p:nvSpPr>
          <p:cNvPr id="394"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51/55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4: DistilBERT 66M - Spam Detection - Per-Example Results</a:t>
            </a:r>
            <a:endParaRPr lang="el-GR" sz="3000" b="0" u="none" strike="noStrike">
              <a:solidFill>
                <a:srgbClr val="ffffff"/>
              </a:solidFill>
              <a:effectLst/>
              <a:uFillTx/>
              <a:latin typeface="Arial"/>
            </a:endParaRPr>
          </a:p>
        </p:txBody>
      </p:sp>
      <p:graphicFrame>
        <p:nvGraphicFramePr>
          <p:cNvPr id="396" name="Table 2"/>
          <p:cNvGraphicFramePr/>
          <p:nvPr/>
        </p:nvGraphicFramePr>
        <p:xfrm>
          <a:off x="274320" y="1280160"/>
          <a:ext cx="11612520" cy="8177760"/>
        </p:xfrm>
        <a:graphic>
          <a:graphicData uri="http://schemas.openxmlformats.org/drawingml/2006/table">
            <a:tbl>
              <a:tblPr/>
              <a:tblGrid>
                <a:gridCol w="1658880"/>
                <a:gridCol w="1658880"/>
                <a:gridCol w="1658880"/>
                <a:gridCol w="1658880"/>
                <a:gridCol w="1658880"/>
                <a:gridCol w="1658880"/>
                <a:gridCol w="1658880"/>
              </a:tblGrid>
              <a:tr h="365760">
                <a:tc>
                  <a:txBody>
                    <a:bodyPr anchor="t">
                      <a:noAutofit/>
                    </a:bodyPr>
                    <a:p>
                      <a:pPr algn="ctr" defTabSz="457200">
                        <a:lnSpc>
                          <a:spcPct val="100000"/>
                        </a:lnSpc>
                      </a:pPr>
                      <a:r>
                        <a:rPr lang="en-US" sz="1200" b="1" u="none" strike="noStrike">
                          <a:solidFill>
                            <a:srgbClr val="ffffff"/>
                          </a:solidFill>
                          <a:effectLst/>
                          <a:uFillTx/>
                          <a:latin typeface="Calibri"/>
                        </a:rPr>
                        <a: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Text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Expected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 DistilBERT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DistilBERT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 + 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Subject: Congratulations! You've won a $1,000...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Subject: Q4 Board Meeting Agenda</a:t>
                      </a:r>
                      <a:endParaRPr lang="el-GR" sz="1100" b="0" u="none" strike="noStrike">
                        <a:solidFill>
                          <a:srgbClr val="000000"/>
                        </a:solidFill>
                        <a:effectLst/>
                        <a:uFillTx/>
                        <a:latin typeface="Arial"/>
                      </a:endParaRPr>
                    </a:p>
                    <a:p>
                      <a:pPr defTabSz="457200">
                        <a:lnSpc>
                          <a:spcPct val="100000"/>
                        </a:lnSpc>
                      </a:pPr>
                      <a:endParaRPr lang="el-GR" sz="1100" b="0" u="none" strike="noStrike">
                        <a:solidFill>
                          <a:srgbClr val="000000"/>
                        </a:solidFill>
                        <a:effectLst/>
                        <a:uFillTx/>
                        <a:latin typeface="Arial"/>
                      </a:endParaRPr>
                    </a:p>
                    <a:p>
                      <a:pPr defTabSz="457200">
                        <a:lnSpc>
                          <a:spcPct val="100000"/>
                        </a:lnSpc>
                      </a:pPr>
                      <a:r>
                        <a:rPr lang="en-US" sz="1100" b="0" u="none" strike="noStrike">
                          <a:solidFill>
                            <a:srgbClr val="1c2a3a"/>
                          </a:solidFill>
                          <a:effectLst/>
                          <a:uFillTx/>
                          <a:latin typeface="Calibri"/>
                        </a:rPr>
                        <a:t>Hi team, at...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Subject: URGENT: Your account has been compro...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Subject: Invoice #INV-2024-0847</a:t>
                      </a:r>
                      <a:endParaRPr lang="el-GR" sz="1100" b="0" u="none" strike="noStrike">
                        <a:solidFill>
                          <a:srgbClr val="000000"/>
                        </a:solidFill>
                        <a:effectLst/>
                        <a:uFillTx/>
                        <a:latin typeface="Arial"/>
                      </a:endParaRPr>
                    </a:p>
                    <a:p>
                      <a:pPr defTabSz="457200">
                        <a:lnSpc>
                          <a:spcPct val="100000"/>
                        </a:lnSpc>
                      </a:pPr>
                      <a:endParaRPr lang="el-GR" sz="1100" b="0" u="none" strike="noStrike">
                        <a:solidFill>
                          <a:srgbClr val="000000"/>
                        </a:solidFill>
                        <a:effectLst/>
                        <a:uFillTx/>
                        <a:latin typeface="Arial"/>
                      </a:endParaRPr>
                    </a:p>
                    <a:p>
                      <a:pPr defTabSz="457200">
                        <a:lnSpc>
                          <a:spcPct val="100000"/>
                        </a:lnSpc>
                      </a:pPr>
                      <a:r>
                        <a:rPr lang="en-US" sz="1100" b="0" u="none" strike="noStrike">
                          <a:solidFill>
                            <a:srgbClr val="1c2a3a"/>
                          </a:solidFill>
                          <a:effectLst/>
                          <a:uFillTx/>
                          <a:latin typeface="Calibri"/>
                        </a:rPr>
                        <a:t>Please find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Subject: Make $5000 per day from home!</a:t>
                      </a:r>
                      <a:endParaRPr lang="el-GR" sz="1100" b="0" u="none" strike="noStrike">
                        <a:solidFill>
                          <a:srgbClr val="000000"/>
                        </a:solidFill>
                        <a:effectLst/>
                        <a:uFillTx/>
                        <a:latin typeface="Arial"/>
                      </a:endParaRPr>
                    </a:p>
                    <a:p>
                      <a:pPr defTabSz="457200">
                        <a:lnSpc>
                          <a:spcPct val="100000"/>
                        </a:lnSpc>
                      </a:pPr>
                      <a:endParaRPr lang="el-GR" sz="1100" b="0" u="none" strike="noStrike">
                        <a:solidFill>
                          <a:srgbClr val="000000"/>
                        </a:solidFill>
                        <a:effectLst/>
                        <a:uFillTx/>
                        <a:latin typeface="Arial"/>
                      </a:endParaRPr>
                    </a:p>
                    <a:p>
                      <a:pPr defTabSz="457200">
                        <a:lnSpc>
                          <a:spcPct val="100000"/>
                        </a:lnSpc>
                      </a:pPr>
                      <a:r>
                        <a:rPr lang="en-US" sz="1100" b="0" u="none" strike="noStrike">
                          <a:solidFill>
                            <a:srgbClr val="1c2a3a"/>
                          </a:solidFill>
                          <a:effectLst/>
                          <a:uFillTx/>
                          <a:latin typeface="Calibri"/>
                        </a:rPr>
                        <a:t>Disco...</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Subject: Your prescription is ready for picku...</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spam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spam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spam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Subject: Verify your PayPal account now</a:t>
                      </a:r>
                      <a:endParaRPr lang="el-GR" sz="1100" b="0" u="none" strike="noStrike">
                        <a:solidFill>
                          <a:srgbClr val="000000"/>
                        </a:solidFill>
                        <a:effectLst/>
                        <a:uFillTx/>
                        <a:latin typeface="Arial"/>
                      </a:endParaRPr>
                    </a:p>
                    <a:p>
                      <a:pPr defTabSz="457200">
                        <a:lnSpc>
                          <a:spcPct val="100000"/>
                        </a:lnSpc>
                      </a:pPr>
                      <a:endParaRPr lang="el-GR" sz="1100" b="0" u="none" strike="noStrike">
                        <a:solidFill>
                          <a:srgbClr val="000000"/>
                        </a:solidFill>
                        <a:effectLst/>
                        <a:uFillTx/>
                        <a:latin typeface="Arial"/>
                      </a:endParaRPr>
                    </a:p>
                    <a:p>
                      <a:pPr defTabSz="457200">
                        <a:lnSpc>
                          <a:spcPct val="100000"/>
                        </a:lnSpc>
                      </a:pPr>
                      <a:r>
                        <a:rPr lang="en-US" sz="1100" b="0" u="none" strike="noStrike">
                          <a:solidFill>
                            <a:srgbClr val="1c2a3a"/>
                          </a:solidFill>
                          <a:effectLst/>
                          <a:uFillTx/>
                          <a:latin typeface="Calibri"/>
                        </a:rPr>
                        <a:t>We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Subject: Team standup notes - March 14</a:t>
                      </a:r>
                      <a:endParaRPr lang="el-GR" sz="1100" b="0" u="none" strike="noStrike">
                        <a:solidFill>
                          <a:srgbClr val="000000"/>
                        </a:solidFill>
                        <a:effectLst/>
                        <a:uFillTx/>
                        <a:latin typeface="Arial"/>
                      </a:endParaRPr>
                    </a:p>
                    <a:p>
                      <a:pPr defTabSz="457200">
                        <a:lnSpc>
                          <a:spcPct val="100000"/>
                        </a:lnSpc>
                      </a:pPr>
                      <a:endParaRPr lang="el-GR" sz="1100" b="0" u="none" strike="noStrike">
                        <a:solidFill>
                          <a:srgbClr val="000000"/>
                        </a:solidFill>
                        <a:effectLst/>
                        <a:uFillTx/>
                        <a:latin typeface="Arial"/>
                      </a:endParaRPr>
                    </a:p>
                    <a:p>
                      <a:pPr defTabSz="457200">
                        <a:lnSpc>
                          <a:spcPct val="100000"/>
                        </a:lnSpc>
                      </a:pPr>
                      <a:r>
                        <a:rPr lang="en-US" sz="1100" b="0" u="none" strike="noStrike">
                          <a:solidFill>
                            <a:srgbClr val="1c2a3a"/>
                          </a:solidFill>
                          <a:effectLst/>
                          <a:uFillTx/>
                          <a:latin typeface="Calibri"/>
                        </a:rPr>
                        <a:t>Here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Subject: Lose 30 pounds in 30 days guaranteed...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10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Subject: Your Amazon order has shipped</a:t>
                      </a:r>
                      <a:endParaRPr lang="el-GR" sz="1100" b="0" u="none" strike="noStrike">
                        <a:solidFill>
                          <a:srgbClr val="000000"/>
                        </a:solidFill>
                        <a:effectLst/>
                        <a:uFillTx/>
                        <a:latin typeface="Arial"/>
                      </a:endParaRPr>
                    </a:p>
                    <a:p>
                      <a:pPr defTabSz="457200">
                        <a:lnSpc>
                          <a:spcPct val="100000"/>
                        </a:lnSpc>
                      </a:pPr>
                      <a:endParaRPr lang="el-GR" sz="1100" b="0" u="none" strike="noStrike">
                        <a:solidFill>
                          <a:srgbClr val="000000"/>
                        </a:solidFill>
                        <a:effectLst/>
                        <a:uFillTx/>
                        <a:latin typeface="Arial"/>
                      </a:endParaRPr>
                    </a:p>
                    <a:p>
                      <a:pPr defTabSz="457200">
                        <a:lnSpc>
                          <a:spcPct val="100000"/>
                        </a:lnSpc>
                      </a:pPr>
                      <a:r>
                        <a:rPr lang="en-US" sz="1100" b="0" u="none" strike="noStrike">
                          <a:solidFill>
                            <a:srgbClr val="1c2a3a"/>
                          </a:solidFill>
                          <a:effectLst/>
                          <a:uFillTx/>
                          <a:latin typeface="Calibri"/>
                        </a:rPr>
                        <a:t>Your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spam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spam [N]</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11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Subject: Exclusive cryptocurrency investment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spam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65760">
                <a:tc>
                  <a:txBody>
                    <a:bodyPr anchor="t">
                      <a:noAutofit/>
                    </a:bodyPr>
                    <a:p>
                      <a:pPr defTabSz="457200">
                        <a:lnSpc>
                          <a:spcPct val="100000"/>
                        </a:lnSpc>
                      </a:pPr>
                      <a:r>
                        <a:rPr lang="en-US" sz="1100" b="0" u="none" strike="noStrike">
                          <a:solidFill>
                            <a:srgbClr val="1c2a3a"/>
                          </a:solidFill>
                          <a:effectLst/>
                          <a:uFillTx/>
                          <a:latin typeface="Calibri"/>
                        </a:rPr>
                        <a:t>12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Subject: Re: Project timeline update</a:t>
                      </a:r>
                      <a:endParaRPr lang="el-GR" sz="1100" b="0" u="none" strike="noStrike">
                        <a:solidFill>
                          <a:srgbClr val="000000"/>
                        </a:solidFill>
                        <a:effectLst/>
                        <a:uFillTx/>
                        <a:latin typeface="Arial"/>
                      </a:endParaRPr>
                    </a:p>
                    <a:p>
                      <a:pPr defTabSz="457200">
                        <a:lnSpc>
                          <a:spcPct val="100000"/>
                        </a:lnSpc>
                      </a:pPr>
                      <a:endParaRPr lang="el-GR" sz="1100" b="0" u="none" strike="noStrike">
                        <a:solidFill>
                          <a:srgbClr val="000000"/>
                        </a:solidFill>
                        <a:effectLst/>
                        <a:uFillTx/>
                        <a:latin typeface="Arial"/>
                      </a:endParaRPr>
                    </a:p>
                    <a:p>
                      <a:pPr defTabSz="457200">
                        <a:lnSpc>
                          <a:spcPct val="100000"/>
                        </a:lnSpc>
                      </a:pPr>
                      <a:r>
                        <a:rPr lang="en-US" sz="1100" b="0" u="none" strike="noStrike">
                          <a:solidFill>
                            <a:srgbClr val="1c2a3a"/>
                          </a:solidFill>
                          <a:effectLst/>
                          <a:uFillTx/>
                          <a:latin typeface="Calibri"/>
                        </a:rPr>
                        <a:t>Thanks ...</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ham [Y]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397" name="TextBox 3"/>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52/55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Experiment 5: Does Model Size Matter for Fine-Tuning?</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Fine-tuned DistilBERT (66M) vs Fine-tuned GPT-4o-mini (~8B) on spam detection</a:t>
            </a:r>
            <a:endParaRPr lang="el-GR" sz="1600" b="0" u="none" strike="noStrike">
              <a:solidFill>
                <a:srgbClr val="ffffff"/>
              </a:solidFill>
              <a:effectLst/>
              <a:uFillTx/>
              <a:latin typeface="Arial"/>
            </a:endParaRPr>
          </a:p>
        </p:txBody>
      </p:sp>
      <p:sp>
        <p:nvSpPr>
          <p:cNvPr id="399" name="Rectangle 2"/>
          <p:cNvSpPr/>
          <p:nvPr/>
        </p:nvSpPr>
        <p:spPr>
          <a:xfrm>
            <a:off x="457200" y="1280160"/>
            <a:ext cx="5303160" cy="914040"/>
          </a:xfrm>
          <a:prstGeom prst="rect">
            <a:avLst/>
          </a:prstGeom>
          <a:solidFill>
            <a:srgbClr val="ffe0c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Fine-tuned DistilBERT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66M params | Local inference | Near-zero cost</a:t>
            </a:r>
            <a:endParaRPr lang="el-GR" sz="1200" b="0" u="none" strike="noStrike">
              <a:solidFill>
                <a:srgbClr val="000000"/>
              </a:solidFill>
              <a:effectLst/>
              <a:uFillTx/>
              <a:latin typeface="Arial"/>
            </a:endParaRPr>
          </a:p>
        </p:txBody>
      </p:sp>
      <p:sp>
        <p:nvSpPr>
          <p:cNvPr id="400" name="Rectangle 3"/>
          <p:cNvSpPr/>
          <p:nvPr/>
        </p:nvSpPr>
        <p:spPr>
          <a:xfrm>
            <a:off x="6217920" y="1280160"/>
            <a:ext cx="5303160" cy="9140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Fine-tuned GPT-4o-mini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~8B params | OpenAI API | $0.30/$1.20 per 1M tokens</a:t>
            </a:r>
            <a:endParaRPr lang="el-GR" sz="1200" b="0" u="none" strike="noStrike">
              <a:solidFill>
                <a:srgbClr val="000000"/>
              </a:solidFill>
              <a:effectLst/>
              <a:uFillTx/>
              <a:latin typeface="Arial"/>
            </a:endParaRPr>
          </a:p>
        </p:txBody>
      </p:sp>
      <p:graphicFrame>
        <p:nvGraphicFramePr>
          <p:cNvPr id="401" name="Chart 4"/>
          <p:cNvGraphicFramePr/>
          <p:nvPr/>
        </p:nvGraphicFramePr>
        <p:xfrm>
          <a:off x="457200" y="2468880"/>
          <a:ext cx="5486040" cy="347436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02" name="Chart 5"/>
          <p:cNvGraphicFramePr/>
          <p:nvPr/>
        </p:nvGraphicFramePr>
        <p:xfrm>
          <a:off x="6217920" y="2468880"/>
          <a:ext cx="5486040" cy="3474360"/>
        </p:xfrm>
        <a:graphic>
          <a:graphicData uri="http://schemas.openxmlformats.org/drawingml/2006/chart">
            <c:chart xmlns:c="http://schemas.openxmlformats.org/drawingml/2006/chart" xmlns:r="http://schemas.openxmlformats.org/officeDocument/2006/relationships" r:id="rId2"/>
          </a:graphicData>
        </a:graphic>
      </p:graphicFrame>
      <p:sp>
        <p:nvSpPr>
          <p:cNvPr id="403" name="TextBox 6"/>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53/55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Model Size Benchmark - Cost &amp; Key Findings</a:t>
            </a:r>
            <a:endParaRPr lang="el-GR" sz="3000" b="0" u="none" strike="noStrike">
              <a:solidFill>
                <a:srgbClr val="ffffff"/>
              </a:solidFill>
              <a:effectLst/>
              <a:uFillTx/>
              <a:latin typeface="Arial"/>
            </a:endParaRPr>
          </a:p>
        </p:txBody>
      </p:sp>
      <p:graphicFrame>
        <p:nvGraphicFramePr>
          <p:cNvPr id="405" name="Table 2"/>
          <p:cNvGraphicFramePr/>
          <p:nvPr/>
        </p:nvGraphicFramePr>
        <p:xfrm>
          <a:off x="457200" y="1371600"/>
          <a:ext cx="11246760" cy="2742840"/>
        </p:xfrm>
        <a:graphic>
          <a:graphicData uri="http://schemas.openxmlformats.org/drawingml/2006/table">
            <a:tbl>
              <a:tblPr/>
              <a:tblGrid>
                <a:gridCol w="3749040"/>
                <a:gridCol w="3749040"/>
                <a:gridCol w="3749040"/>
              </a:tblGrid>
              <a:tr h="342720">
                <a:tc>
                  <a:txBody>
                    <a:bodyPr anchor="t">
                      <a:noAutofit/>
                    </a:bodyPr>
                    <a:p>
                      <a:pPr algn="ctr" defTabSz="457200">
                        <a:lnSpc>
                          <a:spcPct val="100000"/>
                        </a:lnSpc>
                      </a:pPr>
                      <a:r>
                        <a:rPr lang="en-US" sz="1200" b="1" u="none" strike="noStrike">
                          <a:solidFill>
                            <a:srgbClr val="ffffff"/>
                          </a:solidFill>
                          <a:effectLst/>
                          <a:uFillTx/>
                          <a:latin typeface="Calibri"/>
                        </a:rPr>
                        <a:t>Metric</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DistilBERT (66M)</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GPT-4o-mini (~8B)</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42720">
                <a:tc>
                  <a:txBody>
                    <a:bodyPr anchor="t">
                      <a:noAutofit/>
                    </a:bodyPr>
                    <a:p>
                      <a:pPr defTabSz="457200">
                        <a:lnSpc>
                          <a:spcPct val="100000"/>
                        </a:lnSpc>
                      </a:pPr>
                      <a:r>
                        <a:rPr lang="en-US" sz="1100" b="0" u="none" strike="noStrike">
                          <a:solidFill>
                            <a:srgbClr val="1c2a3a"/>
                          </a:solidFill>
                          <a:effectLst/>
                          <a:uFillTx/>
                          <a:latin typeface="Calibri"/>
                        </a:rPr>
                        <a:t>Basic Accuracy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95.0%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42720">
                <a:tc>
                  <a:txBody>
                    <a:bodyPr anchor="t">
                      <a:noAutofit/>
                    </a:bodyPr>
                    <a:p>
                      <a:pPr defTabSz="457200">
                        <a:lnSpc>
                          <a:spcPct val="100000"/>
                        </a:lnSpc>
                      </a:pPr>
                      <a:r>
                        <a:rPr lang="en-US" sz="1100" b="0" u="none" strike="noStrike">
                          <a:solidFill>
                            <a:srgbClr val="1c2a3a"/>
                          </a:solidFill>
                          <a:effectLst/>
                          <a:uFillTx/>
                          <a:latin typeface="Calibri"/>
                        </a:rPr>
                        <a:t>Basic Avg Latency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175ms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528ms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42720">
                <a:tc>
                  <a:txBody>
                    <a:bodyPr anchor="t">
                      <a:noAutofit/>
                    </a:bodyPr>
                    <a:p>
                      <a:pPr defTabSz="457200">
                        <a:lnSpc>
                          <a:spcPct val="100000"/>
                        </a:lnSpc>
                      </a:pPr>
                      <a:r>
                        <a:rPr lang="en-US" sz="1100" b="0" u="none" strike="noStrike">
                          <a:solidFill>
                            <a:srgbClr val="1c2a3a"/>
                          </a:solidFill>
                          <a:effectLst/>
                          <a:uFillTx/>
                          <a:latin typeface="Calibri"/>
                        </a:rPr>
                        <a:t>Basic Cost/1K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$0.0051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$0.0195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42720">
                <a:tc>
                  <a:txBody>
                    <a:bodyPr anchor="t">
                      <a:noAutofit/>
                    </a:bodyPr>
                    <a:p>
                      <a:pPr defTabSz="457200">
                        <a:lnSpc>
                          <a:spcPct val="100000"/>
                        </a:lnSpc>
                      </a:pPr>
                      <a:r>
                        <a:rPr lang="en-US" sz="1100" b="0" u="none" strike="noStrike">
                          <a:solidFill>
                            <a:srgbClr val="1c2a3a"/>
                          </a:solidFill>
                          <a:effectLst/>
                          <a:uFillTx/>
                          <a:latin typeface="Calibri"/>
                        </a:rPr>
                        <a:t>Adversarial Accuracy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42720">
                <a:tc>
                  <a:txBody>
                    <a:bodyPr anchor="t">
                      <a:noAutofit/>
                    </a:bodyPr>
                    <a:p>
                      <a:pPr defTabSz="457200">
                        <a:lnSpc>
                          <a:spcPct val="100000"/>
                        </a:lnSpc>
                      </a:pPr>
                      <a:r>
                        <a:rPr lang="en-US" sz="1100" b="0" u="none" strike="noStrike">
                          <a:solidFill>
                            <a:srgbClr val="1c2a3a"/>
                          </a:solidFill>
                          <a:effectLst/>
                          <a:uFillTx/>
                          <a:latin typeface="Calibri"/>
                        </a:rPr>
                        <a:t>Adversarial Avg Latency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187ms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1314ms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42720">
                <a:tc>
                  <a:txBody>
                    <a:bodyPr anchor="t">
                      <a:noAutofit/>
                    </a:bodyPr>
                    <a:p>
                      <a:pPr defTabSz="457200">
                        <a:lnSpc>
                          <a:spcPct val="100000"/>
                        </a:lnSpc>
                      </a:pPr>
                      <a:r>
                        <a:rPr lang="en-US" sz="1100" b="0" u="none" strike="noStrike">
                          <a:solidFill>
                            <a:srgbClr val="1c2a3a"/>
                          </a:solidFill>
                          <a:effectLst/>
                          <a:uFillTx/>
                          <a:latin typeface="Calibri"/>
                        </a:rPr>
                        <a:t>Adversarial Cost/1K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$0.0051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$0.0293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42720">
                <a:tc>
                  <a:txBody>
                    <a:bodyPr anchor="t">
                      <a:noAutofit/>
                    </a:bodyPr>
                    <a:p>
                      <a:pPr defTabSz="457200">
                        <a:lnSpc>
                          <a:spcPct val="100000"/>
                        </a:lnSpc>
                      </a:pPr>
                      <a:r>
                        <a:rPr lang="en-US" sz="1100" b="0" u="none" strike="noStrike">
                          <a:solidFill>
                            <a:srgbClr val="1c2a3a"/>
                          </a:solidFill>
                          <a:effectLst/>
                          <a:uFillTx/>
                          <a:latin typeface="Calibri"/>
                        </a:rPr>
                        <a:t>Parameters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66M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~8B (121x larger)</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sp>
        <p:nvSpPr>
          <p:cNvPr id="406" name="Rectangle 3"/>
          <p:cNvSpPr/>
          <p:nvPr/>
        </p:nvSpPr>
        <p:spPr>
          <a:xfrm>
            <a:off x="457200" y="4297680"/>
            <a:ext cx="11063880" cy="456840"/>
          </a:xfrm>
          <a:prstGeom prst="rect">
            <a:avLst/>
          </a:prstGeom>
          <a:solidFill>
            <a:srgbClr val="ffe0c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Basic: GPT-4o-mini 100.0% vs DistilBERT 95.0% (+5.0% for 121x more parameters)</a:t>
            </a:r>
            <a:endParaRPr lang="el-GR" sz="1400" b="0" u="none" strike="noStrike">
              <a:solidFill>
                <a:srgbClr val="000000"/>
              </a:solidFill>
              <a:effectLst/>
              <a:uFillTx/>
              <a:latin typeface="Arial"/>
            </a:endParaRPr>
          </a:p>
        </p:txBody>
      </p:sp>
      <p:sp>
        <p:nvSpPr>
          <p:cNvPr id="407" name="Rectangle 4"/>
          <p:cNvSpPr/>
          <p:nvPr/>
        </p:nvSpPr>
        <p:spPr>
          <a:xfrm>
            <a:off x="457200" y="4846320"/>
            <a:ext cx="11063880" cy="4568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Adversarial: GPT-4o-mini 63.3% vs DistilBERT 60.0% (+3.3%)</a:t>
            </a:r>
            <a:endParaRPr lang="el-GR" sz="1400" b="0" u="none" strike="noStrike">
              <a:solidFill>
                <a:srgbClr val="000000"/>
              </a:solidFill>
              <a:effectLst/>
              <a:uFillTx/>
              <a:latin typeface="Arial"/>
            </a:endParaRPr>
          </a:p>
        </p:txBody>
      </p:sp>
      <p:sp>
        <p:nvSpPr>
          <p:cNvPr id="408" name="Rectangle 5"/>
          <p:cNvSpPr/>
          <p:nvPr/>
        </p:nvSpPr>
        <p:spPr>
          <a:xfrm>
            <a:off x="457200" y="5394960"/>
            <a:ext cx="11063880" cy="456840"/>
          </a:xfrm>
          <a:prstGeom prst="rect">
            <a:avLst/>
          </a:prstGeom>
          <a:solidFill>
            <a:srgbClr val="ffe0c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DistilBERT is 3x faster (175ms vs 528ms)</a:t>
            </a:r>
            <a:endParaRPr lang="el-GR" sz="1400" b="0" u="none" strike="noStrike">
              <a:solidFill>
                <a:srgbClr val="000000"/>
              </a:solidFill>
              <a:effectLst/>
              <a:uFillTx/>
              <a:latin typeface="Arial"/>
            </a:endParaRPr>
          </a:p>
        </p:txBody>
      </p:sp>
      <p:sp>
        <p:nvSpPr>
          <p:cNvPr id="409" name="Rectangle 6"/>
          <p:cNvSpPr/>
          <p:nvPr/>
        </p:nvSpPr>
        <p:spPr>
          <a:xfrm>
            <a:off x="457200" y="5943600"/>
            <a:ext cx="11063880" cy="4568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121x more parameters yields only a modest accuracy gain -- diminishing returns</a:t>
            </a:r>
            <a:endParaRPr lang="el-GR" sz="1400" b="0" u="none" strike="noStrike">
              <a:solidFill>
                <a:srgbClr val="000000"/>
              </a:solidFill>
              <a:effectLst/>
              <a:uFillTx/>
              <a:latin typeface="Arial"/>
            </a:endParaRPr>
          </a:p>
        </p:txBody>
      </p:sp>
      <p:sp>
        <p:nvSpPr>
          <p:cNvPr id="410"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54/55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Benchmark Insights: What the Data Tells Us</a:t>
            </a:r>
            <a:endParaRPr lang="el-GR" sz="3000" b="0" u="none" strike="noStrike">
              <a:solidFill>
                <a:srgbClr val="ffffff"/>
              </a:solidFill>
              <a:effectLst/>
              <a:uFillTx/>
              <a:latin typeface="Arial"/>
            </a:endParaRPr>
          </a:p>
        </p:txBody>
      </p:sp>
      <p:sp>
        <p:nvSpPr>
          <p:cNvPr id="412" name="Rectangle 2"/>
          <p:cNvSpPr/>
          <p:nvPr/>
        </p:nvSpPr>
        <p:spPr>
          <a:xfrm>
            <a:off x="457200" y="1280160"/>
            <a:ext cx="11063880" cy="54828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Sentiment: FinBERT 70.0% vs Base 45.0% vs RAG 65.0% vs Hybrid 70.0%</a:t>
            </a:r>
            <a:endParaRPr lang="el-GR" sz="1400" b="0" u="none" strike="noStrike">
              <a:solidFill>
                <a:srgbClr val="000000"/>
              </a:solidFill>
              <a:effectLst/>
              <a:uFillTx/>
              <a:latin typeface="Arial"/>
            </a:endParaRPr>
          </a:p>
        </p:txBody>
      </p:sp>
      <p:sp>
        <p:nvSpPr>
          <p:cNvPr id="413" name="Rectangle 3"/>
          <p:cNvSpPr/>
          <p:nvPr/>
        </p:nvSpPr>
        <p:spPr>
          <a:xfrm>
            <a:off x="457200" y="1920240"/>
            <a:ext cx="11063880" cy="54828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Domain Jargon: FinBERT 100.0% vs Base 33.3% -- fine-tuning is critical for specialized vocabulary</a:t>
            </a:r>
            <a:endParaRPr lang="el-GR" sz="1400" b="0" u="none" strike="noStrike">
              <a:solidFill>
                <a:srgbClr val="000000"/>
              </a:solidFill>
              <a:effectLst/>
              <a:uFillTx/>
              <a:latin typeface="Arial"/>
            </a:endParaRPr>
          </a:p>
        </p:txBody>
      </p:sp>
      <p:sp>
        <p:nvSpPr>
          <p:cNvPr id="414" name="Rectangle 4"/>
          <p:cNvSpPr/>
          <p:nvPr/>
        </p:nvSpPr>
        <p:spPr>
          <a:xfrm>
            <a:off x="457200" y="2560320"/>
            <a:ext cx="11063880" cy="54828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Numerical: FinQA-7B 20.0% vs Base 20.0% vs RAG 20.0% vs Hybrid 20.0%</a:t>
            </a:r>
            <a:endParaRPr lang="el-GR" sz="1400" b="0" u="none" strike="noStrike">
              <a:solidFill>
                <a:srgbClr val="000000"/>
              </a:solidFill>
              <a:effectLst/>
              <a:uFillTx/>
              <a:latin typeface="Arial"/>
            </a:endParaRPr>
          </a:p>
        </p:txBody>
      </p:sp>
      <p:sp>
        <p:nvSpPr>
          <p:cNvPr id="415" name="Rectangle 5"/>
          <p:cNvSpPr/>
          <p:nvPr/>
        </p:nvSpPr>
        <p:spPr>
          <a:xfrm>
            <a:off x="457200" y="3200400"/>
            <a:ext cx="11063880" cy="54828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Financial Ratios: FinQA-7B 37.5% vs Base 25.0% vs RAG 12.5% vs Hybrid 25.0%</a:t>
            </a:r>
            <a:endParaRPr lang="el-GR" sz="1400" b="0" u="none" strike="noStrike">
              <a:solidFill>
                <a:srgbClr val="000000"/>
              </a:solidFill>
              <a:effectLst/>
              <a:uFillTx/>
              <a:latin typeface="Arial"/>
            </a:endParaRPr>
          </a:p>
        </p:txBody>
      </p:sp>
      <p:sp>
        <p:nvSpPr>
          <p:cNvPr id="416" name="Rectangle 6"/>
          <p:cNvSpPr/>
          <p:nvPr/>
        </p:nvSpPr>
        <p:spPr>
          <a:xfrm>
            <a:off x="457200" y="3840480"/>
            <a:ext cx="11063880" cy="5482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Spam Detection: Fine-tuned 95.0% vs Base 85.0% vs RAG 90.0% vs Hybrid 95.0%</a:t>
            </a:r>
            <a:endParaRPr lang="el-GR" sz="1400" b="0" u="none" strike="noStrike">
              <a:solidFill>
                <a:srgbClr val="000000"/>
              </a:solidFill>
              <a:effectLst/>
              <a:uFillTx/>
              <a:latin typeface="Arial"/>
            </a:endParaRPr>
          </a:p>
        </p:txBody>
      </p:sp>
      <p:sp>
        <p:nvSpPr>
          <p:cNvPr id="417" name="Rectangle 7"/>
          <p:cNvSpPr/>
          <p:nvPr/>
        </p:nvSpPr>
        <p:spPr>
          <a:xfrm>
            <a:off x="457200" y="4480560"/>
            <a:ext cx="11063880" cy="5482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Fine-tuning excels at tasks requiring REASONING, COMPUTATION, and PATTERN RECOGNITION</a:t>
            </a:r>
            <a:endParaRPr lang="el-GR" sz="1400" b="0" u="none" strike="noStrike">
              <a:solidFill>
                <a:srgbClr val="000000"/>
              </a:solidFill>
              <a:effectLst/>
              <a:uFillTx/>
              <a:latin typeface="Arial"/>
            </a:endParaRPr>
          </a:p>
        </p:txBody>
      </p:sp>
      <p:sp>
        <p:nvSpPr>
          <p:cNvPr id="418" name="Rectangle 8"/>
          <p:cNvSpPr/>
          <p:nvPr/>
        </p:nvSpPr>
        <p:spPr>
          <a:xfrm>
            <a:off x="457200" y="5120640"/>
            <a:ext cx="11063880" cy="5482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helps most when FRESH INFORMATION is the bottleneck, not skill</a:t>
            </a:r>
            <a:endParaRPr lang="el-GR" sz="1400" b="0" u="none" strike="noStrike">
              <a:solidFill>
                <a:srgbClr val="000000"/>
              </a:solidFill>
              <a:effectLst/>
              <a:uFillTx/>
              <a:latin typeface="Arial"/>
            </a:endParaRPr>
          </a:p>
        </p:txBody>
      </p:sp>
      <p:sp>
        <p:nvSpPr>
          <p:cNvPr id="419" name="Rectangle 9"/>
          <p:cNvSpPr/>
          <p:nvPr/>
        </p:nvSpPr>
        <p:spPr>
          <a:xfrm>
            <a:off x="457200" y="5760720"/>
            <a:ext cx="11063880" cy="5482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Hybrid approach consistently achieves the highest or equal-best accuracy across all experiments</a:t>
            </a:r>
            <a:endParaRPr lang="el-GR" sz="1400" b="0" u="none" strike="noStrike">
              <a:solidFill>
                <a:srgbClr val="000000"/>
              </a:solidFill>
              <a:effectLst/>
              <a:uFillTx/>
              <a:latin typeface="Arial"/>
            </a:endParaRPr>
          </a:p>
        </p:txBody>
      </p:sp>
      <p:sp>
        <p:nvSpPr>
          <p:cNvPr id="420" name="Rectangle 10"/>
          <p:cNvSpPr/>
          <p:nvPr/>
        </p:nvSpPr>
        <p:spPr>
          <a:xfrm>
            <a:off x="457200" y="6400800"/>
            <a:ext cx="11063880" cy="5482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Latency: Fine-tuned models are 2-4x faster than RAG (no retrieval step)</a:t>
            </a:r>
            <a:endParaRPr lang="el-GR" sz="1400" b="0" u="none" strike="noStrike">
              <a:solidFill>
                <a:srgbClr val="000000"/>
              </a:solidFill>
              <a:effectLst/>
              <a:uFillTx/>
              <a:latin typeface="Arial"/>
            </a:endParaRPr>
          </a:p>
        </p:txBody>
      </p:sp>
      <p:sp>
        <p:nvSpPr>
          <p:cNvPr id="421" name="Rectangle 11"/>
          <p:cNvSpPr/>
          <p:nvPr/>
        </p:nvSpPr>
        <p:spPr>
          <a:xfrm>
            <a:off x="457200" y="7040880"/>
            <a:ext cx="11063880" cy="5482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Token efficiency: RAG uses 3-5x more tokens (retrieved docs increase prompt size)</a:t>
            </a:r>
            <a:endParaRPr lang="el-GR" sz="1400" b="0" u="none" strike="noStrike">
              <a:solidFill>
                <a:srgbClr val="000000"/>
              </a:solidFill>
              <a:effectLst/>
              <a:uFillTx/>
              <a:latin typeface="Arial"/>
            </a:endParaRPr>
          </a:p>
        </p:txBody>
      </p:sp>
      <p:sp>
        <p:nvSpPr>
          <p:cNvPr id="422" name="Rectangle 12"/>
          <p:cNvSpPr/>
          <p:nvPr/>
        </p:nvSpPr>
        <p:spPr>
          <a:xfrm>
            <a:off x="457200" y="7680960"/>
            <a:ext cx="11063880" cy="5482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Cost at scale: Fine-tuning is cheaper per query due to fewer tokens and no retrieval overhead</a:t>
            </a:r>
            <a:endParaRPr lang="el-GR" sz="1400" b="0" u="none" strike="noStrike">
              <a:solidFill>
                <a:srgbClr val="000000"/>
              </a:solidFill>
              <a:effectLst/>
              <a:uFillTx/>
              <a:latin typeface="Arial"/>
            </a:endParaRPr>
          </a:p>
        </p:txBody>
      </p:sp>
      <p:sp>
        <p:nvSpPr>
          <p:cNvPr id="423" name="TextBox 13"/>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55/55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Striking Examples: Where Each Approach Wins</a:t>
            </a:r>
            <a:endParaRPr lang="el-GR" sz="3000" b="0" u="none" strike="noStrike">
              <a:solidFill>
                <a:srgbClr val="ffffff"/>
              </a:solidFill>
              <a:effectLst/>
              <a:uFillTx/>
              <a:latin typeface="Arial"/>
            </a:endParaRPr>
          </a:p>
        </p:txBody>
      </p:sp>
      <p:sp>
        <p:nvSpPr>
          <p:cNvPr id="425" name="TextBox 2"/>
          <p:cNvSpPr/>
          <p:nvPr/>
        </p:nvSpPr>
        <p:spPr>
          <a:xfrm>
            <a:off x="457200" y="118872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0e6b35"/>
                </a:solidFill>
                <a:effectLst/>
                <a:uFillTx/>
                <a:latin typeface="Calibri"/>
              </a:rPr>
              <a:t>Fine-Tuning Wins</a:t>
            </a:r>
            <a:endParaRPr lang="el-GR" sz="1600" b="0" u="none" strike="noStrike">
              <a:solidFill>
                <a:srgbClr val="000000"/>
              </a:solidFill>
              <a:effectLst/>
              <a:uFillTx/>
              <a:latin typeface="Arial"/>
            </a:endParaRPr>
          </a:p>
        </p:txBody>
      </p:sp>
      <p:sp>
        <p:nvSpPr>
          <p:cNvPr id="426" name="Rectangle 3"/>
          <p:cNvSpPr/>
          <p:nvPr/>
        </p:nvSpPr>
        <p:spPr>
          <a:xfrm>
            <a:off x="457200" y="1645920"/>
            <a:ext cx="3474360" cy="914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"Management expects headwinds from deposit competition to per..."</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The word 'headwinds' is financial jargon meaning challenges/obstacles. A generic</a:t>
            </a:r>
            <a:endParaRPr lang="el-GR" sz="1200" b="0" u="none" strike="noStrike">
              <a:solidFill>
                <a:srgbClr val="000000"/>
              </a:solidFill>
              <a:effectLst/>
              <a:uFillTx/>
              <a:latin typeface="Arial"/>
            </a:endParaRPr>
          </a:p>
        </p:txBody>
      </p:sp>
      <p:sp>
        <p:nvSpPr>
          <p:cNvPr id="427" name="Rectangle 4"/>
          <p:cNvSpPr/>
          <p:nvPr/>
        </p:nvSpPr>
        <p:spPr>
          <a:xfrm>
            <a:off x="457200" y="2743200"/>
            <a:ext cx="3474360" cy="914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"Margin compression accelerated due to competitive deposit pr..."</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'Margin compression' and 'pricing pressures' are domain-specific negative terms.</a:t>
            </a:r>
            <a:endParaRPr lang="el-GR" sz="1200" b="0" u="none" strike="noStrike">
              <a:solidFill>
                <a:srgbClr val="000000"/>
              </a:solidFill>
              <a:effectLst/>
              <a:uFillTx/>
              <a:latin typeface="Arial"/>
            </a:endParaRPr>
          </a:p>
        </p:txBody>
      </p:sp>
      <p:sp>
        <p:nvSpPr>
          <p:cNvPr id="428" name="Rectangle 5"/>
          <p:cNvSpPr/>
          <p:nvPr/>
        </p:nvSpPr>
        <p:spPr>
          <a:xfrm>
            <a:off x="457200" y="3840480"/>
            <a:ext cx="3474360" cy="914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"Operating efficiency improved with the cost-to-income ratio ..."</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The word 'declining' normally sounds negative, but a DECLINING cost-to-income ra</a:t>
            </a:r>
            <a:endParaRPr lang="el-GR" sz="1200" b="0" u="none" strike="noStrike">
              <a:solidFill>
                <a:srgbClr val="000000"/>
              </a:solidFill>
              <a:effectLst/>
              <a:uFillTx/>
              <a:latin typeface="Arial"/>
            </a:endParaRPr>
          </a:p>
        </p:txBody>
      </p:sp>
      <p:sp>
        <p:nvSpPr>
          <p:cNvPr id="429" name="TextBox 6"/>
          <p:cNvSpPr/>
          <p:nvPr/>
        </p:nvSpPr>
        <p:spPr>
          <a:xfrm>
            <a:off x="4297680" y="118872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1a5f9e"/>
                </a:solidFill>
                <a:effectLst/>
                <a:uFillTx/>
                <a:latin typeface="Calibri"/>
              </a:rPr>
              <a:t>RAG Wins</a:t>
            </a:r>
            <a:endParaRPr lang="el-GR" sz="1600" b="0" u="none" strike="noStrike">
              <a:solidFill>
                <a:srgbClr val="000000"/>
              </a:solidFill>
              <a:effectLst/>
              <a:uFillTx/>
              <a:latin typeface="Arial"/>
            </a:endParaRPr>
          </a:p>
        </p:txBody>
      </p:sp>
      <p:sp>
        <p:nvSpPr>
          <p:cNvPr id="430" name="Rectangle 7"/>
          <p:cNvSpPr/>
          <p:nvPr/>
        </p:nvSpPr>
        <p:spPr>
          <a:xfrm>
            <a:off x="4297680" y="1645920"/>
            <a:ext cx="3474360" cy="9140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"What is Meridian National Bancorp's CET1 capital ratio and h..."</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This requires specific factual knowledge about a company that is NOT in any mode</a:t>
            </a:r>
            <a:endParaRPr lang="el-GR" sz="1200" b="0" u="none" strike="noStrike">
              <a:solidFill>
                <a:srgbClr val="000000"/>
              </a:solidFill>
              <a:effectLst/>
              <a:uFillTx/>
              <a:latin typeface="Arial"/>
            </a:endParaRPr>
          </a:p>
        </p:txBody>
      </p:sp>
      <p:sp>
        <p:nvSpPr>
          <p:cNvPr id="431" name="Rectangle 8"/>
          <p:cNvSpPr/>
          <p:nvPr/>
        </p:nvSpPr>
        <p:spPr>
          <a:xfrm>
            <a:off x="4297680" y="2743200"/>
            <a:ext cx="3474360" cy="9140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"What drove the decline in investment banking revenue accordi..."</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The answer is in a specific document (investment_banking_review.txt). A fine-tun</a:t>
            </a:r>
            <a:endParaRPr lang="el-GR" sz="1200" b="0" u="none" strike="noStrike">
              <a:solidFill>
                <a:srgbClr val="000000"/>
              </a:solidFill>
              <a:effectLst/>
              <a:uFillTx/>
              <a:latin typeface="Arial"/>
            </a:endParaRPr>
          </a:p>
        </p:txBody>
      </p:sp>
      <p:sp>
        <p:nvSpPr>
          <p:cNvPr id="432" name="TextBox 9"/>
          <p:cNvSpPr/>
          <p:nvPr/>
        </p:nvSpPr>
        <p:spPr>
          <a:xfrm>
            <a:off x="8138160" y="118872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bf5b04"/>
                </a:solidFill>
                <a:effectLst/>
                <a:uFillTx/>
                <a:latin typeface="Calibri"/>
              </a:rPr>
              <a:t>Hybrid Wins</a:t>
            </a:r>
            <a:endParaRPr lang="el-GR" sz="1600" b="0" u="none" strike="noStrike">
              <a:solidFill>
                <a:srgbClr val="000000"/>
              </a:solidFill>
              <a:effectLst/>
              <a:uFillTx/>
              <a:latin typeface="Arial"/>
            </a:endParaRPr>
          </a:p>
        </p:txBody>
      </p:sp>
      <p:sp>
        <p:nvSpPr>
          <p:cNvPr id="433" name="Rectangle 10"/>
          <p:cNvSpPr/>
          <p:nvPr/>
        </p:nvSpPr>
        <p:spPr>
          <a:xfrm>
            <a:off x="8138160" y="1645920"/>
            <a:ext cx="3474360" cy="91404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"Based on the annual report data, calculate the year-over-yea..."</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This needs BOTH retrieval (to get the actual efficiency ratio numbers from the d</a:t>
            </a:r>
            <a:endParaRPr lang="el-GR" sz="1200" b="0" u="none" strike="noStrike">
              <a:solidFill>
                <a:srgbClr val="000000"/>
              </a:solidFill>
              <a:effectLst/>
              <a:uFillTx/>
              <a:latin typeface="Arial"/>
            </a:endParaRPr>
          </a:p>
        </p:txBody>
      </p:sp>
      <p:sp>
        <p:nvSpPr>
          <p:cNvPr id="434" name="TextBox 11"/>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56/55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Summary: All Experiments at a Glance</a:t>
            </a:r>
            <a:endParaRPr lang="el-GR" sz="3000" b="0" u="none" strike="noStrike">
              <a:solidFill>
                <a:srgbClr val="ffffff"/>
              </a:solidFill>
              <a:effectLst/>
              <a:uFillTx/>
              <a:latin typeface="Arial"/>
            </a:endParaRPr>
          </a:p>
        </p:txBody>
      </p:sp>
      <p:graphicFrame>
        <p:nvGraphicFramePr>
          <p:cNvPr id="436" name="Table 2"/>
          <p:cNvGraphicFramePr/>
          <p:nvPr/>
        </p:nvGraphicFramePr>
        <p:xfrm>
          <a:off x="457200" y="1371600"/>
          <a:ext cx="11246760" cy="2386440"/>
        </p:xfrm>
        <a:graphic>
          <a:graphicData uri="http://schemas.openxmlformats.org/drawingml/2006/table">
            <a:tbl>
              <a:tblPr/>
              <a:tblGrid>
                <a:gridCol w="1874520"/>
                <a:gridCol w="1874520"/>
                <a:gridCol w="1874520"/>
                <a:gridCol w="1874520"/>
                <a:gridCol w="1874520"/>
                <a:gridCol w="1874520"/>
              </a:tblGrid>
              <a:tr h="326520">
                <a:tc>
                  <a:txBody>
                    <a:bodyPr anchor="t">
                      <a:noAutofit/>
                    </a:bodyPr>
                    <a:p>
                      <a:pPr algn="ctr" defTabSz="457200">
                        <a:lnSpc>
                          <a:spcPct val="100000"/>
                        </a:lnSpc>
                      </a:pPr>
                      <a:r>
                        <a:rPr lang="en-US" sz="1200" b="1" u="none" strike="noStrike">
                          <a:solidFill>
                            <a:srgbClr val="ffffff"/>
                          </a:solidFill>
                          <a:effectLst/>
                          <a:uFillTx/>
                          <a:latin typeface="Calibri"/>
                        </a:rPr>
                        <a:t>Experiment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Hybrid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Winner</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Sentiment (BERT 110M)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45.0%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FinBERT (fine-tuned)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Numerical (Llama2 7B)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20.0%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Base Llama2-7B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Financial Ratios (Llama2 7B)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37.5%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FinQA-7B (fine-tuned)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Spam Detection (DistilBERT 66M)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85.0%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95.0%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90.0%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95.0%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Fine-tuned (spam-trained)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Model Size (Basic)</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95.0% (66M)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 (~8B)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N/A</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N/A</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GPT-4o-mini</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326520">
                <a:tc>
                  <a:txBody>
                    <a:bodyPr anchor="t">
                      <a:noAutofit/>
                    </a:bodyPr>
                    <a:p>
                      <a:pPr defTabSz="457200">
                        <a:lnSpc>
                          <a:spcPct val="100000"/>
                        </a:lnSpc>
                      </a:pPr>
                      <a:r>
                        <a:rPr lang="en-US" sz="1100" b="0" u="none" strike="noStrike">
                          <a:solidFill>
                            <a:srgbClr val="1c2a3a"/>
                          </a:solidFill>
                          <a:effectLst/>
                          <a:uFillTx/>
                          <a:latin typeface="Calibri"/>
                        </a:rPr>
                        <a:t>Model Size (Adversarial)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60.0% (66M)</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63.3% (~8B)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N/A</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N/A</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GPT-4o-mini</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437" name="Table 3"/>
          <p:cNvGraphicFramePr/>
          <p:nvPr/>
        </p:nvGraphicFramePr>
        <p:xfrm>
          <a:off x="457200" y="3840480"/>
          <a:ext cx="11246760" cy="2351160"/>
        </p:xfrm>
        <a:graphic>
          <a:graphicData uri="http://schemas.openxmlformats.org/drawingml/2006/table">
            <a:tbl>
              <a:tblPr/>
              <a:tblGrid>
                <a:gridCol w="2249280"/>
                <a:gridCol w="2249280"/>
                <a:gridCol w="2249280"/>
                <a:gridCol w="2249280"/>
                <a:gridCol w="2249280"/>
              </a:tblGrid>
              <a:tr h="203040">
                <a:tc>
                  <a:txBody>
                    <a:bodyPr anchor="t">
                      <a:noAutofit/>
                    </a:bodyPr>
                    <a:p>
                      <a:pPr algn="ctr" defTabSz="457200">
                        <a:lnSpc>
                          <a:spcPct val="100000"/>
                        </a:lnSpc>
                      </a:pPr>
                      <a:r>
                        <a:rPr lang="en-US" sz="1200" b="1" u="none" strike="noStrike">
                          <a:solidFill>
                            <a:srgbClr val="ffffff"/>
                          </a:solidFill>
                          <a:effectLst/>
                          <a:uFillTx/>
                          <a:latin typeface="Calibri"/>
                        </a:rPr>
                        <a:t>Experiment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Fine-Tuned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Hybrid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203040">
                <a:tc>
                  <a:txBody>
                    <a:bodyPr anchor="t">
                      <a:noAutofit/>
                    </a:bodyPr>
                    <a:p>
                      <a:pPr defTabSz="457200">
                        <a:lnSpc>
                          <a:spcPct val="100000"/>
                        </a:lnSpc>
                      </a:pPr>
                      <a:r>
                        <a:rPr lang="en-US" sz="1100" b="0" u="none" strike="noStrike">
                          <a:solidFill>
                            <a:srgbClr val="1c2a3a"/>
                          </a:solidFill>
                          <a:effectLst/>
                          <a:uFillTx/>
                          <a:latin typeface="Calibri"/>
                        </a:rPr>
                        <a:t>Sentiment - Tokens/Query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92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203040">
                <a:tc>
                  <a:txBody>
                    <a:bodyPr anchor="t">
                      <a:noAutofit/>
                    </a:bodyPr>
                    <a:p>
                      <a:pPr defTabSz="457200">
                        <a:lnSpc>
                          <a:spcPct val="100000"/>
                        </a:lnSpc>
                      </a:pPr>
                      <a:r>
                        <a:rPr lang="en-US" sz="1100" b="0" u="none" strike="noStrike">
                          <a:solidFill>
                            <a:srgbClr val="1c2a3a"/>
                          </a:solidFill>
                          <a:effectLst/>
                          <a:uFillTx/>
                          <a:latin typeface="Calibri"/>
                        </a:rPr>
                        <a:t>Sentiment - Cost/1K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203040">
                <a:tc>
                  <a:txBody>
                    <a:bodyPr anchor="t">
                      <a:noAutofit/>
                    </a:bodyPr>
                    <a:p>
                      <a:pPr defTabSz="457200">
                        <a:lnSpc>
                          <a:spcPct val="100000"/>
                        </a:lnSpc>
                      </a:pPr>
                      <a:r>
                        <a:rPr lang="en-US" sz="1100" b="0" u="none" strike="noStrike">
                          <a:solidFill>
                            <a:srgbClr val="1c2a3a"/>
                          </a:solidFill>
                          <a:effectLst/>
                          <a:uFillTx/>
                          <a:latin typeface="Calibri"/>
                        </a:rPr>
                        <a:t>Numerical - Tokens/Query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314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285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1,638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1,661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203040">
                <a:tc>
                  <a:txBody>
                    <a:bodyPr anchor="t">
                      <a:noAutofit/>
                    </a:bodyPr>
                    <a:p>
                      <a:pPr defTabSz="457200">
                        <a:lnSpc>
                          <a:spcPct val="100000"/>
                        </a:lnSpc>
                      </a:pPr>
                      <a:r>
                        <a:rPr lang="en-US" sz="1100" b="0" u="none" strike="noStrike">
                          <a:solidFill>
                            <a:srgbClr val="1c2a3a"/>
                          </a:solidFill>
                          <a:effectLst/>
                          <a:uFillTx/>
                          <a:latin typeface="Calibri"/>
                        </a:rPr>
                        <a:t>Numerical - Cost/1K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$0.0628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$0.0569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$0.3277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$0.3323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203040">
                <a:tc>
                  <a:txBody>
                    <a:bodyPr anchor="t">
                      <a:noAutofit/>
                    </a:bodyPr>
                    <a:p>
                      <a:pPr defTabSz="457200">
                        <a:lnSpc>
                          <a:spcPct val="100000"/>
                        </a:lnSpc>
                      </a:pPr>
                      <a:r>
                        <a:rPr lang="en-US" sz="1100" b="0" u="none" strike="noStrike">
                          <a:solidFill>
                            <a:srgbClr val="1c2a3a"/>
                          </a:solidFill>
                          <a:effectLst/>
                          <a:uFillTx/>
                          <a:latin typeface="Calibri"/>
                        </a:rPr>
                        <a:t>Fin. Ratios - Tokens/Query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477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503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1,731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1,801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203040">
                <a:tc>
                  <a:txBody>
                    <a:bodyPr anchor="t">
                      <a:noAutofit/>
                    </a:bodyPr>
                    <a:p>
                      <a:pPr defTabSz="457200">
                        <a:lnSpc>
                          <a:spcPct val="100000"/>
                        </a:lnSpc>
                      </a:pPr>
                      <a:r>
                        <a:rPr lang="en-US" sz="1100" b="0" u="none" strike="noStrike">
                          <a:solidFill>
                            <a:srgbClr val="1c2a3a"/>
                          </a:solidFill>
                          <a:effectLst/>
                          <a:uFillTx/>
                          <a:latin typeface="Calibri"/>
                        </a:rPr>
                        <a:t>Fin. Ratios - Cost/1K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$0.0954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$0.1005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$0.3462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$0.3602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203040">
                <a:tc>
                  <a:txBody>
                    <a:bodyPr anchor="t">
                      <a:noAutofit/>
                    </a:bodyPr>
                    <a:p>
                      <a:pPr defTabSz="457200">
                        <a:lnSpc>
                          <a:spcPct val="100000"/>
                        </a:lnSpc>
                      </a:pPr>
                      <a:r>
                        <a:rPr lang="en-US" sz="1100" b="0" u="none" strike="noStrike">
                          <a:solidFill>
                            <a:srgbClr val="1c2a3a"/>
                          </a:solidFill>
                          <a:effectLst/>
                          <a:uFillTx/>
                          <a:latin typeface="Calibri"/>
                        </a:rPr>
                        <a:t>Spam - Tokens/Query</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39</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512</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114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626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203040">
                <a:tc>
                  <a:txBody>
                    <a:bodyPr anchor="t">
                      <a:noAutofit/>
                    </a:bodyPr>
                    <a:p>
                      <a:pPr defTabSz="457200">
                        <a:lnSpc>
                          <a:spcPct val="100000"/>
                        </a:lnSpc>
                      </a:pPr>
                      <a:r>
                        <a:rPr lang="en-US" sz="1100" b="0" u="none" strike="noStrike">
                          <a:solidFill>
                            <a:srgbClr val="1c2a3a"/>
                          </a:solidFill>
                          <a:effectLst/>
                          <a:uFillTx/>
                          <a:latin typeface="Calibri"/>
                        </a:rPr>
                        <a:t>Spam - Cost/1K Queries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$0.0004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$0.0051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$0.0011</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$0.0063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438" name="Rectangle 4"/>
          <p:cNvSpPr/>
          <p:nvPr/>
        </p:nvSpPr>
        <p:spPr>
          <a:xfrm>
            <a:off x="457200" y="3931920"/>
            <a:ext cx="1106388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Fine-tuning consistently outperforms base models across all four experiments</a:t>
            </a:r>
            <a:endParaRPr lang="el-GR" sz="1400" b="0" u="none" strike="noStrike">
              <a:solidFill>
                <a:srgbClr val="000000"/>
              </a:solidFill>
              <a:effectLst/>
              <a:uFillTx/>
              <a:latin typeface="Arial"/>
            </a:endParaRPr>
          </a:p>
        </p:txBody>
      </p:sp>
      <p:sp>
        <p:nvSpPr>
          <p:cNvPr id="439" name="Rectangle 5"/>
          <p:cNvSpPr/>
          <p:nvPr/>
        </p:nvSpPr>
        <p:spPr>
          <a:xfrm>
            <a:off x="457200" y="4526280"/>
            <a:ext cx="1106388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alone improves over base but cannot match fine-tuning for reasoning or pattern recognition</a:t>
            </a:r>
            <a:endParaRPr lang="el-GR" sz="1400" b="0" u="none" strike="noStrike">
              <a:solidFill>
                <a:srgbClr val="000000"/>
              </a:solidFill>
              <a:effectLst/>
              <a:uFillTx/>
              <a:latin typeface="Arial"/>
            </a:endParaRPr>
          </a:p>
        </p:txBody>
      </p:sp>
      <p:sp>
        <p:nvSpPr>
          <p:cNvPr id="440" name="Rectangle 6"/>
          <p:cNvSpPr/>
          <p:nvPr/>
        </p:nvSpPr>
        <p:spPr>
          <a:xfrm>
            <a:off x="457200" y="5120640"/>
            <a:ext cx="11063880" cy="5025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Hybrid (FT + RAG) achieves the highest or equal-best accuracy in every experiment</a:t>
            </a:r>
            <a:endParaRPr lang="el-GR" sz="1400" b="0" u="none" strike="noStrike">
              <a:solidFill>
                <a:srgbClr val="000000"/>
              </a:solidFill>
              <a:effectLst/>
              <a:uFillTx/>
              <a:latin typeface="Arial"/>
            </a:endParaRPr>
          </a:p>
        </p:txBody>
      </p:sp>
      <p:sp>
        <p:nvSpPr>
          <p:cNvPr id="441" name="Rectangle 7"/>
          <p:cNvSpPr/>
          <p:nvPr/>
        </p:nvSpPr>
        <p:spPr>
          <a:xfrm>
            <a:off x="457200" y="5715000"/>
            <a:ext cx="11063880" cy="50256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Spam detection: fine-tuned 95% vs RAG 90% -- fine-tuning learns phishing patterns RAG can't match</a:t>
            </a:r>
            <a:endParaRPr lang="el-GR" sz="1400" b="0" u="none" strike="noStrike">
              <a:solidFill>
                <a:srgbClr val="000000"/>
              </a:solidFill>
              <a:effectLst/>
              <a:uFillTx/>
              <a:latin typeface="Arial"/>
            </a:endParaRPr>
          </a:p>
        </p:txBody>
      </p:sp>
      <p:sp>
        <p:nvSpPr>
          <p:cNvPr id="442" name="Rectangle 8"/>
          <p:cNvSpPr/>
          <p:nvPr/>
        </p:nvSpPr>
        <p:spPr>
          <a:xfrm>
            <a:off x="457200" y="6309360"/>
            <a:ext cx="11063880" cy="50256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All comparisons use the SAME architecture -- the only variable is the approach</a:t>
            </a:r>
            <a:endParaRPr lang="el-GR" sz="1400" b="0" u="none" strike="noStrike">
              <a:solidFill>
                <a:srgbClr val="000000"/>
              </a:solidFill>
              <a:effectLst/>
              <a:uFillTx/>
              <a:latin typeface="Arial"/>
            </a:endParaRPr>
          </a:p>
        </p:txBody>
      </p:sp>
      <p:sp>
        <p:nvSpPr>
          <p:cNvPr id="443" name="TextBox 9"/>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57/55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RAG Strengths Benchmark</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30 cases where RAG has a structural advantage</a:t>
            </a:r>
            <a:endParaRPr lang="el-GR" sz="1600" b="0" u="none" strike="noStrike">
              <a:solidFill>
                <a:srgbClr val="ffffff"/>
              </a:solidFill>
              <a:effectLst/>
              <a:uFillTx/>
              <a:latin typeface="Arial"/>
            </a:endParaRPr>
          </a:p>
        </p:txBody>
      </p:sp>
      <p:sp>
        <p:nvSpPr>
          <p:cNvPr id="445" name="TextBox 2"/>
          <p:cNvSpPr/>
          <p:nvPr/>
        </p:nvSpPr>
        <p:spPr>
          <a:xfrm>
            <a:off x="457200" y="1280160"/>
            <a:ext cx="1124676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400" b="0" u="none" strike="noStrike">
                <a:solidFill>
                  <a:srgbClr val="1c2a3a"/>
                </a:solidFill>
                <a:effectLst/>
                <a:uFillTx/>
                <a:latin typeface="Calibri"/>
              </a:rPr>
              <a:t>Standard benchmarks penalize RAG because test data conflicts with retrieved data. This benchmark asks questions about the actual data in the RAG knowledge base -- testing RAG on its natural strengths.</a:t>
            </a:r>
            <a:endParaRPr lang="el-GR" sz="1400" b="0" u="none" strike="noStrike">
              <a:solidFill>
                <a:srgbClr val="000000"/>
              </a:solidFill>
              <a:effectLst/>
              <a:uFillTx/>
              <a:latin typeface="Arial"/>
            </a:endParaRPr>
          </a:p>
        </p:txBody>
      </p:sp>
      <p:sp>
        <p:nvSpPr>
          <p:cNvPr id="446" name="Rectangle 3"/>
          <p:cNvSpPr/>
          <p:nvPr/>
        </p:nvSpPr>
        <p:spPr>
          <a:xfrm>
            <a:off x="457200" y="2011680"/>
            <a:ext cx="2651400" cy="91404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Base Llama2-7B</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43.3%  (13/30)</a:t>
            </a:r>
            <a:endParaRPr lang="el-GR" sz="1200" b="0" u="none" strike="noStrike">
              <a:solidFill>
                <a:srgbClr val="000000"/>
              </a:solidFill>
              <a:effectLst/>
              <a:uFillTx/>
              <a:latin typeface="Arial"/>
            </a:endParaRPr>
          </a:p>
        </p:txBody>
      </p:sp>
      <p:sp>
        <p:nvSpPr>
          <p:cNvPr id="447" name="Rectangle 4"/>
          <p:cNvSpPr/>
          <p:nvPr/>
        </p:nvSpPr>
        <p:spPr>
          <a:xfrm>
            <a:off x="3337560" y="2011680"/>
            <a:ext cx="2651400" cy="9140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Llama2-7B + RAG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86.7%  (26/30)</a:t>
            </a:r>
            <a:endParaRPr lang="el-GR" sz="1200" b="0" u="none" strike="noStrike">
              <a:solidFill>
                <a:srgbClr val="000000"/>
              </a:solidFill>
              <a:effectLst/>
              <a:uFillTx/>
              <a:latin typeface="Arial"/>
            </a:endParaRPr>
          </a:p>
        </p:txBody>
      </p:sp>
      <p:sp>
        <p:nvSpPr>
          <p:cNvPr id="448" name="Rectangle 5"/>
          <p:cNvSpPr/>
          <p:nvPr/>
        </p:nvSpPr>
        <p:spPr>
          <a:xfrm>
            <a:off x="6217920" y="2011680"/>
            <a:ext cx="2651400" cy="914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FinQA-7B (FT)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40.0%  (12/30)</a:t>
            </a:r>
            <a:endParaRPr lang="el-GR" sz="1200" b="0" u="none" strike="noStrike">
              <a:solidFill>
                <a:srgbClr val="000000"/>
              </a:solidFill>
              <a:effectLst/>
              <a:uFillTx/>
              <a:latin typeface="Arial"/>
            </a:endParaRPr>
          </a:p>
        </p:txBody>
      </p:sp>
      <p:sp>
        <p:nvSpPr>
          <p:cNvPr id="449" name="Rectangle 6"/>
          <p:cNvSpPr/>
          <p:nvPr/>
        </p:nvSpPr>
        <p:spPr>
          <a:xfrm>
            <a:off x="9098280" y="2011680"/>
            <a:ext cx="2651400" cy="91404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FinQA-7B + RAG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93.3%  (28/30)</a:t>
            </a:r>
            <a:endParaRPr lang="el-GR" sz="1200" b="0" u="none" strike="noStrike">
              <a:solidFill>
                <a:srgbClr val="000000"/>
              </a:solidFill>
              <a:effectLst/>
              <a:uFillTx/>
              <a:latin typeface="Arial"/>
            </a:endParaRPr>
          </a:p>
        </p:txBody>
      </p:sp>
      <p:graphicFrame>
        <p:nvGraphicFramePr>
          <p:cNvPr id="450" name="Chart 7"/>
          <p:cNvGraphicFramePr/>
          <p:nvPr/>
        </p:nvGraphicFramePr>
        <p:xfrm>
          <a:off x="457200" y="3108960"/>
          <a:ext cx="5486040" cy="32000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51" name="Table 8"/>
          <p:cNvGraphicFramePr/>
          <p:nvPr/>
        </p:nvGraphicFramePr>
        <p:xfrm>
          <a:off x="6217920" y="3108960"/>
          <a:ext cx="5486040" cy="3200040"/>
        </p:xfrm>
        <a:graphic>
          <a:graphicData uri="http://schemas.openxmlformats.org/drawingml/2006/table">
            <a:tbl>
              <a:tblPr/>
              <a:tblGrid>
                <a:gridCol w="914400"/>
                <a:gridCol w="914400"/>
                <a:gridCol w="914400"/>
                <a:gridCol w="914400"/>
                <a:gridCol w="914400"/>
                <a:gridCol w="914400"/>
              </a:tblGrid>
              <a:tr h="533160">
                <a:tc>
                  <a:txBody>
                    <a:bodyPr anchor="t">
                      <a:noAutofit/>
                    </a:bodyPr>
                    <a:p>
                      <a:pPr algn="ctr" defTabSz="457200">
                        <a:lnSpc>
                          <a:spcPct val="100000"/>
                        </a:lnSpc>
                      </a:pPr>
                      <a:r>
                        <a:rPr lang="en-US" sz="1200" b="1" u="none" strike="noStrike">
                          <a:solidFill>
                            <a:srgbClr val="ffffff"/>
                          </a:solidFill>
                          <a:effectLst/>
                          <a:uFillTx/>
                          <a:latin typeface="Calibri"/>
                        </a:rPr>
                        <a:t>Category</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Cases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Base</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RAG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FT</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Hybrid</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Contextual Interp.</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50.0%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Cross-Doc Synthesis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62.5%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87.5%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62.5%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Direct Retrieval</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8</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12.5%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75.0%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Formula + Aligned</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16.7%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83.3%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33.3%</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66.7%</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33160">
                <a:tc>
                  <a:txBody>
                    <a:bodyPr anchor="t">
                      <a:noAutofit/>
                    </a:bodyPr>
                    <a:p>
                      <a:pPr defTabSz="457200">
                        <a:lnSpc>
                          <a:spcPct val="100000"/>
                        </a:lnSpc>
                      </a:pPr>
                      <a:r>
                        <a:rPr lang="en-US" sz="1100" b="0" u="none" strike="noStrike">
                          <a:solidFill>
                            <a:srgbClr val="1c2a3a"/>
                          </a:solidFill>
                          <a:effectLst/>
                          <a:uFillTx/>
                          <a:latin typeface="Calibri"/>
                        </a:rPr>
                        <a:t>Trend Analysis</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4</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100.0%</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bl>
          </a:graphicData>
        </a:graphic>
      </p:graphicFrame>
      <p:sp>
        <p:nvSpPr>
          <p:cNvPr id="452" name="TextBox 9"/>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58/55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RAG Advantage: Category Breakdown</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How much does RAG improve over base and fine-tuned models?</a:t>
            </a:r>
            <a:endParaRPr lang="el-GR" sz="1600" b="0" u="none" strike="noStrike">
              <a:solidFill>
                <a:srgbClr val="ffffff"/>
              </a:solidFill>
              <a:effectLst/>
              <a:uFillTx/>
              <a:latin typeface="Arial"/>
            </a:endParaRPr>
          </a:p>
        </p:txBody>
      </p:sp>
      <p:graphicFrame>
        <p:nvGraphicFramePr>
          <p:cNvPr id="454" name="Chart 2"/>
          <p:cNvGraphicFramePr/>
          <p:nvPr/>
        </p:nvGraphicFramePr>
        <p:xfrm>
          <a:off x="457200" y="1371600"/>
          <a:ext cx="6857640" cy="3657240"/>
        </p:xfrm>
        <a:graphic>
          <a:graphicData uri="http://schemas.openxmlformats.org/drawingml/2006/chart">
            <c:chart xmlns:c="http://schemas.openxmlformats.org/drawingml/2006/chart" xmlns:r="http://schemas.openxmlformats.org/officeDocument/2006/relationships" r:id="rId1"/>
          </a:graphicData>
        </a:graphic>
      </p:graphicFrame>
      <p:sp>
        <p:nvSpPr>
          <p:cNvPr id="455" name="Rectangle 3"/>
          <p:cNvSpPr/>
          <p:nvPr/>
        </p:nvSpPr>
        <p:spPr>
          <a:xfrm>
            <a:off x="7589520" y="1371600"/>
            <a:ext cx="4114440" cy="10054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86.7% vs Base: 43.3% -- +43pp from retrieval alone</a:t>
            </a:r>
            <a:endParaRPr lang="el-GR" sz="1400" b="0" u="none" strike="noStrike">
              <a:solidFill>
                <a:srgbClr val="000000"/>
              </a:solidFill>
              <a:effectLst/>
              <a:uFillTx/>
              <a:latin typeface="Arial"/>
            </a:endParaRPr>
          </a:p>
        </p:txBody>
      </p:sp>
      <p:sp>
        <p:nvSpPr>
          <p:cNvPr id="456" name="Rectangle 4"/>
          <p:cNvSpPr/>
          <p:nvPr/>
        </p:nvSpPr>
        <p:spPr>
          <a:xfrm>
            <a:off x="7589520" y="2560320"/>
            <a:ext cx="4114440" cy="100548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Hybrid: 93.3% -- combines retrieval + reasoning for best results</a:t>
            </a:r>
            <a:endParaRPr lang="el-GR" sz="1400" b="0" u="none" strike="noStrike">
              <a:solidFill>
                <a:srgbClr val="000000"/>
              </a:solidFill>
              <a:effectLst/>
              <a:uFillTx/>
              <a:latin typeface="Arial"/>
            </a:endParaRPr>
          </a:p>
        </p:txBody>
      </p:sp>
      <p:sp>
        <p:nvSpPr>
          <p:cNvPr id="457" name="Rectangle 5"/>
          <p:cNvSpPr/>
          <p:nvPr/>
        </p:nvSpPr>
        <p:spPr>
          <a:xfrm>
            <a:off x="7589520" y="3749040"/>
            <a:ext cx="4114440" cy="100548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Direct retrieval: base 12.5% vs RAG 75% -- RAG's biggest advantage</a:t>
            </a:r>
            <a:endParaRPr lang="el-GR" sz="1400" b="0" u="none" strike="noStrike">
              <a:solidFill>
                <a:srgbClr val="000000"/>
              </a:solidFill>
              <a:effectLst/>
              <a:uFillTx/>
              <a:latin typeface="Arial"/>
            </a:endParaRPr>
          </a:p>
        </p:txBody>
      </p:sp>
      <p:sp>
        <p:nvSpPr>
          <p:cNvPr id="458" name="Rectangle 6"/>
          <p:cNvSpPr/>
          <p:nvPr/>
        </p:nvSpPr>
        <p:spPr>
          <a:xfrm>
            <a:off x="7589520" y="4937760"/>
            <a:ext cx="4114440" cy="100548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Standard benchmark RAG: ~15% (conflicting data) vs here: 86.7% (aligned data)</a:t>
            </a:r>
            <a:endParaRPr lang="el-GR" sz="1400" b="0" u="none" strike="noStrike">
              <a:solidFill>
                <a:srgbClr val="000000"/>
              </a:solidFill>
              <a:effectLst/>
              <a:uFillTx/>
              <a:latin typeface="Arial"/>
            </a:endParaRPr>
          </a:p>
        </p:txBody>
      </p:sp>
      <p:sp>
        <p:nvSpPr>
          <p:cNvPr id="459"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59/55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LLM-as-Judge: RAG Strengths Quality Assessment</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GPT-4o structured scoring across 30 retrieval QA cases</a:t>
            </a:r>
            <a:endParaRPr lang="el-GR" sz="1600" b="0" u="none" strike="noStrike">
              <a:solidFill>
                <a:srgbClr val="ffffff"/>
              </a:solidFill>
              <a:effectLst/>
              <a:uFillTx/>
              <a:latin typeface="Arial"/>
            </a:endParaRPr>
          </a:p>
        </p:txBody>
      </p:sp>
      <p:graphicFrame>
        <p:nvGraphicFramePr>
          <p:cNvPr id="461" name="Table 2"/>
          <p:cNvGraphicFramePr/>
          <p:nvPr/>
        </p:nvGraphicFramePr>
        <p:xfrm>
          <a:off x="457200" y="1371600"/>
          <a:ext cx="6857640" cy="2286000"/>
        </p:xfrm>
        <a:graphic>
          <a:graphicData uri="http://schemas.openxmlformats.org/drawingml/2006/table">
            <a:tbl>
              <a:tblPr/>
              <a:tblGrid>
                <a:gridCol w="1371600"/>
                <a:gridCol w="1371600"/>
                <a:gridCol w="1371600"/>
                <a:gridCol w="1371600"/>
                <a:gridCol w="1371600"/>
              </a:tblGrid>
              <a:tr h="457200">
                <a:tc>
                  <a:txBody>
                    <a:bodyPr anchor="t">
                      <a:noAutofit/>
                    </a:bodyPr>
                    <a:p>
                      <a:pPr algn="ctr" defTabSz="457200">
                        <a:lnSpc>
                          <a:spcPct val="100000"/>
                        </a:lnSpc>
                      </a:pPr>
                      <a:r>
                        <a:rPr lang="en-US" sz="1200" b="1" u="none" strike="noStrike">
                          <a:solidFill>
                            <a:srgbClr val="ffffff"/>
                          </a:solidFill>
                          <a:effectLst/>
                          <a:uFillTx/>
                          <a:latin typeface="Calibri"/>
                        </a:rPr>
                        <a:t>Model</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Correctness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Reasoning</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Faithfulness</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c>
                  <a:txBody>
                    <a:bodyPr anchor="t">
                      <a:noAutofit/>
                    </a:bodyPr>
                    <a:p>
                      <a:pPr algn="ctr" defTabSz="457200">
                        <a:lnSpc>
                          <a:spcPct val="100000"/>
                        </a:lnSpc>
                      </a:pPr>
                      <a:r>
                        <a:rPr lang="en-US" sz="1200" b="1" u="none" strike="noStrike">
                          <a:solidFill>
                            <a:srgbClr val="ffffff"/>
                          </a:solidFill>
                          <a:effectLst/>
                          <a:uFillTx/>
                          <a:latin typeface="Calibri"/>
                        </a:rPr>
                        <a:t>Overall</a:t>
                      </a:r>
                      <a:endParaRPr lang="el-GR"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86c1"/>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Base Llama2-7B</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1.5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2.6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1.9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1.92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Llama2-7B + RAG</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3.4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3.4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3.8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3.49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FinQA-7B (FT)</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1.6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2.6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2.1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c>
                  <a:txBody>
                    <a:bodyPr anchor="t">
                      <a:noAutofit/>
                    </a:bodyPr>
                    <a:p>
                      <a:pPr defTabSz="457200">
                        <a:lnSpc>
                          <a:spcPct val="100000"/>
                        </a:lnSpc>
                      </a:pPr>
                      <a:r>
                        <a:rPr lang="en-US" sz="1100" b="0" u="none" strike="noStrike">
                          <a:solidFill>
                            <a:srgbClr val="1c2a3a"/>
                          </a:solidFill>
                          <a:effectLst/>
                          <a:uFillTx/>
                          <a:latin typeface="Calibri"/>
                        </a:rPr>
                        <a:t>2.00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0e3e8"/>
                    </a:solidFill>
                  </a:tcPr>
                </a:tc>
              </a:tr>
              <a:tr h="457200">
                <a:tc>
                  <a:txBody>
                    <a:bodyPr anchor="t">
                      <a:noAutofit/>
                    </a:bodyPr>
                    <a:p>
                      <a:pPr defTabSz="457200">
                        <a:lnSpc>
                          <a:spcPct val="100000"/>
                        </a:lnSpc>
                      </a:pPr>
                      <a:r>
                        <a:rPr lang="en-US" sz="1100" b="0" u="none" strike="noStrike">
                          <a:solidFill>
                            <a:srgbClr val="1c2a3a"/>
                          </a:solidFill>
                          <a:effectLst/>
                          <a:uFillTx/>
                          <a:latin typeface="Calibri"/>
                        </a:rPr>
                        <a:t>FinQA-7B + RAG</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3.6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3.6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3.8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100" b="0" u="none" strike="noStrike">
                          <a:solidFill>
                            <a:srgbClr val="1c2a3a"/>
                          </a:solidFill>
                          <a:effectLst/>
                          <a:uFillTx/>
                          <a:latin typeface="Calibri"/>
                        </a:rPr>
                        <a:t>3.64 / 5</a:t>
                      </a:r>
                      <a:endParaRPr lang="el-GR"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462" name="Chart 3"/>
          <p:cNvGraphicFramePr/>
          <p:nvPr/>
        </p:nvGraphicFramePr>
        <p:xfrm>
          <a:off x="457200" y="3840480"/>
          <a:ext cx="6857640" cy="2742840"/>
        </p:xfrm>
        <a:graphic>
          <a:graphicData uri="http://schemas.openxmlformats.org/drawingml/2006/chart">
            <c:chart xmlns:c="http://schemas.openxmlformats.org/drawingml/2006/chart" xmlns:r="http://schemas.openxmlformats.org/officeDocument/2006/relationships" r:id="rId1"/>
          </a:graphicData>
        </a:graphic>
      </p:graphicFrame>
      <p:sp>
        <p:nvSpPr>
          <p:cNvPr id="463" name="Rectangle 4"/>
          <p:cNvSpPr/>
          <p:nvPr/>
        </p:nvSpPr>
        <p:spPr>
          <a:xfrm>
            <a:off x="7589520" y="1371600"/>
            <a:ext cx="4114440" cy="118836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Faithfulness: RAG's Key Advantage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RAG: 3.8 vs Base: 1.9 -- retrieval grounds responses in documents, reducing hallucination</a:t>
            </a:r>
            <a:endParaRPr lang="el-GR" sz="1200" b="0" u="none" strike="noStrike">
              <a:solidFill>
                <a:srgbClr val="000000"/>
              </a:solidFill>
              <a:effectLst/>
              <a:uFillTx/>
              <a:latin typeface="Arial"/>
            </a:endParaRPr>
          </a:p>
        </p:txBody>
      </p:sp>
      <p:sp>
        <p:nvSpPr>
          <p:cNvPr id="464" name="Rectangle 5"/>
          <p:cNvSpPr/>
          <p:nvPr/>
        </p:nvSpPr>
        <p:spPr>
          <a:xfrm>
            <a:off x="7589520" y="2743200"/>
            <a:ext cx="4114440" cy="118836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Overall Quality</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Hybrid: 3.64/5 -- highest across all dimensions. RAG: 3.49/5 -- strong factual grounding</a:t>
            </a:r>
            <a:endParaRPr lang="el-GR" sz="1200" b="0" u="none" strike="noStrike">
              <a:solidFill>
                <a:srgbClr val="000000"/>
              </a:solidFill>
              <a:effectLst/>
              <a:uFillTx/>
              <a:latin typeface="Arial"/>
            </a:endParaRPr>
          </a:p>
        </p:txBody>
      </p:sp>
      <p:sp>
        <p:nvSpPr>
          <p:cNvPr id="465" name="Rectangle 6"/>
          <p:cNvSpPr/>
          <p:nvPr/>
        </p:nvSpPr>
        <p:spPr>
          <a:xfrm>
            <a:off x="7589520" y="4114800"/>
            <a:ext cx="4114440" cy="118836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Production Implication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RAG reduces hallucination risk by anchoring answers in retrieved documents -- critical for financial applications</a:t>
            </a:r>
            <a:endParaRPr lang="el-GR" sz="1200" b="0" u="none" strike="noStrike">
              <a:solidFill>
                <a:srgbClr val="000000"/>
              </a:solidFill>
              <a:effectLst/>
              <a:uFillTx/>
              <a:latin typeface="Arial"/>
            </a:endParaRPr>
          </a:p>
        </p:txBody>
      </p:sp>
      <p:sp>
        <p:nvSpPr>
          <p:cNvPr id="466"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60/55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RAG Strengths: Conclusions</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When and why RAG provides clear value</a:t>
            </a:r>
            <a:endParaRPr lang="el-GR" sz="1600" b="0" u="none" strike="noStrike">
              <a:solidFill>
                <a:srgbClr val="ffffff"/>
              </a:solidFill>
              <a:effectLst/>
              <a:uFillTx/>
              <a:latin typeface="Arial"/>
            </a:endParaRPr>
          </a:p>
        </p:txBody>
      </p:sp>
      <p:sp>
        <p:nvSpPr>
          <p:cNvPr id="468" name="Rectangle 2"/>
          <p:cNvSpPr/>
          <p:nvPr/>
        </p:nvSpPr>
        <p:spPr>
          <a:xfrm>
            <a:off x="457200" y="1371600"/>
            <a:ext cx="11246760" cy="9140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excels on factual retrieval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RAG achieves 86.7% when the KB has the answer -- +43pp over base, +47pp over fine-tuning</a:t>
            </a:r>
            <a:endParaRPr lang="el-GR" sz="1200" b="0" u="none" strike="noStrike">
              <a:solidFill>
                <a:srgbClr val="000000"/>
              </a:solidFill>
              <a:effectLst/>
              <a:uFillTx/>
              <a:latin typeface="Arial"/>
            </a:endParaRPr>
          </a:p>
        </p:txBody>
      </p:sp>
      <p:sp>
        <p:nvSpPr>
          <p:cNvPr id="469" name="Rectangle 3"/>
          <p:cNvSpPr/>
          <p:nvPr/>
        </p:nvSpPr>
        <p:spPr>
          <a:xfrm>
            <a:off x="457200" y="2423160"/>
            <a:ext cx="11246760" cy="914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Data alignment is critical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Standard benchmark RAG: ~15% (data conflict). This benchmark: 86.7% (aligned data). The problem was never RAG itself.</a:t>
            </a:r>
            <a:endParaRPr lang="el-GR" sz="1200" b="0" u="none" strike="noStrike">
              <a:solidFill>
                <a:srgbClr val="000000"/>
              </a:solidFill>
              <a:effectLst/>
              <a:uFillTx/>
              <a:latin typeface="Arial"/>
            </a:endParaRPr>
          </a:p>
        </p:txBody>
      </p:sp>
      <p:sp>
        <p:nvSpPr>
          <p:cNvPr id="470" name="Rectangle 4"/>
          <p:cNvSpPr/>
          <p:nvPr/>
        </p:nvSpPr>
        <p:spPr>
          <a:xfrm>
            <a:off x="457200" y="3474720"/>
            <a:ext cx="11246760" cy="9140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Hybrid is best of both worlds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Hybrid: 93.3% -- fine-tuning provides reasoning skills, RAG provides factual grounding. Together: highest accuracy.</a:t>
            </a:r>
            <a:endParaRPr lang="el-GR" sz="1200" b="0" u="none" strike="noStrike">
              <a:solidFill>
                <a:srgbClr val="000000"/>
              </a:solidFill>
              <a:effectLst/>
              <a:uFillTx/>
              <a:latin typeface="Arial"/>
            </a:endParaRPr>
          </a:p>
        </p:txBody>
      </p:sp>
      <p:sp>
        <p:nvSpPr>
          <p:cNvPr id="471" name="Rectangle 5"/>
          <p:cNvSpPr/>
          <p:nvPr/>
        </p:nvSpPr>
        <p:spPr>
          <a:xfrm>
            <a:off x="457200" y="4526280"/>
            <a:ext cx="11246760" cy="9140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reduces hallucination</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Judge faithfulness: RAG 3.8/5 vs Base 1.9/5. Retrieved documents anchor responses in facts.</a:t>
            </a:r>
            <a:endParaRPr lang="el-GR" sz="1200" b="0" u="none" strike="noStrike">
              <a:solidFill>
                <a:srgbClr val="000000"/>
              </a:solidFill>
              <a:effectLst/>
              <a:uFillTx/>
              <a:latin typeface="Arial"/>
            </a:endParaRPr>
          </a:p>
        </p:txBody>
      </p:sp>
      <p:sp>
        <p:nvSpPr>
          <p:cNvPr id="472" name="Rectangle 6"/>
          <p:cNvSpPr/>
          <p:nvPr/>
        </p:nvSpPr>
        <p:spPr>
          <a:xfrm>
            <a:off x="457200" y="5577840"/>
            <a:ext cx="11246760" cy="91404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Know your use case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Proprietary documents -&gt; RAG. Domain reasoning -&gt; Fine-tuning. Both -&gt; Hybrid. Each solves a different problem.</a:t>
            </a:r>
            <a:endParaRPr lang="el-GR" sz="1200" b="0" u="none" strike="noStrike">
              <a:solidFill>
                <a:srgbClr val="000000"/>
              </a:solidFill>
              <a:effectLst/>
              <a:uFillTx/>
              <a:latin typeface="Arial"/>
            </a:endParaRPr>
          </a:p>
        </p:txBody>
      </p:sp>
      <p:sp>
        <p:nvSpPr>
          <p:cNvPr id="473"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61/55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High-Level Architecture</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4-way comparison: same architecture, different strategy</a:t>
            </a:r>
            <a:endParaRPr lang="el-GR" sz="1600" b="0" u="none" strike="noStrike">
              <a:solidFill>
                <a:srgbClr val="ffffff"/>
              </a:solidFill>
              <a:effectLst/>
              <a:uFillTx/>
              <a:latin typeface="Arial"/>
            </a:endParaRPr>
          </a:p>
        </p:txBody>
      </p:sp>
      <p:pic>
        <p:nvPicPr>
          <p:cNvPr id="475" name="Picture 2" descr="architecture_overview.png"/>
          <p:cNvPicPr/>
          <p:nvPr/>
        </p:nvPicPr>
        <p:blipFill>
          <a:blip r:embed="rId1"/>
          <a:stretch/>
        </p:blipFill>
        <p:spPr>
          <a:xfrm>
            <a:off x="457200" y="1280160"/>
            <a:ext cx="10972440" cy="5028840"/>
          </a:xfrm>
          <a:prstGeom prst="rect">
            <a:avLst/>
          </a:prstGeom>
          <a:noFill/>
          <a:ln w="0">
            <a:noFill/>
          </a:ln>
        </p:spPr>
      </p:pic>
      <p:sp>
        <p:nvSpPr>
          <p:cNvPr id="476" name="TextBox 3"/>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62/55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The Formula Trap: Why RAG Appears to Fail</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Same model, same RAG pipeline — +71.4pp swing from data alignment alone</a:t>
            </a:r>
            <a:endParaRPr lang="el-GR" sz="1600" b="0" u="none" strike="noStrike">
              <a:solidFill>
                <a:srgbClr val="ffffff"/>
              </a:solidFill>
              <a:effectLst/>
              <a:uFillTx/>
              <a:latin typeface="Arial"/>
            </a:endParaRPr>
          </a:p>
        </p:txBody>
      </p:sp>
      <p:pic>
        <p:nvPicPr>
          <p:cNvPr id="478" name="Picture 2" descr="formula_trap.png"/>
          <p:cNvPicPr/>
          <p:nvPr/>
        </p:nvPicPr>
        <p:blipFill>
          <a:blip r:embed="rId1"/>
          <a:stretch/>
        </p:blipFill>
        <p:spPr>
          <a:xfrm>
            <a:off x="274320" y="1188720"/>
            <a:ext cx="11429640" cy="3657240"/>
          </a:xfrm>
          <a:prstGeom prst="rect">
            <a:avLst/>
          </a:prstGeom>
          <a:noFill/>
          <a:ln w="0">
            <a:noFill/>
          </a:ln>
        </p:spPr>
      </p:pic>
      <p:sp>
        <p:nvSpPr>
          <p:cNvPr id="479" name="Rectangle 3"/>
          <p:cNvSpPr/>
          <p:nvPr/>
        </p:nvSpPr>
        <p:spPr>
          <a:xfrm>
            <a:off x="457200" y="5029200"/>
            <a:ext cx="5303160" cy="137124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The Problem:</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Most benchmarks provide test data that conflicts with RAG-retrieved data. The model receives competing numbers and gets confused. This is a benchmark design flaw, not a RAG limitation.</a:t>
            </a:r>
            <a:endParaRPr lang="el-GR" sz="1200" b="0" u="none" strike="noStrike">
              <a:solidFill>
                <a:srgbClr val="000000"/>
              </a:solidFill>
              <a:effectLst/>
              <a:uFillTx/>
              <a:latin typeface="Arial"/>
            </a:endParaRPr>
          </a:p>
        </p:txBody>
      </p:sp>
      <p:sp>
        <p:nvSpPr>
          <p:cNvPr id="480" name="Rectangle 4"/>
          <p:cNvSpPr/>
          <p:nvPr/>
        </p:nvSpPr>
        <p:spPr>
          <a:xfrm>
            <a:off x="6217920" y="5029200"/>
            <a:ext cx="5303160" cy="13712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The Fix:</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When questions ask about data actually in the KB (the production case), RAG jumps from 15% to 86.7% and Hybrid reaches 93.3%.</a:t>
            </a:r>
            <a:endParaRPr lang="el-GR" sz="1200" b="0" u="none" strike="noStrike">
              <a:solidFill>
                <a:srgbClr val="000000"/>
              </a:solidFill>
              <a:effectLst/>
              <a:uFillTx/>
              <a:latin typeface="Arial"/>
            </a:endParaRPr>
          </a:p>
        </p:txBody>
      </p:sp>
      <p:sp>
        <p:nvSpPr>
          <p:cNvPr id="481" name="TextBox 5"/>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63/55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Benchmark Methodology</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6 suites, 253 test cases, 3-axis LLM-as-Judge evaluation</a:t>
            </a:r>
            <a:endParaRPr lang="el-GR" sz="1600" b="0" u="none" strike="noStrike">
              <a:solidFill>
                <a:srgbClr val="ffffff"/>
              </a:solidFill>
              <a:effectLst/>
              <a:uFillTx/>
              <a:latin typeface="Arial"/>
            </a:endParaRPr>
          </a:p>
        </p:txBody>
      </p:sp>
      <p:pic>
        <p:nvPicPr>
          <p:cNvPr id="483" name="Picture 2" descr="methodology.png"/>
          <p:cNvPicPr/>
          <p:nvPr/>
        </p:nvPicPr>
        <p:blipFill>
          <a:blip r:embed="rId1"/>
          <a:stretch/>
        </p:blipFill>
        <p:spPr>
          <a:xfrm>
            <a:off x="457200" y="1280160"/>
            <a:ext cx="10972440" cy="5028840"/>
          </a:xfrm>
          <a:prstGeom prst="rect">
            <a:avLst/>
          </a:prstGeom>
          <a:noFill/>
          <a:ln w="0">
            <a:noFill/>
          </a:ln>
        </p:spPr>
      </p:pic>
      <p:sp>
        <p:nvSpPr>
          <p:cNvPr id="484" name="TextBox 3"/>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64/55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Adversarial Stress Test: 120 Cases</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3 attack vectors x 4 task types — where models break</a:t>
            </a:r>
            <a:endParaRPr lang="el-GR" sz="1600" b="0" u="none" strike="noStrike">
              <a:solidFill>
                <a:srgbClr val="ffffff"/>
              </a:solidFill>
              <a:effectLst/>
              <a:uFillTx/>
              <a:latin typeface="Arial"/>
            </a:endParaRPr>
          </a:p>
        </p:txBody>
      </p:sp>
      <p:pic>
        <p:nvPicPr>
          <p:cNvPr id="486" name="Picture 2" descr="adversarial.png"/>
          <p:cNvPicPr/>
          <p:nvPr/>
        </p:nvPicPr>
        <p:blipFill>
          <a:blip r:embed="rId1"/>
          <a:stretch/>
        </p:blipFill>
        <p:spPr>
          <a:xfrm>
            <a:off x="457200" y="1188720"/>
            <a:ext cx="10972440" cy="3840120"/>
          </a:xfrm>
          <a:prstGeom prst="rect">
            <a:avLst/>
          </a:prstGeom>
          <a:noFill/>
          <a:ln w="0">
            <a:noFill/>
          </a:ln>
        </p:spPr>
      </p:pic>
      <p:sp>
        <p:nvSpPr>
          <p:cNvPr id="487" name="Rectangle 3"/>
          <p:cNvSpPr/>
          <p:nvPr/>
        </p:nvSpPr>
        <p:spPr>
          <a:xfrm>
            <a:off x="457200" y="5212080"/>
            <a:ext cx="11246760" cy="109692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Key Insight:</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On reasoning tasks, adding more context through RAG DEGRADES performance -- Hybrid scores worst (1.86/5). But on classification tasks, fine-tuning and RAG provide complementary robustness. Context helps classification but hurts computation.</a:t>
            </a:r>
            <a:endParaRPr lang="el-GR" sz="1200" b="0" u="none" strike="noStrike">
              <a:solidFill>
                <a:srgbClr val="000000"/>
              </a:solidFill>
              <a:effectLst/>
              <a:uFillTx/>
              <a:latin typeface="Arial"/>
            </a:endParaRPr>
          </a:p>
        </p:txBody>
      </p:sp>
      <p:sp>
        <p:nvSpPr>
          <p:cNvPr id="488"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65/55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The Fundamental Asymmetry: Knowledge vs Skill</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What each approach provides — measured across 253 experiments</a:t>
            </a:r>
            <a:endParaRPr lang="el-GR" sz="1600" b="0" u="none" strike="noStrike">
              <a:solidFill>
                <a:srgbClr val="ffffff"/>
              </a:solidFill>
              <a:effectLst/>
              <a:uFillTx/>
              <a:latin typeface="Arial"/>
            </a:endParaRPr>
          </a:p>
        </p:txBody>
      </p:sp>
      <p:pic>
        <p:nvPicPr>
          <p:cNvPr id="490" name="Picture 2" descr="knowledge_vs_skill.png"/>
          <p:cNvPicPr/>
          <p:nvPr/>
        </p:nvPicPr>
        <p:blipFill>
          <a:blip r:embed="rId1"/>
          <a:stretch/>
        </p:blipFill>
        <p:spPr>
          <a:xfrm>
            <a:off x="274320" y="1188720"/>
            <a:ext cx="6025680" cy="4478760"/>
          </a:xfrm>
          <a:prstGeom prst="rect">
            <a:avLst/>
          </a:prstGeom>
          <a:noFill/>
          <a:ln w="0">
            <a:noFill/>
          </a:ln>
        </p:spPr>
      </p:pic>
      <p:sp>
        <p:nvSpPr>
          <p:cNvPr id="491" name="Rectangle 3"/>
          <p:cNvSpPr/>
          <p:nvPr/>
        </p:nvSpPr>
        <p:spPr>
          <a:xfrm>
            <a:off x="6858000" y="1371600"/>
            <a:ext cx="4845960" cy="13712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Fine-Tuning teaches SKILLS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+25pp on sentiment (45% → 70%)</a:t>
            </a:r>
            <a:br>
              <a:rPr sz="1200"/>
            </a:br>
            <a:r>
              <a:rPr lang="en-US" sz="1200" b="0" u="none" strike="noStrike">
                <a:solidFill>
                  <a:srgbClr val="1c2a3a"/>
                </a:solidFill>
                <a:effectLst/>
                <a:uFillTx/>
                <a:latin typeface="Calibri"/>
              </a:rPr>
              <a:t>+46pp on numerical (15% → 61%)</a:t>
            </a:r>
            <a:br>
              <a:rPr sz="1200"/>
            </a:br>
            <a:r>
              <a:rPr lang="en-US" sz="1200" b="0" u="none" strike="noStrike">
                <a:solidFill>
                  <a:srgbClr val="1c2a3a"/>
                </a:solidFill>
                <a:effectLst/>
                <a:uFillTx/>
                <a:latin typeface="Calibri"/>
              </a:rPr>
              <a:t>100% on domain jargon (vs RAG 0%)</a:t>
            </a:r>
            <a:endParaRPr lang="el-GR" sz="1200" b="0" u="none" strike="noStrike">
              <a:solidFill>
                <a:srgbClr val="000000"/>
              </a:solidFill>
              <a:effectLst/>
              <a:uFillTx/>
              <a:latin typeface="Arial"/>
            </a:endParaRPr>
          </a:p>
        </p:txBody>
      </p:sp>
      <p:sp>
        <p:nvSpPr>
          <p:cNvPr id="492" name="Rectangle 4"/>
          <p:cNvSpPr/>
          <p:nvPr/>
        </p:nvSpPr>
        <p:spPr>
          <a:xfrm>
            <a:off x="6858000" y="2926080"/>
            <a:ext cx="4845960" cy="13712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RAG provides KNOWLEDGE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86.7% on factual retrieval</a:t>
            </a:r>
            <a:br>
              <a:rPr sz="1200"/>
            </a:br>
            <a:r>
              <a:rPr lang="en-US" sz="1200" b="0" u="none" strike="noStrike">
                <a:solidFill>
                  <a:srgbClr val="1c2a3a"/>
                </a:solidFill>
                <a:effectLst/>
                <a:uFillTx/>
                <a:latin typeface="Calibri"/>
              </a:rPr>
              <a:t>3.8/5 faithfulness (2x over base)</a:t>
            </a:r>
            <a:br>
              <a:rPr sz="1200"/>
            </a:br>
            <a:r>
              <a:rPr lang="en-US" sz="1200" b="0" u="none" strike="noStrike">
                <a:solidFill>
                  <a:srgbClr val="1c2a3a"/>
                </a:solidFill>
                <a:effectLst/>
                <a:uFillTx/>
                <a:latin typeface="Calibri"/>
              </a:rPr>
              <a:t>75-100% on direct document Q&amp;A</a:t>
            </a:r>
            <a:endParaRPr lang="el-GR" sz="1200" b="0" u="none" strike="noStrike">
              <a:solidFill>
                <a:srgbClr val="000000"/>
              </a:solidFill>
              <a:effectLst/>
              <a:uFillTx/>
              <a:latin typeface="Arial"/>
            </a:endParaRPr>
          </a:p>
        </p:txBody>
      </p:sp>
      <p:sp>
        <p:nvSpPr>
          <p:cNvPr id="493" name="Rectangle 5"/>
          <p:cNvSpPr/>
          <p:nvPr/>
        </p:nvSpPr>
        <p:spPr>
          <a:xfrm>
            <a:off x="6858000" y="4480560"/>
            <a:ext cx="4845960" cy="1371240"/>
          </a:xfrm>
          <a:prstGeom prst="rect">
            <a:avLst/>
          </a:prstGeom>
          <a:solidFill>
            <a:srgbClr val="d7c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HYBRID wins overall</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93.3% on RAG strengths</a:t>
            </a:r>
            <a:br>
              <a:rPr sz="1200"/>
            </a:br>
            <a:r>
              <a:rPr lang="en-US" sz="1200" b="0" u="none" strike="noStrike">
                <a:solidFill>
                  <a:srgbClr val="1c2a3a"/>
                </a:solidFill>
                <a:effectLst/>
                <a:uFillTx/>
                <a:latin typeface="Calibri"/>
              </a:rPr>
              <a:t>95% on spam detection</a:t>
            </a:r>
            <a:br>
              <a:rPr sz="1200"/>
            </a:br>
            <a:r>
              <a:rPr lang="en-US" sz="1200" b="0" u="none" strike="noStrike">
                <a:solidFill>
                  <a:srgbClr val="1c2a3a"/>
                </a:solidFill>
                <a:effectLst/>
                <a:uFillTx/>
                <a:latin typeface="Calibri"/>
              </a:rPr>
              <a:t>100% cross-doc synthesis &amp; direct retrieval</a:t>
            </a:r>
            <a:endParaRPr lang="el-GR" sz="1200" b="0" u="none" strike="noStrike">
              <a:solidFill>
                <a:srgbClr val="000000"/>
              </a:solidFill>
              <a:effectLst/>
              <a:uFillTx/>
              <a:latin typeface="Arial"/>
            </a:endParaRPr>
          </a:p>
        </p:txBody>
      </p:sp>
      <p:sp>
        <p:nvSpPr>
          <p:cNvPr id="494" name="TextBox 6"/>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66/55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What RAG Actually Retrieves: 7-Category Taxonomy</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From 96% accuracy to actively harmful — it depends on data alignment</a:t>
            </a:r>
            <a:endParaRPr lang="el-GR" sz="1600" b="0" u="none" strike="noStrike">
              <a:solidFill>
                <a:srgbClr val="ffffff"/>
              </a:solidFill>
              <a:effectLst/>
              <a:uFillTx/>
              <a:latin typeface="Arial"/>
            </a:endParaRPr>
          </a:p>
        </p:txBody>
      </p:sp>
      <p:pic>
        <p:nvPicPr>
          <p:cNvPr id="496" name="Picture 2" descr="taxonomy.png"/>
          <p:cNvPicPr/>
          <p:nvPr/>
        </p:nvPicPr>
        <p:blipFill>
          <a:blip r:embed="rId1"/>
          <a:stretch/>
        </p:blipFill>
        <p:spPr>
          <a:xfrm>
            <a:off x="274320" y="1188720"/>
            <a:ext cx="11429640" cy="4114440"/>
          </a:xfrm>
          <a:prstGeom prst="rect">
            <a:avLst/>
          </a:prstGeom>
          <a:noFill/>
          <a:ln w="0">
            <a:noFill/>
          </a:ln>
        </p:spPr>
      </p:pic>
      <p:sp>
        <p:nvSpPr>
          <p:cNvPr id="497" name="Rectangle 3"/>
          <p:cNvSpPr/>
          <p:nvPr/>
        </p:nvSpPr>
        <p:spPr>
          <a:xfrm>
            <a:off x="457200" y="5486400"/>
            <a:ext cx="11246760" cy="914040"/>
          </a:xfrm>
          <a:prstGeom prst="rect">
            <a:avLst/>
          </a:prstGeom>
          <a:solidFill>
            <a:srgbClr val="fcce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Critical finding: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Only 20% of test cases are properly covered by the RAG KB, and ~30% are actively harmed by retrieval. RAG performance is entirely determined by KB quality and data alignment.</a:t>
            </a:r>
            <a:endParaRPr lang="el-GR" sz="1200" b="0" u="none" strike="noStrike">
              <a:solidFill>
                <a:srgbClr val="000000"/>
              </a:solidFill>
              <a:effectLst/>
              <a:uFillTx/>
              <a:latin typeface="Arial"/>
            </a:endParaRPr>
          </a:p>
        </p:txBody>
      </p:sp>
      <p:sp>
        <p:nvSpPr>
          <p:cNvPr id="498" name="TextBox 4"/>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67/55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Decision Framework: Evidence-Based</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When to use each approach — backed by 253 experiments</a:t>
            </a:r>
            <a:endParaRPr lang="el-GR" sz="1600" b="0" u="none" strike="noStrike">
              <a:solidFill>
                <a:srgbClr val="ffffff"/>
              </a:solidFill>
              <a:effectLst/>
              <a:uFillTx/>
              <a:latin typeface="Arial"/>
            </a:endParaRPr>
          </a:p>
        </p:txBody>
      </p:sp>
      <p:pic>
        <p:nvPicPr>
          <p:cNvPr id="500" name="Picture 2" descr="decision_evidence.png"/>
          <p:cNvPicPr/>
          <p:nvPr/>
        </p:nvPicPr>
        <p:blipFill>
          <a:blip r:embed="rId1"/>
          <a:stretch/>
        </p:blipFill>
        <p:spPr>
          <a:xfrm>
            <a:off x="914400" y="1188720"/>
            <a:ext cx="10058040" cy="5028840"/>
          </a:xfrm>
          <a:prstGeom prst="rect">
            <a:avLst/>
          </a:prstGeom>
          <a:noFill/>
          <a:ln w="0">
            <a:noFill/>
          </a:ln>
        </p:spPr>
      </p:pic>
      <p:sp>
        <p:nvSpPr>
          <p:cNvPr id="501" name="TextBox 3"/>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68/55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Rectangle 1"/>
          <p:cNvSpPr/>
          <p:nvPr/>
        </p:nvSpPr>
        <p:spPr>
          <a:xfrm>
            <a:off x="0" y="0"/>
            <a:ext cx="12191400" cy="1005480"/>
          </a:xfrm>
          <a:prstGeom prst="rect">
            <a:avLst/>
          </a:prstGeom>
          <a:solidFill>
            <a:srgbClr val="2e86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0880" rIns="90000" tIns="45000" bIns="45000" anchor="ctr">
            <a:noAutofit/>
          </a:bodyPr>
          <a:p>
            <a:pPr algn="ctr" defTabSz="457200">
              <a:lnSpc>
                <a:spcPct val="100000"/>
              </a:lnSpc>
            </a:pPr>
            <a:r>
              <a:rPr lang="en-US" sz="3000" b="1" u="none" strike="noStrike">
                <a:solidFill>
                  <a:srgbClr val="ffffff"/>
                </a:solidFill>
                <a:effectLst/>
                <a:uFillTx/>
                <a:latin typeface="Calibri"/>
              </a:rPr>
              <a:t>From Prototype to Production</a:t>
            </a:r>
            <a:endParaRPr lang="el-GR" sz="3000" b="0" u="none" strike="noStrike">
              <a:solidFill>
                <a:srgbClr val="ffffff"/>
              </a:solidFill>
              <a:effectLst/>
              <a:uFillTx/>
              <a:latin typeface="Arial"/>
            </a:endParaRPr>
          </a:p>
          <a:p>
            <a:pPr defTabSz="457200">
              <a:lnSpc>
                <a:spcPct val="100000"/>
              </a:lnSpc>
            </a:pPr>
            <a:r>
              <a:rPr lang="en-US" sz="1600" b="0" u="none" strike="noStrike">
                <a:solidFill>
                  <a:srgbClr val="eceff1"/>
                </a:solidFill>
                <a:effectLst/>
                <a:uFillTx/>
                <a:latin typeface="Calibri"/>
              </a:rPr>
              <a:t>The practical 4-phase workflow validated by our benchmark results</a:t>
            </a:r>
            <a:endParaRPr lang="el-GR" sz="1600" b="0" u="none" strike="noStrike">
              <a:solidFill>
                <a:srgbClr val="ffffff"/>
              </a:solidFill>
              <a:effectLst/>
              <a:uFillTx/>
              <a:latin typeface="Arial"/>
            </a:endParaRPr>
          </a:p>
        </p:txBody>
      </p:sp>
      <p:pic>
        <p:nvPicPr>
          <p:cNvPr id="503" name="Picture 2" descr="workflow.png"/>
          <p:cNvPicPr/>
          <p:nvPr/>
        </p:nvPicPr>
        <p:blipFill>
          <a:blip r:embed="rId1"/>
          <a:stretch/>
        </p:blipFill>
        <p:spPr>
          <a:xfrm>
            <a:off x="274320" y="1188720"/>
            <a:ext cx="11429640" cy="2742840"/>
          </a:xfrm>
          <a:prstGeom prst="rect">
            <a:avLst/>
          </a:prstGeom>
          <a:noFill/>
          <a:ln w="0">
            <a:noFill/>
          </a:ln>
        </p:spPr>
      </p:pic>
      <p:sp>
        <p:nvSpPr>
          <p:cNvPr id="504" name="Rectangle 3"/>
          <p:cNvSpPr/>
          <p:nvPr/>
        </p:nvSpPr>
        <p:spPr>
          <a:xfrm>
            <a:off x="274320" y="4114800"/>
            <a:ext cx="2742840" cy="2285640"/>
          </a:xfrm>
          <a:prstGeom prst="rect">
            <a:avLst/>
          </a:prstGeom>
          <a:solidFill>
            <a:srgbClr val="bbde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Phase 1: RAG</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Fastest path to value. 86.7% accuracy on factual retrieval with zero training. Deploy in days, not weeks.</a:t>
            </a:r>
            <a:endParaRPr lang="el-GR" sz="1200" b="0" u="none" strike="noStrike">
              <a:solidFill>
                <a:srgbClr val="000000"/>
              </a:solidFill>
              <a:effectLst/>
              <a:uFillTx/>
              <a:latin typeface="Arial"/>
            </a:endParaRPr>
          </a:p>
        </p:txBody>
      </p:sp>
      <p:sp>
        <p:nvSpPr>
          <p:cNvPr id="505" name="Rectangle 4"/>
          <p:cNvSpPr/>
          <p:nvPr/>
        </p:nvSpPr>
        <p:spPr>
          <a:xfrm>
            <a:off x="3200400" y="4114800"/>
            <a:ext cx="2742840" cy="2285640"/>
          </a:xfrm>
          <a:prstGeom prst="rect">
            <a:avLst/>
          </a:prstGeom>
          <a:solidFill>
            <a:srgbClr val="fff1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Phase 2: Find Gaps</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RAG fails on: domain jargon (0%), numerical reasoning (15%), adversarial cases (3% KB coverage). Collect failures as training data.</a:t>
            </a:r>
            <a:endParaRPr lang="el-GR" sz="1200" b="0" u="none" strike="noStrike">
              <a:solidFill>
                <a:srgbClr val="000000"/>
              </a:solidFill>
              <a:effectLst/>
              <a:uFillTx/>
              <a:latin typeface="Arial"/>
            </a:endParaRPr>
          </a:p>
        </p:txBody>
      </p:sp>
      <p:sp>
        <p:nvSpPr>
          <p:cNvPr id="506" name="Rectangle 5"/>
          <p:cNvSpPr/>
          <p:nvPr/>
        </p:nvSpPr>
        <p:spPr>
          <a:xfrm>
            <a:off x="6126480" y="4114800"/>
            <a:ext cx="2742840" cy="2285640"/>
          </a:xfrm>
          <a:prstGeom prst="rect">
            <a:avLst/>
          </a:prstGeom>
          <a:solidFill>
            <a:srgbClr val="c8e6c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Phase 3: Fine-Tune</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QLoRA on consumer GPU in &lt;4h. FinBERT: 5K examples → +25pp. FinQA-7B: 8K examples → +46pp. $5-25 on AWS.</a:t>
            </a:r>
            <a:endParaRPr lang="el-GR" sz="1200" b="0" u="none" strike="noStrike">
              <a:solidFill>
                <a:srgbClr val="000000"/>
              </a:solidFill>
              <a:effectLst/>
              <a:uFillTx/>
              <a:latin typeface="Arial"/>
            </a:endParaRPr>
          </a:p>
        </p:txBody>
      </p:sp>
      <p:sp>
        <p:nvSpPr>
          <p:cNvPr id="507" name="Rectangle 6"/>
          <p:cNvSpPr/>
          <p:nvPr/>
        </p:nvSpPr>
        <p:spPr>
          <a:xfrm>
            <a:off x="9052560" y="4114800"/>
            <a:ext cx="2742840" cy="2285640"/>
          </a:xfrm>
          <a:prstGeom prst="rect">
            <a:avLst/>
          </a:prstGeom>
          <a:solidFill>
            <a:srgbClr val="d7c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rIns="152280" tIns="101520" bIns="101520" anchor="ctr">
            <a:noAutofit/>
          </a:bodyPr>
          <a:p>
            <a:pPr algn="ctr" defTabSz="457200">
              <a:lnSpc>
                <a:spcPct val="100000"/>
              </a:lnSpc>
            </a:pPr>
            <a:r>
              <a:rPr lang="en-US" sz="1400" b="1" u="none" strike="noStrike">
                <a:solidFill>
                  <a:srgbClr val="1c2a3a"/>
                </a:solidFill>
                <a:effectLst/>
                <a:uFillTx/>
                <a:latin typeface="Calibri"/>
              </a:rPr>
              <a:t>Phase 4: Hybrid</a:t>
            </a:r>
            <a:endParaRPr lang="el-GR" sz="1400" b="0" u="none" strike="noStrike">
              <a:solidFill>
                <a:srgbClr val="000000"/>
              </a:solidFill>
              <a:effectLst/>
              <a:uFillTx/>
              <a:latin typeface="Arial"/>
            </a:endParaRPr>
          </a:p>
          <a:p>
            <a:pPr defTabSz="457200">
              <a:lnSpc>
                <a:spcPct val="100000"/>
              </a:lnSpc>
            </a:pPr>
            <a:r>
              <a:rPr lang="en-US" sz="1200" b="0" u="none" strike="noStrike">
                <a:solidFill>
                  <a:srgbClr val="1c2a3a"/>
                </a:solidFill>
                <a:effectLst/>
                <a:uFillTx/>
                <a:latin typeface="Calibri"/>
              </a:rPr>
              <a:t>93.3% accuracy + 3.8/5 faithfulness + source citations. The strongest system in every benchmark.</a:t>
            </a:r>
            <a:endParaRPr lang="el-GR" sz="1200" b="0" u="none" strike="noStrike">
              <a:solidFill>
                <a:srgbClr val="000000"/>
              </a:solidFill>
              <a:effectLst/>
              <a:uFillTx/>
              <a:latin typeface="Arial"/>
            </a:endParaRPr>
          </a:p>
        </p:txBody>
      </p:sp>
      <p:sp>
        <p:nvSpPr>
          <p:cNvPr id="508" name="TextBox 7"/>
          <p:cNvSpPr/>
          <p:nvPr/>
        </p:nvSpPr>
        <p:spPr>
          <a:xfrm>
            <a:off x="457200" y="6400800"/>
            <a:ext cx="109724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000" b="0" u="none" strike="noStrike">
                <a:solidFill>
                  <a:srgbClr val="4a4e57"/>
                </a:solidFill>
                <a:effectLst/>
                <a:uFillTx/>
                <a:latin typeface="Calibri"/>
              </a:rPr>
              <a:t>Fine-Tuning vs RAG  |  Slide 69/55</a:t>
            </a:r>
            <a:endParaRPr lang="el-G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2a3a"/>
        </a:solidFill>
      </p:bgPr>
    </p:bg>
    <p:spTree>
      <p:nvGrpSpPr>
        <p:cNvPr id="1" name=""/>
        <p:cNvGrpSpPr/>
        <p:nvPr/>
      </p:nvGrpSpPr>
      <p:grpSpPr>
        <a:xfrm>
          <a:off x="0" y="0"/>
          <a:ext cx="0" cy="0"/>
          <a:chOff x="0" y="0"/>
          <a:chExt cx="0" cy="0"/>
        </a:xfrm>
      </p:grpSpPr>
      <p:sp>
        <p:nvSpPr>
          <p:cNvPr id="509" name="TextBox 1"/>
          <p:cNvSpPr/>
          <p:nvPr/>
        </p:nvSpPr>
        <p:spPr>
          <a:xfrm>
            <a:off x="914400" y="1828800"/>
            <a:ext cx="10058040" cy="13712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5200" b="1" u="none" strike="noStrike">
                <a:solidFill>
                  <a:srgbClr val="5daef2"/>
                </a:solidFill>
                <a:effectLst/>
                <a:uFillTx/>
                <a:latin typeface="Calibri"/>
              </a:rPr>
              <a:t>Thank You</a:t>
            </a:r>
            <a:endParaRPr lang="el-GR" sz="5200" b="0" u="none" strike="noStrike">
              <a:solidFill>
                <a:srgbClr val="ffffff"/>
              </a:solidFill>
              <a:effectLst/>
              <a:uFillTx/>
              <a:latin typeface="Arial"/>
            </a:endParaRPr>
          </a:p>
        </p:txBody>
      </p:sp>
      <p:sp>
        <p:nvSpPr>
          <p:cNvPr id="510" name="TextBox 2"/>
          <p:cNvSpPr/>
          <p:nvPr/>
        </p:nvSpPr>
        <p:spPr>
          <a:xfrm>
            <a:off x="914400" y="3200400"/>
            <a:ext cx="10058040" cy="914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2800" b="0" u="none" strike="noStrike">
                <a:solidFill>
                  <a:srgbClr val="eceff1"/>
                </a:solidFill>
                <a:effectLst/>
                <a:uFillTx/>
                <a:latin typeface="Calibri"/>
              </a:rPr>
              <a:t>Questions &amp; Discussion</a:t>
            </a:r>
            <a:endParaRPr lang="el-GR" sz="2800" b="0" u="none" strike="noStrike">
              <a:solidFill>
                <a:srgbClr val="ffffff"/>
              </a:solidFill>
              <a:effectLst/>
              <a:uFillTx/>
              <a:latin typeface="Arial"/>
            </a:endParaRPr>
          </a:p>
        </p:txBody>
      </p:sp>
      <p:sp>
        <p:nvSpPr>
          <p:cNvPr id="511" name="TextBox 3"/>
          <p:cNvSpPr/>
          <p:nvPr/>
        </p:nvSpPr>
        <p:spPr>
          <a:xfrm>
            <a:off x="914400" y="4572000"/>
            <a:ext cx="10058040" cy="13712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800" b="0" u="none" strike="noStrike">
                <a:solidFill>
                  <a:srgbClr val="a8c7e8"/>
                </a:solidFill>
                <a:effectLst/>
                <a:uFillTx/>
                <a:latin typeface="Calibri"/>
              </a:rPr>
              <a:t>"Fine-tuning teaches SKILLS. RAG provides INFORMATION.</a:t>
            </a:r>
            <a:br>
              <a:rPr sz="1800"/>
            </a:br>
            <a:r>
              <a:rPr lang="en-US" sz="1800" b="0" u="none" strike="noStrike">
                <a:solidFill>
                  <a:srgbClr val="a8c7e8"/>
                </a:solidFill>
                <a:effectLst/>
                <a:uFillTx/>
                <a:latin typeface="Calibri"/>
              </a:rPr>
              <a:t>The best systems combine both."</a:t>
            </a:r>
            <a:endParaRPr lang="el-GR"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369</TotalTime>
  <Application>LibreOffice/25.8.5.2$Windows_X86_64 LibreOffice_project/9c8b85f387cc00a89945a79c9e6239f32e450ac2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el-GR</dc:language>
  <cp:lastModifiedBy/>
  <dcterms:modified xsi:type="dcterms:W3CDTF">2026-03-22T17:49:15Z</dcterms:modified>
  <cp:revision>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